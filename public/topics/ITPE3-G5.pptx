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x="18288000" cy="10287000"/>
  <p:notesSz cx="6858000" cy="9144000"/>
  <p:embeddedFontLst>
    <p:embeddedFont>
      <p:font typeface="Poppins Bold" charset="1" panose="00000800000000000000"/>
      <p:regular r:id="rId62"/>
    </p:embeddedFont>
    <p:embeddedFont>
      <p:font typeface="Poppins Italics" charset="1" panose="00000500000000000000"/>
      <p:regular r:id="rId63"/>
    </p:embeddedFont>
    <p:embeddedFont>
      <p:font typeface="Poppins" charset="1" panose="00000500000000000000"/>
      <p:regular r:id="rId64"/>
    </p:embeddedFont>
    <p:embeddedFont>
      <p:font typeface="Calibri (MS) Bold" charset="1" panose="020F0702030404030204"/>
      <p:regular r:id="rId65"/>
    </p:embeddedFont>
    <p:embeddedFont>
      <p:font typeface="Cambria Bold" charset="1" panose="02040803050406030204"/>
      <p:regular r:id="rId66"/>
    </p:embeddedFont>
    <p:embeddedFont>
      <p:font typeface="Calibri (MS)" charset="1" panose="020F0502020204030204"/>
      <p:regular r:id="rId67"/>
    </p:embeddedFont>
    <p:embeddedFont>
      <p:font typeface="Calibri (MS) Italics" charset="1" panose="020F05020202040A0204"/>
      <p:regular r:id="rId68"/>
    </p:embeddedFont>
    <p:embeddedFont>
      <p:font typeface="Inter Bold" charset="1" panose="020B0802030000000004"/>
      <p:regular r:id="rId69"/>
    </p:embeddedFont>
    <p:embeddedFont>
      <p:font typeface="Inter" charset="1" panose="020B0502030000000004"/>
      <p:regular r:id="rId7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fonts/font65.fntdata" Type="http://schemas.openxmlformats.org/officeDocument/2006/relationships/font"/><Relationship Id="rId66" Target="fonts/font66.fntdata" Type="http://schemas.openxmlformats.org/officeDocument/2006/relationships/font"/><Relationship Id="rId67" Target="fonts/font67.fntdata" Type="http://schemas.openxmlformats.org/officeDocument/2006/relationships/font"/><Relationship Id="rId68" Target="fonts/font68.fntdata" Type="http://schemas.openxmlformats.org/officeDocument/2006/relationships/font"/><Relationship Id="rId69" Target="fonts/font69.fntdata" Type="http://schemas.openxmlformats.org/officeDocument/2006/relationships/font"/><Relationship Id="rId7" Target="slides/slide2.xml" Type="http://schemas.openxmlformats.org/officeDocument/2006/relationships/slide"/><Relationship Id="rId70" Target="fonts/font70.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embeddings/oleObject1.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8.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7639433"/>
            <a:ext cx="18288000" cy="2676937"/>
            <a:chOff x="0" y="0"/>
            <a:chExt cx="4816593" cy="705037"/>
          </a:xfrm>
        </p:grpSpPr>
        <p:sp>
          <p:nvSpPr>
            <p:cNvPr name="Freeform 3" id="3"/>
            <p:cNvSpPr/>
            <p:nvPr/>
          </p:nvSpPr>
          <p:spPr>
            <a:xfrm flipH="false" flipV="false" rot="0">
              <a:off x="0" y="0"/>
              <a:ext cx="4816592" cy="705037"/>
            </a:xfrm>
            <a:custGeom>
              <a:avLst/>
              <a:gdLst/>
              <a:ahLst/>
              <a:cxnLst/>
              <a:rect r="r" b="b" t="t" l="l"/>
              <a:pathLst>
                <a:path h="705037" w="4816592">
                  <a:moveTo>
                    <a:pt x="0" y="0"/>
                  </a:moveTo>
                  <a:lnTo>
                    <a:pt x="4816592" y="0"/>
                  </a:lnTo>
                  <a:lnTo>
                    <a:pt x="4816592" y="705037"/>
                  </a:lnTo>
                  <a:lnTo>
                    <a:pt x="0" y="705037"/>
                  </a:lnTo>
                  <a:close/>
                </a:path>
              </a:pathLst>
            </a:custGeom>
            <a:solidFill>
              <a:srgbClr val="FFD076"/>
            </a:solidFill>
          </p:spPr>
        </p:sp>
        <p:sp>
          <p:nvSpPr>
            <p:cNvPr name="TextBox 4" id="4"/>
            <p:cNvSpPr txBox="true"/>
            <p:nvPr/>
          </p:nvSpPr>
          <p:spPr>
            <a:xfrm>
              <a:off x="0" y="-47625"/>
              <a:ext cx="4816593" cy="752662"/>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2256205" y="1796162"/>
            <a:ext cx="14194690" cy="7113776"/>
            <a:chOff x="0" y="0"/>
            <a:chExt cx="3738519" cy="1873587"/>
          </a:xfrm>
        </p:grpSpPr>
        <p:sp>
          <p:nvSpPr>
            <p:cNvPr name="Freeform 6" id="6"/>
            <p:cNvSpPr/>
            <p:nvPr/>
          </p:nvSpPr>
          <p:spPr>
            <a:xfrm flipH="false" flipV="false" rot="0">
              <a:off x="0" y="0"/>
              <a:ext cx="3738519" cy="1873587"/>
            </a:xfrm>
            <a:custGeom>
              <a:avLst/>
              <a:gdLst/>
              <a:ahLst/>
              <a:cxnLst/>
              <a:rect r="r" b="b" t="t" l="l"/>
              <a:pathLst>
                <a:path h="1873587" w="3738519">
                  <a:moveTo>
                    <a:pt x="43633" y="0"/>
                  </a:moveTo>
                  <a:lnTo>
                    <a:pt x="3694886" y="0"/>
                  </a:lnTo>
                  <a:cubicBezTo>
                    <a:pt x="3718984" y="0"/>
                    <a:pt x="3738519" y="19535"/>
                    <a:pt x="3738519" y="43633"/>
                  </a:cubicBezTo>
                  <a:lnTo>
                    <a:pt x="3738519" y="1829954"/>
                  </a:lnTo>
                  <a:cubicBezTo>
                    <a:pt x="3738519" y="1854052"/>
                    <a:pt x="3718984" y="1873587"/>
                    <a:pt x="3694886" y="1873587"/>
                  </a:cubicBezTo>
                  <a:lnTo>
                    <a:pt x="43633" y="1873587"/>
                  </a:lnTo>
                  <a:cubicBezTo>
                    <a:pt x="32061" y="1873587"/>
                    <a:pt x="20962" y="1868990"/>
                    <a:pt x="12780" y="1860807"/>
                  </a:cubicBezTo>
                  <a:cubicBezTo>
                    <a:pt x="4597" y="1852625"/>
                    <a:pt x="0" y="1841526"/>
                    <a:pt x="0" y="1829954"/>
                  </a:cubicBezTo>
                  <a:lnTo>
                    <a:pt x="0" y="43633"/>
                  </a:lnTo>
                  <a:cubicBezTo>
                    <a:pt x="0" y="32061"/>
                    <a:pt x="4597" y="20962"/>
                    <a:pt x="12780" y="12780"/>
                  </a:cubicBezTo>
                  <a:cubicBezTo>
                    <a:pt x="20962" y="4597"/>
                    <a:pt x="32061" y="0"/>
                    <a:pt x="43633" y="0"/>
                  </a:cubicBezTo>
                  <a:close/>
                </a:path>
              </a:pathLst>
            </a:custGeom>
            <a:solidFill>
              <a:srgbClr val="646464"/>
            </a:solidFill>
          </p:spPr>
        </p:sp>
        <p:sp>
          <p:nvSpPr>
            <p:cNvPr name="TextBox 7" id="7"/>
            <p:cNvSpPr txBox="true"/>
            <p:nvPr/>
          </p:nvSpPr>
          <p:spPr>
            <a:xfrm>
              <a:off x="0" y="-47625"/>
              <a:ext cx="3738519" cy="1921212"/>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2046655" y="1586612"/>
            <a:ext cx="14194690" cy="7113776"/>
            <a:chOff x="0" y="0"/>
            <a:chExt cx="3738519" cy="1873587"/>
          </a:xfrm>
        </p:grpSpPr>
        <p:sp>
          <p:nvSpPr>
            <p:cNvPr name="Freeform 9" id="9"/>
            <p:cNvSpPr/>
            <p:nvPr/>
          </p:nvSpPr>
          <p:spPr>
            <a:xfrm flipH="false" flipV="false" rot="0">
              <a:off x="0" y="0"/>
              <a:ext cx="3738519" cy="1873587"/>
            </a:xfrm>
            <a:custGeom>
              <a:avLst/>
              <a:gdLst/>
              <a:ahLst/>
              <a:cxnLst/>
              <a:rect r="r" b="b" t="t" l="l"/>
              <a:pathLst>
                <a:path h="1873587" w="3738519">
                  <a:moveTo>
                    <a:pt x="43633" y="0"/>
                  </a:moveTo>
                  <a:lnTo>
                    <a:pt x="3694886" y="0"/>
                  </a:lnTo>
                  <a:cubicBezTo>
                    <a:pt x="3718984" y="0"/>
                    <a:pt x="3738519" y="19535"/>
                    <a:pt x="3738519" y="43633"/>
                  </a:cubicBezTo>
                  <a:lnTo>
                    <a:pt x="3738519" y="1829954"/>
                  </a:lnTo>
                  <a:cubicBezTo>
                    <a:pt x="3738519" y="1854052"/>
                    <a:pt x="3718984" y="1873587"/>
                    <a:pt x="3694886" y="1873587"/>
                  </a:cubicBezTo>
                  <a:lnTo>
                    <a:pt x="43633" y="1873587"/>
                  </a:lnTo>
                  <a:cubicBezTo>
                    <a:pt x="32061" y="1873587"/>
                    <a:pt x="20962" y="1868990"/>
                    <a:pt x="12780" y="1860807"/>
                  </a:cubicBezTo>
                  <a:cubicBezTo>
                    <a:pt x="4597" y="1852625"/>
                    <a:pt x="0" y="1841526"/>
                    <a:pt x="0" y="1829954"/>
                  </a:cubicBezTo>
                  <a:lnTo>
                    <a:pt x="0" y="43633"/>
                  </a:lnTo>
                  <a:cubicBezTo>
                    <a:pt x="0" y="32061"/>
                    <a:pt x="4597" y="20962"/>
                    <a:pt x="12780" y="12780"/>
                  </a:cubicBezTo>
                  <a:cubicBezTo>
                    <a:pt x="20962" y="4597"/>
                    <a:pt x="32061" y="0"/>
                    <a:pt x="43633" y="0"/>
                  </a:cubicBezTo>
                  <a:close/>
                </a:path>
              </a:pathLst>
            </a:custGeom>
            <a:solidFill>
              <a:srgbClr val="FFFFFF"/>
            </a:solidFill>
          </p:spPr>
        </p:sp>
        <p:sp>
          <p:nvSpPr>
            <p:cNvPr name="TextBox 10" id="10"/>
            <p:cNvSpPr txBox="true"/>
            <p:nvPr/>
          </p:nvSpPr>
          <p:spPr>
            <a:xfrm>
              <a:off x="0" y="-47625"/>
              <a:ext cx="3738519" cy="1921212"/>
            </a:xfrm>
            <a:prstGeom prst="rect">
              <a:avLst/>
            </a:prstGeom>
          </p:spPr>
          <p:txBody>
            <a:bodyPr anchor="ctr" rtlCol="false" tIns="50800" lIns="50800" bIns="50800" rIns="50800"/>
            <a:lstStyle/>
            <a:p>
              <a:pPr algn="ctr">
                <a:lnSpc>
                  <a:spcPts val="3560"/>
                </a:lnSpc>
              </a:pPr>
            </a:p>
          </p:txBody>
        </p:sp>
      </p:grpSp>
      <p:grpSp>
        <p:nvGrpSpPr>
          <p:cNvPr name="Group 11" id="11"/>
          <p:cNvGrpSpPr/>
          <p:nvPr/>
        </p:nvGrpSpPr>
        <p:grpSpPr>
          <a:xfrm rot="0">
            <a:off x="6262591" y="-988210"/>
            <a:ext cx="5762818" cy="3296724"/>
            <a:chOff x="0" y="0"/>
            <a:chExt cx="1517779" cy="868273"/>
          </a:xfrm>
        </p:grpSpPr>
        <p:sp>
          <p:nvSpPr>
            <p:cNvPr name="Freeform 12" id="12"/>
            <p:cNvSpPr/>
            <p:nvPr/>
          </p:nvSpPr>
          <p:spPr>
            <a:xfrm flipH="false" flipV="false" rot="0">
              <a:off x="0" y="0"/>
              <a:ext cx="1517779" cy="868273"/>
            </a:xfrm>
            <a:custGeom>
              <a:avLst/>
              <a:gdLst/>
              <a:ahLst/>
              <a:cxnLst/>
              <a:rect r="r" b="b" t="t" l="l"/>
              <a:pathLst>
                <a:path h="868273" w="1517779">
                  <a:moveTo>
                    <a:pt x="68515" y="0"/>
                  </a:moveTo>
                  <a:lnTo>
                    <a:pt x="1449265" y="0"/>
                  </a:lnTo>
                  <a:cubicBezTo>
                    <a:pt x="1487104" y="0"/>
                    <a:pt x="1517779" y="30675"/>
                    <a:pt x="1517779" y="68515"/>
                  </a:cubicBezTo>
                  <a:lnTo>
                    <a:pt x="1517779" y="799758"/>
                  </a:lnTo>
                  <a:cubicBezTo>
                    <a:pt x="1517779" y="817930"/>
                    <a:pt x="1510561" y="835357"/>
                    <a:pt x="1497712" y="848206"/>
                  </a:cubicBezTo>
                  <a:cubicBezTo>
                    <a:pt x="1484863" y="861055"/>
                    <a:pt x="1467436" y="868273"/>
                    <a:pt x="1449265" y="868273"/>
                  </a:cubicBezTo>
                  <a:lnTo>
                    <a:pt x="68515" y="868273"/>
                  </a:lnTo>
                  <a:cubicBezTo>
                    <a:pt x="30675" y="868273"/>
                    <a:pt x="0" y="837598"/>
                    <a:pt x="0" y="799758"/>
                  </a:cubicBezTo>
                  <a:lnTo>
                    <a:pt x="0" y="68515"/>
                  </a:lnTo>
                  <a:cubicBezTo>
                    <a:pt x="0" y="50343"/>
                    <a:pt x="7218" y="32917"/>
                    <a:pt x="20067" y="20067"/>
                  </a:cubicBezTo>
                  <a:cubicBezTo>
                    <a:pt x="32917" y="7218"/>
                    <a:pt x="50343" y="0"/>
                    <a:pt x="68515" y="0"/>
                  </a:cubicBezTo>
                  <a:close/>
                </a:path>
              </a:pathLst>
            </a:custGeom>
            <a:solidFill>
              <a:srgbClr val="FFD076"/>
            </a:solidFill>
          </p:spPr>
        </p:sp>
        <p:sp>
          <p:nvSpPr>
            <p:cNvPr name="TextBox 13" id="13"/>
            <p:cNvSpPr txBox="true"/>
            <p:nvPr/>
          </p:nvSpPr>
          <p:spPr>
            <a:xfrm>
              <a:off x="0" y="-47625"/>
              <a:ext cx="1517779" cy="915898"/>
            </a:xfrm>
            <a:prstGeom prst="rect">
              <a:avLst/>
            </a:prstGeom>
          </p:spPr>
          <p:txBody>
            <a:bodyPr anchor="ctr" rtlCol="false" tIns="50800" lIns="50800" bIns="50800" rIns="50800"/>
            <a:lstStyle/>
            <a:p>
              <a:pPr algn="ctr">
                <a:lnSpc>
                  <a:spcPts val="3560"/>
                </a:lnSpc>
              </a:pPr>
            </a:p>
          </p:txBody>
        </p:sp>
      </p:grpSp>
      <p:sp>
        <p:nvSpPr>
          <p:cNvPr name="Freeform 14" id="14"/>
          <p:cNvSpPr/>
          <p:nvPr/>
        </p:nvSpPr>
        <p:spPr>
          <a:xfrm flipH="false" flipV="false" rot="0">
            <a:off x="6573174" y="793613"/>
            <a:ext cx="638724" cy="792999"/>
          </a:xfrm>
          <a:custGeom>
            <a:avLst/>
            <a:gdLst/>
            <a:ahLst/>
            <a:cxnLst/>
            <a:rect r="r" b="b" t="t" l="l"/>
            <a:pathLst>
              <a:path h="792999" w="638724">
                <a:moveTo>
                  <a:pt x="0" y="0"/>
                </a:moveTo>
                <a:lnTo>
                  <a:pt x="638724" y="0"/>
                </a:lnTo>
                <a:lnTo>
                  <a:pt x="638724" y="792999"/>
                </a:lnTo>
                <a:lnTo>
                  <a:pt x="0" y="7929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689942" y="660153"/>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4884631" y="7146243"/>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2140567" y="3304920"/>
            <a:ext cx="14006866" cy="3770034"/>
          </a:xfrm>
          <a:prstGeom prst="rect">
            <a:avLst/>
          </a:prstGeom>
        </p:spPr>
        <p:txBody>
          <a:bodyPr anchor="t" rtlCol="false" tIns="0" lIns="0" bIns="0" rIns="0">
            <a:spAutoFit/>
          </a:bodyPr>
          <a:lstStyle/>
          <a:p>
            <a:pPr algn="ctr" marL="0" indent="0" lvl="0">
              <a:lnSpc>
                <a:spcPts val="9711"/>
              </a:lnSpc>
            </a:pPr>
            <a:r>
              <a:rPr lang="en-US" b="true" sz="8093">
                <a:solidFill>
                  <a:srgbClr val="8B5F0B"/>
                </a:solidFill>
                <a:latin typeface="Poppins Bold"/>
                <a:ea typeface="Poppins Bold"/>
                <a:cs typeface="Poppins Bold"/>
                <a:sym typeface="Poppins Bold"/>
              </a:rPr>
              <a:t>SECURITY METRICS AND KEY PERFORMANCE INDICATORS </a:t>
            </a:r>
          </a:p>
        </p:txBody>
      </p:sp>
      <p:sp>
        <p:nvSpPr>
          <p:cNvPr name="TextBox 18" id="18"/>
          <p:cNvSpPr txBox="true"/>
          <p:nvPr/>
        </p:nvSpPr>
        <p:spPr>
          <a:xfrm rot="0">
            <a:off x="3403369" y="7544183"/>
            <a:ext cx="11121892" cy="617564"/>
          </a:xfrm>
          <a:prstGeom prst="rect">
            <a:avLst/>
          </a:prstGeom>
        </p:spPr>
        <p:txBody>
          <a:bodyPr anchor="t" rtlCol="false" tIns="0" lIns="0" bIns="0" rIns="0">
            <a:spAutoFit/>
          </a:bodyPr>
          <a:lstStyle/>
          <a:p>
            <a:pPr algn="ctr" marL="0" indent="0" lvl="0">
              <a:lnSpc>
                <a:spcPts val="4814"/>
              </a:lnSpc>
            </a:pPr>
            <a:r>
              <a:rPr lang="en-US" sz="3438" i="true">
                <a:solidFill>
                  <a:srgbClr val="000000"/>
                </a:solidFill>
                <a:latin typeface="Poppins Italics"/>
                <a:ea typeface="Poppins Italics"/>
                <a:cs typeface="Poppins Italics"/>
                <a:sym typeface="Poppins Italics"/>
              </a:rPr>
              <a:t>GROUP 5</a:t>
            </a:r>
          </a:p>
        </p:txBody>
      </p:sp>
      <p:sp>
        <p:nvSpPr>
          <p:cNvPr name="TextBox 19" id="19"/>
          <p:cNvSpPr txBox="true"/>
          <p:nvPr/>
        </p:nvSpPr>
        <p:spPr>
          <a:xfrm rot="0">
            <a:off x="7564467" y="928498"/>
            <a:ext cx="3927690" cy="456554"/>
          </a:xfrm>
          <a:prstGeom prst="rect">
            <a:avLst/>
          </a:prstGeom>
        </p:spPr>
        <p:txBody>
          <a:bodyPr anchor="t" rtlCol="false" tIns="0" lIns="0" bIns="0" rIns="0">
            <a:spAutoFit/>
          </a:bodyPr>
          <a:lstStyle/>
          <a:p>
            <a:pPr algn="l" marL="0" indent="0" lvl="0">
              <a:lnSpc>
                <a:spcPts val="3639"/>
              </a:lnSpc>
              <a:spcBef>
                <a:spcPct val="0"/>
              </a:spcBef>
            </a:pPr>
            <a:r>
              <a:rPr lang="en-US" b="true" sz="2599">
                <a:solidFill>
                  <a:srgbClr val="191919"/>
                </a:solidFill>
                <a:latin typeface="Poppins Bold"/>
                <a:ea typeface="Poppins Bold"/>
                <a:cs typeface="Poppins Bold"/>
                <a:sym typeface="Poppins Bold"/>
              </a:rPr>
              <a:t>IT Professional Elective 3</a:t>
            </a:r>
          </a:p>
        </p:txBody>
      </p:sp>
      <p:sp>
        <p:nvSpPr>
          <p:cNvPr name="TextBox 20" id="20"/>
          <p:cNvSpPr txBox="true"/>
          <p:nvPr/>
        </p:nvSpPr>
        <p:spPr>
          <a:xfrm rot="0">
            <a:off x="6262591" y="9157588"/>
            <a:ext cx="5762818" cy="567911"/>
          </a:xfrm>
          <a:prstGeom prst="rect">
            <a:avLst/>
          </a:prstGeom>
        </p:spPr>
        <p:txBody>
          <a:bodyPr anchor="t" rtlCol="false" tIns="0" lIns="0" bIns="0" rIns="0">
            <a:spAutoFit/>
          </a:bodyPr>
          <a:lstStyle/>
          <a:p>
            <a:pPr algn="ctr" marL="0" indent="0" lvl="0">
              <a:lnSpc>
                <a:spcPts val="4397"/>
              </a:lnSpc>
              <a:spcBef>
                <a:spcPct val="0"/>
              </a:spcBef>
            </a:pPr>
            <a:r>
              <a:rPr lang="en-US" sz="3141">
                <a:solidFill>
                  <a:srgbClr val="000000"/>
                </a:solidFill>
                <a:latin typeface="Poppins"/>
                <a:ea typeface="Poppins"/>
                <a:cs typeface="Poppins"/>
                <a:sym typeface="Poppins"/>
              </a:rPr>
              <a:t>August 10</a:t>
            </a:r>
            <a:r>
              <a:rPr lang="en-US" sz="3141">
                <a:solidFill>
                  <a:srgbClr val="000000"/>
                </a:solidFill>
                <a:latin typeface="Poppins"/>
                <a:ea typeface="Poppins"/>
                <a:cs typeface="Poppins"/>
                <a:sym typeface="Poppins"/>
              </a:rPr>
              <a:t>, 2026</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8441550"/>
            <a:ext cx="18288000" cy="2384118"/>
            <a:chOff x="0" y="0"/>
            <a:chExt cx="4816593" cy="627916"/>
          </a:xfrm>
        </p:grpSpPr>
        <p:sp>
          <p:nvSpPr>
            <p:cNvPr name="Freeform 3" id="3"/>
            <p:cNvSpPr/>
            <p:nvPr/>
          </p:nvSpPr>
          <p:spPr>
            <a:xfrm flipH="false" flipV="false" rot="0">
              <a:off x="0" y="0"/>
              <a:ext cx="4816592" cy="627916"/>
            </a:xfrm>
            <a:custGeom>
              <a:avLst/>
              <a:gdLst/>
              <a:ahLst/>
              <a:cxnLst/>
              <a:rect r="r" b="b" t="t" l="l"/>
              <a:pathLst>
                <a:path h="627916" w="4816592">
                  <a:moveTo>
                    <a:pt x="0" y="0"/>
                  </a:moveTo>
                  <a:lnTo>
                    <a:pt x="4816592" y="0"/>
                  </a:lnTo>
                  <a:lnTo>
                    <a:pt x="4816592" y="627916"/>
                  </a:lnTo>
                  <a:lnTo>
                    <a:pt x="0" y="627916"/>
                  </a:lnTo>
                  <a:close/>
                </a:path>
              </a:pathLst>
            </a:custGeom>
            <a:solidFill>
              <a:srgbClr val="FFD076"/>
            </a:solidFill>
          </p:spPr>
        </p:sp>
        <p:sp>
          <p:nvSpPr>
            <p:cNvPr name="TextBox 4" id="4"/>
            <p:cNvSpPr txBox="true"/>
            <p:nvPr/>
          </p:nvSpPr>
          <p:spPr>
            <a:xfrm>
              <a:off x="0" y="-47625"/>
              <a:ext cx="4816593" cy="675541"/>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2331814" y="3023408"/>
            <a:ext cx="907601" cy="90760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D076"/>
            </a:solidFill>
          </p:spPr>
        </p:sp>
        <p:sp>
          <p:nvSpPr>
            <p:cNvPr name="TextBox 7" id="7"/>
            <p:cNvSpPr txBox="true"/>
            <p:nvPr/>
          </p:nvSpPr>
          <p:spPr>
            <a:xfrm>
              <a:off x="0" y="-95250"/>
              <a:ext cx="812800" cy="908050"/>
            </a:xfrm>
            <a:prstGeom prst="rect">
              <a:avLst/>
            </a:prstGeom>
          </p:spPr>
          <p:txBody>
            <a:bodyPr anchor="ctr" rtlCol="false" tIns="50800" lIns="50800" bIns="50800" rIns="50800"/>
            <a:lstStyle/>
            <a:p>
              <a:pPr algn="ctr">
                <a:lnSpc>
                  <a:spcPts val="4260"/>
                </a:lnSpc>
              </a:pPr>
              <a:r>
                <a:rPr lang="en-US" b="true" sz="3043">
                  <a:solidFill>
                    <a:srgbClr val="8B5F0B"/>
                  </a:solidFill>
                  <a:latin typeface="Poppins Bold"/>
                  <a:ea typeface="Poppins Bold"/>
                  <a:cs typeface="Poppins Bold"/>
                  <a:sym typeface="Poppins Bold"/>
                </a:rPr>
                <a:t>01</a:t>
              </a:r>
            </a:p>
          </p:txBody>
        </p:sp>
      </p:grpSp>
      <p:grpSp>
        <p:nvGrpSpPr>
          <p:cNvPr name="Group 8" id="8"/>
          <p:cNvGrpSpPr/>
          <p:nvPr/>
        </p:nvGrpSpPr>
        <p:grpSpPr>
          <a:xfrm rot="0">
            <a:off x="10954021" y="3169747"/>
            <a:ext cx="907601" cy="90760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D076"/>
            </a:solidFill>
          </p:spPr>
        </p:sp>
        <p:sp>
          <p:nvSpPr>
            <p:cNvPr name="TextBox 10" id="10"/>
            <p:cNvSpPr txBox="true"/>
            <p:nvPr/>
          </p:nvSpPr>
          <p:spPr>
            <a:xfrm>
              <a:off x="0" y="-95250"/>
              <a:ext cx="812800" cy="908050"/>
            </a:xfrm>
            <a:prstGeom prst="rect">
              <a:avLst/>
            </a:prstGeom>
          </p:spPr>
          <p:txBody>
            <a:bodyPr anchor="ctr" rtlCol="false" tIns="50800" lIns="50800" bIns="50800" rIns="50800"/>
            <a:lstStyle/>
            <a:p>
              <a:pPr algn="ctr">
                <a:lnSpc>
                  <a:spcPts val="4260"/>
                </a:lnSpc>
              </a:pPr>
              <a:r>
                <a:rPr lang="en-US" b="true" sz="3043">
                  <a:solidFill>
                    <a:srgbClr val="8B5F0B"/>
                  </a:solidFill>
                  <a:latin typeface="Poppins Bold"/>
                  <a:ea typeface="Poppins Bold"/>
                  <a:cs typeface="Poppins Bold"/>
                  <a:sym typeface="Poppins Bold"/>
                </a:rPr>
                <a:t>04</a:t>
              </a:r>
            </a:p>
          </p:txBody>
        </p:sp>
      </p:grpSp>
      <p:grpSp>
        <p:nvGrpSpPr>
          <p:cNvPr name="Group 11" id="11"/>
          <p:cNvGrpSpPr/>
          <p:nvPr/>
        </p:nvGrpSpPr>
        <p:grpSpPr>
          <a:xfrm rot="0">
            <a:off x="2331814" y="4543360"/>
            <a:ext cx="907601" cy="90760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D076"/>
            </a:solidFill>
          </p:spPr>
        </p:sp>
        <p:sp>
          <p:nvSpPr>
            <p:cNvPr name="TextBox 13" id="13"/>
            <p:cNvSpPr txBox="true"/>
            <p:nvPr/>
          </p:nvSpPr>
          <p:spPr>
            <a:xfrm>
              <a:off x="0" y="-95250"/>
              <a:ext cx="812800" cy="908050"/>
            </a:xfrm>
            <a:prstGeom prst="rect">
              <a:avLst/>
            </a:prstGeom>
          </p:spPr>
          <p:txBody>
            <a:bodyPr anchor="ctr" rtlCol="false" tIns="50800" lIns="50800" bIns="50800" rIns="50800"/>
            <a:lstStyle/>
            <a:p>
              <a:pPr algn="ctr">
                <a:lnSpc>
                  <a:spcPts val="4260"/>
                </a:lnSpc>
              </a:pPr>
              <a:r>
                <a:rPr lang="en-US" b="true" sz="3043">
                  <a:solidFill>
                    <a:srgbClr val="8B5F0B"/>
                  </a:solidFill>
                  <a:latin typeface="Poppins Bold"/>
                  <a:ea typeface="Poppins Bold"/>
                  <a:cs typeface="Poppins Bold"/>
                  <a:sym typeface="Poppins Bold"/>
                </a:rPr>
                <a:t>02</a:t>
              </a:r>
            </a:p>
          </p:txBody>
        </p:sp>
      </p:grpSp>
      <p:grpSp>
        <p:nvGrpSpPr>
          <p:cNvPr name="Group 14" id="14"/>
          <p:cNvGrpSpPr/>
          <p:nvPr/>
        </p:nvGrpSpPr>
        <p:grpSpPr>
          <a:xfrm rot="0">
            <a:off x="10954021" y="4689699"/>
            <a:ext cx="907601" cy="90760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D076"/>
            </a:solidFill>
          </p:spPr>
        </p:sp>
        <p:sp>
          <p:nvSpPr>
            <p:cNvPr name="TextBox 16" id="16"/>
            <p:cNvSpPr txBox="true"/>
            <p:nvPr/>
          </p:nvSpPr>
          <p:spPr>
            <a:xfrm>
              <a:off x="0" y="-95250"/>
              <a:ext cx="812800" cy="908050"/>
            </a:xfrm>
            <a:prstGeom prst="rect">
              <a:avLst/>
            </a:prstGeom>
          </p:spPr>
          <p:txBody>
            <a:bodyPr anchor="ctr" rtlCol="false" tIns="50800" lIns="50800" bIns="50800" rIns="50800"/>
            <a:lstStyle/>
            <a:p>
              <a:pPr algn="ctr">
                <a:lnSpc>
                  <a:spcPts val="4260"/>
                </a:lnSpc>
              </a:pPr>
              <a:r>
                <a:rPr lang="en-US" b="true" sz="3043">
                  <a:solidFill>
                    <a:srgbClr val="8B5F0B"/>
                  </a:solidFill>
                  <a:latin typeface="Poppins Bold"/>
                  <a:ea typeface="Poppins Bold"/>
                  <a:cs typeface="Poppins Bold"/>
                  <a:sym typeface="Poppins Bold"/>
                </a:rPr>
                <a:t>05</a:t>
              </a:r>
            </a:p>
          </p:txBody>
        </p:sp>
      </p:grpSp>
      <p:sp>
        <p:nvSpPr>
          <p:cNvPr name="TextBox 17" id="17"/>
          <p:cNvSpPr txBox="true"/>
          <p:nvPr/>
        </p:nvSpPr>
        <p:spPr>
          <a:xfrm rot="0">
            <a:off x="1807688" y="404228"/>
            <a:ext cx="14672623" cy="1687278"/>
          </a:xfrm>
          <a:prstGeom prst="rect">
            <a:avLst/>
          </a:prstGeom>
        </p:spPr>
        <p:txBody>
          <a:bodyPr anchor="t" rtlCol="false" tIns="0" lIns="0" bIns="0" rIns="0">
            <a:spAutoFit/>
          </a:bodyPr>
          <a:lstStyle/>
          <a:p>
            <a:pPr algn="ctr" marL="0" indent="0" lvl="0">
              <a:lnSpc>
                <a:spcPts val="13050"/>
              </a:lnSpc>
              <a:spcBef>
                <a:spcPct val="0"/>
              </a:spcBef>
            </a:pPr>
            <a:r>
              <a:rPr lang="en-US" b="true" sz="9321">
                <a:solidFill>
                  <a:srgbClr val="8B5F0B"/>
                </a:solidFill>
                <a:latin typeface="Poppins Bold"/>
                <a:ea typeface="Poppins Bold"/>
                <a:cs typeface="Poppins Bold"/>
                <a:sym typeface="Poppins Bold"/>
              </a:rPr>
              <a:t>Report Highlights</a:t>
            </a:r>
          </a:p>
        </p:txBody>
      </p:sp>
      <p:sp>
        <p:nvSpPr>
          <p:cNvPr name="TextBox 18" id="18"/>
          <p:cNvSpPr txBox="true"/>
          <p:nvPr/>
        </p:nvSpPr>
        <p:spPr>
          <a:xfrm rot="0">
            <a:off x="5996538" y="9110994"/>
            <a:ext cx="6294924" cy="459297"/>
          </a:xfrm>
          <a:prstGeom prst="rect">
            <a:avLst/>
          </a:prstGeom>
        </p:spPr>
        <p:txBody>
          <a:bodyPr anchor="t" rtlCol="false" tIns="0" lIns="0" bIns="0" rIns="0">
            <a:spAutoFit/>
          </a:bodyPr>
          <a:lstStyle/>
          <a:p>
            <a:pPr algn="ctr" marL="0" indent="0" lvl="0">
              <a:lnSpc>
                <a:spcPts val="3560"/>
              </a:lnSpc>
              <a:spcBef>
                <a:spcPct val="0"/>
              </a:spcBef>
            </a:pPr>
            <a:r>
              <a:rPr lang="en-US" sz="2543" spc="1017">
                <a:solidFill>
                  <a:srgbClr val="000000"/>
                </a:solidFill>
                <a:latin typeface="Poppins"/>
                <a:ea typeface="Poppins"/>
                <a:cs typeface="Poppins"/>
                <a:sym typeface="Poppins"/>
              </a:rPr>
              <a:t>ITPE 3   I  GROUP 5</a:t>
            </a:r>
          </a:p>
        </p:txBody>
      </p:sp>
      <p:sp>
        <p:nvSpPr>
          <p:cNvPr name="TextBox 19" id="19"/>
          <p:cNvSpPr txBox="true"/>
          <p:nvPr/>
        </p:nvSpPr>
        <p:spPr>
          <a:xfrm rot="0">
            <a:off x="3451397" y="3112630"/>
            <a:ext cx="6775447" cy="633951"/>
          </a:xfrm>
          <a:prstGeom prst="rect">
            <a:avLst/>
          </a:prstGeom>
        </p:spPr>
        <p:txBody>
          <a:bodyPr anchor="t" rtlCol="false" tIns="0" lIns="0" bIns="0" rIns="0">
            <a:spAutoFit/>
          </a:bodyPr>
          <a:lstStyle/>
          <a:p>
            <a:pPr algn="l" marL="0" indent="0" lvl="0">
              <a:lnSpc>
                <a:spcPts val="4957"/>
              </a:lnSpc>
              <a:spcBef>
                <a:spcPct val="0"/>
              </a:spcBef>
            </a:pPr>
            <a:r>
              <a:rPr lang="en-US" sz="3541">
                <a:solidFill>
                  <a:srgbClr val="8B5F0B"/>
                </a:solidFill>
                <a:latin typeface="Poppins"/>
                <a:ea typeface="Poppins"/>
                <a:cs typeface="Poppins"/>
                <a:sym typeface="Poppins"/>
              </a:rPr>
              <a:t>Challenge of security metrics</a:t>
            </a:r>
          </a:p>
        </p:txBody>
      </p:sp>
      <p:sp>
        <p:nvSpPr>
          <p:cNvPr name="TextBox 20" id="20"/>
          <p:cNvSpPr txBox="true"/>
          <p:nvPr/>
        </p:nvSpPr>
        <p:spPr>
          <a:xfrm rot="0">
            <a:off x="12073604" y="3258969"/>
            <a:ext cx="4884326" cy="633897"/>
          </a:xfrm>
          <a:prstGeom prst="rect">
            <a:avLst/>
          </a:prstGeom>
        </p:spPr>
        <p:txBody>
          <a:bodyPr anchor="t" rtlCol="false" tIns="0" lIns="0" bIns="0" rIns="0">
            <a:spAutoFit/>
          </a:bodyPr>
          <a:lstStyle/>
          <a:p>
            <a:pPr algn="l" marL="0" indent="0" lvl="0">
              <a:lnSpc>
                <a:spcPts val="4957"/>
              </a:lnSpc>
              <a:spcBef>
                <a:spcPct val="0"/>
              </a:spcBef>
            </a:pPr>
            <a:r>
              <a:rPr lang="en-US" sz="3541">
                <a:solidFill>
                  <a:srgbClr val="8B5F0B"/>
                </a:solidFill>
                <a:latin typeface="Poppins"/>
                <a:ea typeface="Poppins"/>
                <a:cs typeface="Poppins"/>
                <a:sym typeface="Poppins"/>
              </a:rPr>
              <a:t>Metrics and FISMA</a:t>
            </a:r>
          </a:p>
        </p:txBody>
      </p:sp>
      <p:sp>
        <p:nvSpPr>
          <p:cNvPr name="TextBox 21" id="21"/>
          <p:cNvSpPr txBox="true"/>
          <p:nvPr/>
        </p:nvSpPr>
        <p:spPr>
          <a:xfrm rot="0">
            <a:off x="3451397" y="4632582"/>
            <a:ext cx="4884326" cy="633897"/>
          </a:xfrm>
          <a:prstGeom prst="rect">
            <a:avLst/>
          </a:prstGeom>
        </p:spPr>
        <p:txBody>
          <a:bodyPr anchor="t" rtlCol="false" tIns="0" lIns="0" bIns="0" rIns="0">
            <a:spAutoFit/>
          </a:bodyPr>
          <a:lstStyle/>
          <a:p>
            <a:pPr algn="l" marL="0" indent="0" lvl="0">
              <a:lnSpc>
                <a:spcPts val="4957"/>
              </a:lnSpc>
              <a:spcBef>
                <a:spcPct val="0"/>
              </a:spcBef>
            </a:pPr>
            <a:r>
              <a:rPr lang="en-US" sz="3541">
                <a:solidFill>
                  <a:srgbClr val="8B5F0B"/>
                </a:solidFill>
                <a:latin typeface="Poppins"/>
                <a:ea typeface="Poppins"/>
                <a:cs typeface="Poppins"/>
                <a:sym typeface="Poppins"/>
              </a:rPr>
              <a:t>What makes a goodmetric</a:t>
            </a:r>
          </a:p>
        </p:txBody>
      </p:sp>
      <p:sp>
        <p:nvSpPr>
          <p:cNvPr name="TextBox 22" id="22"/>
          <p:cNvSpPr txBox="true"/>
          <p:nvPr/>
        </p:nvSpPr>
        <p:spPr>
          <a:xfrm rot="0">
            <a:off x="12073604" y="4778921"/>
            <a:ext cx="4884326" cy="1262493"/>
          </a:xfrm>
          <a:prstGeom prst="rect">
            <a:avLst/>
          </a:prstGeom>
        </p:spPr>
        <p:txBody>
          <a:bodyPr anchor="t" rtlCol="false" tIns="0" lIns="0" bIns="0" rIns="0">
            <a:spAutoFit/>
          </a:bodyPr>
          <a:lstStyle/>
          <a:p>
            <a:pPr algn="l" marL="0" indent="0" lvl="0">
              <a:lnSpc>
                <a:spcPts val="4957"/>
              </a:lnSpc>
              <a:spcBef>
                <a:spcPct val="0"/>
              </a:spcBef>
            </a:pPr>
            <a:r>
              <a:rPr lang="en-US" sz="3541">
                <a:solidFill>
                  <a:srgbClr val="8B5F0B"/>
                </a:solidFill>
                <a:latin typeface="Poppins"/>
                <a:ea typeface="Poppins"/>
                <a:cs typeface="Poppins"/>
                <a:sym typeface="Poppins"/>
              </a:rPr>
              <a:t>Physical Security and Environmental Events</a:t>
            </a:r>
          </a:p>
        </p:txBody>
      </p:sp>
      <p:grpSp>
        <p:nvGrpSpPr>
          <p:cNvPr name="Group 23" id="23"/>
          <p:cNvGrpSpPr/>
          <p:nvPr/>
        </p:nvGrpSpPr>
        <p:grpSpPr>
          <a:xfrm rot="0">
            <a:off x="2331814" y="6063312"/>
            <a:ext cx="907601" cy="907601"/>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D076"/>
            </a:solidFill>
          </p:spPr>
        </p:sp>
        <p:sp>
          <p:nvSpPr>
            <p:cNvPr name="TextBox 25" id="25"/>
            <p:cNvSpPr txBox="true"/>
            <p:nvPr/>
          </p:nvSpPr>
          <p:spPr>
            <a:xfrm>
              <a:off x="0" y="-95250"/>
              <a:ext cx="812800" cy="908050"/>
            </a:xfrm>
            <a:prstGeom prst="rect">
              <a:avLst/>
            </a:prstGeom>
          </p:spPr>
          <p:txBody>
            <a:bodyPr anchor="ctr" rtlCol="false" tIns="50800" lIns="50800" bIns="50800" rIns="50800"/>
            <a:lstStyle/>
            <a:p>
              <a:pPr algn="ctr">
                <a:lnSpc>
                  <a:spcPts val="4260"/>
                </a:lnSpc>
              </a:pPr>
              <a:r>
                <a:rPr lang="en-US" b="true" sz="3043">
                  <a:solidFill>
                    <a:srgbClr val="8B5F0B"/>
                  </a:solidFill>
                  <a:latin typeface="Poppins Bold"/>
                  <a:ea typeface="Poppins Bold"/>
                  <a:cs typeface="Poppins Bold"/>
                  <a:sym typeface="Poppins Bold"/>
                </a:rPr>
                <a:t>03</a:t>
              </a:r>
            </a:p>
          </p:txBody>
        </p:sp>
      </p:grpSp>
      <p:grpSp>
        <p:nvGrpSpPr>
          <p:cNvPr name="Group 26" id="26"/>
          <p:cNvGrpSpPr/>
          <p:nvPr/>
        </p:nvGrpSpPr>
        <p:grpSpPr>
          <a:xfrm rot="0">
            <a:off x="10954021" y="6209651"/>
            <a:ext cx="907601" cy="90760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D076"/>
            </a:solidFill>
          </p:spPr>
        </p:sp>
        <p:sp>
          <p:nvSpPr>
            <p:cNvPr name="TextBox 28" id="28"/>
            <p:cNvSpPr txBox="true"/>
            <p:nvPr/>
          </p:nvSpPr>
          <p:spPr>
            <a:xfrm>
              <a:off x="0" y="-95250"/>
              <a:ext cx="812800" cy="908050"/>
            </a:xfrm>
            <a:prstGeom prst="rect">
              <a:avLst/>
            </a:prstGeom>
          </p:spPr>
          <p:txBody>
            <a:bodyPr anchor="ctr" rtlCol="false" tIns="50800" lIns="50800" bIns="50800" rIns="50800"/>
            <a:lstStyle/>
            <a:p>
              <a:pPr algn="ctr">
                <a:lnSpc>
                  <a:spcPts val="4260"/>
                </a:lnSpc>
              </a:pPr>
              <a:r>
                <a:rPr lang="en-US" b="true" sz="3043">
                  <a:solidFill>
                    <a:srgbClr val="8B5F0B"/>
                  </a:solidFill>
                  <a:latin typeface="Poppins Bold"/>
                  <a:ea typeface="Poppins Bold"/>
                  <a:cs typeface="Poppins Bold"/>
                  <a:sym typeface="Poppins Bold"/>
                </a:rPr>
                <a:t>06</a:t>
              </a:r>
            </a:p>
          </p:txBody>
        </p:sp>
      </p:grpSp>
      <p:sp>
        <p:nvSpPr>
          <p:cNvPr name="TextBox 29" id="29"/>
          <p:cNvSpPr txBox="true"/>
          <p:nvPr/>
        </p:nvSpPr>
        <p:spPr>
          <a:xfrm rot="0">
            <a:off x="3451397" y="6152534"/>
            <a:ext cx="8117434" cy="633897"/>
          </a:xfrm>
          <a:prstGeom prst="rect">
            <a:avLst/>
          </a:prstGeom>
        </p:spPr>
        <p:txBody>
          <a:bodyPr anchor="t" rtlCol="false" tIns="0" lIns="0" bIns="0" rIns="0">
            <a:spAutoFit/>
          </a:bodyPr>
          <a:lstStyle/>
          <a:p>
            <a:pPr algn="l" marL="0" indent="0" lvl="0">
              <a:lnSpc>
                <a:spcPts val="4957"/>
              </a:lnSpc>
              <a:spcBef>
                <a:spcPct val="0"/>
              </a:spcBef>
            </a:pPr>
            <a:r>
              <a:rPr lang="en-US" sz="3541">
                <a:solidFill>
                  <a:srgbClr val="8B5F0B"/>
                </a:solidFill>
                <a:latin typeface="Poppins"/>
                <a:ea typeface="Poppins"/>
                <a:cs typeface="Poppins"/>
                <a:sym typeface="Poppins"/>
              </a:rPr>
              <a:t>Approaches to securitymetrics</a:t>
            </a:r>
          </a:p>
        </p:txBody>
      </p:sp>
      <p:sp>
        <p:nvSpPr>
          <p:cNvPr name="TextBox 30" id="30"/>
          <p:cNvSpPr txBox="true"/>
          <p:nvPr/>
        </p:nvSpPr>
        <p:spPr>
          <a:xfrm rot="0">
            <a:off x="12073604" y="6298874"/>
            <a:ext cx="5619123" cy="1891089"/>
          </a:xfrm>
          <a:prstGeom prst="rect">
            <a:avLst/>
          </a:prstGeom>
        </p:spPr>
        <p:txBody>
          <a:bodyPr anchor="t" rtlCol="false" tIns="0" lIns="0" bIns="0" rIns="0">
            <a:spAutoFit/>
          </a:bodyPr>
          <a:lstStyle/>
          <a:p>
            <a:pPr algn="l" marL="0" indent="0" lvl="0">
              <a:lnSpc>
                <a:spcPts val="4957"/>
              </a:lnSpc>
              <a:spcBef>
                <a:spcPct val="0"/>
              </a:spcBef>
            </a:pPr>
            <a:r>
              <a:rPr lang="en-US" sz="3541">
                <a:solidFill>
                  <a:srgbClr val="8B5F0B"/>
                </a:solidFill>
                <a:latin typeface="Poppins"/>
                <a:ea typeface="Poppins"/>
                <a:cs typeface="Poppins"/>
                <a:sym typeface="Poppins"/>
              </a:rPr>
              <a:t>Physical and environmental threats and control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783086"/>
            <a:ext cx="18288000" cy="5837888"/>
            <a:chOff x="0" y="0"/>
            <a:chExt cx="4816593" cy="1537551"/>
          </a:xfrm>
        </p:grpSpPr>
        <p:sp>
          <p:nvSpPr>
            <p:cNvPr name="Freeform 3" id="3"/>
            <p:cNvSpPr/>
            <p:nvPr/>
          </p:nvSpPr>
          <p:spPr>
            <a:xfrm flipH="false" flipV="false" rot="0">
              <a:off x="0" y="0"/>
              <a:ext cx="4816592" cy="1537551"/>
            </a:xfrm>
            <a:custGeom>
              <a:avLst/>
              <a:gdLst/>
              <a:ahLst/>
              <a:cxnLst/>
              <a:rect r="r" b="b" t="t" l="l"/>
              <a:pathLst>
                <a:path h="1537551" w="4816592">
                  <a:moveTo>
                    <a:pt x="0" y="0"/>
                  </a:moveTo>
                  <a:lnTo>
                    <a:pt x="4816592" y="0"/>
                  </a:lnTo>
                  <a:lnTo>
                    <a:pt x="4816592" y="1537551"/>
                  </a:lnTo>
                  <a:lnTo>
                    <a:pt x="0" y="1537551"/>
                  </a:lnTo>
                  <a:close/>
                </a:path>
              </a:pathLst>
            </a:custGeom>
            <a:solidFill>
              <a:srgbClr val="FFD076"/>
            </a:solidFill>
          </p:spPr>
        </p:sp>
        <p:sp>
          <p:nvSpPr>
            <p:cNvPr name="TextBox 4" id="4"/>
            <p:cNvSpPr txBox="true"/>
            <p:nvPr/>
          </p:nvSpPr>
          <p:spPr>
            <a:xfrm>
              <a:off x="0" y="-47625"/>
              <a:ext cx="4816593" cy="1585176"/>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1880944" y="1629613"/>
            <a:ext cx="5674091" cy="6694697"/>
            <a:chOff x="0" y="0"/>
            <a:chExt cx="1494411" cy="1763212"/>
          </a:xfrm>
        </p:grpSpPr>
        <p:sp>
          <p:nvSpPr>
            <p:cNvPr name="Freeform 6" id="6"/>
            <p:cNvSpPr/>
            <p:nvPr/>
          </p:nvSpPr>
          <p:spPr>
            <a:xfrm flipH="false" flipV="false" rot="0">
              <a:off x="0" y="0"/>
              <a:ext cx="1494411" cy="1763213"/>
            </a:xfrm>
            <a:custGeom>
              <a:avLst/>
              <a:gdLst/>
              <a:ahLst/>
              <a:cxnLst/>
              <a:rect r="r" b="b" t="t" l="l"/>
              <a:pathLst>
                <a:path h="1763213" w="1494411">
                  <a:moveTo>
                    <a:pt x="76408" y="0"/>
                  </a:moveTo>
                  <a:lnTo>
                    <a:pt x="1418003" y="0"/>
                  </a:lnTo>
                  <a:cubicBezTo>
                    <a:pt x="1460202" y="0"/>
                    <a:pt x="1494411" y="34209"/>
                    <a:pt x="1494411" y="76408"/>
                  </a:cubicBezTo>
                  <a:lnTo>
                    <a:pt x="1494411" y="1686804"/>
                  </a:lnTo>
                  <a:cubicBezTo>
                    <a:pt x="1494411" y="1729003"/>
                    <a:pt x="1460202" y="1763213"/>
                    <a:pt x="1418003" y="1763213"/>
                  </a:cubicBezTo>
                  <a:lnTo>
                    <a:pt x="76408" y="1763213"/>
                  </a:lnTo>
                  <a:cubicBezTo>
                    <a:pt x="34209" y="1763213"/>
                    <a:pt x="0" y="1729003"/>
                    <a:pt x="0" y="1686804"/>
                  </a:cubicBezTo>
                  <a:lnTo>
                    <a:pt x="0" y="76408"/>
                  </a:lnTo>
                  <a:cubicBezTo>
                    <a:pt x="0" y="34209"/>
                    <a:pt x="34209" y="0"/>
                    <a:pt x="76408" y="0"/>
                  </a:cubicBezTo>
                  <a:close/>
                </a:path>
              </a:pathLst>
            </a:custGeom>
            <a:solidFill>
              <a:srgbClr val="FFFFFF"/>
            </a:solidFill>
          </p:spPr>
        </p:sp>
        <p:sp>
          <p:nvSpPr>
            <p:cNvPr name="TextBox 7" id="7"/>
            <p:cNvSpPr txBox="true"/>
            <p:nvPr/>
          </p:nvSpPr>
          <p:spPr>
            <a:xfrm>
              <a:off x="0" y="-47625"/>
              <a:ext cx="1494411" cy="1810837"/>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11881898" y="1028700"/>
            <a:ext cx="5673137" cy="6818820"/>
            <a:chOff x="0" y="0"/>
            <a:chExt cx="878917" cy="1056414"/>
          </a:xfrm>
        </p:grpSpPr>
        <p:sp>
          <p:nvSpPr>
            <p:cNvPr name="Freeform 9" id="9"/>
            <p:cNvSpPr/>
            <p:nvPr/>
          </p:nvSpPr>
          <p:spPr>
            <a:xfrm flipH="false" flipV="false" rot="0">
              <a:off x="0" y="0"/>
              <a:ext cx="878917" cy="1056414"/>
            </a:xfrm>
            <a:custGeom>
              <a:avLst/>
              <a:gdLst/>
              <a:ahLst/>
              <a:cxnLst/>
              <a:rect r="r" b="b" t="t" l="l"/>
              <a:pathLst>
                <a:path h="1056414" w="878917">
                  <a:moveTo>
                    <a:pt x="76421" y="0"/>
                  </a:moveTo>
                  <a:lnTo>
                    <a:pt x="802496" y="0"/>
                  </a:lnTo>
                  <a:cubicBezTo>
                    <a:pt x="844703" y="0"/>
                    <a:pt x="878917" y="34215"/>
                    <a:pt x="878917" y="76421"/>
                  </a:cubicBezTo>
                  <a:lnTo>
                    <a:pt x="878917" y="979993"/>
                  </a:lnTo>
                  <a:cubicBezTo>
                    <a:pt x="878917" y="1022199"/>
                    <a:pt x="844703" y="1056414"/>
                    <a:pt x="802496" y="1056414"/>
                  </a:cubicBezTo>
                  <a:lnTo>
                    <a:pt x="76421" y="1056414"/>
                  </a:lnTo>
                  <a:cubicBezTo>
                    <a:pt x="56153" y="1056414"/>
                    <a:pt x="36715" y="1048362"/>
                    <a:pt x="22383" y="1034030"/>
                  </a:cubicBezTo>
                  <a:cubicBezTo>
                    <a:pt x="8051" y="1019699"/>
                    <a:pt x="0" y="1000261"/>
                    <a:pt x="0" y="979993"/>
                  </a:cubicBezTo>
                  <a:lnTo>
                    <a:pt x="0" y="76421"/>
                  </a:lnTo>
                  <a:cubicBezTo>
                    <a:pt x="0" y="34215"/>
                    <a:pt x="34215" y="0"/>
                    <a:pt x="76421" y="0"/>
                  </a:cubicBezTo>
                  <a:close/>
                </a:path>
              </a:pathLst>
            </a:custGeom>
            <a:blipFill>
              <a:blip r:embed="rId2"/>
              <a:stretch>
                <a:fillRect l="-56839" t="0" r="-56839" b="0"/>
              </a:stretch>
            </a:blipFill>
          </p:spPr>
        </p:sp>
      </p:grpSp>
      <p:sp>
        <p:nvSpPr>
          <p:cNvPr name="TextBox 10" id="10"/>
          <p:cNvSpPr txBox="true"/>
          <p:nvPr/>
        </p:nvSpPr>
        <p:spPr>
          <a:xfrm rot="0">
            <a:off x="1028700" y="1889064"/>
            <a:ext cx="10396841" cy="927334"/>
          </a:xfrm>
          <a:prstGeom prst="rect">
            <a:avLst/>
          </a:prstGeom>
        </p:spPr>
        <p:txBody>
          <a:bodyPr anchor="t" rtlCol="false" tIns="0" lIns="0" bIns="0" rIns="0">
            <a:spAutoFit/>
          </a:bodyPr>
          <a:lstStyle/>
          <a:p>
            <a:pPr algn="l" marL="0" indent="0" lvl="0">
              <a:lnSpc>
                <a:spcPts val="7261"/>
              </a:lnSpc>
              <a:spcBef>
                <a:spcPct val="0"/>
              </a:spcBef>
            </a:pPr>
            <a:r>
              <a:rPr lang="en-US" b="true" sz="5187">
                <a:solidFill>
                  <a:srgbClr val="563C08"/>
                </a:solidFill>
                <a:latin typeface="Poppins Bold"/>
                <a:ea typeface="Poppins Bold"/>
                <a:cs typeface="Poppins Bold"/>
                <a:sym typeface="Poppins Bold"/>
              </a:rPr>
              <a:t>What is the Core Challenge?</a:t>
            </a:r>
          </a:p>
        </p:txBody>
      </p:sp>
      <p:sp>
        <p:nvSpPr>
          <p:cNvPr name="Freeform 11" id="11"/>
          <p:cNvSpPr/>
          <p:nvPr/>
        </p:nvSpPr>
        <p:spPr>
          <a:xfrm flipH="false" flipV="false" rot="0">
            <a:off x="127389" y="-698554"/>
            <a:ext cx="2713427" cy="2730492"/>
          </a:xfrm>
          <a:custGeom>
            <a:avLst/>
            <a:gdLst/>
            <a:ahLst/>
            <a:cxnLst/>
            <a:rect r="r" b="b" t="t" l="l"/>
            <a:pathLst>
              <a:path h="2730492" w="2713427">
                <a:moveTo>
                  <a:pt x="0" y="0"/>
                </a:moveTo>
                <a:lnTo>
                  <a:pt x="2713427" y="0"/>
                </a:lnTo>
                <a:lnTo>
                  <a:pt x="2713427" y="2730493"/>
                </a:lnTo>
                <a:lnTo>
                  <a:pt x="0" y="27304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1028700" y="3472790"/>
            <a:ext cx="9603351" cy="2068628"/>
          </a:xfrm>
          <a:prstGeom prst="rect">
            <a:avLst/>
          </a:prstGeom>
        </p:spPr>
        <p:txBody>
          <a:bodyPr anchor="t" rtlCol="false" tIns="0" lIns="0" bIns="0" rIns="0">
            <a:spAutoFit/>
          </a:bodyPr>
          <a:lstStyle/>
          <a:p>
            <a:pPr algn="just" marL="0" indent="0" lvl="0">
              <a:lnSpc>
                <a:spcPts val="4106"/>
              </a:lnSpc>
              <a:spcBef>
                <a:spcPct val="0"/>
              </a:spcBef>
            </a:pPr>
            <a:r>
              <a:rPr lang="en-US" sz="2932">
                <a:solidFill>
                  <a:srgbClr val="8B5F0B"/>
                </a:solidFill>
                <a:latin typeface="Poppins"/>
                <a:ea typeface="Poppins"/>
                <a:cs typeface="Poppins"/>
                <a:sym typeface="Poppins"/>
              </a:rPr>
              <a:t>Security metrics often fail to truly reflect an organization's security posture. They can create a dangerous illusion of progress while real risk remains unaddressed or even increases</a:t>
            </a:r>
          </a:p>
        </p:txBody>
      </p:sp>
      <p:sp>
        <p:nvSpPr>
          <p:cNvPr name="TextBox 13" id="13"/>
          <p:cNvSpPr txBox="true"/>
          <p:nvPr/>
        </p:nvSpPr>
        <p:spPr>
          <a:xfrm rot="0">
            <a:off x="14824406" y="9511949"/>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PENAVERDE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0033"/>
            <a:ext cx="18288000" cy="7926934"/>
            <a:chOff x="0" y="0"/>
            <a:chExt cx="4816593" cy="2087752"/>
          </a:xfrm>
        </p:grpSpPr>
        <p:sp>
          <p:nvSpPr>
            <p:cNvPr name="Freeform 3" id="3"/>
            <p:cNvSpPr/>
            <p:nvPr/>
          </p:nvSpPr>
          <p:spPr>
            <a:xfrm flipH="false" flipV="false" rot="0">
              <a:off x="0" y="0"/>
              <a:ext cx="4816592" cy="2087752"/>
            </a:xfrm>
            <a:custGeom>
              <a:avLst/>
              <a:gdLst/>
              <a:ahLst/>
              <a:cxnLst/>
              <a:rect r="r" b="b" t="t" l="l"/>
              <a:pathLst>
                <a:path h="2087752" w="4816592">
                  <a:moveTo>
                    <a:pt x="0" y="0"/>
                  </a:moveTo>
                  <a:lnTo>
                    <a:pt x="4816592" y="0"/>
                  </a:lnTo>
                  <a:lnTo>
                    <a:pt x="4816592" y="2087752"/>
                  </a:lnTo>
                  <a:lnTo>
                    <a:pt x="0" y="2087752"/>
                  </a:lnTo>
                  <a:close/>
                </a:path>
              </a:pathLst>
            </a:custGeom>
            <a:solidFill>
              <a:srgbClr val="FFD076"/>
            </a:solidFill>
          </p:spPr>
        </p:sp>
        <p:sp>
          <p:nvSpPr>
            <p:cNvPr name="TextBox 4" id="4"/>
            <p:cNvSpPr txBox="true"/>
            <p:nvPr/>
          </p:nvSpPr>
          <p:spPr>
            <a:xfrm>
              <a:off x="0" y="-47625"/>
              <a:ext cx="4816593" cy="2135377"/>
            </a:xfrm>
            <a:prstGeom prst="rect">
              <a:avLst/>
            </a:prstGeom>
          </p:spPr>
          <p:txBody>
            <a:bodyPr anchor="ctr" rtlCol="false" tIns="50800" lIns="50800" bIns="50800" rIns="50800"/>
            <a:lstStyle/>
            <a:p>
              <a:pPr algn="ctr">
                <a:lnSpc>
                  <a:spcPts val="3560"/>
                </a:lnSpc>
              </a:pPr>
            </a:p>
          </p:txBody>
        </p:sp>
      </p:grpSp>
      <p:sp>
        <p:nvSpPr>
          <p:cNvPr name="TextBox 5" id="5"/>
          <p:cNvSpPr txBox="true"/>
          <p:nvPr/>
        </p:nvSpPr>
        <p:spPr>
          <a:xfrm rot="0">
            <a:off x="604504" y="997162"/>
            <a:ext cx="18948677" cy="1578776"/>
          </a:xfrm>
          <a:prstGeom prst="rect">
            <a:avLst/>
          </a:prstGeom>
        </p:spPr>
        <p:txBody>
          <a:bodyPr anchor="t" rtlCol="false" tIns="0" lIns="0" bIns="0" rIns="0">
            <a:spAutoFit/>
          </a:bodyPr>
          <a:lstStyle/>
          <a:p>
            <a:pPr algn="l" marL="0" indent="0" lvl="0">
              <a:lnSpc>
                <a:spcPts val="12205"/>
              </a:lnSpc>
              <a:spcBef>
                <a:spcPct val="0"/>
              </a:spcBef>
            </a:pPr>
            <a:r>
              <a:rPr lang="en-US" b="true" sz="8718">
                <a:solidFill>
                  <a:srgbClr val="563C08"/>
                </a:solidFill>
                <a:latin typeface="Poppins Bold"/>
                <a:ea typeface="Poppins Bold"/>
                <a:cs typeface="Poppins Bold"/>
                <a:sym typeface="Poppins Bold"/>
              </a:rPr>
              <a:t>Activity vs. Outcome</a:t>
            </a:r>
          </a:p>
        </p:txBody>
      </p:sp>
      <p:sp>
        <p:nvSpPr>
          <p:cNvPr name="TextBox 6" id="6"/>
          <p:cNvSpPr txBox="true"/>
          <p:nvPr/>
        </p:nvSpPr>
        <p:spPr>
          <a:xfrm rot="0">
            <a:off x="14692065" y="9581565"/>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PENAVERDE</a:t>
            </a:r>
          </a:p>
        </p:txBody>
      </p:sp>
      <p:sp>
        <p:nvSpPr>
          <p:cNvPr name="Freeform 7" id="7"/>
          <p:cNvSpPr/>
          <p:nvPr/>
        </p:nvSpPr>
        <p:spPr>
          <a:xfrm flipH="false" flipV="false" rot="0">
            <a:off x="127389" y="-698554"/>
            <a:ext cx="2713427" cy="2730492"/>
          </a:xfrm>
          <a:custGeom>
            <a:avLst/>
            <a:gdLst/>
            <a:ahLst/>
            <a:cxnLst/>
            <a:rect r="r" b="b" t="t" l="l"/>
            <a:pathLst>
              <a:path h="2730492" w="2713427">
                <a:moveTo>
                  <a:pt x="0" y="0"/>
                </a:moveTo>
                <a:lnTo>
                  <a:pt x="2713427" y="0"/>
                </a:lnTo>
                <a:lnTo>
                  <a:pt x="2713427" y="2730493"/>
                </a:lnTo>
                <a:lnTo>
                  <a:pt x="0" y="27304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27389" y="8674705"/>
            <a:ext cx="2713427" cy="2730492"/>
          </a:xfrm>
          <a:custGeom>
            <a:avLst/>
            <a:gdLst/>
            <a:ahLst/>
            <a:cxnLst/>
            <a:rect r="r" b="b" t="t" l="l"/>
            <a:pathLst>
              <a:path h="2730492" w="2713427">
                <a:moveTo>
                  <a:pt x="0" y="0"/>
                </a:moveTo>
                <a:lnTo>
                  <a:pt x="2713427" y="0"/>
                </a:lnTo>
                <a:lnTo>
                  <a:pt x="2713427" y="2730493"/>
                </a:lnTo>
                <a:lnTo>
                  <a:pt x="0" y="27304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18310" y="3829324"/>
            <a:ext cx="17451380" cy="5033702"/>
            <a:chOff x="0" y="0"/>
            <a:chExt cx="6153670" cy="1774974"/>
          </a:xfrm>
        </p:grpSpPr>
        <p:sp>
          <p:nvSpPr>
            <p:cNvPr name="Freeform 10" id="10"/>
            <p:cNvSpPr/>
            <p:nvPr/>
          </p:nvSpPr>
          <p:spPr>
            <a:xfrm flipH="false" flipV="false" rot="0">
              <a:off x="0" y="0"/>
              <a:ext cx="6153670" cy="1774974"/>
            </a:xfrm>
            <a:custGeom>
              <a:avLst/>
              <a:gdLst/>
              <a:ahLst/>
              <a:cxnLst/>
              <a:rect r="r" b="b" t="t" l="l"/>
              <a:pathLst>
                <a:path h="1774974" w="6153670">
                  <a:moveTo>
                    <a:pt x="22181" y="0"/>
                  </a:moveTo>
                  <a:lnTo>
                    <a:pt x="6131489" y="0"/>
                  </a:lnTo>
                  <a:cubicBezTo>
                    <a:pt x="6143739" y="0"/>
                    <a:pt x="6153670" y="9931"/>
                    <a:pt x="6153670" y="22181"/>
                  </a:cubicBezTo>
                  <a:lnTo>
                    <a:pt x="6153670" y="1752792"/>
                  </a:lnTo>
                  <a:cubicBezTo>
                    <a:pt x="6153670" y="1765043"/>
                    <a:pt x="6143739" y="1774974"/>
                    <a:pt x="6131489" y="1774974"/>
                  </a:cubicBezTo>
                  <a:lnTo>
                    <a:pt x="22181" y="1774974"/>
                  </a:lnTo>
                  <a:cubicBezTo>
                    <a:pt x="9931" y="1774974"/>
                    <a:pt x="0" y="1765043"/>
                    <a:pt x="0" y="1752792"/>
                  </a:cubicBezTo>
                  <a:lnTo>
                    <a:pt x="0" y="22181"/>
                  </a:lnTo>
                  <a:cubicBezTo>
                    <a:pt x="0" y="9931"/>
                    <a:pt x="9931" y="0"/>
                    <a:pt x="22181" y="0"/>
                  </a:cubicBezTo>
                  <a:close/>
                </a:path>
              </a:pathLst>
            </a:custGeom>
            <a:solidFill>
              <a:srgbClr val="F1F1F1"/>
            </a:solidFill>
          </p:spPr>
        </p:sp>
        <p:sp>
          <p:nvSpPr>
            <p:cNvPr name="TextBox 11" id="11"/>
            <p:cNvSpPr txBox="true"/>
            <p:nvPr/>
          </p:nvSpPr>
          <p:spPr>
            <a:xfrm>
              <a:off x="0" y="-57150"/>
              <a:ext cx="6153670" cy="1832124"/>
            </a:xfrm>
            <a:prstGeom prst="rect">
              <a:avLst/>
            </a:prstGeom>
          </p:spPr>
          <p:txBody>
            <a:bodyPr anchor="ctr" rtlCol="false" tIns="254000" lIns="254000" bIns="254000" rIns="254000"/>
            <a:lstStyle/>
            <a:p>
              <a:pPr algn="l">
                <a:lnSpc>
                  <a:spcPts val="2860"/>
                </a:lnSpc>
              </a:pPr>
            </a:p>
          </p:txBody>
        </p:sp>
      </p:grpSp>
      <p:sp>
        <p:nvSpPr>
          <p:cNvPr name="TextBox 12" id="12"/>
          <p:cNvSpPr txBox="true"/>
          <p:nvPr/>
        </p:nvSpPr>
        <p:spPr>
          <a:xfrm rot="0">
            <a:off x="682102" y="4185905"/>
            <a:ext cx="16923796" cy="4177665"/>
          </a:xfrm>
          <a:prstGeom prst="rect">
            <a:avLst/>
          </a:prstGeom>
        </p:spPr>
        <p:txBody>
          <a:bodyPr anchor="t" rtlCol="false" tIns="0" lIns="0" bIns="0" rIns="0">
            <a:spAutoFit/>
          </a:bodyPr>
          <a:lstStyle/>
          <a:p>
            <a:pPr algn="l" marL="626111" indent="-313055" lvl="1">
              <a:lnSpc>
                <a:spcPts val="4785"/>
              </a:lnSpc>
              <a:buFont typeface="Arial"/>
              <a:buChar char="•"/>
            </a:pPr>
            <a:r>
              <a:rPr lang="en-US" b="true" sz="2900">
                <a:solidFill>
                  <a:srgbClr val="191919"/>
                </a:solidFill>
                <a:latin typeface="Poppins Bold"/>
                <a:ea typeface="Poppins Bold"/>
                <a:cs typeface="Poppins Bold"/>
                <a:sym typeface="Poppins Bold"/>
              </a:rPr>
              <a:t>The Problem:</a:t>
            </a:r>
            <a:r>
              <a:rPr lang="en-US" sz="2900">
                <a:solidFill>
                  <a:srgbClr val="191919"/>
                </a:solidFill>
                <a:latin typeface="Poppins"/>
                <a:ea typeface="Poppins"/>
                <a:cs typeface="Poppins"/>
                <a:sym typeface="Poppins"/>
              </a:rPr>
              <a:t> Traditional metrics measure the volume of activity (e.g., scans run, alerts generated) rather than the actual reduction of risk .</a:t>
            </a:r>
          </a:p>
          <a:p>
            <a:pPr algn="l" marL="626111" indent="-313055" lvl="1">
              <a:lnSpc>
                <a:spcPts val="4785"/>
              </a:lnSpc>
              <a:buFont typeface="Arial"/>
              <a:buChar char="•"/>
            </a:pPr>
            <a:r>
              <a:rPr lang="en-US" b="true" sz="2900">
                <a:solidFill>
                  <a:srgbClr val="191919"/>
                </a:solidFill>
                <a:latin typeface="Poppins Bold"/>
                <a:ea typeface="Poppins Bold"/>
                <a:cs typeface="Poppins Bold"/>
                <a:sym typeface="Poppins Bold"/>
              </a:rPr>
              <a:t>The Illusion</a:t>
            </a:r>
            <a:r>
              <a:rPr lang="en-US" sz="2900">
                <a:solidFill>
                  <a:srgbClr val="191919"/>
                </a:solidFill>
                <a:latin typeface="Poppins"/>
                <a:ea typeface="Poppins"/>
                <a:cs typeface="Poppins"/>
                <a:sym typeface="Poppins"/>
              </a:rPr>
              <a:t>: Boards see rising numbers and assume protection is improving, but this often means security teams are generating "noise," not reducing exposure .</a:t>
            </a:r>
          </a:p>
          <a:p>
            <a:pPr algn="l" marL="626111" indent="-313055" lvl="1">
              <a:lnSpc>
                <a:spcPts val="4785"/>
              </a:lnSpc>
              <a:buFont typeface="Arial"/>
              <a:buChar char="•"/>
            </a:pPr>
            <a:r>
              <a:rPr lang="en-US" b="true" sz="2900">
                <a:solidFill>
                  <a:srgbClr val="191919"/>
                </a:solidFill>
                <a:latin typeface="Poppins Bold"/>
                <a:ea typeface="Poppins Bold"/>
                <a:cs typeface="Poppins Bold"/>
                <a:sym typeface="Poppins Bold"/>
              </a:rPr>
              <a:t>A Critical Flaw</a:t>
            </a:r>
            <a:r>
              <a:rPr lang="en-US" sz="2900">
                <a:solidFill>
                  <a:srgbClr val="191919"/>
                </a:solidFill>
                <a:latin typeface="Poppins"/>
                <a:ea typeface="Poppins"/>
                <a:cs typeface="Poppins"/>
                <a:sym typeface="Poppins"/>
              </a:rPr>
              <a:t>: Metrics like "number of incidents handled" are the most common but are misleading; a low incident count might mean strong defenses—or inadequate monitoring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25502" y="0"/>
            <a:ext cx="225561" cy="10287000"/>
            <a:chOff x="0" y="0"/>
            <a:chExt cx="59407" cy="2709333"/>
          </a:xfrm>
        </p:grpSpPr>
        <p:sp>
          <p:nvSpPr>
            <p:cNvPr name="Freeform 3" id="3"/>
            <p:cNvSpPr/>
            <p:nvPr/>
          </p:nvSpPr>
          <p:spPr>
            <a:xfrm flipH="false" flipV="false" rot="0">
              <a:off x="0" y="0"/>
              <a:ext cx="59407" cy="2709333"/>
            </a:xfrm>
            <a:custGeom>
              <a:avLst/>
              <a:gdLst/>
              <a:ahLst/>
              <a:cxnLst/>
              <a:rect r="r" b="b" t="t" l="l"/>
              <a:pathLst>
                <a:path h="2709333" w="59407">
                  <a:moveTo>
                    <a:pt x="0" y="0"/>
                  </a:moveTo>
                  <a:lnTo>
                    <a:pt x="59407" y="0"/>
                  </a:lnTo>
                  <a:lnTo>
                    <a:pt x="59407" y="2709333"/>
                  </a:lnTo>
                  <a:lnTo>
                    <a:pt x="0" y="2709333"/>
                  </a:lnTo>
                  <a:close/>
                </a:path>
              </a:pathLst>
            </a:custGeom>
            <a:solidFill>
              <a:srgbClr val="646464"/>
            </a:solidFill>
          </p:spPr>
        </p:sp>
        <p:sp>
          <p:nvSpPr>
            <p:cNvPr name="TextBox 4" id="4"/>
            <p:cNvSpPr txBox="true"/>
            <p:nvPr/>
          </p:nvSpPr>
          <p:spPr>
            <a:xfrm>
              <a:off x="0" y="-47625"/>
              <a:ext cx="59407" cy="2756958"/>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2203776" y="-838446"/>
            <a:ext cx="6329279" cy="11963892"/>
            <a:chOff x="0" y="0"/>
            <a:chExt cx="1666971" cy="3150984"/>
          </a:xfrm>
        </p:grpSpPr>
        <p:sp>
          <p:nvSpPr>
            <p:cNvPr name="Freeform 6" id="6"/>
            <p:cNvSpPr/>
            <p:nvPr/>
          </p:nvSpPr>
          <p:spPr>
            <a:xfrm flipH="false" flipV="false" rot="0">
              <a:off x="0" y="0"/>
              <a:ext cx="1666971" cy="3150984"/>
            </a:xfrm>
            <a:custGeom>
              <a:avLst/>
              <a:gdLst/>
              <a:ahLst/>
              <a:cxnLst/>
              <a:rect r="r" b="b" t="t" l="l"/>
              <a:pathLst>
                <a:path h="3150984" w="1666971">
                  <a:moveTo>
                    <a:pt x="0" y="0"/>
                  </a:moveTo>
                  <a:lnTo>
                    <a:pt x="1666971" y="0"/>
                  </a:lnTo>
                  <a:lnTo>
                    <a:pt x="1666971" y="3150984"/>
                  </a:lnTo>
                  <a:lnTo>
                    <a:pt x="0" y="3150984"/>
                  </a:lnTo>
                  <a:close/>
                </a:path>
              </a:pathLst>
            </a:custGeom>
            <a:solidFill>
              <a:srgbClr val="FFD076"/>
            </a:solidFill>
          </p:spPr>
        </p:sp>
        <p:sp>
          <p:nvSpPr>
            <p:cNvPr name="TextBox 7" id="7"/>
            <p:cNvSpPr txBox="true"/>
            <p:nvPr/>
          </p:nvSpPr>
          <p:spPr>
            <a:xfrm>
              <a:off x="0" y="-47625"/>
              <a:ext cx="1666971" cy="3198609"/>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2182977" y="3312901"/>
            <a:ext cx="3798154" cy="37981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5F0B"/>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560"/>
                </a:lnSpc>
              </a:pPr>
            </a:p>
          </p:txBody>
        </p:sp>
      </p:grpSp>
      <p:sp>
        <p:nvSpPr>
          <p:cNvPr name="Freeform 11" id="11"/>
          <p:cNvSpPr/>
          <p:nvPr/>
        </p:nvSpPr>
        <p:spPr>
          <a:xfrm flipH="false" flipV="false" rot="0">
            <a:off x="16289881" y="-552140"/>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74312" y="8394954"/>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2846254" y="3827251"/>
            <a:ext cx="2471600" cy="2150292"/>
          </a:xfrm>
          <a:custGeom>
            <a:avLst/>
            <a:gdLst/>
            <a:ahLst/>
            <a:cxnLst/>
            <a:rect r="r" b="b" t="t" l="l"/>
            <a:pathLst>
              <a:path h="2150292" w="2471600">
                <a:moveTo>
                  <a:pt x="0" y="0"/>
                </a:moveTo>
                <a:lnTo>
                  <a:pt x="2471600" y="0"/>
                </a:lnTo>
                <a:lnTo>
                  <a:pt x="2471600" y="2150292"/>
                </a:lnTo>
                <a:lnTo>
                  <a:pt x="0" y="21502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5981131" y="3760576"/>
            <a:ext cx="11665464" cy="5600437"/>
          </a:xfrm>
          <a:prstGeom prst="rect">
            <a:avLst/>
          </a:prstGeom>
        </p:spPr>
        <p:txBody>
          <a:bodyPr anchor="t" rtlCol="false" tIns="0" lIns="0" bIns="0" rIns="0">
            <a:spAutoFit/>
          </a:bodyPr>
          <a:lstStyle/>
          <a:p>
            <a:pPr algn="just">
              <a:lnSpc>
                <a:spcPts val="3689"/>
              </a:lnSpc>
            </a:pPr>
            <a:r>
              <a:rPr lang="en-US" sz="2635">
                <a:solidFill>
                  <a:srgbClr val="000000"/>
                </a:solidFill>
                <a:latin typeface="Poppins"/>
                <a:ea typeface="Poppins"/>
                <a:cs typeface="Poppins"/>
                <a:sym typeface="Poppins"/>
              </a:rPr>
              <a:t>1. Perverse Incentives </a:t>
            </a:r>
          </a:p>
          <a:p>
            <a:pPr algn="just" marL="568977" indent="-284488" lvl="1">
              <a:lnSpc>
                <a:spcPts val="3689"/>
              </a:lnSpc>
              <a:buFont typeface="Arial"/>
              <a:buChar char="•"/>
            </a:pPr>
            <a:r>
              <a:rPr lang="en-US" sz="2635">
                <a:solidFill>
                  <a:srgbClr val="000000"/>
                </a:solidFill>
                <a:latin typeface="Poppins"/>
                <a:ea typeface="Poppins"/>
                <a:cs typeface="Poppins"/>
                <a:sym typeface="Poppins"/>
              </a:rPr>
              <a:t>A </a:t>
            </a:r>
            <a:r>
              <a:rPr lang="en-US" sz="2635">
                <a:solidFill>
                  <a:srgbClr val="000000"/>
                </a:solidFill>
                <a:latin typeface="Poppins"/>
                <a:ea typeface="Poppins"/>
                <a:cs typeface="Poppins"/>
                <a:sym typeface="Poppins"/>
              </a:rPr>
              <a:t>Security Operations Center (SOC) measured on "tickets processed" is incentivized to quickly close tickets as false positives rather than investigate them. This does not measure real security effectiveness .</a:t>
            </a:r>
          </a:p>
          <a:p>
            <a:pPr algn="just">
              <a:lnSpc>
                <a:spcPts val="3689"/>
              </a:lnSpc>
            </a:pPr>
            <a:r>
              <a:rPr lang="en-US" sz="2635">
                <a:solidFill>
                  <a:srgbClr val="000000"/>
                </a:solidFill>
                <a:latin typeface="Poppins"/>
                <a:ea typeface="Poppins"/>
                <a:cs typeface="Poppins"/>
                <a:sym typeface="Poppins"/>
              </a:rPr>
              <a:t>2. The "Vanity" Problem</a:t>
            </a:r>
          </a:p>
          <a:p>
            <a:pPr algn="just" marL="568977" indent="-284488" lvl="1">
              <a:lnSpc>
                <a:spcPts val="3689"/>
              </a:lnSpc>
              <a:buFont typeface="Arial"/>
              <a:buChar char="•"/>
            </a:pPr>
            <a:r>
              <a:rPr lang="en-US" sz="2635">
                <a:solidFill>
                  <a:srgbClr val="000000"/>
                </a:solidFill>
                <a:latin typeface="Poppins"/>
                <a:ea typeface="Poppins"/>
                <a:cs typeface="Poppins"/>
                <a:sym typeface="Poppins"/>
              </a:rPr>
              <a:t>Focusing on metrics like the number of detection rules can inflate false positives. A higher number of rules does not mean better detection; it can mean more noise .</a:t>
            </a:r>
          </a:p>
          <a:p>
            <a:pPr algn="just" marL="568977" indent="-284488" lvl="1">
              <a:lnSpc>
                <a:spcPts val="3689"/>
              </a:lnSpc>
              <a:buFont typeface="Arial"/>
              <a:buChar char="•"/>
            </a:pPr>
            <a:r>
              <a:rPr lang="en-US" sz="2635">
                <a:solidFill>
                  <a:srgbClr val="000000"/>
                </a:solidFill>
                <a:latin typeface="Poppins"/>
                <a:ea typeface="Poppins"/>
                <a:cs typeface="Poppins"/>
                <a:sym typeface="Poppins"/>
              </a:rPr>
              <a:t>Metrics must be SMART: Specific, Measurable, Attainable, Repeatable, and Time-dependent .</a:t>
            </a:r>
          </a:p>
          <a:p>
            <a:pPr algn="just">
              <a:lnSpc>
                <a:spcPts val="3689"/>
              </a:lnSpc>
            </a:pPr>
          </a:p>
        </p:txBody>
      </p:sp>
      <p:sp>
        <p:nvSpPr>
          <p:cNvPr name="TextBox 15" id="15"/>
          <p:cNvSpPr txBox="true"/>
          <p:nvPr/>
        </p:nvSpPr>
        <p:spPr>
          <a:xfrm rot="0">
            <a:off x="5465448" y="210826"/>
            <a:ext cx="10944757" cy="2204739"/>
          </a:xfrm>
          <a:prstGeom prst="rect">
            <a:avLst/>
          </a:prstGeom>
        </p:spPr>
        <p:txBody>
          <a:bodyPr anchor="t" rtlCol="false" tIns="0" lIns="0" bIns="0" rIns="0">
            <a:spAutoFit/>
          </a:bodyPr>
          <a:lstStyle/>
          <a:p>
            <a:pPr algn="ctr" marL="0" indent="0" lvl="0">
              <a:lnSpc>
                <a:spcPts val="8678"/>
              </a:lnSpc>
              <a:spcBef>
                <a:spcPct val="0"/>
              </a:spcBef>
            </a:pPr>
            <a:r>
              <a:rPr lang="en-US" b="true" sz="6199">
                <a:solidFill>
                  <a:srgbClr val="8B5F0B"/>
                </a:solidFill>
                <a:latin typeface="Poppins Bold"/>
                <a:ea typeface="Poppins Bold"/>
                <a:cs typeface="Poppins Bold"/>
                <a:sym typeface="Poppins Bold"/>
              </a:rPr>
              <a:t>Common Pitfalls of Bad Metrics</a:t>
            </a:r>
          </a:p>
        </p:txBody>
      </p:sp>
      <p:sp>
        <p:nvSpPr>
          <p:cNvPr name="TextBox 16" id="16"/>
          <p:cNvSpPr txBox="true"/>
          <p:nvPr/>
        </p:nvSpPr>
        <p:spPr>
          <a:xfrm rot="0">
            <a:off x="15064096" y="9492907"/>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PENAVERDE</a:t>
            </a:r>
          </a:p>
        </p:txBody>
      </p:sp>
      <p:sp>
        <p:nvSpPr>
          <p:cNvPr name="TextBox 17" id="17"/>
          <p:cNvSpPr txBox="true"/>
          <p:nvPr/>
        </p:nvSpPr>
        <p:spPr>
          <a:xfrm rot="0">
            <a:off x="5317854" y="2406067"/>
            <a:ext cx="12181146" cy="906834"/>
          </a:xfrm>
          <a:prstGeom prst="rect">
            <a:avLst/>
          </a:prstGeom>
        </p:spPr>
        <p:txBody>
          <a:bodyPr anchor="t" rtlCol="false" tIns="0" lIns="0" bIns="0" rIns="0">
            <a:spAutoFit/>
          </a:bodyPr>
          <a:lstStyle/>
          <a:p>
            <a:pPr algn="l">
              <a:lnSpc>
                <a:spcPts val="3567"/>
              </a:lnSpc>
            </a:pPr>
            <a:r>
              <a:rPr lang="en-US" sz="2547">
                <a:solidFill>
                  <a:srgbClr val="000000"/>
                </a:solidFill>
                <a:latin typeface="Poppins"/>
                <a:ea typeface="Poppins"/>
                <a:cs typeface="Poppins"/>
                <a:sym typeface="Poppins"/>
              </a:rPr>
              <a:t>Bad metrics can mislead organizations and fail to show real security performance.</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451882"/>
            <a:chOff x="0" y="0"/>
            <a:chExt cx="4816593" cy="2752759"/>
          </a:xfrm>
        </p:grpSpPr>
        <p:sp>
          <p:nvSpPr>
            <p:cNvPr name="Freeform 3" id="3"/>
            <p:cNvSpPr/>
            <p:nvPr/>
          </p:nvSpPr>
          <p:spPr>
            <a:xfrm flipH="false" flipV="false" rot="0">
              <a:off x="0" y="0"/>
              <a:ext cx="4816592" cy="2752759"/>
            </a:xfrm>
            <a:custGeom>
              <a:avLst/>
              <a:gdLst/>
              <a:ahLst/>
              <a:cxnLst/>
              <a:rect r="r" b="b" t="t" l="l"/>
              <a:pathLst>
                <a:path h="2752759" w="4816592">
                  <a:moveTo>
                    <a:pt x="0" y="0"/>
                  </a:moveTo>
                  <a:lnTo>
                    <a:pt x="4816592" y="0"/>
                  </a:lnTo>
                  <a:lnTo>
                    <a:pt x="4816592" y="2752759"/>
                  </a:lnTo>
                  <a:lnTo>
                    <a:pt x="0" y="2752759"/>
                  </a:lnTo>
                  <a:close/>
                </a:path>
              </a:pathLst>
            </a:custGeom>
            <a:solidFill>
              <a:srgbClr val="FFD076"/>
            </a:solidFill>
          </p:spPr>
        </p:sp>
        <p:sp>
          <p:nvSpPr>
            <p:cNvPr name="TextBox 4" id="4"/>
            <p:cNvSpPr txBox="true"/>
            <p:nvPr/>
          </p:nvSpPr>
          <p:spPr>
            <a:xfrm>
              <a:off x="0" y="-47625"/>
              <a:ext cx="4816593" cy="2800384"/>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0" y="2228839"/>
            <a:ext cx="18288000" cy="6897328"/>
            <a:chOff x="0" y="0"/>
            <a:chExt cx="4816593" cy="1816580"/>
          </a:xfrm>
        </p:grpSpPr>
        <p:sp>
          <p:nvSpPr>
            <p:cNvPr name="Freeform 6" id="6"/>
            <p:cNvSpPr/>
            <p:nvPr/>
          </p:nvSpPr>
          <p:spPr>
            <a:xfrm flipH="false" flipV="false" rot="0">
              <a:off x="0" y="0"/>
              <a:ext cx="4816592" cy="1816580"/>
            </a:xfrm>
            <a:custGeom>
              <a:avLst/>
              <a:gdLst/>
              <a:ahLst/>
              <a:cxnLst/>
              <a:rect r="r" b="b" t="t" l="l"/>
              <a:pathLst>
                <a:path h="1816580" w="4816592">
                  <a:moveTo>
                    <a:pt x="0" y="0"/>
                  </a:moveTo>
                  <a:lnTo>
                    <a:pt x="4816592" y="0"/>
                  </a:lnTo>
                  <a:lnTo>
                    <a:pt x="4816592" y="1816580"/>
                  </a:lnTo>
                  <a:lnTo>
                    <a:pt x="0" y="1816580"/>
                  </a:lnTo>
                  <a:close/>
                </a:path>
              </a:pathLst>
            </a:custGeom>
            <a:solidFill>
              <a:srgbClr val="FFFFFF"/>
            </a:solidFill>
          </p:spPr>
        </p:sp>
        <p:sp>
          <p:nvSpPr>
            <p:cNvPr name="TextBox 7" id="7"/>
            <p:cNvSpPr txBox="true"/>
            <p:nvPr/>
          </p:nvSpPr>
          <p:spPr>
            <a:xfrm>
              <a:off x="0" y="-47625"/>
              <a:ext cx="4816593" cy="1864205"/>
            </a:xfrm>
            <a:prstGeom prst="rect">
              <a:avLst/>
            </a:prstGeom>
          </p:spPr>
          <p:txBody>
            <a:bodyPr anchor="ctr" rtlCol="false" tIns="50800" lIns="50800" bIns="50800" rIns="50800"/>
            <a:lstStyle/>
            <a:p>
              <a:pPr algn="ctr">
                <a:lnSpc>
                  <a:spcPts val="3560"/>
                </a:lnSpc>
              </a:pPr>
            </a:p>
          </p:txBody>
        </p:sp>
      </p:grpSp>
      <p:sp>
        <p:nvSpPr>
          <p:cNvPr name="TextBox 8" id="8"/>
          <p:cNvSpPr txBox="true"/>
          <p:nvPr/>
        </p:nvSpPr>
        <p:spPr>
          <a:xfrm rot="0">
            <a:off x="1772152" y="89933"/>
            <a:ext cx="14743696" cy="1734660"/>
          </a:xfrm>
          <a:prstGeom prst="rect">
            <a:avLst/>
          </a:prstGeom>
        </p:spPr>
        <p:txBody>
          <a:bodyPr anchor="t" rtlCol="false" tIns="0" lIns="0" bIns="0" rIns="0">
            <a:spAutoFit/>
          </a:bodyPr>
          <a:lstStyle/>
          <a:p>
            <a:pPr algn="ctr" marL="0" indent="0" lvl="0">
              <a:lnSpc>
                <a:spcPts val="6763"/>
              </a:lnSpc>
              <a:spcBef>
                <a:spcPct val="0"/>
              </a:spcBef>
            </a:pPr>
            <a:r>
              <a:rPr lang="en-US" b="true" sz="4831">
                <a:solidFill>
                  <a:srgbClr val="191919"/>
                </a:solidFill>
                <a:latin typeface="Poppins Bold"/>
                <a:ea typeface="Poppins Bold"/>
                <a:cs typeface="Poppins Bold"/>
                <a:sym typeface="Poppins Bold"/>
              </a:rPr>
              <a:t>Why Security Metrics Often Fail: Three Fundamental Barriers</a:t>
            </a:r>
          </a:p>
        </p:txBody>
      </p:sp>
      <p:sp>
        <p:nvSpPr>
          <p:cNvPr name="TextBox 9" id="9"/>
          <p:cNvSpPr txBox="true"/>
          <p:nvPr/>
        </p:nvSpPr>
        <p:spPr>
          <a:xfrm rot="0">
            <a:off x="844213" y="2903188"/>
            <a:ext cx="16599575" cy="5462905"/>
          </a:xfrm>
          <a:prstGeom prst="rect">
            <a:avLst/>
          </a:prstGeom>
        </p:spPr>
        <p:txBody>
          <a:bodyPr anchor="t" rtlCol="false" tIns="0" lIns="0" bIns="0" rIns="0">
            <a:spAutoFit/>
          </a:bodyPr>
          <a:lstStyle/>
          <a:p>
            <a:pPr algn="just">
              <a:lnSpc>
                <a:spcPts val="3919"/>
              </a:lnSpc>
            </a:pPr>
            <a:r>
              <a:rPr lang="en-US" sz="2799" b="true">
                <a:solidFill>
                  <a:srgbClr val="000000"/>
                </a:solidFill>
                <a:latin typeface="Poppins Bold"/>
                <a:ea typeface="Poppins Bold"/>
                <a:cs typeface="Poppins Bold"/>
                <a:sym typeface="Poppins Bold"/>
              </a:rPr>
              <a:t>Barrier 1: The Immeasurable Nature of Risk</a:t>
            </a:r>
          </a:p>
          <a:p>
            <a:pPr algn="just">
              <a:lnSpc>
                <a:spcPts val="3919"/>
              </a:lnSpc>
            </a:pPr>
          </a:p>
          <a:p>
            <a:pPr algn="just" marL="604519" indent="-302260" lvl="1">
              <a:lnSpc>
                <a:spcPts val="3919"/>
              </a:lnSpc>
              <a:buFont typeface="Arial"/>
              <a:buChar char="•"/>
            </a:pPr>
            <a:r>
              <a:rPr lang="en-US" sz="2799">
                <a:solidFill>
                  <a:srgbClr val="000000"/>
                </a:solidFill>
                <a:latin typeface="Poppins"/>
                <a:ea typeface="Poppins"/>
                <a:cs typeface="Poppins"/>
                <a:sym typeface="Poppins"/>
              </a:rPr>
              <a:t>Th</a:t>
            </a:r>
            <a:r>
              <a:rPr lang="en-US" sz="2799">
                <a:solidFill>
                  <a:srgbClr val="000000"/>
                </a:solidFill>
                <a:latin typeface="Poppins"/>
                <a:ea typeface="Poppins"/>
                <a:cs typeface="Poppins"/>
                <a:sym typeface="Poppins"/>
              </a:rPr>
              <a:t>e</a:t>
            </a:r>
            <a:r>
              <a:rPr lang="en-US" sz="2799">
                <a:solidFill>
                  <a:srgbClr val="000000"/>
                </a:solidFill>
                <a:latin typeface="Poppins"/>
                <a:ea typeface="Poppins"/>
                <a:cs typeface="Poppins"/>
                <a:sym typeface="Poppins"/>
              </a:rPr>
              <a:t> </a:t>
            </a:r>
            <a:r>
              <a:rPr lang="en-US" sz="2799">
                <a:solidFill>
                  <a:srgbClr val="000000"/>
                </a:solidFill>
                <a:latin typeface="Poppins"/>
                <a:ea typeface="Poppins"/>
                <a:cs typeface="Poppins"/>
                <a:sym typeface="Poppins"/>
              </a:rPr>
              <a:t>c</a:t>
            </a:r>
            <a:r>
              <a:rPr lang="en-US" sz="2799">
                <a:solidFill>
                  <a:srgbClr val="000000"/>
                </a:solidFill>
                <a:latin typeface="Poppins"/>
                <a:ea typeface="Poppins"/>
                <a:cs typeface="Poppins"/>
                <a:sym typeface="Poppins"/>
              </a:rPr>
              <a:t>o</a:t>
            </a:r>
            <a:r>
              <a:rPr lang="en-US" sz="2799">
                <a:solidFill>
                  <a:srgbClr val="000000"/>
                </a:solidFill>
                <a:latin typeface="Poppins"/>
                <a:ea typeface="Poppins"/>
                <a:cs typeface="Poppins"/>
                <a:sym typeface="Poppins"/>
              </a:rPr>
              <a:t>r</a:t>
            </a:r>
            <a:r>
              <a:rPr lang="en-US" sz="2799">
                <a:solidFill>
                  <a:srgbClr val="000000"/>
                </a:solidFill>
                <a:latin typeface="Poppins"/>
                <a:ea typeface="Poppins"/>
                <a:cs typeface="Poppins"/>
                <a:sym typeface="Poppins"/>
              </a:rPr>
              <a:t>e</a:t>
            </a:r>
            <a:r>
              <a:rPr lang="en-US" sz="2799">
                <a:solidFill>
                  <a:srgbClr val="000000"/>
                </a:solidFill>
                <a:latin typeface="Poppins"/>
                <a:ea typeface="Poppins"/>
                <a:cs typeface="Poppins"/>
                <a:sym typeface="Poppins"/>
              </a:rPr>
              <a:t> </a:t>
            </a:r>
            <a:r>
              <a:rPr lang="en-US" sz="2799">
                <a:solidFill>
                  <a:srgbClr val="000000"/>
                </a:solidFill>
                <a:latin typeface="Poppins"/>
                <a:ea typeface="Poppins"/>
                <a:cs typeface="Poppins"/>
                <a:sym typeface="Poppins"/>
              </a:rPr>
              <a:t>comp</a:t>
            </a:r>
            <a:r>
              <a:rPr lang="en-US" sz="2799">
                <a:solidFill>
                  <a:srgbClr val="000000"/>
                </a:solidFill>
                <a:latin typeface="Poppins"/>
                <a:ea typeface="Poppins"/>
                <a:cs typeface="Poppins"/>
                <a:sym typeface="Poppins"/>
              </a:rPr>
              <a:t>o</a:t>
            </a:r>
            <a:r>
              <a:rPr lang="en-US" sz="2799">
                <a:solidFill>
                  <a:srgbClr val="000000"/>
                </a:solidFill>
                <a:latin typeface="Poppins"/>
                <a:ea typeface="Poppins"/>
                <a:cs typeface="Poppins"/>
                <a:sym typeface="Poppins"/>
              </a:rPr>
              <a:t>n</a:t>
            </a:r>
            <a:r>
              <a:rPr lang="en-US" sz="2799">
                <a:solidFill>
                  <a:srgbClr val="000000"/>
                </a:solidFill>
                <a:latin typeface="Poppins"/>
                <a:ea typeface="Poppins"/>
                <a:cs typeface="Poppins"/>
                <a:sym typeface="Poppins"/>
              </a:rPr>
              <a:t>ent</a:t>
            </a:r>
            <a:r>
              <a:rPr lang="en-US" sz="2799">
                <a:solidFill>
                  <a:srgbClr val="000000"/>
                </a:solidFill>
                <a:latin typeface="Poppins"/>
                <a:ea typeface="Poppins"/>
                <a:cs typeface="Poppins"/>
                <a:sym typeface="Poppins"/>
              </a:rPr>
              <a:t>s </a:t>
            </a:r>
            <a:r>
              <a:rPr lang="en-US" sz="2799">
                <a:solidFill>
                  <a:srgbClr val="000000"/>
                </a:solidFill>
                <a:latin typeface="Poppins"/>
                <a:ea typeface="Poppins"/>
                <a:cs typeface="Poppins"/>
                <a:sym typeface="Poppins"/>
              </a:rPr>
              <a:t>o</a:t>
            </a:r>
            <a:r>
              <a:rPr lang="en-US" sz="2799">
                <a:solidFill>
                  <a:srgbClr val="000000"/>
                </a:solidFill>
                <a:latin typeface="Poppins"/>
                <a:ea typeface="Poppins"/>
                <a:cs typeface="Poppins"/>
                <a:sym typeface="Poppins"/>
              </a:rPr>
              <a:t>f</a:t>
            </a:r>
            <a:r>
              <a:rPr lang="en-US" sz="2799">
                <a:solidFill>
                  <a:srgbClr val="000000"/>
                </a:solidFill>
                <a:latin typeface="Poppins"/>
                <a:ea typeface="Poppins"/>
                <a:cs typeface="Poppins"/>
                <a:sym typeface="Poppins"/>
              </a:rPr>
              <a:t> </a:t>
            </a:r>
            <a:r>
              <a:rPr lang="en-US" sz="2799">
                <a:solidFill>
                  <a:srgbClr val="000000"/>
                </a:solidFill>
                <a:latin typeface="Poppins"/>
                <a:ea typeface="Poppins"/>
                <a:cs typeface="Poppins"/>
                <a:sym typeface="Poppins"/>
              </a:rPr>
              <a:t>risk—</a:t>
            </a:r>
            <a:r>
              <a:rPr lang="en-US" sz="2799">
                <a:solidFill>
                  <a:srgbClr val="000000"/>
                </a:solidFill>
                <a:latin typeface="Poppins"/>
                <a:ea typeface="Poppins"/>
                <a:cs typeface="Poppins"/>
                <a:sym typeface="Poppins"/>
              </a:rPr>
              <a:t>A</a:t>
            </a:r>
            <a:r>
              <a:rPr lang="en-US" sz="2799">
                <a:solidFill>
                  <a:srgbClr val="000000"/>
                </a:solidFill>
                <a:latin typeface="Poppins"/>
                <a:ea typeface="Poppins"/>
                <a:cs typeface="Poppins"/>
                <a:sym typeface="Poppins"/>
              </a:rPr>
              <a:t>sset Value, Threat, and Vulnerability—resist precise quantification:</a:t>
            </a:r>
          </a:p>
          <a:p>
            <a:pPr algn="just" marL="1209039" indent="-403013" lvl="2">
              <a:lnSpc>
                <a:spcPts val="3919"/>
              </a:lnSpc>
              <a:buFont typeface="Arial"/>
              <a:buChar char="⚬"/>
            </a:pPr>
            <a:r>
              <a:rPr lang="en-US" sz="2799">
                <a:solidFill>
                  <a:srgbClr val="000000"/>
                </a:solidFill>
                <a:latin typeface="Poppins"/>
                <a:ea typeface="Poppins"/>
                <a:cs typeface="Poppins"/>
                <a:sym typeface="Poppins"/>
              </a:rPr>
              <a:t>Asset Value: Intangible assets like institutional reputation and customer trust have no fixed monetary equivalent.</a:t>
            </a:r>
          </a:p>
          <a:p>
            <a:pPr algn="just" marL="1209039" indent="-403013" lvl="2">
              <a:lnSpc>
                <a:spcPts val="3919"/>
              </a:lnSpc>
              <a:buFont typeface="Arial"/>
              <a:buChar char="⚬"/>
            </a:pPr>
            <a:r>
              <a:rPr lang="en-US" sz="2799">
                <a:solidFill>
                  <a:srgbClr val="000000"/>
                </a:solidFill>
                <a:latin typeface="Poppins"/>
                <a:ea typeface="Poppins"/>
                <a:cs typeface="Poppins"/>
                <a:sym typeface="Poppins"/>
              </a:rPr>
              <a:t>Threat: A potential for harm is inherently hypothetical and defies numerical capture.</a:t>
            </a:r>
          </a:p>
          <a:p>
            <a:pPr algn="just" marL="1209039" indent="-403013" lvl="2">
              <a:lnSpc>
                <a:spcPts val="3919"/>
              </a:lnSpc>
              <a:buFont typeface="Arial"/>
              <a:buChar char="⚬"/>
            </a:pPr>
            <a:r>
              <a:rPr lang="en-US" sz="2799">
                <a:solidFill>
                  <a:srgbClr val="000000"/>
                </a:solidFill>
                <a:latin typeface="Poppins"/>
                <a:ea typeface="Poppins"/>
                <a:cs typeface="Poppins"/>
                <a:sym typeface="Poppins"/>
              </a:rPr>
              <a:t>Vulnerability: While technical vulnerabilities are measurable, human factors like "user awareness" remain highly subjective.</a:t>
            </a:r>
          </a:p>
          <a:p>
            <a:pPr algn="just">
              <a:lnSpc>
                <a:spcPts val="3919"/>
              </a:lnSpc>
            </a:pPr>
          </a:p>
          <a:p>
            <a:pPr algn="just">
              <a:lnSpc>
                <a:spcPts val="3919"/>
              </a:lnSpc>
              <a:spcBef>
                <a:spcPct val="0"/>
              </a:spcBef>
            </a:pPr>
          </a:p>
        </p:txBody>
      </p:sp>
      <p:sp>
        <p:nvSpPr>
          <p:cNvPr name="TextBox 10" id="10"/>
          <p:cNvSpPr txBox="true"/>
          <p:nvPr/>
        </p:nvSpPr>
        <p:spPr>
          <a:xfrm rot="0">
            <a:off x="14934015" y="9454214"/>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PENAVERDE</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D076"/>
            </a:solidFill>
          </p:spPr>
        </p:sp>
        <p:sp>
          <p:nvSpPr>
            <p:cNvPr name="TextBox 4" id="4"/>
            <p:cNvSpPr txBox="true"/>
            <p:nvPr/>
          </p:nvSpPr>
          <p:spPr>
            <a:xfrm>
              <a:off x="0" y="-47625"/>
              <a:ext cx="4816593" cy="2756958"/>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0" y="749751"/>
            <a:ext cx="18288000" cy="8508549"/>
            <a:chOff x="0" y="0"/>
            <a:chExt cx="4816593" cy="2240935"/>
          </a:xfrm>
        </p:grpSpPr>
        <p:sp>
          <p:nvSpPr>
            <p:cNvPr name="Freeform 6" id="6"/>
            <p:cNvSpPr/>
            <p:nvPr/>
          </p:nvSpPr>
          <p:spPr>
            <a:xfrm flipH="false" flipV="false" rot="0">
              <a:off x="0" y="0"/>
              <a:ext cx="4816592" cy="2240935"/>
            </a:xfrm>
            <a:custGeom>
              <a:avLst/>
              <a:gdLst/>
              <a:ahLst/>
              <a:cxnLst/>
              <a:rect r="r" b="b" t="t" l="l"/>
              <a:pathLst>
                <a:path h="2240935" w="4816592">
                  <a:moveTo>
                    <a:pt x="0" y="0"/>
                  </a:moveTo>
                  <a:lnTo>
                    <a:pt x="4816592" y="0"/>
                  </a:lnTo>
                  <a:lnTo>
                    <a:pt x="4816592" y="2240935"/>
                  </a:lnTo>
                  <a:lnTo>
                    <a:pt x="0" y="2240935"/>
                  </a:lnTo>
                  <a:close/>
                </a:path>
              </a:pathLst>
            </a:custGeom>
            <a:solidFill>
              <a:srgbClr val="FFFFFF"/>
            </a:solidFill>
          </p:spPr>
        </p:sp>
        <p:sp>
          <p:nvSpPr>
            <p:cNvPr name="TextBox 7" id="7"/>
            <p:cNvSpPr txBox="true"/>
            <p:nvPr/>
          </p:nvSpPr>
          <p:spPr>
            <a:xfrm>
              <a:off x="0" y="-47625"/>
              <a:ext cx="4816593" cy="2288560"/>
            </a:xfrm>
            <a:prstGeom prst="rect">
              <a:avLst/>
            </a:prstGeom>
          </p:spPr>
          <p:txBody>
            <a:bodyPr anchor="ctr" rtlCol="false" tIns="50800" lIns="50800" bIns="50800" rIns="50800"/>
            <a:lstStyle/>
            <a:p>
              <a:pPr algn="ctr">
                <a:lnSpc>
                  <a:spcPts val="3560"/>
                </a:lnSpc>
              </a:pPr>
            </a:p>
          </p:txBody>
        </p:sp>
      </p:grpSp>
      <p:sp>
        <p:nvSpPr>
          <p:cNvPr name="TextBox 8" id="8"/>
          <p:cNvSpPr txBox="true"/>
          <p:nvPr/>
        </p:nvSpPr>
        <p:spPr>
          <a:xfrm rot="0">
            <a:off x="659725" y="1734410"/>
            <a:ext cx="16599575" cy="6453505"/>
          </a:xfrm>
          <a:prstGeom prst="rect">
            <a:avLst/>
          </a:prstGeom>
        </p:spPr>
        <p:txBody>
          <a:bodyPr anchor="t" rtlCol="false" tIns="0" lIns="0" bIns="0" rIns="0">
            <a:spAutoFit/>
          </a:bodyPr>
          <a:lstStyle/>
          <a:p>
            <a:pPr algn="just">
              <a:lnSpc>
                <a:spcPts val="3919"/>
              </a:lnSpc>
            </a:pPr>
            <a:r>
              <a:rPr lang="en-US" sz="2799" b="true">
                <a:solidFill>
                  <a:srgbClr val="000000"/>
                </a:solidFill>
                <a:latin typeface="Poppins Bold"/>
                <a:ea typeface="Poppins Bold"/>
                <a:cs typeface="Poppins Bold"/>
                <a:sym typeface="Poppins Bold"/>
              </a:rPr>
              <a:t>Barrier 2: The Context Deficit</a:t>
            </a:r>
          </a:p>
          <a:p>
            <a:pPr algn="just" marL="604519" indent="-302260" lvl="1">
              <a:lnSpc>
                <a:spcPts val="3919"/>
              </a:lnSpc>
              <a:buFont typeface="Arial"/>
              <a:buChar char="•"/>
            </a:pPr>
            <a:r>
              <a:rPr lang="en-US" sz="2799">
                <a:solidFill>
                  <a:srgbClr val="000000"/>
                </a:solidFill>
                <a:latin typeface="Poppins"/>
                <a:ea typeface="Poppins"/>
                <a:cs typeface="Poppins"/>
                <a:sym typeface="Poppins"/>
              </a:rPr>
              <a:t>Metrics lack situational context. A high patch rate may look impressive, but if the most critical vulnerabilities remain unpatched, the organization is still exposed.</a:t>
            </a:r>
          </a:p>
          <a:p>
            <a:pPr algn="just" marL="604519" indent="-302260" lvl="1">
              <a:lnSpc>
                <a:spcPts val="3919"/>
              </a:lnSpc>
              <a:buFont typeface="Arial"/>
              <a:buChar char="•"/>
            </a:pPr>
            <a:r>
              <a:rPr lang="en-US" sz="2799">
                <a:solidFill>
                  <a:srgbClr val="000000"/>
                </a:solidFill>
                <a:latin typeface="Poppins"/>
                <a:ea typeface="Poppins"/>
                <a:cs typeface="Poppins"/>
                <a:sym typeface="Poppins"/>
              </a:rPr>
              <a:t>Metrics are reductive—they simplify complex realities into numbers that can easily be misinterpreted by leadership.</a:t>
            </a:r>
          </a:p>
          <a:p>
            <a:pPr algn="just">
              <a:lnSpc>
                <a:spcPts val="3919"/>
              </a:lnSpc>
            </a:pPr>
          </a:p>
          <a:p>
            <a:pPr algn="just">
              <a:lnSpc>
                <a:spcPts val="3919"/>
              </a:lnSpc>
            </a:pPr>
            <a:r>
              <a:rPr lang="en-US" sz="2799" b="true">
                <a:solidFill>
                  <a:srgbClr val="000000"/>
                </a:solidFill>
                <a:latin typeface="Poppins Bold"/>
                <a:ea typeface="Poppins Bold"/>
                <a:cs typeface="Poppins Bold"/>
                <a:sym typeface="Poppins Bold"/>
              </a:rPr>
              <a:t>Bar</a:t>
            </a:r>
            <a:r>
              <a:rPr lang="en-US" sz="2799" b="true">
                <a:solidFill>
                  <a:srgbClr val="000000"/>
                </a:solidFill>
                <a:latin typeface="Poppins Bold"/>
                <a:ea typeface="Poppins Bold"/>
                <a:cs typeface="Poppins Bold"/>
                <a:sym typeface="Poppins Bold"/>
              </a:rPr>
              <a:t>rier 3: A Static Mindset in a Dynamic World</a:t>
            </a:r>
          </a:p>
          <a:p>
            <a:pPr algn="just" marL="604519" indent="-302260" lvl="1">
              <a:lnSpc>
                <a:spcPts val="3919"/>
              </a:lnSpc>
              <a:buFont typeface="Arial"/>
              <a:buChar char="•"/>
            </a:pPr>
            <a:r>
              <a:rPr lang="en-US" sz="2799">
                <a:solidFill>
                  <a:srgbClr val="000000"/>
                </a:solidFill>
                <a:latin typeface="Poppins"/>
                <a:ea typeface="Poppins"/>
                <a:cs typeface="Poppins"/>
                <a:sym typeface="Poppins"/>
              </a:rPr>
              <a:t>Traditional vs. Modern: Most metrics were designed for static IT infrastructure, but today's environment is fluid—spanning cloud, AI, and CI/CD pipelines.</a:t>
            </a:r>
          </a:p>
          <a:p>
            <a:pPr algn="just" marL="604519" indent="-302260" lvl="1">
              <a:lnSpc>
                <a:spcPts val="3919"/>
              </a:lnSpc>
              <a:buFont typeface="Arial"/>
              <a:buChar char="•"/>
            </a:pPr>
            <a:r>
              <a:rPr lang="en-US" sz="2799">
                <a:solidFill>
                  <a:srgbClr val="000000"/>
                </a:solidFill>
                <a:latin typeface="Poppins"/>
                <a:ea typeface="Poppins"/>
                <a:cs typeface="Poppins"/>
                <a:sym typeface="Poppins"/>
              </a:rPr>
              <a:t>AI as a Disruptor: AI introduces adaptive and autonomous risks. Traditional metrics fail to capture visibility over AI usage, non-human identities, and model behavior, creating a false sense of security.</a:t>
            </a:r>
          </a:p>
          <a:p>
            <a:pPr algn="just">
              <a:lnSpc>
                <a:spcPts val="3919"/>
              </a:lnSpc>
              <a:spcBef>
                <a:spcPct val="0"/>
              </a:spcBef>
            </a:pPr>
          </a:p>
        </p:txBody>
      </p:sp>
      <p:sp>
        <p:nvSpPr>
          <p:cNvPr name="TextBox 9" id="9"/>
          <p:cNvSpPr txBox="true"/>
          <p:nvPr/>
        </p:nvSpPr>
        <p:spPr>
          <a:xfrm rot="0">
            <a:off x="14934015" y="9454214"/>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PENAVERDE</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6867815" cy="10287000"/>
            <a:chOff x="0" y="0"/>
            <a:chExt cx="1808807" cy="2709333"/>
          </a:xfrm>
        </p:grpSpPr>
        <p:sp>
          <p:nvSpPr>
            <p:cNvPr name="Freeform 3" id="3"/>
            <p:cNvSpPr/>
            <p:nvPr/>
          </p:nvSpPr>
          <p:spPr>
            <a:xfrm flipH="false" flipV="false" rot="0">
              <a:off x="0" y="0"/>
              <a:ext cx="1808807" cy="2709333"/>
            </a:xfrm>
            <a:custGeom>
              <a:avLst/>
              <a:gdLst/>
              <a:ahLst/>
              <a:cxnLst/>
              <a:rect r="r" b="b" t="t" l="l"/>
              <a:pathLst>
                <a:path h="2709333" w="1808807">
                  <a:moveTo>
                    <a:pt x="0" y="0"/>
                  </a:moveTo>
                  <a:lnTo>
                    <a:pt x="1808807" y="0"/>
                  </a:lnTo>
                  <a:lnTo>
                    <a:pt x="1808807" y="2709333"/>
                  </a:lnTo>
                  <a:lnTo>
                    <a:pt x="0" y="2709333"/>
                  </a:lnTo>
                  <a:close/>
                </a:path>
              </a:pathLst>
            </a:custGeom>
            <a:solidFill>
              <a:srgbClr val="FFD076"/>
            </a:solidFill>
          </p:spPr>
        </p:sp>
        <p:sp>
          <p:nvSpPr>
            <p:cNvPr name="TextBox 4" id="4"/>
            <p:cNvSpPr txBox="true"/>
            <p:nvPr/>
          </p:nvSpPr>
          <p:spPr>
            <a:xfrm>
              <a:off x="0" y="-47625"/>
              <a:ext cx="1808807" cy="2756958"/>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089824" y="3931651"/>
            <a:ext cx="7851082" cy="2278475"/>
            <a:chOff x="0" y="0"/>
            <a:chExt cx="2500868" cy="725781"/>
          </a:xfrm>
        </p:grpSpPr>
        <p:sp>
          <p:nvSpPr>
            <p:cNvPr name="Freeform 6" id="6"/>
            <p:cNvSpPr/>
            <p:nvPr/>
          </p:nvSpPr>
          <p:spPr>
            <a:xfrm flipH="false" flipV="false" rot="0">
              <a:off x="0" y="0"/>
              <a:ext cx="2500868" cy="725781"/>
            </a:xfrm>
            <a:custGeom>
              <a:avLst/>
              <a:gdLst/>
              <a:ahLst/>
              <a:cxnLst/>
              <a:rect r="r" b="b" t="t" l="l"/>
              <a:pathLst>
                <a:path h="725781" w="2500868">
                  <a:moveTo>
                    <a:pt x="49305" y="0"/>
                  </a:moveTo>
                  <a:lnTo>
                    <a:pt x="2451563" y="0"/>
                  </a:lnTo>
                  <a:cubicBezTo>
                    <a:pt x="2464640" y="0"/>
                    <a:pt x="2477181" y="5195"/>
                    <a:pt x="2486427" y="14441"/>
                  </a:cubicBezTo>
                  <a:cubicBezTo>
                    <a:pt x="2495673" y="23687"/>
                    <a:pt x="2500868" y="36228"/>
                    <a:pt x="2500868" y="49305"/>
                  </a:cubicBezTo>
                  <a:lnTo>
                    <a:pt x="2500868" y="676476"/>
                  </a:lnTo>
                  <a:cubicBezTo>
                    <a:pt x="2500868" y="689552"/>
                    <a:pt x="2495673" y="702093"/>
                    <a:pt x="2486427" y="711340"/>
                  </a:cubicBezTo>
                  <a:cubicBezTo>
                    <a:pt x="2477181" y="720586"/>
                    <a:pt x="2464640" y="725781"/>
                    <a:pt x="2451563" y="725781"/>
                  </a:cubicBezTo>
                  <a:lnTo>
                    <a:pt x="49305" y="725781"/>
                  </a:lnTo>
                  <a:cubicBezTo>
                    <a:pt x="36228" y="725781"/>
                    <a:pt x="23687" y="720586"/>
                    <a:pt x="14441" y="711340"/>
                  </a:cubicBezTo>
                  <a:cubicBezTo>
                    <a:pt x="5195" y="702093"/>
                    <a:pt x="0" y="689552"/>
                    <a:pt x="0" y="676476"/>
                  </a:cubicBezTo>
                  <a:lnTo>
                    <a:pt x="0" y="49305"/>
                  </a:lnTo>
                  <a:cubicBezTo>
                    <a:pt x="0" y="36228"/>
                    <a:pt x="5195" y="23687"/>
                    <a:pt x="14441" y="14441"/>
                  </a:cubicBezTo>
                  <a:cubicBezTo>
                    <a:pt x="23687" y="5195"/>
                    <a:pt x="36228" y="0"/>
                    <a:pt x="49305" y="0"/>
                  </a:cubicBezTo>
                  <a:close/>
                </a:path>
              </a:pathLst>
            </a:custGeom>
            <a:solidFill>
              <a:srgbClr val="A5AAAF"/>
            </a:solidFill>
          </p:spPr>
        </p:sp>
        <p:sp>
          <p:nvSpPr>
            <p:cNvPr name="TextBox 7" id="7"/>
            <p:cNvSpPr txBox="true"/>
            <p:nvPr/>
          </p:nvSpPr>
          <p:spPr>
            <a:xfrm>
              <a:off x="0" y="-57150"/>
              <a:ext cx="2500868" cy="782931"/>
            </a:xfrm>
            <a:prstGeom prst="rect">
              <a:avLst/>
            </a:prstGeom>
          </p:spPr>
          <p:txBody>
            <a:bodyPr anchor="ctr" rtlCol="false" tIns="254000" lIns="254000" bIns="254000" rIns="254000"/>
            <a:lstStyle/>
            <a:p>
              <a:pPr algn="l">
                <a:lnSpc>
                  <a:spcPts val="2860"/>
                </a:lnSpc>
              </a:pPr>
            </a:p>
          </p:txBody>
        </p:sp>
      </p:grpSp>
      <p:grpSp>
        <p:nvGrpSpPr>
          <p:cNvPr name="Group 8" id="8"/>
          <p:cNvGrpSpPr/>
          <p:nvPr/>
        </p:nvGrpSpPr>
        <p:grpSpPr>
          <a:xfrm rot="0">
            <a:off x="7528324" y="1134111"/>
            <a:ext cx="9951719" cy="408123"/>
            <a:chOff x="0" y="0"/>
            <a:chExt cx="2621029" cy="107489"/>
          </a:xfrm>
        </p:grpSpPr>
        <p:sp>
          <p:nvSpPr>
            <p:cNvPr name="Freeform 9" id="9"/>
            <p:cNvSpPr/>
            <p:nvPr/>
          </p:nvSpPr>
          <p:spPr>
            <a:xfrm flipH="false" flipV="false" rot="0">
              <a:off x="0" y="0"/>
              <a:ext cx="2621029" cy="107489"/>
            </a:xfrm>
            <a:custGeom>
              <a:avLst/>
              <a:gdLst/>
              <a:ahLst/>
              <a:cxnLst/>
              <a:rect r="r" b="b" t="t" l="l"/>
              <a:pathLst>
                <a:path h="107489" w="2621029">
                  <a:moveTo>
                    <a:pt x="0" y="0"/>
                  </a:moveTo>
                  <a:lnTo>
                    <a:pt x="2621029" y="0"/>
                  </a:lnTo>
                  <a:lnTo>
                    <a:pt x="2621029" y="107489"/>
                  </a:lnTo>
                  <a:lnTo>
                    <a:pt x="0" y="107489"/>
                  </a:lnTo>
                  <a:close/>
                </a:path>
              </a:pathLst>
            </a:custGeom>
            <a:solidFill>
              <a:srgbClr val="FFD076"/>
            </a:solidFill>
          </p:spPr>
        </p:sp>
        <p:sp>
          <p:nvSpPr>
            <p:cNvPr name="TextBox 10" id="10"/>
            <p:cNvSpPr txBox="true"/>
            <p:nvPr/>
          </p:nvSpPr>
          <p:spPr>
            <a:xfrm>
              <a:off x="0" y="-47625"/>
              <a:ext cx="2621029" cy="155114"/>
            </a:xfrm>
            <a:prstGeom prst="rect">
              <a:avLst/>
            </a:prstGeom>
          </p:spPr>
          <p:txBody>
            <a:bodyPr anchor="ctr" rtlCol="false" tIns="50800" lIns="50800" bIns="50800" rIns="50800"/>
            <a:lstStyle/>
            <a:p>
              <a:pPr algn="ctr">
                <a:lnSpc>
                  <a:spcPts val="3560"/>
                </a:lnSpc>
              </a:pPr>
            </a:p>
          </p:txBody>
        </p:sp>
      </p:grpSp>
      <p:sp>
        <p:nvSpPr>
          <p:cNvPr name="TextBox 11" id="11"/>
          <p:cNvSpPr txBox="true"/>
          <p:nvPr/>
        </p:nvSpPr>
        <p:spPr>
          <a:xfrm rot="0">
            <a:off x="393475" y="279174"/>
            <a:ext cx="7103842" cy="4090608"/>
          </a:xfrm>
          <a:prstGeom prst="rect">
            <a:avLst/>
          </a:prstGeom>
        </p:spPr>
        <p:txBody>
          <a:bodyPr anchor="t" rtlCol="false" tIns="0" lIns="0" bIns="0" rIns="0">
            <a:spAutoFit/>
          </a:bodyPr>
          <a:lstStyle/>
          <a:p>
            <a:pPr algn="l">
              <a:lnSpc>
                <a:spcPts val="8020"/>
              </a:lnSpc>
            </a:pPr>
            <a:r>
              <a:rPr lang="en-US" sz="5728" b="true">
                <a:solidFill>
                  <a:srgbClr val="563C08"/>
                </a:solidFill>
                <a:latin typeface="Poppins Bold"/>
                <a:ea typeface="Poppins Bold"/>
                <a:cs typeface="Poppins Bold"/>
                <a:sym typeface="Poppins Bold"/>
              </a:rPr>
              <a:t>Turning Challenges into Action</a:t>
            </a:r>
          </a:p>
          <a:p>
            <a:pPr algn="l" marL="0" indent="0" lvl="0">
              <a:lnSpc>
                <a:spcPts val="8020"/>
              </a:lnSpc>
              <a:spcBef>
                <a:spcPct val="0"/>
              </a:spcBef>
            </a:pPr>
          </a:p>
        </p:txBody>
      </p:sp>
      <p:sp>
        <p:nvSpPr>
          <p:cNvPr name="TextBox 12" id="12"/>
          <p:cNvSpPr txBox="true"/>
          <p:nvPr/>
        </p:nvSpPr>
        <p:spPr>
          <a:xfrm rot="0">
            <a:off x="7497317" y="2037534"/>
            <a:ext cx="10198062" cy="882938"/>
          </a:xfrm>
          <a:prstGeom prst="rect">
            <a:avLst/>
          </a:prstGeom>
        </p:spPr>
        <p:txBody>
          <a:bodyPr anchor="t" rtlCol="false" tIns="0" lIns="0" bIns="0" rIns="0">
            <a:spAutoFit/>
          </a:bodyPr>
          <a:lstStyle/>
          <a:p>
            <a:pPr algn="l" marL="0" indent="0" lvl="0">
              <a:lnSpc>
                <a:spcPts val="3426"/>
              </a:lnSpc>
              <a:spcBef>
                <a:spcPct val="0"/>
              </a:spcBef>
            </a:pPr>
            <a:r>
              <a:rPr lang="en-US" sz="2447">
                <a:solidFill>
                  <a:srgbClr val="563C08"/>
                </a:solidFill>
                <a:latin typeface="Poppins"/>
                <a:ea typeface="Poppins"/>
                <a:cs typeface="Poppins"/>
                <a:sym typeface="Poppins"/>
              </a:rPr>
              <a:t>Turning security metric challenges into clear actions helps improve overall security performance.</a:t>
            </a:r>
          </a:p>
        </p:txBody>
      </p:sp>
      <p:sp>
        <p:nvSpPr>
          <p:cNvPr name="TextBox 13" id="13"/>
          <p:cNvSpPr txBox="true"/>
          <p:nvPr/>
        </p:nvSpPr>
        <p:spPr>
          <a:xfrm rot="0">
            <a:off x="1779944" y="4003449"/>
            <a:ext cx="7620605" cy="637415"/>
          </a:xfrm>
          <a:prstGeom prst="rect">
            <a:avLst/>
          </a:prstGeom>
        </p:spPr>
        <p:txBody>
          <a:bodyPr anchor="t" rtlCol="false" tIns="0" lIns="0" bIns="0" rIns="0">
            <a:spAutoFit/>
          </a:bodyPr>
          <a:lstStyle/>
          <a:p>
            <a:pPr algn="l">
              <a:lnSpc>
                <a:spcPts val="4987"/>
              </a:lnSpc>
              <a:spcBef>
                <a:spcPct val="0"/>
              </a:spcBef>
            </a:pPr>
            <a:r>
              <a:rPr lang="en-US" b="true" sz="3562">
                <a:solidFill>
                  <a:srgbClr val="563C08"/>
                </a:solidFill>
                <a:latin typeface="Poppins Bold"/>
                <a:ea typeface="Poppins Bold"/>
                <a:cs typeface="Poppins Bold"/>
                <a:sym typeface="Poppins Bold"/>
              </a:rPr>
              <a:t>From Activity to Outcomes</a:t>
            </a:r>
          </a:p>
        </p:txBody>
      </p:sp>
      <p:sp>
        <p:nvSpPr>
          <p:cNvPr name="TextBox 14" id="14"/>
          <p:cNvSpPr txBox="true"/>
          <p:nvPr/>
        </p:nvSpPr>
        <p:spPr>
          <a:xfrm rot="0">
            <a:off x="1174856" y="4650258"/>
            <a:ext cx="8125889" cy="910284"/>
          </a:xfrm>
          <a:prstGeom prst="rect">
            <a:avLst/>
          </a:prstGeom>
        </p:spPr>
        <p:txBody>
          <a:bodyPr anchor="t" rtlCol="false" tIns="0" lIns="0" bIns="0" rIns="0">
            <a:spAutoFit/>
          </a:bodyPr>
          <a:lstStyle/>
          <a:p>
            <a:pPr algn="l" marL="554329" indent="-277164" lvl="1">
              <a:lnSpc>
                <a:spcPts val="3594"/>
              </a:lnSpc>
              <a:buFont typeface="Arial"/>
              <a:buChar char="•"/>
            </a:pPr>
            <a:r>
              <a:rPr lang="en-US" sz="2567">
                <a:solidFill>
                  <a:srgbClr val="191919"/>
                </a:solidFill>
                <a:latin typeface="Poppins"/>
                <a:ea typeface="Poppins"/>
                <a:cs typeface="Poppins"/>
                <a:sym typeface="Poppins"/>
              </a:rPr>
              <a:t>Measure risk reduction, not just work done.</a:t>
            </a:r>
          </a:p>
          <a:p>
            <a:pPr algn="l" marL="554329" indent="-277164" lvl="1">
              <a:lnSpc>
                <a:spcPts val="3594"/>
              </a:lnSpc>
              <a:spcBef>
                <a:spcPct val="0"/>
              </a:spcBef>
              <a:buFont typeface="Arial"/>
              <a:buChar char="•"/>
            </a:pPr>
            <a:r>
              <a:rPr lang="en-US" sz="2567">
                <a:solidFill>
                  <a:srgbClr val="191919"/>
                </a:solidFill>
                <a:latin typeface="Poppins"/>
                <a:ea typeface="Poppins"/>
                <a:cs typeface="Poppins"/>
                <a:sym typeface="Poppins"/>
              </a:rPr>
              <a:t>Ask: "Are we safer?" not "Were we busy?"</a:t>
            </a:r>
          </a:p>
        </p:txBody>
      </p:sp>
      <p:sp>
        <p:nvSpPr>
          <p:cNvPr name="TextBox 15" id="15"/>
          <p:cNvSpPr txBox="true"/>
          <p:nvPr/>
        </p:nvSpPr>
        <p:spPr>
          <a:xfrm rot="0">
            <a:off x="14934015" y="9454214"/>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PENAVERDE</a:t>
            </a:r>
          </a:p>
        </p:txBody>
      </p:sp>
      <p:grpSp>
        <p:nvGrpSpPr>
          <p:cNvPr name="Group 16" id="16"/>
          <p:cNvGrpSpPr/>
          <p:nvPr/>
        </p:nvGrpSpPr>
        <p:grpSpPr>
          <a:xfrm rot="0">
            <a:off x="9144000" y="3931651"/>
            <a:ext cx="7851082" cy="2278475"/>
            <a:chOff x="0" y="0"/>
            <a:chExt cx="2500868" cy="725781"/>
          </a:xfrm>
        </p:grpSpPr>
        <p:sp>
          <p:nvSpPr>
            <p:cNvPr name="Freeform 17" id="17"/>
            <p:cNvSpPr/>
            <p:nvPr/>
          </p:nvSpPr>
          <p:spPr>
            <a:xfrm flipH="false" flipV="false" rot="0">
              <a:off x="0" y="0"/>
              <a:ext cx="2500868" cy="725781"/>
            </a:xfrm>
            <a:custGeom>
              <a:avLst/>
              <a:gdLst/>
              <a:ahLst/>
              <a:cxnLst/>
              <a:rect r="r" b="b" t="t" l="l"/>
              <a:pathLst>
                <a:path h="725781" w="2500868">
                  <a:moveTo>
                    <a:pt x="49305" y="0"/>
                  </a:moveTo>
                  <a:lnTo>
                    <a:pt x="2451563" y="0"/>
                  </a:lnTo>
                  <a:cubicBezTo>
                    <a:pt x="2464640" y="0"/>
                    <a:pt x="2477181" y="5195"/>
                    <a:pt x="2486427" y="14441"/>
                  </a:cubicBezTo>
                  <a:cubicBezTo>
                    <a:pt x="2495673" y="23687"/>
                    <a:pt x="2500868" y="36228"/>
                    <a:pt x="2500868" y="49305"/>
                  </a:cubicBezTo>
                  <a:lnTo>
                    <a:pt x="2500868" y="676476"/>
                  </a:lnTo>
                  <a:cubicBezTo>
                    <a:pt x="2500868" y="689552"/>
                    <a:pt x="2495673" y="702093"/>
                    <a:pt x="2486427" y="711340"/>
                  </a:cubicBezTo>
                  <a:cubicBezTo>
                    <a:pt x="2477181" y="720586"/>
                    <a:pt x="2464640" y="725781"/>
                    <a:pt x="2451563" y="725781"/>
                  </a:cubicBezTo>
                  <a:lnTo>
                    <a:pt x="49305" y="725781"/>
                  </a:lnTo>
                  <a:cubicBezTo>
                    <a:pt x="36228" y="725781"/>
                    <a:pt x="23687" y="720586"/>
                    <a:pt x="14441" y="711340"/>
                  </a:cubicBezTo>
                  <a:cubicBezTo>
                    <a:pt x="5195" y="702093"/>
                    <a:pt x="0" y="689552"/>
                    <a:pt x="0" y="676476"/>
                  </a:cubicBezTo>
                  <a:lnTo>
                    <a:pt x="0" y="49305"/>
                  </a:lnTo>
                  <a:cubicBezTo>
                    <a:pt x="0" y="36228"/>
                    <a:pt x="5195" y="23687"/>
                    <a:pt x="14441" y="14441"/>
                  </a:cubicBezTo>
                  <a:cubicBezTo>
                    <a:pt x="23687" y="5195"/>
                    <a:pt x="36228" y="0"/>
                    <a:pt x="49305" y="0"/>
                  </a:cubicBezTo>
                  <a:close/>
                </a:path>
              </a:pathLst>
            </a:custGeom>
            <a:solidFill>
              <a:srgbClr val="A5AAAF"/>
            </a:solidFill>
          </p:spPr>
        </p:sp>
        <p:sp>
          <p:nvSpPr>
            <p:cNvPr name="TextBox 18" id="18"/>
            <p:cNvSpPr txBox="true"/>
            <p:nvPr/>
          </p:nvSpPr>
          <p:spPr>
            <a:xfrm>
              <a:off x="0" y="-57150"/>
              <a:ext cx="2500868" cy="782931"/>
            </a:xfrm>
            <a:prstGeom prst="rect">
              <a:avLst/>
            </a:prstGeom>
          </p:spPr>
          <p:txBody>
            <a:bodyPr anchor="ctr" rtlCol="false" tIns="254000" lIns="254000" bIns="254000" rIns="254000"/>
            <a:lstStyle/>
            <a:p>
              <a:pPr algn="l">
                <a:lnSpc>
                  <a:spcPts val="2860"/>
                </a:lnSpc>
              </a:pPr>
            </a:p>
          </p:txBody>
        </p:sp>
      </p:grpSp>
      <p:sp>
        <p:nvSpPr>
          <p:cNvPr name="TextBox 19" id="19"/>
          <p:cNvSpPr txBox="true"/>
          <p:nvPr/>
        </p:nvSpPr>
        <p:spPr>
          <a:xfrm rot="0">
            <a:off x="9565330" y="4003449"/>
            <a:ext cx="8256187" cy="637415"/>
          </a:xfrm>
          <a:prstGeom prst="rect">
            <a:avLst/>
          </a:prstGeom>
        </p:spPr>
        <p:txBody>
          <a:bodyPr anchor="t" rtlCol="false" tIns="0" lIns="0" bIns="0" rIns="0">
            <a:spAutoFit/>
          </a:bodyPr>
          <a:lstStyle/>
          <a:p>
            <a:pPr algn="l">
              <a:lnSpc>
                <a:spcPts val="4987"/>
              </a:lnSpc>
              <a:spcBef>
                <a:spcPct val="0"/>
              </a:spcBef>
            </a:pPr>
            <a:r>
              <a:rPr lang="en-US" b="true" sz="3562">
                <a:solidFill>
                  <a:srgbClr val="563C08"/>
                </a:solidFill>
                <a:latin typeface="Poppins Bold"/>
                <a:ea typeface="Poppins Bold"/>
                <a:cs typeface="Poppins Bold"/>
                <a:sym typeface="Poppins Bold"/>
              </a:rPr>
              <a:t>Add Context to Every Number</a:t>
            </a:r>
          </a:p>
        </p:txBody>
      </p:sp>
      <p:sp>
        <p:nvSpPr>
          <p:cNvPr name="TextBox 20" id="20"/>
          <p:cNvSpPr txBox="true"/>
          <p:nvPr/>
        </p:nvSpPr>
        <p:spPr>
          <a:xfrm rot="0">
            <a:off x="9400549" y="4574189"/>
            <a:ext cx="7386234" cy="1308966"/>
          </a:xfrm>
          <a:prstGeom prst="rect">
            <a:avLst/>
          </a:prstGeom>
        </p:spPr>
        <p:txBody>
          <a:bodyPr anchor="t" rtlCol="false" tIns="0" lIns="0" bIns="0" rIns="0">
            <a:spAutoFit/>
          </a:bodyPr>
          <a:lstStyle/>
          <a:p>
            <a:pPr algn="l" marL="536434" indent="-268217" lvl="1">
              <a:lnSpc>
                <a:spcPts val="3478"/>
              </a:lnSpc>
              <a:buFont typeface="Arial"/>
              <a:buChar char="•"/>
            </a:pPr>
            <a:r>
              <a:rPr lang="en-US" sz="2484">
                <a:solidFill>
                  <a:srgbClr val="191919"/>
                </a:solidFill>
                <a:latin typeface="Poppins"/>
                <a:ea typeface="Poppins"/>
                <a:cs typeface="Poppins"/>
                <a:sym typeface="Poppins"/>
              </a:rPr>
              <a:t>A metric without context is misleading.</a:t>
            </a:r>
          </a:p>
          <a:p>
            <a:pPr algn="l" marL="536434" indent="-268217" lvl="1">
              <a:lnSpc>
                <a:spcPts val="3478"/>
              </a:lnSpc>
              <a:spcBef>
                <a:spcPct val="0"/>
              </a:spcBef>
              <a:buFont typeface="Arial"/>
              <a:buChar char="•"/>
            </a:pPr>
            <a:r>
              <a:rPr lang="en-US" sz="2484">
                <a:solidFill>
                  <a:srgbClr val="191919"/>
                </a:solidFill>
                <a:latin typeface="Poppins"/>
                <a:ea typeface="Poppins"/>
                <a:cs typeface="Poppins"/>
                <a:sym typeface="Poppins"/>
              </a:rPr>
              <a:t>Always pair data with: Asset Criticality + Severity + Trend.</a:t>
            </a:r>
          </a:p>
        </p:txBody>
      </p:sp>
      <p:grpSp>
        <p:nvGrpSpPr>
          <p:cNvPr name="Group 21" id="21"/>
          <p:cNvGrpSpPr/>
          <p:nvPr/>
        </p:nvGrpSpPr>
        <p:grpSpPr>
          <a:xfrm rot="0">
            <a:off x="5015365" y="6781626"/>
            <a:ext cx="7851082" cy="3130974"/>
            <a:chOff x="0" y="0"/>
            <a:chExt cx="2500868" cy="997334"/>
          </a:xfrm>
        </p:grpSpPr>
        <p:sp>
          <p:nvSpPr>
            <p:cNvPr name="Freeform 22" id="22"/>
            <p:cNvSpPr/>
            <p:nvPr/>
          </p:nvSpPr>
          <p:spPr>
            <a:xfrm flipH="false" flipV="false" rot="0">
              <a:off x="0" y="0"/>
              <a:ext cx="2500868" cy="997334"/>
            </a:xfrm>
            <a:custGeom>
              <a:avLst/>
              <a:gdLst/>
              <a:ahLst/>
              <a:cxnLst/>
              <a:rect r="r" b="b" t="t" l="l"/>
              <a:pathLst>
                <a:path h="997334" w="2500868">
                  <a:moveTo>
                    <a:pt x="49305" y="0"/>
                  </a:moveTo>
                  <a:lnTo>
                    <a:pt x="2451563" y="0"/>
                  </a:lnTo>
                  <a:cubicBezTo>
                    <a:pt x="2464640" y="0"/>
                    <a:pt x="2477181" y="5195"/>
                    <a:pt x="2486427" y="14441"/>
                  </a:cubicBezTo>
                  <a:cubicBezTo>
                    <a:pt x="2495673" y="23687"/>
                    <a:pt x="2500868" y="36228"/>
                    <a:pt x="2500868" y="49305"/>
                  </a:cubicBezTo>
                  <a:lnTo>
                    <a:pt x="2500868" y="948029"/>
                  </a:lnTo>
                  <a:cubicBezTo>
                    <a:pt x="2500868" y="961106"/>
                    <a:pt x="2495673" y="973647"/>
                    <a:pt x="2486427" y="982893"/>
                  </a:cubicBezTo>
                  <a:cubicBezTo>
                    <a:pt x="2477181" y="992140"/>
                    <a:pt x="2464640" y="997334"/>
                    <a:pt x="2451563" y="997334"/>
                  </a:cubicBezTo>
                  <a:lnTo>
                    <a:pt x="49305" y="997334"/>
                  </a:lnTo>
                  <a:cubicBezTo>
                    <a:pt x="36228" y="997334"/>
                    <a:pt x="23687" y="992140"/>
                    <a:pt x="14441" y="982893"/>
                  </a:cubicBezTo>
                  <a:cubicBezTo>
                    <a:pt x="5195" y="973647"/>
                    <a:pt x="0" y="961106"/>
                    <a:pt x="0" y="948029"/>
                  </a:cubicBezTo>
                  <a:lnTo>
                    <a:pt x="0" y="49305"/>
                  </a:lnTo>
                  <a:cubicBezTo>
                    <a:pt x="0" y="36228"/>
                    <a:pt x="5195" y="23687"/>
                    <a:pt x="14441" y="14441"/>
                  </a:cubicBezTo>
                  <a:cubicBezTo>
                    <a:pt x="23687" y="5195"/>
                    <a:pt x="36228" y="0"/>
                    <a:pt x="49305" y="0"/>
                  </a:cubicBezTo>
                  <a:close/>
                </a:path>
              </a:pathLst>
            </a:custGeom>
            <a:solidFill>
              <a:srgbClr val="A5AAAF"/>
            </a:solidFill>
          </p:spPr>
        </p:sp>
        <p:sp>
          <p:nvSpPr>
            <p:cNvPr name="TextBox 23" id="23"/>
            <p:cNvSpPr txBox="true"/>
            <p:nvPr/>
          </p:nvSpPr>
          <p:spPr>
            <a:xfrm>
              <a:off x="0" y="-57150"/>
              <a:ext cx="2500868" cy="1054484"/>
            </a:xfrm>
            <a:prstGeom prst="rect">
              <a:avLst/>
            </a:prstGeom>
          </p:spPr>
          <p:txBody>
            <a:bodyPr anchor="ctr" rtlCol="false" tIns="254000" lIns="254000" bIns="254000" rIns="254000"/>
            <a:lstStyle/>
            <a:p>
              <a:pPr algn="l">
                <a:lnSpc>
                  <a:spcPts val="2860"/>
                </a:lnSpc>
              </a:pPr>
            </a:p>
          </p:txBody>
        </p:sp>
      </p:grpSp>
      <p:sp>
        <p:nvSpPr>
          <p:cNvPr name="TextBox 24" id="24"/>
          <p:cNvSpPr txBox="true"/>
          <p:nvPr/>
        </p:nvSpPr>
        <p:spPr>
          <a:xfrm rot="0">
            <a:off x="5562944" y="6984043"/>
            <a:ext cx="7905689" cy="637415"/>
          </a:xfrm>
          <a:prstGeom prst="rect">
            <a:avLst/>
          </a:prstGeom>
        </p:spPr>
        <p:txBody>
          <a:bodyPr anchor="t" rtlCol="false" tIns="0" lIns="0" bIns="0" rIns="0">
            <a:spAutoFit/>
          </a:bodyPr>
          <a:lstStyle/>
          <a:p>
            <a:pPr algn="l">
              <a:lnSpc>
                <a:spcPts val="4987"/>
              </a:lnSpc>
              <a:spcBef>
                <a:spcPct val="0"/>
              </a:spcBef>
            </a:pPr>
            <a:r>
              <a:rPr lang="en-US" b="true" sz="3562">
                <a:solidFill>
                  <a:srgbClr val="563C08"/>
                </a:solidFill>
                <a:latin typeface="Poppins Bold"/>
                <a:ea typeface="Poppins Bold"/>
                <a:cs typeface="Poppins Bold"/>
                <a:sym typeface="Poppins Bold"/>
              </a:rPr>
              <a:t>Evolve with the Environment</a:t>
            </a:r>
          </a:p>
        </p:txBody>
      </p:sp>
      <p:sp>
        <p:nvSpPr>
          <p:cNvPr name="TextBox 25" id="25"/>
          <p:cNvSpPr txBox="true"/>
          <p:nvPr/>
        </p:nvSpPr>
        <p:spPr>
          <a:xfrm rot="0">
            <a:off x="5015365" y="7715057"/>
            <a:ext cx="7851082" cy="2379798"/>
          </a:xfrm>
          <a:prstGeom prst="rect">
            <a:avLst/>
          </a:prstGeom>
        </p:spPr>
        <p:txBody>
          <a:bodyPr anchor="t" rtlCol="false" tIns="0" lIns="0" bIns="0" rIns="0">
            <a:spAutoFit/>
          </a:bodyPr>
          <a:lstStyle/>
          <a:p>
            <a:pPr algn="l" marL="584944" indent="-292472" lvl="1">
              <a:lnSpc>
                <a:spcPts val="3793"/>
              </a:lnSpc>
              <a:buFont typeface="Arial"/>
              <a:buChar char="•"/>
            </a:pPr>
            <a:r>
              <a:rPr lang="en-US" sz="2709">
                <a:solidFill>
                  <a:srgbClr val="191919"/>
                </a:solidFill>
                <a:latin typeface="Poppins"/>
                <a:ea typeface="Poppins"/>
                <a:cs typeface="Poppins"/>
                <a:sym typeface="Poppins"/>
              </a:rPr>
              <a:t>Traditional metrics fail in dynamic systems (Cloud, AI, CI/CD).</a:t>
            </a:r>
          </a:p>
          <a:p>
            <a:pPr algn="l" marL="584944" indent="-292472" lvl="1">
              <a:lnSpc>
                <a:spcPts val="3793"/>
              </a:lnSpc>
              <a:spcBef>
                <a:spcPct val="0"/>
              </a:spcBef>
              <a:buFont typeface="Arial"/>
              <a:buChar char="•"/>
            </a:pPr>
            <a:r>
              <a:rPr lang="en-US" sz="2709">
                <a:solidFill>
                  <a:srgbClr val="191919"/>
                </a:solidFill>
                <a:latin typeface="Poppins"/>
                <a:ea typeface="Poppins"/>
                <a:cs typeface="Poppins"/>
                <a:sym typeface="Poppins"/>
              </a:rPr>
              <a:t>Must now track: AI usage, non-human identities, and real-time changes.</a:t>
            </a:r>
          </a:p>
          <a:p>
            <a:pPr algn="l" marL="0" indent="0" lvl="0">
              <a:lnSpc>
                <a:spcPts val="3793"/>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451882"/>
            <a:chOff x="0" y="0"/>
            <a:chExt cx="4816593" cy="2752759"/>
          </a:xfrm>
        </p:grpSpPr>
        <p:sp>
          <p:nvSpPr>
            <p:cNvPr name="Freeform 3" id="3"/>
            <p:cNvSpPr/>
            <p:nvPr/>
          </p:nvSpPr>
          <p:spPr>
            <a:xfrm flipH="false" flipV="false" rot="0">
              <a:off x="0" y="0"/>
              <a:ext cx="4816592" cy="2752759"/>
            </a:xfrm>
            <a:custGeom>
              <a:avLst/>
              <a:gdLst/>
              <a:ahLst/>
              <a:cxnLst/>
              <a:rect r="r" b="b" t="t" l="l"/>
              <a:pathLst>
                <a:path h="2752759" w="4816592">
                  <a:moveTo>
                    <a:pt x="0" y="0"/>
                  </a:moveTo>
                  <a:lnTo>
                    <a:pt x="4816592" y="0"/>
                  </a:lnTo>
                  <a:lnTo>
                    <a:pt x="4816592" y="2752759"/>
                  </a:lnTo>
                  <a:lnTo>
                    <a:pt x="0" y="2752759"/>
                  </a:lnTo>
                  <a:close/>
                </a:path>
              </a:pathLst>
            </a:custGeom>
            <a:solidFill>
              <a:srgbClr val="FFD076"/>
            </a:solidFill>
          </p:spPr>
        </p:sp>
        <p:sp>
          <p:nvSpPr>
            <p:cNvPr name="TextBox 4" id="4"/>
            <p:cNvSpPr txBox="true"/>
            <p:nvPr/>
          </p:nvSpPr>
          <p:spPr>
            <a:xfrm>
              <a:off x="0" y="-47625"/>
              <a:ext cx="4816593" cy="2800384"/>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0" y="2228839"/>
            <a:ext cx="18288000" cy="6897328"/>
            <a:chOff x="0" y="0"/>
            <a:chExt cx="4816593" cy="1816580"/>
          </a:xfrm>
        </p:grpSpPr>
        <p:sp>
          <p:nvSpPr>
            <p:cNvPr name="Freeform 6" id="6"/>
            <p:cNvSpPr/>
            <p:nvPr/>
          </p:nvSpPr>
          <p:spPr>
            <a:xfrm flipH="false" flipV="false" rot="0">
              <a:off x="0" y="0"/>
              <a:ext cx="4816592" cy="1816580"/>
            </a:xfrm>
            <a:custGeom>
              <a:avLst/>
              <a:gdLst/>
              <a:ahLst/>
              <a:cxnLst/>
              <a:rect r="r" b="b" t="t" l="l"/>
              <a:pathLst>
                <a:path h="1816580" w="4816592">
                  <a:moveTo>
                    <a:pt x="0" y="0"/>
                  </a:moveTo>
                  <a:lnTo>
                    <a:pt x="4816592" y="0"/>
                  </a:lnTo>
                  <a:lnTo>
                    <a:pt x="4816592" y="1816580"/>
                  </a:lnTo>
                  <a:lnTo>
                    <a:pt x="0" y="1816580"/>
                  </a:lnTo>
                  <a:close/>
                </a:path>
              </a:pathLst>
            </a:custGeom>
            <a:solidFill>
              <a:srgbClr val="FFFFFF"/>
            </a:solidFill>
          </p:spPr>
        </p:sp>
        <p:sp>
          <p:nvSpPr>
            <p:cNvPr name="TextBox 7" id="7"/>
            <p:cNvSpPr txBox="true"/>
            <p:nvPr/>
          </p:nvSpPr>
          <p:spPr>
            <a:xfrm>
              <a:off x="0" y="-47625"/>
              <a:ext cx="4816593" cy="1864205"/>
            </a:xfrm>
            <a:prstGeom prst="rect">
              <a:avLst/>
            </a:prstGeom>
          </p:spPr>
          <p:txBody>
            <a:bodyPr anchor="ctr" rtlCol="false" tIns="50800" lIns="50800" bIns="50800" rIns="50800"/>
            <a:lstStyle/>
            <a:p>
              <a:pPr algn="ctr">
                <a:lnSpc>
                  <a:spcPts val="3560"/>
                </a:lnSpc>
              </a:pPr>
            </a:p>
          </p:txBody>
        </p:sp>
      </p:grpSp>
      <p:graphicFrame>
        <p:nvGraphicFramePr>
          <p:cNvPr name="Object 8" id="8"/>
          <p:cNvGraphicFramePr/>
          <p:nvPr/>
        </p:nvGraphicFramePr>
        <p:xfrm>
          <a:off x="405142" y="2442381"/>
          <a:ext cx="7543800" cy="3143250"/>
        </p:xfrm>
        <a:graphic>
          <a:graphicData uri="http://schemas.openxmlformats.org/presentationml/2006/ole">
            <p:oleObj imgW="9042400" imgH="4648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9" id="9"/>
          <p:cNvSpPr txBox="true"/>
          <p:nvPr/>
        </p:nvSpPr>
        <p:spPr>
          <a:xfrm rot="0">
            <a:off x="1772152" y="518558"/>
            <a:ext cx="14743696" cy="877410"/>
          </a:xfrm>
          <a:prstGeom prst="rect">
            <a:avLst/>
          </a:prstGeom>
        </p:spPr>
        <p:txBody>
          <a:bodyPr anchor="t" rtlCol="false" tIns="0" lIns="0" bIns="0" rIns="0">
            <a:spAutoFit/>
          </a:bodyPr>
          <a:lstStyle/>
          <a:p>
            <a:pPr algn="ctr" marL="0" indent="0" lvl="0">
              <a:lnSpc>
                <a:spcPts val="6763"/>
              </a:lnSpc>
              <a:spcBef>
                <a:spcPct val="0"/>
              </a:spcBef>
            </a:pPr>
            <a:r>
              <a:rPr lang="en-US" b="true" sz="4831">
                <a:solidFill>
                  <a:srgbClr val="191919"/>
                </a:solidFill>
                <a:latin typeface="Poppins Bold"/>
                <a:ea typeface="Poppins Bold"/>
                <a:cs typeface="Poppins Bold"/>
                <a:sym typeface="Poppins Bold"/>
              </a:rPr>
              <a:t>Rethinking Security Metrics</a:t>
            </a:r>
          </a:p>
        </p:txBody>
      </p:sp>
      <p:sp>
        <p:nvSpPr>
          <p:cNvPr name="TextBox 10" id="10"/>
          <p:cNvSpPr txBox="true"/>
          <p:nvPr/>
        </p:nvSpPr>
        <p:spPr>
          <a:xfrm rot="0">
            <a:off x="14934015" y="9454214"/>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PENAVERDE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0033"/>
            <a:ext cx="18288000" cy="7926934"/>
            <a:chOff x="0" y="0"/>
            <a:chExt cx="4816593" cy="2087752"/>
          </a:xfrm>
        </p:grpSpPr>
        <p:sp>
          <p:nvSpPr>
            <p:cNvPr name="Freeform 3" id="3"/>
            <p:cNvSpPr/>
            <p:nvPr/>
          </p:nvSpPr>
          <p:spPr>
            <a:xfrm flipH="false" flipV="false" rot="0">
              <a:off x="0" y="0"/>
              <a:ext cx="4816592" cy="2087752"/>
            </a:xfrm>
            <a:custGeom>
              <a:avLst/>
              <a:gdLst/>
              <a:ahLst/>
              <a:cxnLst/>
              <a:rect r="r" b="b" t="t" l="l"/>
              <a:pathLst>
                <a:path h="2087752" w="4816592">
                  <a:moveTo>
                    <a:pt x="0" y="0"/>
                  </a:moveTo>
                  <a:lnTo>
                    <a:pt x="4816592" y="0"/>
                  </a:lnTo>
                  <a:lnTo>
                    <a:pt x="4816592" y="2087752"/>
                  </a:lnTo>
                  <a:lnTo>
                    <a:pt x="0" y="2087752"/>
                  </a:lnTo>
                  <a:close/>
                </a:path>
              </a:pathLst>
            </a:custGeom>
            <a:solidFill>
              <a:srgbClr val="FFD076"/>
            </a:solidFill>
          </p:spPr>
        </p:sp>
        <p:sp>
          <p:nvSpPr>
            <p:cNvPr name="TextBox 4" id="4"/>
            <p:cNvSpPr txBox="true"/>
            <p:nvPr/>
          </p:nvSpPr>
          <p:spPr>
            <a:xfrm>
              <a:off x="0" y="-47625"/>
              <a:ext cx="4816593" cy="2135377"/>
            </a:xfrm>
            <a:prstGeom prst="rect">
              <a:avLst/>
            </a:prstGeom>
          </p:spPr>
          <p:txBody>
            <a:bodyPr anchor="ctr" rtlCol="false" tIns="50800" lIns="50800" bIns="50800" rIns="50800"/>
            <a:lstStyle/>
            <a:p>
              <a:pPr algn="ctr">
                <a:lnSpc>
                  <a:spcPts val="3560"/>
                </a:lnSpc>
              </a:pPr>
            </a:p>
          </p:txBody>
        </p:sp>
      </p:grpSp>
      <p:sp>
        <p:nvSpPr>
          <p:cNvPr name="TextBox 5" id="5"/>
          <p:cNvSpPr txBox="true"/>
          <p:nvPr/>
        </p:nvSpPr>
        <p:spPr>
          <a:xfrm rot="0">
            <a:off x="698851" y="2809645"/>
            <a:ext cx="12004351" cy="1024000"/>
          </a:xfrm>
          <a:prstGeom prst="rect">
            <a:avLst/>
          </a:prstGeom>
        </p:spPr>
        <p:txBody>
          <a:bodyPr anchor="t" rtlCol="false" tIns="0" lIns="0" bIns="0" rIns="0">
            <a:spAutoFit/>
          </a:bodyPr>
          <a:lstStyle/>
          <a:p>
            <a:pPr algn="l" marL="0" indent="0" lvl="0">
              <a:lnSpc>
                <a:spcPts val="4082"/>
              </a:lnSpc>
              <a:spcBef>
                <a:spcPct val="0"/>
              </a:spcBef>
            </a:pPr>
            <a:r>
              <a:rPr lang="en-US" sz="2916">
                <a:solidFill>
                  <a:srgbClr val="191919"/>
                </a:solidFill>
                <a:latin typeface="Poppins"/>
                <a:ea typeface="Poppins"/>
                <a:cs typeface="Poppins"/>
                <a:sym typeface="Poppins"/>
              </a:rPr>
              <a:t>A metric is meaningful information derived from measurement.</a:t>
            </a:r>
          </a:p>
          <a:p>
            <a:pPr algn="l" marL="0" indent="0" lvl="0">
              <a:lnSpc>
                <a:spcPts val="4082"/>
              </a:lnSpc>
              <a:spcBef>
                <a:spcPct val="0"/>
              </a:spcBef>
            </a:pPr>
          </a:p>
        </p:txBody>
      </p:sp>
      <p:sp>
        <p:nvSpPr>
          <p:cNvPr name="TextBox 6" id="6"/>
          <p:cNvSpPr txBox="true"/>
          <p:nvPr/>
        </p:nvSpPr>
        <p:spPr>
          <a:xfrm rot="0">
            <a:off x="604504" y="978112"/>
            <a:ext cx="12004351" cy="1772511"/>
          </a:xfrm>
          <a:prstGeom prst="rect">
            <a:avLst/>
          </a:prstGeom>
        </p:spPr>
        <p:txBody>
          <a:bodyPr anchor="t" rtlCol="false" tIns="0" lIns="0" bIns="0" rIns="0">
            <a:spAutoFit/>
          </a:bodyPr>
          <a:lstStyle/>
          <a:p>
            <a:pPr algn="l" marL="0" indent="0" lvl="0">
              <a:lnSpc>
                <a:spcPts val="13745"/>
              </a:lnSpc>
              <a:spcBef>
                <a:spcPct val="0"/>
              </a:spcBef>
            </a:pPr>
            <a:r>
              <a:rPr lang="en-US" b="true" sz="9818">
                <a:solidFill>
                  <a:srgbClr val="563C08"/>
                </a:solidFill>
                <a:latin typeface="Poppins Bold"/>
                <a:ea typeface="Poppins Bold"/>
                <a:cs typeface="Poppins Bold"/>
                <a:sym typeface="Poppins Bold"/>
              </a:rPr>
              <a:t>What is a Metric?</a:t>
            </a:r>
          </a:p>
        </p:txBody>
      </p:sp>
      <p:sp>
        <p:nvSpPr>
          <p:cNvPr name="TextBox 7" id="7"/>
          <p:cNvSpPr txBox="true"/>
          <p:nvPr/>
        </p:nvSpPr>
        <p:spPr>
          <a:xfrm rot="0">
            <a:off x="15997170" y="9511949"/>
            <a:ext cx="5461258" cy="458413"/>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ELUMBA</a:t>
            </a:r>
          </a:p>
        </p:txBody>
      </p:sp>
      <p:sp>
        <p:nvSpPr>
          <p:cNvPr name="Freeform 8" id="8"/>
          <p:cNvSpPr/>
          <p:nvPr/>
        </p:nvSpPr>
        <p:spPr>
          <a:xfrm flipH="false" flipV="false" rot="0">
            <a:off x="127389" y="-698554"/>
            <a:ext cx="2713427" cy="2730492"/>
          </a:xfrm>
          <a:custGeom>
            <a:avLst/>
            <a:gdLst/>
            <a:ahLst/>
            <a:cxnLst/>
            <a:rect r="r" b="b" t="t" l="l"/>
            <a:pathLst>
              <a:path h="2730492" w="2713427">
                <a:moveTo>
                  <a:pt x="0" y="0"/>
                </a:moveTo>
                <a:lnTo>
                  <a:pt x="2713427" y="0"/>
                </a:lnTo>
                <a:lnTo>
                  <a:pt x="2713427" y="2730493"/>
                </a:lnTo>
                <a:lnTo>
                  <a:pt x="0" y="27304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7389" y="8674705"/>
            <a:ext cx="2713427" cy="2730492"/>
          </a:xfrm>
          <a:custGeom>
            <a:avLst/>
            <a:gdLst/>
            <a:ahLst/>
            <a:cxnLst/>
            <a:rect r="r" b="b" t="t" l="l"/>
            <a:pathLst>
              <a:path h="2730492" w="2713427">
                <a:moveTo>
                  <a:pt x="0" y="0"/>
                </a:moveTo>
                <a:lnTo>
                  <a:pt x="2713427" y="0"/>
                </a:lnTo>
                <a:lnTo>
                  <a:pt x="2713427" y="2730493"/>
                </a:lnTo>
                <a:lnTo>
                  <a:pt x="0" y="27304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347955" y="3641003"/>
            <a:ext cx="8576146" cy="5033702"/>
            <a:chOff x="0" y="0"/>
            <a:chExt cx="3024103" cy="1774974"/>
          </a:xfrm>
        </p:grpSpPr>
        <p:sp>
          <p:nvSpPr>
            <p:cNvPr name="Freeform 11" id="11"/>
            <p:cNvSpPr/>
            <p:nvPr/>
          </p:nvSpPr>
          <p:spPr>
            <a:xfrm flipH="false" flipV="false" rot="0">
              <a:off x="0" y="0"/>
              <a:ext cx="3024103" cy="1774974"/>
            </a:xfrm>
            <a:custGeom>
              <a:avLst/>
              <a:gdLst/>
              <a:ahLst/>
              <a:cxnLst/>
              <a:rect r="r" b="b" t="t" l="l"/>
              <a:pathLst>
                <a:path h="1774974" w="3024103">
                  <a:moveTo>
                    <a:pt x="45136" y="0"/>
                  </a:moveTo>
                  <a:lnTo>
                    <a:pt x="2978967" y="0"/>
                  </a:lnTo>
                  <a:cubicBezTo>
                    <a:pt x="2990938" y="0"/>
                    <a:pt x="3002418" y="4755"/>
                    <a:pt x="3010883" y="13220"/>
                  </a:cubicBezTo>
                  <a:cubicBezTo>
                    <a:pt x="3019348" y="21685"/>
                    <a:pt x="3024103" y="33165"/>
                    <a:pt x="3024103" y="45136"/>
                  </a:cubicBezTo>
                  <a:lnTo>
                    <a:pt x="3024103" y="1729837"/>
                  </a:lnTo>
                  <a:cubicBezTo>
                    <a:pt x="3024103" y="1741808"/>
                    <a:pt x="3019348" y="1753289"/>
                    <a:pt x="3010883" y="1761754"/>
                  </a:cubicBezTo>
                  <a:cubicBezTo>
                    <a:pt x="3002418" y="1770218"/>
                    <a:pt x="2990938" y="1774974"/>
                    <a:pt x="2978967" y="1774974"/>
                  </a:cubicBezTo>
                  <a:lnTo>
                    <a:pt x="45136" y="1774974"/>
                  </a:lnTo>
                  <a:cubicBezTo>
                    <a:pt x="33165" y="1774974"/>
                    <a:pt x="21685" y="1770218"/>
                    <a:pt x="13220" y="1761754"/>
                  </a:cubicBezTo>
                  <a:cubicBezTo>
                    <a:pt x="4755" y="1753289"/>
                    <a:pt x="0" y="1741808"/>
                    <a:pt x="0" y="1729837"/>
                  </a:cubicBezTo>
                  <a:lnTo>
                    <a:pt x="0" y="45136"/>
                  </a:lnTo>
                  <a:cubicBezTo>
                    <a:pt x="0" y="33165"/>
                    <a:pt x="4755" y="21685"/>
                    <a:pt x="13220" y="13220"/>
                  </a:cubicBezTo>
                  <a:cubicBezTo>
                    <a:pt x="21685" y="4755"/>
                    <a:pt x="33165" y="0"/>
                    <a:pt x="45136" y="0"/>
                  </a:cubicBezTo>
                  <a:close/>
                </a:path>
              </a:pathLst>
            </a:custGeom>
            <a:solidFill>
              <a:srgbClr val="F1F1F1"/>
            </a:solidFill>
          </p:spPr>
        </p:sp>
        <p:sp>
          <p:nvSpPr>
            <p:cNvPr name="TextBox 12" id="12"/>
            <p:cNvSpPr txBox="true"/>
            <p:nvPr/>
          </p:nvSpPr>
          <p:spPr>
            <a:xfrm>
              <a:off x="0" y="-57150"/>
              <a:ext cx="3024103" cy="1832124"/>
            </a:xfrm>
            <a:prstGeom prst="rect">
              <a:avLst/>
            </a:prstGeom>
          </p:spPr>
          <p:txBody>
            <a:bodyPr anchor="ctr" rtlCol="false" tIns="254000" lIns="254000" bIns="254000" rIns="254000"/>
            <a:lstStyle/>
            <a:p>
              <a:pPr algn="l">
                <a:lnSpc>
                  <a:spcPts val="2860"/>
                </a:lnSpc>
              </a:pPr>
            </a:p>
          </p:txBody>
        </p:sp>
      </p:grpSp>
      <p:sp>
        <p:nvSpPr>
          <p:cNvPr name="TextBox 13" id="13"/>
          <p:cNvSpPr txBox="true"/>
          <p:nvPr/>
        </p:nvSpPr>
        <p:spPr>
          <a:xfrm rot="0">
            <a:off x="2862937" y="3892667"/>
            <a:ext cx="3546182" cy="518215"/>
          </a:xfrm>
          <a:prstGeom prst="rect">
            <a:avLst/>
          </a:prstGeom>
        </p:spPr>
        <p:txBody>
          <a:bodyPr anchor="t" rtlCol="false" tIns="0" lIns="0" bIns="0" rIns="0">
            <a:spAutoFit/>
          </a:bodyPr>
          <a:lstStyle/>
          <a:p>
            <a:pPr algn="l" marL="0" indent="0" lvl="0">
              <a:lnSpc>
                <a:spcPts val="4060"/>
              </a:lnSpc>
              <a:spcBef>
                <a:spcPct val="0"/>
              </a:spcBef>
            </a:pPr>
            <a:r>
              <a:rPr lang="en-US" b="true" sz="2900">
                <a:solidFill>
                  <a:srgbClr val="563C08"/>
                </a:solidFill>
                <a:latin typeface="Poppins Bold"/>
                <a:ea typeface="Poppins Bold"/>
                <a:cs typeface="Poppins Bold"/>
                <a:sym typeface="Poppins Bold"/>
              </a:rPr>
              <a:t>Measurement</a:t>
            </a:r>
          </a:p>
        </p:txBody>
      </p:sp>
      <p:sp>
        <p:nvSpPr>
          <p:cNvPr name="TextBox 14" id="14"/>
          <p:cNvSpPr txBox="true"/>
          <p:nvPr/>
        </p:nvSpPr>
        <p:spPr>
          <a:xfrm rot="0">
            <a:off x="698851" y="4741487"/>
            <a:ext cx="7743162" cy="3603369"/>
          </a:xfrm>
          <a:prstGeom prst="rect">
            <a:avLst/>
          </a:prstGeom>
        </p:spPr>
        <p:txBody>
          <a:bodyPr anchor="t" rtlCol="false" tIns="0" lIns="0" bIns="0" rIns="0">
            <a:spAutoFit/>
          </a:bodyPr>
          <a:lstStyle/>
          <a:p>
            <a:pPr algn="l">
              <a:lnSpc>
                <a:spcPts val="4060"/>
              </a:lnSpc>
            </a:pPr>
            <a:r>
              <a:rPr lang="en-US" sz="2900">
                <a:solidFill>
                  <a:srgbClr val="191919"/>
                </a:solidFill>
                <a:latin typeface="Poppins"/>
                <a:ea typeface="Poppins"/>
                <a:cs typeface="Poppins"/>
                <a:sym typeface="Poppins"/>
              </a:rPr>
              <a:t>The process of collecting or determining a value about an object, activity, condition, or outcome.</a:t>
            </a:r>
          </a:p>
          <a:p>
            <a:pPr algn="l">
              <a:lnSpc>
                <a:spcPts val="4060"/>
              </a:lnSpc>
            </a:pPr>
          </a:p>
          <a:p>
            <a:pPr algn="l" marL="0" indent="0" lvl="0">
              <a:lnSpc>
                <a:spcPts val="4060"/>
              </a:lnSpc>
              <a:spcBef>
                <a:spcPct val="0"/>
              </a:spcBef>
            </a:pPr>
            <a:r>
              <a:rPr lang="en-US" sz="2900">
                <a:solidFill>
                  <a:srgbClr val="191919"/>
                </a:solidFill>
                <a:latin typeface="Poppins"/>
                <a:ea typeface="Poppins"/>
                <a:cs typeface="Poppins"/>
                <a:sym typeface="Poppins"/>
              </a:rPr>
              <a:t>Example: counting the number of unresolved vulnerabilities.</a:t>
            </a:r>
          </a:p>
          <a:p>
            <a:pPr algn="l" marL="0" indent="0" lvl="0">
              <a:lnSpc>
                <a:spcPts val="4060"/>
              </a:lnSpc>
              <a:spcBef>
                <a:spcPct val="0"/>
              </a:spcBef>
            </a:pPr>
          </a:p>
        </p:txBody>
      </p:sp>
      <p:grpSp>
        <p:nvGrpSpPr>
          <p:cNvPr name="Group 15" id="15"/>
          <p:cNvGrpSpPr/>
          <p:nvPr/>
        </p:nvGrpSpPr>
        <p:grpSpPr>
          <a:xfrm rot="0">
            <a:off x="9400549" y="3652535"/>
            <a:ext cx="8576146" cy="5033702"/>
            <a:chOff x="0" y="0"/>
            <a:chExt cx="3024103" cy="1774974"/>
          </a:xfrm>
        </p:grpSpPr>
        <p:sp>
          <p:nvSpPr>
            <p:cNvPr name="Freeform 16" id="16"/>
            <p:cNvSpPr/>
            <p:nvPr/>
          </p:nvSpPr>
          <p:spPr>
            <a:xfrm flipH="false" flipV="false" rot="0">
              <a:off x="0" y="0"/>
              <a:ext cx="3024103" cy="1774974"/>
            </a:xfrm>
            <a:custGeom>
              <a:avLst/>
              <a:gdLst/>
              <a:ahLst/>
              <a:cxnLst/>
              <a:rect r="r" b="b" t="t" l="l"/>
              <a:pathLst>
                <a:path h="1774974" w="3024103">
                  <a:moveTo>
                    <a:pt x="45136" y="0"/>
                  </a:moveTo>
                  <a:lnTo>
                    <a:pt x="2978967" y="0"/>
                  </a:lnTo>
                  <a:cubicBezTo>
                    <a:pt x="2990938" y="0"/>
                    <a:pt x="3002418" y="4755"/>
                    <a:pt x="3010883" y="13220"/>
                  </a:cubicBezTo>
                  <a:cubicBezTo>
                    <a:pt x="3019348" y="21685"/>
                    <a:pt x="3024103" y="33165"/>
                    <a:pt x="3024103" y="45136"/>
                  </a:cubicBezTo>
                  <a:lnTo>
                    <a:pt x="3024103" y="1729837"/>
                  </a:lnTo>
                  <a:cubicBezTo>
                    <a:pt x="3024103" y="1741808"/>
                    <a:pt x="3019348" y="1753289"/>
                    <a:pt x="3010883" y="1761754"/>
                  </a:cubicBezTo>
                  <a:cubicBezTo>
                    <a:pt x="3002418" y="1770218"/>
                    <a:pt x="2990938" y="1774974"/>
                    <a:pt x="2978967" y="1774974"/>
                  </a:cubicBezTo>
                  <a:lnTo>
                    <a:pt x="45136" y="1774974"/>
                  </a:lnTo>
                  <a:cubicBezTo>
                    <a:pt x="33165" y="1774974"/>
                    <a:pt x="21685" y="1770218"/>
                    <a:pt x="13220" y="1761754"/>
                  </a:cubicBezTo>
                  <a:cubicBezTo>
                    <a:pt x="4755" y="1753289"/>
                    <a:pt x="0" y="1741808"/>
                    <a:pt x="0" y="1729837"/>
                  </a:cubicBezTo>
                  <a:lnTo>
                    <a:pt x="0" y="45136"/>
                  </a:lnTo>
                  <a:cubicBezTo>
                    <a:pt x="0" y="33165"/>
                    <a:pt x="4755" y="21685"/>
                    <a:pt x="13220" y="13220"/>
                  </a:cubicBezTo>
                  <a:cubicBezTo>
                    <a:pt x="21685" y="4755"/>
                    <a:pt x="33165" y="0"/>
                    <a:pt x="45136" y="0"/>
                  </a:cubicBezTo>
                  <a:close/>
                </a:path>
              </a:pathLst>
            </a:custGeom>
            <a:solidFill>
              <a:srgbClr val="F1F1F1"/>
            </a:solidFill>
          </p:spPr>
        </p:sp>
        <p:sp>
          <p:nvSpPr>
            <p:cNvPr name="TextBox 17" id="17"/>
            <p:cNvSpPr txBox="true"/>
            <p:nvPr/>
          </p:nvSpPr>
          <p:spPr>
            <a:xfrm>
              <a:off x="0" y="-57150"/>
              <a:ext cx="3024103" cy="1832124"/>
            </a:xfrm>
            <a:prstGeom prst="rect">
              <a:avLst/>
            </a:prstGeom>
          </p:spPr>
          <p:txBody>
            <a:bodyPr anchor="ctr" rtlCol="false" tIns="254000" lIns="254000" bIns="254000" rIns="254000"/>
            <a:lstStyle/>
            <a:p>
              <a:pPr algn="l">
                <a:lnSpc>
                  <a:spcPts val="2860"/>
                </a:lnSpc>
              </a:pPr>
            </a:p>
          </p:txBody>
        </p:sp>
      </p:grpSp>
      <p:sp>
        <p:nvSpPr>
          <p:cNvPr name="TextBox 18" id="18"/>
          <p:cNvSpPr txBox="true"/>
          <p:nvPr/>
        </p:nvSpPr>
        <p:spPr>
          <a:xfrm rot="0">
            <a:off x="13198279" y="3892667"/>
            <a:ext cx="1493786" cy="518215"/>
          </a:xfrm>
          <a:prstGeom prst="rect">
            <a:avLst/>
          </a:prstGeom>
        </p:spPr>
        <p:txBody>
          <a:bodyPr anchor="t" rtlCol="false" tIns="0" lIns="0" bIns="0" rIns="0">
            <a:spAutoFit/>
          </a:bodyPr>
          <a:lstStyle/>
          <a:p>
            <a:pPr algn="l" marL="0" indent="0" lvl="0">
              <a:lnSpc>
                <a:spcPts val="4060"/>
              </a:lnSpc>
              <a:spcBef>
                <a:spcPct val="0"/>
              </a:spcBef>
            </a:pPr>
            <a:r>
              <a:rPr lang="en-US" b="true" sz="2900">
                <a:solidFill>
                  <a:srgbClr val="563C08"/>
                </a:solidFill>
                <a:latin typeface="Poppins Bold"/>
                <a:ea typeface="Poppins Bold"/>
                <a:cs typeface="Poppins Bold"/>
                <a:sym typeface="Poppins Bold"/>
              </a:rPr>
              <a:t>Metric</a:t>
            </a:r>
          </a:p>
        </p:txBody>
      </p:sp>
      <p:sp>
        <p:nvSpPr>
          <p:cNvPr name="TextBox 19" id="19"/>
          <p:cNvSpPr txBox="true"/>
          <p:nvPr/>
        </p:nvSpPr>
        <p:spPr>
          <a:xfrm rot="0">
            <a:off x="9523842" y="4613911"/>
            <a:ext cx="8329561" cy="4117773"/>
          </a:xfrm>
          <a:prstGeom prst="rect">
            <a:avLst/>
          </a:prstGeom>
        </p:spPr>
        <p:txBody>
          <a:bodyPr anchor="t" rtlCol="false" tIns="0" lIns="0" bIns="0" rIns="0">
            <a:spAutoFit/>
          </a:bodyPr>
          <a:lstStyle/>
          <a:p>
            <a:pPr algn="l">
              <a:lnSpc>
                <a:spcPts val="4060"/>
              </a:lnSpc>
            </a:pPr>
            <a:r>
              <a:rPr lang="en-US" sz="2900">
                <a:solidFill>
                  <a:srgbClr val="191919"/>
                </a:solidFill>
                <a:latin typeface="Poppins"/>
                <a:ea typeface="Poppins"/>
                <a:cs typeface="Poppins"/>
                <a:sym typeface="Poppins"/>
              </a:rPr>
              <a:t>A metric gives a measure context and meaning so it can be interpreted, compared, monitored, or used for a decision.</a:t>
            </a:r>
          </a:p>
          <a:p>
            <a:pPr algn="l">
              <a:lnSpc>
                <a:spcPts val="4060"/>
              </a:lnSpc>
            </a:pPr>
          </a:p>
          <a:p>
            <a:pPr algn="l" marL="0" indent="0" lvl="0">
              <a:lnSpc>
                <a:spcPts val="4060"/>
              </a:lnSpc>
              <a:spcBef>
                <a:spcPct val="0"/>
              </a:spcBef>
            </a:pPr>
            <a:r>
              <a:rPr lang="en-US" sz="2900">
                <a:solidFill>
                  <a:srgbClr val="191919"/>
                </a:solidFill>
                <a:latin typeface="Poppins"/>
                <a:ea typeface="Poppins"/>
                <a:cs typeface="Poppins"/>
                <a:sym typeface="Poppins"/>
              </a:rPr>
              <a:t>Example: percentage of critical vulnerabilities resolved within the required timeframe.</a:t>
            </a:r>
          </a:p>
          <a:p>
            <a:pPr algn="l" marL="0" indent="0" lvl="0">
              <a:lnSpc>
                <a:spcPts val="406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47625"/>
              <a:ext cx="1848158" cy="3198609"/>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498034" y="2355594"/>
            <a:ext cx="15291933" cy="5575813"/>
            <a:chOff x="0" y="0"/>
            <a:chExt cx="4027505" cy="1468527"/>
          </a:xfrm>
        </p:grpSpPr>
        <p:sp>
          <p:nvSpPr>
            <p:cNvPr name="Freeform 6" id="6"/>
            <p:cNvSpPr/>
            <p:nvPr/>
          </p:nvSpPr>
          <p:spPr>
            <a:xfrm flipH="false" flipV="false" rot="0">
              <a:off x="0" y="0"/>
              <a:ext cx="4027505" cy="1468527"/>
            </a:xfrm>
            <a:custGeom>
              <a:avLst/>
              <a:gdLst/>
              <a:ahLst/>
              <a:cxnLst/>
              <a:rect r="r" b="b" t="t" l="l"/>
              <a:pathLst>
                <a:path h="1468527" w="4027505">
                  <a:moveTo>
                    <a:pt x="0" y="0"/>
                  </a:moveTo>
                  <a:lnTo>
                    <a:pt x="4027505" y="0"/>
                  </a:lnTo>
                  <a:lnTo>
                    <a:pt x="4027505" y="1468527"/>
                  </a:lnTo>
                  <a:lnTo>
                    <a:pt x="0" y="1468527"/>
                  </a:lnTo>
                  <a:close/>
                </a:path>
              </a:pathLst>
            </a:custGeom>
            <a:solidFill>
              <a:srgbClr val="FFFFFF"/>
            </a:solidFill>
          </p:spPr>
        </p:sp>
        <p:sp>
          <p:nvSpPr>
            <p:cNvPr name="TextBox 7" id="7"/>
            <p:cNvSpPr txBox="true"/>
            <p:nvPr/>
          </p:nvSpPr>
          <p:spPr>
            <a:xfrm>
              <a:off x="0" y="-47625"/>
              <a:ext cx="4027505" cy="1516152"/>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1498034" y="2355594"/>
            <a:ext cx="956740" cy="5575813"/>
            <a:chOff x="0" y="0"/>
            <a:chExt cx="251981" cy="1468527"/>
          </a:xfrm>
        </p:grpSpPr>
        <p:sp>
          <p:nvSpPr>
            <p:cNvPr name="Freeform 9" id="9"/>
            <p:cNvSpPr/>
            <p:nvPr/>
          </p:nvSpPr>
          <p:spPr>
            <a:xfrm flipH="false" flipV="false" rot="0">
              <a:off x="0" y="0"/>
              <a:ext cx="251981" cy="1468527"/>
            </a:xfrm>
            <a:custGeom>
              <a:avLst/>
              <a:gdLst/>
              <a:ahLst/>
              <a:cxnLst/>
              <a:rect r="r" b="b" t="t" l="l"/>
              <a:pathLst>
                <a:path h="1468527" w="251981">
                  <a:moveTo>
                    <a:pt x="0" y="0"/>
                  </a:moveTo>
                  <a:lnTo>
                    <a:pt x="251981" y="0"/>
                  </a:lnTo>
                  <a:lnTo>
                    <a:pt x="251981" y="1468527"/>
                  </a:lnTo>
                  <a:lnTo>
                    <a:pt x="0" y="1468527"/>
                  </a:lnTo>
                  <a:close/>
                </a:path>
              </a:pathLst>
            </a:custGeom>
            <a:solidFill>
              <a:srgbClr val="FFD076"/>
            </a:solidFill>
          </p:spPr>
        </p:sp>
        <p:sp>
          <p:nvSpPr>
            <p:cNvPr name="TextBox 10" id="10"/>
            <p:cNvSpPr txBox="true"/>
            <p:nvPr/>
          </p:nvSpPr>
          <p:spPr>
            <a:xfrm>
              <a:off x="0" y="-47625"/>
              <a:ext cx="251981" cy="1516152"/>
            </a:xfrm>
            <a:prstGeom prst="rect">
              <a:avLst/>
            </a:prstGeom>
          </p:spPr>
          <p:txBody>
            <a:bodyPr anchor="ctr" rtlCol="false" tIns="50800" lIns="50800" bIns="50800" rIns="50800"/>
            <a:lstStyle/>
            <a:p>
              <a:pPr algn="ctr">
                <a:lnSpc>
                  <a:spcPts val="3560"/>
                </a:lnSpc>
              </a:pPr>
            </a:p>
          </p:txBody>
        </p:sp>
      </p:grpSp>
      <p:sp>
        <p:nvSpPr>
          <p:cNvPr name="TextBox 11" id="11"/>
          <p:cNvSpPr txBox="true"/>
          <p:nvPr/>
        </p:nvSpPr>
        <p:spPr>
          <a:xfrm rot="0">
            <a:off x="2454774" y="2524715"/>
            <a:ext cx="14484000" cy="1285986"/>
          </a:xfrm>
          <a:prstGeom prst="rect">
            <a:avLst/>
          </a:prstGeom>
        </p:spPr>
        <p:txBody>
          <a:bodyPr anchor="t" rtlCol="false" tIns="0" lIns="0" bIns="0" rIns="0">
            <a:spAutoFit/>
          </a:bodyPr>
          <a:lstStyle/>
          <a:p>
            <a:pPr algn="l" marL="0" indent="0" lvl="0">
              <a:lnSpc>
                <a:spcPts val="9932"/>
              </a:lnSpc>
              <a:spcBef>
                <a:spcPct val="0"/>
              </a:spcBef>
            </a:pPr>
            <a:r>
              <a:rPr lang="en-US" b="true" sz="7094">
                <a:solidFill>
                  <a:srgbClr val="8B5F0B"/>
                </a:solidFill>
                <a:latin typeface="Poppins Bold"/>
                <a:ea typeface="Poppins Bold"/>
                <a:cs typeface="Poppins Bold"/>
                <a:sym typeface="Poppins Bold"/>
              </a:rPr>
              <a:t>What makes a “good” metric?</a:t>
            </a:r>
          </a:p>
        </p:txBody>
      </p:sp>
      <p:sp>
        <p:nvSpPr>
          <p:cNvPr name="TextBox 12" id="12"/>
          <p:cNvSpPr txBox="true"/>
          <p:nvPr/>
        </p:nvSpPr>
        <p:spPr>
          <a:xfrm rot="0">
            <a:off x="2696302" y="4258423"/>
            <a:ext cx="15937759" cy="2969725"/>
          </a:xfrm>
          <a:prstGeom prst="rect">
            <a:avLst/>
          </a:prstGeom>
        </p:spPr>
        <p:txBody>
          <a:bodyPr anchor="t" rtlCol="false" tIns="0" lIns="0" bIns="0" rIns="0">
            <a:spAutoFit/>
          </a:bodyPr>
          <a:lstStyle/>
          <a:p>
            <a:pPr algn="l" marL="725060" indent="-362530" lvl="1">
              <a:lnSpc>
                <a:spcPts val="4701"/>
              </a:lnSpc>
              <a:buFont typeface="Arial"/>
              <a:buChar char="•"/>
            </a:pPr>
            <a:r>
              <a:rPr lang="en-US" sz="3358">
                <a:solidFill>
                  <a:srgbClr val="000000"/>
                </a:solidFill>
                <a:latin typeface="Poppins"/>
                <a:ea typeface="Poppins"/>
                <a:cs typeface="Poppins"/>
                <a:sym typeface="Poppins"/>
              </a:rPr>
              <a:t>Allows accurate and detailed comparisons</a:t>
            </a:r>
          </a:p>
          <a:p>
            <a:pPr algn="l" marL="725060" indent="-362530" lvl="1">
              <a:lnSpc>
                <a:spcPts val="4701"/>
              </a:lnSpc>
              <a:buFont typeface="Arial"/>
              <a:buChar char="•"/>
            </a:pPr>
            <a:r>
              <a:rPr lang="en-US" sz="3358">
                <a:solidFill>
                  <a:srgbClr val="000000"/>
                </a:solidFill>
                <a:latin typeface="Poppins"/>
                <a:ea typeface="Poppins"/>
                <a:cs typeface="Poppins"/>
                <a:sym typeface="Poppins"/>
              </a:rPr>
              <a:t>Leads to correct conclusions</a:t>
            </a:r>
          </a:p>
          <a:p>
            <a:pPr algn="l" marL="725060" indent="-362530" lvl="1">
              <a:lnSpc>
                <a:spcPts val="4701"/>
              </a:lnSpc>
              <a:buFont typeface="Arial"/>
              <a:buChar char="•"/>
            </a:pPr>
            <a:r>
              <a:rPr lang="en-US" sz="3358">
                <a:solidFill>
                  <a:srgbClr val="000000"/>
                </a:solidFill>
                <a:latin typeface="Poppins"/>
                <a:ea typeface="Poppins"/>
                <a:cs typeface="Poppins"/>
                <a:sym typeface="Poppins"/>
              </a:rPr>
              <a:t>Is well understood by everyone</a:t>
            </a:r>
          </a:p>
          <a:p>
            <a:pPr algn="l" marL="725060" indent="-362530" lvl="1">
              <a:lnSpc>
                <a:spcPts val="4701"/>
              </a:lnSpc>
              <a:buFont typeface="Arial"/>
              <a:buChar char="•"/>
            </a:pPr>
            <a:r>
              <a:rPr lang="en-US" sz="3358">
                <a:solidFill>
                  <a:srgbClr val="000000"/>
                </a:solidFill>
                <a:latin typeface="Poppins"/>
                <a:ea typeface="Poppins"/>
                <a:cs typeface="Poppins"/>
                <a:sym typeface="Poppins"/>
              </a:rPr>
              <a:t>Has a quantitative basis</a:t>
            </a:r>
          </a:p>
          <a:p>
            <a:pPr algn="l" marL="725060" indent="-362530" lvl="1">
              <a:lnSpc>
                <a:spcPts val="4701"/>
              </a:lnSpc>
              <a:buFont typeface="Arial"/>
              <a:buChar char="•"/>
            </a:pPr>
            <a:r>
              <a:rPr lang="en-US" sz="3358">
                <a:solidFill>
                  <a:srgbClr val="000000"/>
                </a:solidFill>
                <a:latin typeface="Poppins"/>
                <a:ea typeface="Poppins"/>
                <a:cs typeface="Poppins"/>
                <a:sym typeface="Poppins"/>
              </a:rPr>
              <a:t>A good metric helps avoid erroneous conclusions</a:t>
            </a:r>
          </a:p>
        </p:txBody>
      </p:sp>
      <p:sp>
        <p:nvSpPr>
          <p:cNvPr name="Freeform 13" id="13"/>
          <p:cNvSpPr/>
          <p:nvPr/>
        </p:nvSpPr>
        <p:spPr>
          <a:xfrm flipH="false" flipV="false" rot="0">
            <a:off x="1085797" y="1028700"/>
            <a:ext cx="2017463" cy="2030152"/>
          </a:xfrm>
          <a:custGeom>
            <a:avLst/>
            <a:gdLst/>
            <a:ahLst/>
            <a:cxnLst/>
            <a:rect r="r" b="b" t="t" l="l"/>
            <a:pathLst>
              <a:path h="2030152" w="2017463">
                <a:moveTo>
                  <a:pt x="0" y="0"/>
                </a:moveTo>
                <a:lnTo>
                  <a:pt x="2017464" y="0"/>
                </a:lnTo>
                <a:lnTo>
                  <a:pt x="2017464"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15981039" y="9462044"/>
            <a:ext cx="5461258" cy="458413"/>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ELUMBA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25502" y="0"/>
            <a:ext cx="225561" cy="10287000"/>
            <a:chOff x="0" y="0"/>
            <a:chExt cx="59407" cy="2709333"/>
          </a:xfrm>
        </p:grpSpPr>
        <p:sp>
          <p:nvSpPr>
            <p:cNvPr name="Freeform 3" id="3"/>
            <p:cNvSpPr/>
            <p:nvPr/>
          </p:nvSpPr>
          <p:spPr>
            <a:xfrm flipH="false" flipV="false" rot="0">
              <a:off x="0" y="0"/>
              <a:ext cx="59407" cy="2709333"/>
            </a:xfrm>
            <a:custGeom>
              <a:avLst/>
              <a:gdLst/>
              <a:ahLst/>
              <a:cxnLst/>
              <a:rect r="r" b="b" t="t" l="l"/>
              <a:pathLst>
                <a:path h="2709333" w="59407">
                  <a:moveTo>
                    <a:pt x="0" y="0"/>
                  </a:moveTo>
                  <a:lnTo>
                    <a:pt x="59407" y="0"/>
                  </a:lnTo>
                  <a:lnTo>
                    <a:pt x="59407" y="2709333"/>
                  </a:lnTo>
                  <a:lnTo>
                    <a:pt x="0" y="2709333"/>
                  </a:lnTo>
                  <a:close/>
                </a:path>
              </a:pathLst>
            </a:custGeom>
            <a:solidFill>
              <a:srgbClr val="646464"/>
            </a:solidFill>
          </p:spPr>
        </p:sp>
        <p:sp>
          <p:nvSpPr>
            <p:cNvPr name="TextBox 4" id="4"/>
            <p:cNvSpPr txBox="true"/>
            <p:nvPr/>
          </p:nvSpPr>
          <p:spPr>
            <a:xfrm>
              <a:off x="0" y="-47625"/>
              <a:ext cx="59407" cy="2756958"/>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2203776" y="-838446"/>
            <a:ext cx="6329279" cy="11963892"/>
            <a:chOff x="0" y="0"/>
            <a:chExt cx="1666971" cy="3150984"/>
          </a:xfrm>
        </p:grpSpPr>
        <p:sp>
          <p:nvSpPr>
            <p:cNvPr name="Freeform 6" id="6"/>
            <p:cNvSpPr/>
            <p:nvPr/>
          </p:nvSpPr>
          <p:spPr>
            <a:xfrm flipH="false" flipV="false" rot="0">
              <a:off x="0" y="0"/>
              <a:ext cx="1666971" cy="3150984"/>
            </a:xfrm>
            <a:custGeom>
              <a:avLst/>
              <a:gdLst/>
              <a:ahLst/>
              <a:cxnLst/>
              <a:rect r="r" b="b" t="t" l="l"/>
              <a:pathLst>
                <a:path h="3150984" w="1666971">
                  <a:moveTo>
                    <a:pt x="0" y="0"/>
                  </a:moveTo>
                  <a:lnTo>
                    <a:pt x="1666971" y="0"/>
                  </a:lnTo>
                  <a:lnTo>
                    <a:pt x="1666971" y="3150984"/>
                  </a:lnTo>
                  <a:lnTo>
                    <a:pt x="0" y="3150984"/>
                  </a:lnTo>
                  <a:close/>
                </a:path>
              </a:pathLst>
            </a:custGeom>
            <a:solidFill>
              <a:srgbClr val="FFD076"/>
            </a:solidFill>
          </p:spPr>
        </p:sp>
        <p:sp>
          <p:nvSpPr>
            <p:cNvPr name="TextBox 7" id="7"/>
            <p:cNvSpPr txBox="true"/>
            <p:nvPr/>
          </p:nvSpPr>
          <p:spPr>
            <a:xfrm>
              <a:off x="0" y="-47625"/>
              <a:ext cx="1666971" cy="3198609"/>
            </a:xfrm>
            <a:prstGeom prst="rect">
              <a:avLst/>
            </a:prstGeom>
          </p:spPr>
          <p:txBody>
            <a:bodyPr anchor="ctr" rtlCol="false" tIns="50800" lIns="50800" bIns="50800" rIns="50800"/>
            <a:lstStyle/>
            <a:p>
              <a:pPr algn="ctr">
                <a:lnSpc>
                  <a:spcPts val="3560"/>
                </a:lnSpc>
              </a:pPr>
            </a:p>
          </p:txBody>
        </p:sp>
      </p:grpSp>
      <p:sp>
        <p:nvSpPr>
          <p:cNvPr name="TextBox 8" id="8"/>
          <p:cNvSpPr txBox="true"/>
          <p:nvPr/>
        </p:nvSpPr>
        <p:spPr>
          <a:xfrm rot="0">
            <a:off x="5981131" y="3760576"/>
            <a:ext cx="11665464" cy="5556651"/>
          </a:xfrm>
          <a:prstGeom prst="rect">
            <a:avLst/>
          </a:prstGeom>
        </p:spPr>
        <p:txBody>
          <a:bodyPr anchor="t" rtlCol="false" tIns="0" lIns="0" bIns="0" rIns="0">
            <a:spAutoFit/>
          </a:bodyPr>
          <a:lstStyle/>
          <a:p>
            <a:pPr algn="just" marL="568977" indent="-284488" lvl="1">
              <a:lnSpc>
                <a:spcPts val="3689"/>
              </a:lnSpc>
              <a:buFont typeface="Arial"/>
              <a:buChar char="•"/>
            </a:pPr>
            <a:r>
              <a:rPr lang="en-US" sz="2635">
                <a:solidFill>
                  <a:srgbClr val="000000"/>
                </a:solidFill>
                <a:latin typeface="Poppins"/>
                <a:ea typeface="Poppins"/>
                <a:cs typeface="Poppins"/>
                <a:sym typeface="Poppins"/>
              </a:rPr>
              <a:t>Security decisions often involve limited time, resources, and incomplete information.</a:t>
            </a:r>
          </a:p>
          <a:p>
            <a:pPr algn="just" marL="568977" indent="-284488" lvl="1">
              <a:lnSpc>
                <a:spcPts val="3689"/>
              </a:lnSpc>
              <a:buFont typeface="Arial"/>
              <a:buChar char="•"/>
            </a:pPr>
            <a:r>
              <a:rPr lang="en-US" sz="2635">
                <a:solidFill>
                  <a:srgbClr val="000000"/>
                </a:solidFill>
                <a:latin typeface="Poppins"/>
                <a:ea typeface="Poppins"/>
                <a:cs typeface="Poppins"/>
                <a:sym typeface="Poppins"/>
              </a:rPr>
              <a:t>A poorly designed metric may measure activity without showing whether security actually improved.</a:t>
            </a:r>
          </a:p>
          <a:p>
            <a:pPr algn="just" marL="568977" indent="-284488" lvl="1">
              <a:lnSpc>
                <a:spcPts val="3689"/>
              </a:lnSpc>
              <a:buFont typeface="Arial"/>
              <a:buChar char="•"/>
            </a:pPr>
            <a:r>
              <a:rPr lang="en-US" sz="2635">
                <a:solidFill>
                  <a:srgbClr val="000000"/>
                </a:solidFill>
                <a:latin typeface="Poppins"/>
                <a:ea typeface="Poppins"/>
                <a:cs typeface="Poppins"/>
                <a:sym typeface="Poppins"/>
              </a:rPr>
              <a:t>Metrics can be misunderstood when definitions, targets, data sources, or calculation methods are unclear.</a:t>
            </a:r>
          </a:p>
          <a:p>
            <a:pPr algn="just" marL="568977" indent="-284488" lvl="1">
              <a:lnSpc>
                <a:spcPts val="3689"/>
              </a:lnSpc>
              <a:buFont typeface="Arial"/>
              <a:buChar char="•"/>
            </a:pPr>
            <a:r>
              <a:rPr lang="en-US" sz="2635">
                <a:solidFill>
                  <a:srgbClr val="000000"/>
                </a:solidFill>
                <a:latin typeface="Poppins"/>
                <a:ea typeface="Poppins"/>
                <a:cs typeface="Poppins"/>
                <a:sym typeface="Poppins"/>
              </a:rPr>
              <a:t>Organizations may unintentionally optimize for the metric instead of the security objective.</a:t>
            </a:r>
          </a:p>
          <a:p>
            <a:pPr algn="just" marL="568977" indent="-284488" lvl="1">
              <a:lnSpc>
                <a:spcPts val="3689"/>
              </a:lnSpc>
              <a:buFont typeface="Arial"/>
              <a:buChar char="•"/>
            </a:pPr>
            <a:r>
              <a:rPr lang="en-US" sz="2635">
                <a:solidFill>
                  <a:srgbClr val="000000"/>
                </a:solidFill>
                <a:latin typeface="Poppins"/>
                <a:ea typeface="Poppins"/>
                <a:cs typeface="Poppins"/>
                <a:sym typeface="Poppins"/>
              </a:rPr>
              <a:t>High-quality metrics make security performance visible, support accountability, reveal trends, and guide corrective action.</a:t>
            </a:r>
          </a:p>
          <a:p>
            <a:pPr algn="just" marL="568977" indent="-284488" lvl="1">
              <a:lnSpc>
                <a:spcPts val="3689"/>
              </a:lnSpc>
              <a:buFont typeface="Arial"/>
              <a:buChar char="•"/>
            </a:pPr>
            <a:r>
              <a:rPr lang="en-US" sz="2635">
                <a:solidFill>
                  <a:srgbClr val="000000"/>
                </a:solidFill>
                <a:latin typeface="Poppins"/>
                <a:ea typeface="Poppins"/>
                <a:cs typeface="Poppins"/>
                <a:sym typeface="Poppins"/>
              </a:rPr>
              <a:t>The purpose of a metric is therefore not simply measurement—it is better-informed security decision-making.</a:t>
            </a:r>
          </a:p>
        </p:txBody>
      </p:sp>
      <p:grpSp>
        <p:nvGrpSpPr>
          <p:cNvPr name="Group 9" id="9"/>
          <p:cNvGrpSpPr/>
          <p:nvPr/>
        </p:nvGrpSpPr>
        <p:grpSpPr>
          <a:xfrm rot="0">
            <a:off x="2182977" y="3312901"/>
            <a:ext cx="3798154" cy="379815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5F0B"/>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3560"/>
                </a:lnSpc>
              </a:pPr>
            </a:p>
          </p:txBody>
        </p:sp>
      </p:grpSp>
      <p:sp>
        <p:nvSpPr>
          <p:cNvPr name="TextBox 12" id="12"/>
          <p:cNvSpPr txBox="true"/>
          <p:nvPr/>
        </p:nvSpPr>
        <p:spPr>
          <a:xfrm rot="0">
            <a:off x="5108022" y="234201"/>
            <a:ext cx="10944757" cy="1116213"/>
          </a:xfrm>
          <a:prstGeom prst="rect">
            <a:avLst/>
          </a:prstGeom>
        </p:spPr>
        <p:txBody>
          <a:bodyPr anchor="t" rtlCol="false" tIns="0" lIns="0" bIns="0" rIns="0">
            <a:spAutoFit/>
          </a:bodyPr>
          <a:lstStyle/>
          <a:p>
            <a:pPr algn="l" marL="0" indent="0" lvl="0">
              <a:lnSpc>
                <a:spcPts val="8678"/>
              </a:lnSpc>
              <a:spcBef>
                <a:spcPct val="0"/>
              </a:spcBef>
            </a:pPr>
            <a:r>
              <a:rPr lang="en-US" b="true" sz="6199">
                <a:solidFill>
                  <a:srgbClr val="8B5F0B"/>
                </a:solidFill>
                <a:latin typeface="Poppins Bold"/>
                <a:ea typeface="Poppins Bold"/>
                <a:cs typeface="Poppins Bold"/>
                <a:sym typeface="Poppins Bold"/>
              </a:rPr>
              <a:t>Why Does the Quality of a </a:t>
            </a:r>
          </a:p>
        </p:txBody>
      </p:sp>
      <p:sp>
        <p:nvSpPr>
          <p:cNvPr name="TextBox 13" id="13"/>
          <p:cNvSpPr txBox="true"/>
          <p:nvPr/>
        </p:nvSpPr>
        <p:spPr>
          <a:xfrm rot="0">
            <a:off x="6701837" y="1270783"/>
            <a:ext cx="7260028" cy="1143432"/>
          </a:xfrm>
          <a:prstGeom prst="rect">
            <a:avLst/>
          </a:prstGeom>
        </p:spPr>
        <p:txBody>
          <a:bodyPr anchor="t" rtlCol="false" tIns="0" lIns="0" bIns="0" rIns="0">
            <a:spAutoFit/>
          </a:bodyPr>
          <a:lstStyle/>
          <a:p>
            <a:pPr algn="l" marL="0" indent="0" lvl="0">
              <a:lnSpc>
                <a:spcPts val="8899"/>
              </a:lnSpc>
              <a:spcBef>
                <a:spcPct val="0"/>
              </a:spcBef>
            </a:pPr>
            <a:r>
              <a:rPr lang="en-US" b="true" sz="6356">
                <a:solidFill>
                  <a:srgbClr val="FFD076"/>
                </a:solidFill>
                <a:latin typeface="Poppins Bold"/>
                <a:ea typeface="Poppins Bold"/>
                <a:cs typeface="Poppins Bold"/>
                <a:sym typeface="Poppins Bold"/>
              </a:rPr>
              <a:t>Metric </a:t>
            </a:r>
            <a:r>
              <a:rPr lang="en-US" b="true" sz="6356">
                <a:solidFill>
                  <a:srgbClr val="8B5F0B"/>
                </a:solidFill>
                <a:latin typeface="Poppins Bold"/>
                <a:ea typeface="Poppins Bold"/>
                <a:cs typeface="Poppins Bold"/>
                <a:sym typeface="Poppins Bold"/>
              </a:rPr>
              <a:t>Matter?</a:t>
            </a:r>
          </a:p>
        </p:txBody>
      </p:sp>
      <p:sp>
        <p:nvSpPr>
          <p:cNvPr name="Freeform 14" id="14"/>
          <p:cNvSpPr/>
          <p:nvPr/>
        </p:nvSpPr>
        <p:spPr>
          <a:xfrm flipH="false" flipV="false" rot="0">
            <a:off x="2981490" y="3975389"/>
            <a:ext cx="2201127" cy="2473177"/>
          </a:xfrm>
          <a:custGeom>
            <a:avLst/>
            <a:gdLst/>
            <a:ahLst/>
            <a:cxnLst/>
            <a:rect r="r" b="b" t="t" l="l"/>
            <a:pathLst>
              <a:path h="2473177" w="2201127">
                <a:moveTo>
                  <a:pt x="0" y="0"/>
                </a:moveTo>
                <a:lnTo>
                  <a:pt x="2201127" y="0"/>
                </a:lnTo>
                <a:lnTo>
                  <a:pt x="2201127" y="2473177"/>
                </a:lnTo>
                <a:lnTo>
                  <a:pt x="0" y="2473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6289881" y="-552140"/>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974312" y="8394954"/>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16052780" y="9492893"/>
            <a:ext cx="5461258" cy="458413"/>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ELUMBA</a:t>
            </a:r>
          </a:p>
        </p:txBody>
      </p:sp>
      <p:sp>
        <p:nvSpPr>
          <p:cNvPr name="TextBox 18" id="18"/>
          <p:cNvSpPr txBox="true"/>
          <p:nvPr/>
        </p:nvSpPr>
        <p:spPr>
          <a:xfrm rot="0">
            <a:off x="5465448" y="2853715"/>
            <a:ext cx="12181146" cy="459186"/>
          </a:xfrm>
          <a:prstGeom prst="rect">
            <a:avLst/>
          </a:prstGeom>
        </p:spPr>
        <p:txBody>
          <a:bodyPr anchor="t" rtlCol="false" tIns="0" lIns="0" bIns="0" rIns="0">
            <a:spAutoFit/>
          </a:bodyPr>
          <a:lstStyle/>
          <a:p>
            <a:pPr algn="l">
              <a:lnSpc>
                <a:spcPts val="3567"/>
              </a:lnSpc>
            </a:pPr>
            <a:r>
              <a:rPr lang="en-US" sz="2547">
                <a:solidFill>
                  <a:srgbClr val="000000"/>
                </a:solidFill>
                <a:latin typeface="Poppins"/>
                <a:ea typeface="Poppins"/>
                <a:cs typeface="Poppins"/>
                <a:sym typeface="Poppins"/>
              </a:rPr>
              <a:t>Poor metrics can create misleading conclusions and poor decisions.</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6867815" cy="10287000"/>
            <a:chOff x="0" y="0"/>
            <a:chExt cx="1808807" cy="2709333"/>
          </a:xfrm>
        </p:grpSpPr>
        <p:sp>
          <p:nvSpPr>
            <p:cNvPr name="Freeform 3" id="3"/>
            <p:cNvSpPr/>
            <p:nvPr/>
          </p:nvSpPr>
          <p:spPr>
            <a:xfrm flipH="false" flipV="false" rot="0">
              <a:off x="0" y="0"/>
              <a:ext cx="1808807" cy="2709333"/>
            </a:xfrm>
            <a:custGeom>
              <a:avLst/>
              <a:gdLst/>
              <a:ahLst/>
              <a:cxnLst/>
              <a:rect r="r" b="b" t="t" l="l"/>
              <a:pathLst>
                <a:path h="2709333" w="1808807">
                  <a:moveTo>
                    <a:pt x="0" y="0"/>
                  </a:moveTo>
                  <a:lnTo>
                    <a:pt x="1808807" y="0"/>
                  </a:lnTo>
                  <a:lnTo>
                    <a:pt x="1808807" y="2709333"/>
                  </a:lnTo>
                  <a:lnTo>
                    <a:pt x="0" y="2709333"/>
                  </a:lnTo>
                  <a:close/>
                </a:path>
              </a:pathLst>
            </a:custGeom>
            <a:solidFill>
              <a:srgbClr val="FFD076"/>
            </a:solidFill>
          </p:spPr>
        </p:sp>
        <p:sp>
          <p:nvSpPr>
            <p:cNvPr name="TextBox 4" id="4"/>
            <p:cNvSpPr txBox="true"/>
            <p:nvPr/>
          </p:nvSpPr>
          <p:spPr>
            <a:xfrm>
              <a:off x="0" y="-47625"/>
              <a:ext cx="1808807" cy="2756958"/>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089824" y="3931651"/>
            <a:ext cx="7851082" cy="2278475"/>
            <a:chOff x="0" y="0"/>
            <a:chExt cx="2500868" cy="725781"/>
          </a:xfrm>
        </p:grpSpPr>
        <p:sp>
          <p:nvSpPr>
            <p:cNvPr name="Freeform 6" id="6"/>
            <p:cNvSpPr/>
            <p:nvPr/>
          </p:nvSpPr>
          <p:spPr>
            <a:xfrm flipH="false" flipV="false" rot="0">
              <a:off x="0" y="0"/>
              <a:ext cx="2500868" cy="725781"/>
            </a:xfrm>
            <a:custGeom>
              <a:avLst/>
              <a:gdLst/>
              <a:ahLst/>
              <a:cxnLst/>
              <a:rect r="r" b="b" t="t" l="l"/>
              <a:pathLst>
                <a:path h="725781" w="2500868">
                  <a:moveTo>
                    <a:pt x="49305" y="0"/>
                  </a:moveTo>
                  <a:lnTo>
                    <a:pt x="2451563" y="0"/>
                  </a:lnTo>
                  <a:cubicBezTo>
                    <a:pt x="2464640" y="0"/>
                    <a:pt x="2477181" y="5195"/>
                    <a:pt x="2486427" y="14441"/>
                  </a:cubicBezTo>
                  <a:cubicBezTo>
                    <a:pt x="2495673" y="23687"/>
                    <a:pt x="2500868" y="36228"/>
                    <a:pt x="2500868" y="49305"/>
                  </a:cubicBezTo>
                  <a:lnTo>
                    <a:pt x="2500868" y="676476"/>
                  </a:lnTo>
                  <a:cubicBezTo>
                    <a:pt x="2500868" y="689552"/>
                    <a:pt x="2495673" y="702093"/>
                    <a:pt x="2486427" y="711340"/>
                  </a:cubicBezTo>
                  <a:cubicBezTo>
                    <a:pt x="2477181" y="720586"/>
                    <a:pt x="2464640" y="725781"/>
                    <a:pt x="2451563" y="725781"/>
                  </a:cubicBezTo>
                  <a:lnTo>
                    <a:pt x="49305" y="725781"/>
                  </a:lnTo>
                  <a:cubicBezTo>
                    <a:pt x="36228" y="725781"/>
                    <a:pt x="23687" y="720586"/>
                    <a:pt x="14441" y="711340"/>
                  </a:cubicBezTo>
                  <a:cubicBezTo>
                    <a:pt x="5195" y="702093"/>
                    <a:pt x="0" y="689552"/>
                    <a:pt x="0" y="676476"/>
                  </a:cubicBezTo>
                  <a:lnTo>
                    <a:pt x="0" y="49305"/>
                  </a:lnTo>
                  <a:cubicBezTo>
                    <a:pt x="0" y="36228"/>
                    <a:pt x="5195" y="23687"/>
                    <a:pt x="14441" y="14441"/>
                  </a:cubicBezTo>
                  <a:cubicBezTo>
                    <a:pt x="23687" y="5195"/>
                    <a:pt x="36228" y="0"/>
                    <a:pt x="49305" y="0"/>
                  </a:cubicBezTo>
                  <a:close/>
                </a:path>
              </a:pathLst>
            </a:custGeom>
            <a:solidFill>
              <a:srgbClr val="A5AAAF"/>
            </a:solidFill>
          </p:spPr>
        </p:sp>
        <p:sp>
          <p:nvSpPr>
            <p:cNvPr name="TextBox 7" id="7"/>
            <p:cNvSpPr txBox="true"/>
            <p:nvPr/>
          </p:nvSpPr>
          <p:spPr>
            <a:xfrm>
              <a:off x="0" y="-57150"/>
              <a:ext cx="2500868" cy="782931"/>
            </a:xfrm>
            <a:prstGeom prst="rect">
              <a:avLst/>
            </a:prstGeom>
          </p:spPr>
          <p:txBody>
            <a:bodyPr anchor="ctr" rtlCol="false" tIns="254000" lIns="254000" bIns="254000" rIns="254000"/>
            <a:lstStyle/>
            <a:p>
              <a:pPr algn="l">
                <a:lnSpc>
                  <a:spcPts val="2860"/>
                </a:lnSpc>
              </a:pPr>
            </a:p>
          </p:txBody>
        </p:sp>
      </p:grpSp>
      <p:grpSp>
        <p:nvGrpSpPr>
          <p:cNvPr name="Group 8" id="8"/>
          <p:cNvGrpSpPr/>
          <p:nvPr/>
        </p:nvGrpSpPr>
        <p:grpSpPr>
          <a:xfrm rot="0">
            <a:off x="7497317" y="1131789"/>
            <a:ext cx="9951719" cy="408123"/>
            <a:chOff x="0" y="0"/>
            <a:chExt cx="2621029" cy="107489"/>
          </a:xfrm>
        </p:grpSpPr>
        <p:sp>
          <p:nvSpPr>
            <p:cNvPr name="Freeform 9" id="9"/>
            <p:cNvSpPr/>
            <p:nvPr/>
          </p:nvSpPr>
          <p:spPr>
            <a:xfrm flipH="false" flipV="false" rot="0">
              <a:off x="0" y="0"/>
              <a:ext cx="2621029" cy="107489"/>
            </a:xfrm>
            <a:custGeom>
              <a:avLst/>
              <a:gdLst/>
              <a:ahLst/>
              <a:cxnLst/>
              <a:rect r="r" b="b" t="t" l="l"/>
              <a:pathLst>
                <a:path h="107489" w="2621029">
                  <a:moveTo>
                    <a:pt x="0" y="0"/>
                  </a:moveTo>
                  <a:lnTo>
                    <a:pt x="2621029" y="0"/>
                  </a:lnTo>
                  <a:lnTo>
                    <a:pt x="2621029" y="107489"/>
                  </a:lnTo>
                  <a:lnTo>
                    <a:pt x="0" y="107489"/>
                  </a:lnTo>
                  <a:close/>
                </a:path>
              </a:pathLst>
            </a:custGeom>
            <a:solidFill>
              <a:srgbClr val="FFD076"/>
            </a:solidFill>
          </p:spPr>
        </p:sp>
        <p:sp>
          <p:nvSpPr>
            <p:cNvPr name="TextBox 10" id="10"/>
            <p:cNvSpPr txBox="true"/>
            <p:nvPr/>
          </p:nvSpPr>
          <p:spPr>
            <a:xfrm>
              <a:off x="0" y="-47625"/>
              <a:ext cx="2621029" cy="155114"/>
            </a:xfrm>
            <a:prstGeom prst="rect">
              <a:avLst/>
            </a:prstGeom>
          </p:spPr>
          <p:txBody>
            <a:bodyPr anchor="ctr" rtlCol="false" tIns="50800" lIns="50800" bIns="50800" rIns="50800"/>
            <a:lstStyle/>
            <a:p>
              <a:pPr algn="ctr">
                <a:lnSpc>
                  <a:spcPts val="3560"/>
                </a:lnSpc>
              </a:pPr>
            </a:p>
          </p:txBody>
        </p:sp>
      </p:grpSp>
      <p:sp>
        <p:nvSpPr>
          <p:cNvPr name="TextBox 11" id="11"/>
          <p:cNvSpPr txBox="true"/>
          <p:nvPr/>
        </p:nvSpPr>
        <p:spPr>
          <a:xfrm rot="0">
            <a:off x="393475" y="866775"/>
            <a:ext cx="6474340" cy="2053577"/>
          </a:xfrm>
          <a:prstGeom prst="rect">
            <a:avLst/>
          </a:prstGeom>
        </p:spPr>
        <p:txBody>
          <a:bodyPr anchor="t" rtlCol="false" tIns="0" lIns="0" bIns="0" rIns="0">
            <a:spAutoFit/>
          </a:bodyPr>
          <a:lstStyle/>
          <a:p>
            <a:pPr algn="l" marL="0" indent="0" lvl="0">
              <a:lnSpc>
                <a:spcPts val="8020"/>
              </a:lnSpc>
              <a:spcBef>
                <a:spcPct val="0"/>
              </a:spcBef>
            </a:pPr>
            <a:r>
              <a:rPr lang="en-US" b="true" sz="5728">
                <a:solidFill>
                  <a:srgbClr val="563C08"/>
                </a:solidFill>
                <a:latin typeface="Poppins Bold"/>
                <a:ea typeface="Poppins Bold"/>
                <a:cs typeface="Poppins Bold"/>
                <a:sym typeface="Poppins Bold"/>
              </a:rPr>
              <a:t>Characteristics of a Good Metric</a:t>
            </a:r>
          </a:p>
        </p:txBody>
      </p:sp>
      <p:sp>
        <p:nvSpPr>
          <p:cNvPr name="TextBox 12" id="12"/>
          <p:cNvSpPr txBox="true"/>
          <p:nvPr/>
        </p:nvSpPr>
        <p:spPr>
          <a:xfrm rot="0">
            <a:off x="7497317" y="2037534"/>
            <a:ext cx="11657547" cy="882818"/>
          </a:xfrm>
          <a:prstGeom prst="rect">
            <a:avLst/>
          </a:prstGeom>
        </p:spPr>
        <p:txBody>
          <a:bodyPr anchor="t" rtlCol="false" tIns="0" lIns="0" bIns="0" rIns="0">
            <a:spAutoFit/>
          </a:bodyPr>
          <a:lstStyle/>
          <a:p>
            <a:pPr algn="l" marL="0" indent="0" lvl="0">
              <a:lnSpc>
                <a:spcPts val="3426"/>
              </a:lnSpc>
              <a:spcBef>
                <a:spcPct val="0"/>
              </a:spcBef>
            </a:pPr>
            <a:r>
              <a:rPr lang="en-US" sz="2447">
                <a:solidFill>
                  <a:srgbClr val="563C08"/>
                </a:solidFill>
                <a:latin typeface="Poppins"/>
                <a:ea typeface="Poppins"/>
                <a:cs typeface="Poppins"/>
                <a:sym typeface="Poppins"/>
              </a:rPr>
              <a:t>A strong metric should satisfy several complementary qualities.</a:t>
            </a:r>
          </a:p>
          <a:p>
            <a:pPr algn="l" marL="0" indent="0" lvl="0">
              <a:lnSpc>
                <a:spcPts val="3426"/>
              </a:lnSpc>
              <a:spcBef>
                <a:spcPct val="0"/>
              </a:spcBef>
            </a:pPr>
          </a:p>
        </p:txBody>
      </p:sp>
      <p:sp>
        <p:nvSpPr>
          <p:cNvPr name="TextBox 13" id="13"/>
          <p:cNvSpPr txBox="true"/>
          <p:nvPr/>
        </p:nvSpPr>
        <p:spPr>
          <a:xfrm rot="0">
            <a:off x="4193458" y="4134069"/>
            <a:ext cx="2088685" cy="637415"/>
          </a:xfrm>
          <a:prstGeom prst="rect">
            <a:avLst/>
          </a:prstGeom>
        </p:spPr>
        <p:txBody>
          <a:bodyPr anchor="t" rtlCol="false" tIns="0" lIns="0" bIns="0" rIns="0">
            <a:spAutoFit/>
          </a:bodyPr>
          <a:lstStyle/>
          <a:p>
            <a:pPr algn="l" marL="0" indent="0" lvl="0">
              <a:lnSpc>
                <a:spcPts val="4987"/>
              </a:lnSpc>
              <a:spcBef>
                <a:spcPct val="0"/>
              </a:spcBef>
            </a:pPr>
            <a:r>
              <a:rPr lang="en-US" b="true" sz="3562">
                <a:solidFill>
                  <a:srgbClr val="563C08"/>
                </a:solidFill>
                <a:latin typeface="Poppins Bold"/>
                <a:ea typeface="Poppins Bold"/>
                <a:cs typeface="Poppins Bold"/>
                <a:sym typeface="Poppins Bold"/>
              </a:rPr>
              <a:t>Relevant</a:t>
            </a:r>
          </a:p>
        </p:txBody>
      </p:sp>
      <p:sp>
        <p:nvSpPr>
          <p:cNvPr name="TextBox 14" id="14"/>
          <p:cNvSpPr txBox="true"/>
          <p:nvPr/>
        </p:nvSpPr>
        <p:spPr>
          <a:xfrm rot="0">
            <a:off x="1530921" y="4865082"/>
            <a:ext cx="8151878" cy="1430832"/>
          </a:xfrm>
          <a:prstGeom prst="rect">
            <a:avLst/>
          </a:prstGeom>
        </p:spPr>
        <p:txBody>
          <a:bodyPr anchor="t" rtlCol="false" tIns="0" lIns="0" bIns="0" rIns="0">
            <a:spAutoFit/>
          </a:bodyPr>
          <a:lstStyle/>
          <a:p>
            <a:pPr algn="l" marL="0" indent="0" lvl="0">
              <a:lnSpc>
                <a:spcPts val="3793"/>
              </a:lnSpc>
              <a:spcBef>
                <a:spcPct val="0"/>
              </a:spcBef>
            </a:pPr>
            <a:r>
              <a:rPr lang="en-US" sz="2709">
                <a:solidFill>
                  <a:srgbClr val="191919"/>
                </a:solidFill>
                <a:latin typeface="Poppins"/>
                <a:ea typeface="Poppins"/>
                <a:cs typeface="Poppins"/>
                <a:sym typeface="Poppins"/>
              </a:rPr>
              <a:t>A strong metric should satisfy several complementary qualities.</a:t>
            </a:r>
          </a:p>
          <a:p>
            <a:pPr algn="l" marL="0" indent="0" lvl="0">
              <a:lnSpc>
                <a:spcPts val="3793"/>
              </a:lnSpc>
              <a:spcBef>
                <a:spcPct val="0"/>
              </a:spcBef>
            </a:pPr>
          </a:p>
        </p:txBody>
      </p:sp>
      <p:sp>
        <p:nvSpPr>
          <p:cNvPr name="TextBox 15" id="15"/>
          <p:cNvSpPr txBox="true"/>
          <p:nvPr/>
        </p:nvSpPr>
        <p:spPr>
          <a:xfrm rot="0">
            <a:off x="16205180" y="9645293"/>
            <a:ext cx="5461258" cy="458413"/>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ELUMBA</a:t>
            </a:r>
          </a:p>
        </p:txBody>
      </p:sp>
      <p:grpSp>
        <p:nvGrpSpPr>
          <p:cNvPr name="Group 16" id="16"/>
          <p:cNvGrpSpPr/>
          <p:nvPr/>
        </p:nvGrpSpPr>
        <p:grpSpPr>
          <a:xfrm rot="0">
            <a:off x="9144000" y="3931651"/>
            <a:ext cx="7851082" cy="2278475"/>
            <a:chOff x="0" y="0"/>
            <a:chExt cx="2500868" cy="725781"/>
          </a:xfrm>
        </p:grpSpPr>
        <p:sp>
          <p:nvSpPr>
            <p:cNvPr name="Freeform 17" id="17"/>
            <p:cNvSpPr/>
            <p:nvPr/>
          </p:nvSpPr>
          <p:spPr>
            <a:xfrm flipH="false" flipV="false" rot="0">
              <a:off x="0" y="0"/>
              <a:ext cx="2500868" cy="725781"/>
            </a:xfrm>
            <a:custGeom>
              <a:avLst/>
              <a:gdLst/>
              <a:ahLst/>
              <a:cxnLst/>
              <a:rect r="r" b="b" t="t" l="l"/>
              <a:pathLst>
                <a:path h="725781" w="2500868">
                  <a:moveTo>
                    <a:pt x="49305" y="0"/>
                  </a:moveTo>
                  <a:lnTo>
                    <a:pt x="2451563" y="0"/>
                  </a:lnTo>
                  <a:cubicBezTo>
                    <a:pt x="2464640" y="0"/>
                    <a:pt x="2477181" y="5195"/>
                    <a:pt x="2486427" y="14441"/>
                  </a:cubicBezTo>
                  <a:cubicBezTo>
                    <a:pt x="2495673" y="23687"/>
                    <a:pt x="2500868" y="36228"/>
                    <a:pt x="2500868" y="49305"/>
                  </a:cubicBezTo>
                  <a:lnTo>
                    <a:pt x="2500868" y="676476"/>
                  </a:lnTo>
                  <a:cubicBezTo>
                    <a:pt x="2500868" y="689552"/>
                    <a:pt x="2495673" y="702093"/>
                    <a:pt x="2486427" y="711340"/>
                  </a:cubicBezTo>
                  <a:cubicBezTo>
                    <a:pt x="2477181" y="720586"/>
                    <a:pt x="2464640" y="725781"/>
                    <a:pt x="2451563" y="725781"/>
                  </a:cubicBezTo>
                  <a:lnTo>
                    <a:pt x="49305" y="725781"/>
                  </a:lnTo>
                  <a:cubicBezTo>
                    <a:pt x="36228" y="725781"/>
                    <a:pt x="23687" y="720586"/>
                    <a:pt x="14441" y="711340"/>
                  </a:cubicBezTo>
                  <a:cubicBezTo>
                    <a:pt x="5195" y="702093"/>
                    <a:pt x="0" y="689552"/>
                    <a:pt x="0" y="676476"/>
                  </a:cubicBezTo>
                  <a:lnTo>
                    <a:pt x="0" y="49305"/>
                  </a:lnTo>
                  <a:cubicBezTo>
                    <a:pt x="0" y="36228"/>
                    <a:pt x="5195" y="23687"/>
                    <a:pt x="14441" y="14441"/>
                  </a:cubicBezTo>
                  <a:cubicBezTo>
                    <a:pt x="23687" y="5195"/>
                    <a:pt x="36228" y="0"/>
                    <a:pt x="49305" y="0"/>
                  </a:cubicBezTo>
                  <a:close/>
                </a:path>
              </a:pathLst>
            </a:custGeom>
            <a:solidFill>
              <a:srgbClr val="A5AAAF"/>
            </a:solidFill>
          </p:spPr>
        </p:sp>
        <p:sp>
          <p:nvSpPr>
            <p:cNvPr name="TextBox 18" id="18"/>
            <p:cNvSpPr txBox="true"/>
            <p:nvPr/>
          </p:nvSpPr>
          <p:spPr>
            <a:xfrm>
              <a:off x="0" y="-57150"/>
              <a:ext cx="2500868" cy="782931"/>
            </a:xfrm>
            <a:prstGeom prst="rect">
              <a:avLst/>
            </a:prstGeom>
          </p:spPr>
          <p:txBody>
            <a:bodyPr anchor="ctr" rtlCol="false" tIns="254000" lIns="254000" bIns="254000" rIns="254000"/>
            <a:lstStyle/>
            <a:p>
              <a:pPr algn="l">
                <a:lnSpc>
                  <a:spcPts val="2860"/>
                </a:lnSpc>
              </a:pPr>
            </a:p>
          </p:txBody>
        </p:sp>
      </p:grpSp>
      <p:sp>
        <p:nvSpPr>
          <p:cNvPr name="TextBox 19" id="19"/>
          <p:cNvSpPr txBox="true"/>
          <p:nvPr/>
        </p:nvSpPr>
        <p:spPr>
          <a:xfrm rot="0">
            <a:off x="12504184" y="4048281"/>
            <a:ext cx="2088685" cy="637415"/>
          </a:xfrm>
          <a:prstGeom prst="rect">
            <a:avLst/>
          </a:prstGeom>
        </p:spPr>
        <p:txBody>
          <a:bodyPr anchor="t" rtlCol="false" tIns="0" lIns="0" bIns="0" rIns="0">
            <a:spAutoFit/>
          </a:bodyPr>
          <a:lstStyle/>
          <a:p>
            <a:pPr algn="l" marL="0" indent="0" lvl="0">
              <a:lnSpc>
                <a:spcPts val="4987"/>
              </a:lnSpc>
              <a:spcBef>
                <a:spcPct val="0"/>
              </a:spcBef>
            </a:pPr>
            <a:r>
              <a:rPr lang="en-US" b="true" sz="3562">
                <a:solidFill>
                  <a:srgbClr val="563C08"/>
                </a:solidFill>
                <a:latin typeface="Poppins Bold"/>
                <a:ea typeface="Poppins Bold"/>
                <a:cs typeface="Poppins Bold"/>
                <a:sym typeface="Poppins Bold"/>
              </a:rPr>
              <a:t>Valid</a:t>
            </a:r>
          </a:p>
        </p:txBody>
      </p:sp>
      <p:sp>
        <p:nvSpPr>
          <p:cNvPr name="TextBox 20" id="20"/>
          <p:cNvSpPr txBox="true"/>
          <p:nvPr/>
        </p:nvSpPr>
        <p:spPr>
          <a:xfrm rot="0">
            <a:off x="9841646" y="4779294"/>
            <a:ext cx="7153436" cy="1430832"/>
          </a:xfrm>
          <a:prstGeom prst="rect">
            <a:avLst/>
          </a:prstGeom>
        </p:spPr>
        <p:txBody>
          <a:bodyPr anchor="t" rtlCol="false" tIns="0" lIns="0" bIns="0" rIns="0">
            <a:spAutoFit/>
          </a:bodyPr>
          <a:lstStyle/>
          <a:p>
            <a:pPr algn="l" marL="0" indent="0" lvl="0">
              <a:lnSpc>
                <a:spcPts val="3793"/>
              </a:lnSpc>
              <a:spcBef>
                <a:spcPct val="0"/>
              </a:spcBef>
            </a:pPr>
            <a:r>
              <a:rPr lang="en-US" sz="2709">
                <a:solidFill>
                  <a:srgbClr val="191919"/>
                </a:solidFill>
                <a:latin typeface="Poppins"/>
                <a:ea typeface="Poppins"/>
                <a:cs typeface="Poppins"/>
                <a:sym typeface="Poppins"/>
              </a:rPr>
              <a:t>Actually measures the property or outcome it claims to represent.</a:t>
            </a:r>
          </a:p>
          <a:p>
            <a:pPr algn="l" marL="0" indent="0" lvl="0">
              <a:lnSpc>
                <a:spcPts val="3793"/>
              </a:lnSpc>
              <a:spcBef>
                <a:spcPct val="0"/>
              </a:spcBef>
            </a:pPr>
          </a:p>
        </p:txBody>
      </p:sp>
      <p:grpSp>
        <p:nvGrpSpPr>
          <p:cNvPr name="Group 21" id="21"/>
          <p:cNvGrpSpPr/>
          <p:nvPr/>
        </p:nvGrpSpPr>
        <p:grpSpPr>
          <a:xfrm rot="0">
            <a:off x="1089824" y="6867414"/>
            <a:ext cx="7851082" cy="2278475"/>
            <a:chOff x="0" y="0"/>
            <a:chExt cx="2500868" cy="725781"/>
          </a:xfrm>
        </p:grpSpPr>
        <p:sp>
          <p:nvSpPr>
            <p:cNvPr name="Freeform 22" id="22"/>
            <p:cNvSpPr/>
            <p:nvPr/>
          </p:nvSpPr>
          <p:spPr>
            <a:xfrm flipH="false" flipV="false" rot="0">
              <a:off x="0" y="0"/>
              <a:ext cx="2500868" cy="725781"/>
            </a:xfrm>
            <a:custGeom>
              <a:avLst/>
              <a:gdLst/>
              <a:ahLst/>
              <a:cxnLst/>
              <a:rect r="r" b="b" t="t" l="l"/>
              <a:pathLst>
                <a:path h="725781" w="2500868">
                  <a:moveTo>
                    <a:pt x="49305" y="0"/>
                  </a:moveTo>
                  <a:lnTo>
                    <a:pt x="2451563" y="0"/>
                  </a:lnTo>
                  <a:cubicBezTo>
                    <a:pt x="2464640" y="0"/>
                    <a:pt x="2477181" y="5195"/>
                    <a:pt x="2486427" y="14441"/>
                  </a:cubicBezTo>
                  <a:cubicBezTo>
                    <a:pt x="2495673" y="23687"/>
                    <a:pt x="2500868" y="36228"/>
                    <a:pt x="2500868" y="49305"/>
                  </a:cubicBezTo>
                  <a:lnTo>
                    <a:pt x="2500868" y="676476"/>
                  </a:lnTo>
                  <a:cubicBezTo>
                    <a:pt x="2500868" y="689552"/>
                    <a:pt x="2495673" y="702093"/>
                    <a:pt x="2486427" y="711340"/>
                  </a:cubicBezTo>
                  <a:cubicBezTo>
                    <a:pt x="2477181" y="720586"/>
                    <a:pt x="2464640" y="725781"/>
                    <a:pt x="2451563" y="725781"/>
                  </a:cubicBezTo>
                  <a:lnTo>
                    <a:pt x="49305" y="725781"/>
                  </a:lnTo>
                  <a:cubicBezTo>
                    <a:pt x="36228" y="725781"/>
                    <a:pt x="23687" y="720586"/>
                    <a:pt x="14441" y="711340"/>
                  </a:cubicBezTo>
                  <a:cubicBezTo>
                    <a:pt x="5195" y="702093"/>
                    <a:pt x="0" y="689552"/>
                    <a:pt x="0" y="676476"/>
                  </a:cubicBezTo>
                  <a:lnTo>
                    <a:pt x="0" y="49305"/>
                  </a:lnTo>
                  <a:cubicBezTo>
                    <a:pt x="0" y="36228"/>
                    <a:pt x="5195" y="23687"/>
                    <a:pt x="14441" y="14441"/>
                  </a:cubicBezTo>
                  <a:cubicBezTo>
                    <a:pt x="23687" y="5195"/>
                    <a:pt x="36228" y="0"/>
                    <a:pt x="49305" y="0"/>
                  </a:cubicBezTo>
                  <a:close/>
                </a:path>
              </a:pathLst>
            </a:custGeom>
            <a:solidFill>
              <a:srgbClr val="A5AAAF"/>
            </a:solidFill>
          </p:spPr>
        </p:sp>
        <p:sp>
          <p:nvSpPr>
            <p:cNvPr name="TextBox 23" id="23"/>
            <p:cNvSpPr txBox="true"/>
            <p:nvPr/>
          </p:nvSpPr>
          <p:spPr>
            <a:xfrm>
              <a:off x="0" y="-57150"/>
              <a:ext cx="2500868" cy="782931"/>
            </a:xfrm>
            <a:prstGeom prst="rect">
              <a:avLst/>
            </a:prstGeom>
          </p:spPr>
          <p:txBody>
            <a:bodyPr anchor="ctr" rtlCol="false" tIns="254000" lIns="254000" bIns="254000" rIns="254000"/>
            <a:lstStyle/>
            <a:p>
              <a:pPr algn="l">
                <a:lnSpc>
                  <a:spcPts val="2860"/>
                </a:lnSpc>
              </a:pPr>
            </a:p>
          </p:txBody>
        </p:sp>
      </p:grpSp>
      <p:sp>
        <p:nvSpPr>
          <p:cNvPr name="TextBox 24" id="24"/>
          <p:cNvSpPr txBox="true"/>
          <p:nvPr/>
        </p:nvSpPr>
        <p:spPr>
          <a:xfrm rot="0">
            <a:off x="4193458" y="7069831"/>
            <a:ext cx="2088685" cy="637415"/>
          </a:xfrm>
          <a:prstGeom prst="rect">
            <a:avLst/>
          </a:prstGeom>
        </p:spPr>
        <p:txBody>
          <a:bodyPr anchor="t" rtlCol="false" tIns="0" lIns="0" bIns="0" rIns="0">
            <a:spAutoFit/>
          </a:bodyPr>
          <a:lstStyle/>
          <a:p>
            <a:pPr algn="l" marL="0" indent="0" lvl="0">
              <a:lnSpc>
                <a:spcPts val="4987"/>
              </a:lnSpc>
              <a:spcBef>
                <a:spcPct val="0"/>
              </a:spcBef>
            </a:pPr>
            <a:r>
              <a:rPr lang="en-US" b="true" sz="3562">
                <a:solidFill>
                  <a:srgbClr val="563C08"/>
                </a:solidFill>
                <a:latin typeface="Poppins Bold"/>
                <a:ea typeface="Poppins Bold"/>
                <a:cs typeface="Poppins Bold"/>
                <a:sym typeface="Poppins Bold"/>
              </a:rPr>
              <a:t>Reliable</a:t>
            </a:r>
          </a:p>
        </p:txBody>
      </p:sp>
      <p:sp>
        <p:nvSpPr>
          <p:cNvPr name="TextBox 25" id="25"/>
          <p:cNvSpPr txBox="true"/>
          <p:nvPr/>
        </p:nvSpPr>
        <p:spPr>
          <a:xfrm rot="0">
            <a:off x="1530921" y="7800844"/>
            <a:ext cx="7409986" cy="1430832"/>
          </a:xfrm>
          <a:prstGeom prst="rect">
            <a:avLst/>
          </a:prstGeom>
        </p:spPr>
        <p:txBody>
          <a:bodyPr anchor="t" rtlCol="false" tIns="0" lIns="0" bIns="0" rIns="0">
            <a:spAutoFit/>
          </a:bodyPr>
          <a:lstStyle/>
          <a:p>
            <a:pPr algn="l" marL="0" indent="0" lvl="0">
              <a:lnSpc>
                <a:spcPts val="3793"/>
              </a:lnSpc>
              <a:spcBef>
                <a:spcPct val="0"/>
              </a:spcBef>
            </a:pPr>
            <a:r>
              <a:rPr lang="en-US" sz="2709">
                <a:solidFill>
                  <a:srgbClr val="191919"/>
                </a:solidFill>
                <a:latin typeface="Poppins"/>
                <a:ea typeface="Poppins"/>
                <a:cs typeface="Poppins"/>
                <a:sym typeface="Poppins"/>
              </a:rPr>
              <a:t>Produces consistent results when conditions and methods are comparable.</a:t>
            </a:r>
          </a:p>
          <a:p>
            <a:pPr algn="l" marL="0" indent="0" lvl="0">
              <a:lnSpc>
                <a:spcPts val="3793"/>
              </a:lnSpc>
              <a:spcBef>
                <a:spcPct val="0"/>
              </a:spcBef>
            </a:pPr>
          </a:p>
        </p:txBody>
      </p:sp>
      <p:grpSp>
        <p:nvGrpSpPr>
          <p:cNvPr name="Group 26" id="26"/>
          <p:cNvGrpSpPr/>
          <p:nvPr/>
        </p:nvGrpSpPr>
        <p:grpSpPr>
          <a:xfrm rot="0">
            <a:off x="9400549" y="6867414"/>
            <a:ext cx="7851082" cy="2278475"/>
            <a:chOff x="0" y="0"/>
            <a:chExt cx="2500868" cy="725781"/>
          </a:xfrm>
        </p:grpSpPr>
        <p:sp>
          <p:nvSpPr>
            <p:cNvPr name="Freeform 27" id="27"/>
            <p:cNvSpPr/>
            <p:nvPr/>
          </p:nvSpPr>
          <p:spPr>
            <a:xfrm flipH="false" flipV="false" rot="0">
              <a:off x="0" y="0"/>
              <a:ext cx="2500868" cy="725781"/>
            </a:xfrm>
            <a:custGeom>
              <a:avLst/>
              <a:gdLst/>
              <a:ahLst/>
              <a:cxnLst/>
              <a:rect r="r" b="b" t="t" l="l"/>
              <a:pathLst>
                <a:path h="725781" w="2500868">
                  <a:moveTo>
                    <a:pt x="49305" y="0"/>
                  </a:moveTo>
                  <a:lnTo>
                    <a:pt x="2451563" y="0"/>
                  </a:lnTo>
                  <a:cubicBezTo>
                    <a:pt x="2464640" y="0"/>
                    <a:pt x="2477181" y="5195"/>
                    <a:pt x="2486427" y="14441"/>
                  </a:cubicBezTo>
                  <a:cubicBezTo>
                    <a:pt x="2495673" y="23687"/>
                    <a:pt x="2500868" y="36228"/>
                    <a:pt x="2500868" y="49305"/>
                  </a:cubicBezTo>
                  <a:lnTo>
                    <a:pt x="2500868" y="676476"/>
                  </a:lnTo>
                  <a:cubicBezTo>
                    <a:pt x="2500868" y="689552"/>
                    <a:pt x="2495673" y="702093"/>
                    <a:pt x="2486427" y="711340"/>
                  </a:cubicBezTo>
                  <a:cubicBezTo>
                    <a:pt x="2477181" y="720586"/>
                    <a:pt x="2464640" y="725781"/>
                    <a:pt x="2451563" y="725781"/>
                  </a:cubicBezTo>
                  <a:lnTo>
                    <a:pt x="49305" y="725781"/>
                  </a:lnTo>
                  <a:cubicBezTo>
                    <a:pt x="36228" y="725781"/>
                    <a:pt x="23687" y="720586"/>
                    <a:pt x="14441" y="711340"/>
                  </a:cubicBezTo>
                  <a:cubicBezTo>
                    <a:pt x="5195" y="702093"/>
                    <a:pt x="0" y="689552"/>
                    <a:pt x="0" y="676476"/>
                  </a:cubicBezTo>
                  <a:lnTo>
                    <a:pt x="0" y="49305"/>
                  </a:lnTo>
                  <a:cubicBezTo>
                    <a:pt x="0" y="36228"/>
                    <a:pt x="5195" y="23687"/>
                    <a:pt x="14441" y="14441"/>
                  </a:cubicBezTo>
                  <a:cubicBezTo>
                    <a:pt x="23687" y="5195"/>
                    <a:pt x="36228" y="0"/>
                    <a:pt x="49305" y="0"/>
                  </a:cubicBezTo>
                  <a:close/>
                </a:path>
              </a:pathLst>
            </a:custGeom>
            <a:solidFill>
              <a:srgbClr val="A5AAAF"/>
            </a:solidFill>
          </p:spPr>
        </p:sp>
        <p:sp>
          <p:nvSpPr>
            <p:cNvPr name="TextBox 28" id="28"/>
            <p:cNvSpPr txBox="true"/>
            <p:nvPr/>
          </p:nvSpPr>
          <p:spPr>
            <a:xfrm>
              <a:off x="0" y="-57150"/>
              <a:ext cx="2500868" cy="782931"/>
            </a:xfrm>
            <a:prstGeom prst="rect">
              <a:avLst/>
            </a:prstGeom>
          </p:spPr>
          <p:txBody>
            <a:bodyPr anchor="ctr" rtlCol="false" tIns="254000" lIns="254000" bIns="254000" rIns="254000"/>
            <a:lstStyle/>
            <a:p>
              <a:pPr algn="l">
                <a:lnSpc>
                  <a:spcPts val="2860"/>
                </a:lnSpc>
              </a:pPr>
            </a:p>
          </p:txBody>
        </p:sp>
      </p:grpSp>
      <p:sp>
        <p:nvSpPr>
          <p:cNvPr name="TextBox 29" id="29"/>
          <p:cNvSpPr txBox="true"/>
          <p:nvPr/>
        </p:nvSpPr>
        <p:spPr>
          <a:xfrm rot="0">
            <a:off x="12099148" y="7069831"/>
            <a:ext cx="2638433" cy="637415"/>
          </a:xfrm>
          <a:prstGeom prst="rect">
            <a:avLst/>
          </a:prstGeom>
        </p:spPr>
        <p:txBody>
          <a:bodyPr anchor="t" rtlCol="false" tIns="0" lIns="0" bIns="0" rIns="0">
            <a:spAutoFit/>
          </a:bodyPr>
          <a:lstStyle/>
          <a:p>
            <a:pPr algn="l" marL="0" indent="0" lvl="0">
              <a:lnSpc>
                <a:spcPts val="4987"/>
              </a:lnSpc>
              <a:spcBef>
                <a:spcPct val="0"/>
              </a:spcBef>
            </a:pPr>
            <a:r>
              <a:rPr lang="en-US" b="true" sz="3562">
                <a:solidFill>
                  <a:srgbClr val="563C08"/>
                </a:solidFill>
                <a:latin typeface="Poppins Bold"/>
                <a:ea typeface="Poppins Bold"/>
                <a:cs typeface="Poppins Bold"/>
                <a:sym typeface="Poppins Bold"/>
              </a:rPr>
              <a:t>Actionable</a:t>
            </a:r>
          </a:p>
        </p:txBody>
      </p:sp>
      <p:sp>
        <p:nvSpPr>
          <p:cNvPr name="TextBox 30" id="30"/>
          <p:cNvSpPr txBox="true"/>
          <p:nvPr/>
        </p:nvSpPr>
        <p:spPr>
          <a:xfrm rot="0">
            <a:off x="9841646" y="7800844"/>
            <a:ext cx="8151878" cy="1430832"/>
          </a:xfrm>
          <a:prstGeom prst="rect">
            <a:avLst/>
          </a:prstGeom>
        </p:spPr>
        <p:txBody>
          <a:bodyPr anchor="t" rtlCol="false" tIns="0" lIns="0" bIns="0" rIns="0">
            <a:spAutoFit/>
          </a:bodyPr>
          <a:lstStyle/>
          <a:p>
            <a:pPr algn="l" marL="0" indent="0" lvl="0">
              <a:lnSpc>
                <a:spcPts val="3793"/>
              </a:lnSpc>
              <a:spcBef>
                <a:spcPct val="0"/>
              </a:spcBef>
            </a:pPr>
            <a:r>
              <a:rPr lang="en-US" sz="2709">
                <a:solidFill>
                  <a:srgbClr val="191919"/>
                </a:solidFill>
                <a:latin typeface="Poppins"/>
                <a:ea typeface="Poppins"/>
                <a:cs typeface="Poppins"/>
                <a:sym typeface="Poppins"/>
              </a:rPr>
              <a:t>Provides information that can lead to a decision or improvement.</a:t>
            </a:r>
          </a:p>
          <a:p>
            <a:pPr algn="l" marL="0" indent="0" lvl="0">
              <a:lnSpc>
                <a:spcPts val="3793"/>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6867815" cy="10287000"/>
            <a:chOff x="0" y="0"/>
            <a:chExt cx="1808807" cy="2709333"/>
          </a:xfrm>
        </p:grpSpPr>
        <p:sp>
          <p:nvSpPr>
            <p:cNvPr name="Freeform 3" id="3"/>
            <p:cNvSpPr/>
            <p:nvPr/>
          </p:nvSpPr>
          <p:spPr>
            <a:xfrm flipH="false" flipV="false" rot="0">
              <a:off x="0" y="0"/>
              <a:ext cx="1808807" cy="2709333"/>
            </a:xfrm>
            <a:custGeom>
              <a:avLst/>
              <a:gdLst/>
              <a:ahLst/>
              <a:cxnLst/>
              <a:rect r="r" b="b" t="t" l="l"/>
              <a:pathLst>
                <a:path h="2709333" w="1808807">
                  <a:moveTo>
                    <a:pt x="0" y="0"/>
                  </a:moveTo>
                  <a:lnTo>
                    <a:pt x="1808807" y="0"/>
                  </a:lnTo>
                  <a:lnTo>
                    <a:pt x="1808807" y="2709333"/>
                  </a:lnTo>
                  <a:lnTo>
                    <a:pt x="0" y="2709333"/>
                  </a:lnTo>
                  <a:close/>
                </a:path>
              </a:pathLst>
            </a:custGeom>
            <a:solidFill>
              <a:srgbClr val="FFD076"/>
            </a:solidFill>
          </p:spPr>
        </p:sp>
        <p:sp>
          <p:nvSpPr>
            <p:cNvPr name="TextBox 4" id="4"/>
            <p:cNvSpPr txBox="true"/>
            <p:nvPr/>
          </p:nvSpPr>
          <p:spPr>
            <a:xfrm>
              <a:off x="0" y="-47625"/>
              <a:ext cx="1808807" cy="2756958"/>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089824" y="3931651"/>
            <a:ext cx="7851082" cy="2278475"/>
            <a:chOff x="0" y="0"/>
            <a:chExt cx="2500868" cy="725781"/>
          </a:xfrm>
        </p:grpSpPr>
        <p:sp>
          <p:nvSpPr>
            <p:cNvPr name="Freeform 6" id="6"/>
            <p:cNvSpPr/>
            <p:nvPr/>
          </p:nvSpPr>
          <p:spPr>
            <a:xfrm flipH="false" flipV="false" rot="0">
              <a:off x="0" y="0"/>
              <a:ext cx="2500868" cy="725781"/>
            </a:xfrm>
            <a:custGeom>
              <a:avLst/>
              <a:gdLst/>
              <a:ahLst/>
              <a:cxnLst/>
              <a:rect r="r" b="b" t="t" l="l"/>
              <a:pathLst>
                <a:path h="725781" w="2500868">
                  <a:moveTo>
                    <a:pt x="49305" y="0"/>
                  </a:moveTo>
                  <a:lnTo>
                    <a:pt x="2451563" y="0"/>
                  </a:lnTo>
                  <a:cubicBezTo>
                    <a:pt x="2464640" y="0"/>
                    <a:pt x="2477181" y="5195"/>
                    <a:pt x="2486427" y="14441"/>
                  </a:cubicBezTo>
                  <a:cubicBezTo>
                    <a:pt x="2495673" y="23687"/>
                    <a:pt x="2500868" y="36228"/>
                    <a:pt x="2500868" y="49305"/>
                  </a:cubicBezTo>
                  <a:lnTo>
                    <a:pt x="2500868" y="676476"/>
                  </a:lnTo>
                  <a:cubicBezTo>
                    <a:pt x="2500868" y="689552"/>
                    <a:pt x="2495673" y="702093"/>
                    <a:pt x="2486427" y="711340"/>
                  </a:cubicBezTo>
                  <a:cubicBezTo>
                    <a:pt x="2477181" y="720586"/>
                    <a:pt x="2464640" y="725781"/>
                    <a:pt x="2451563" y="725781"/>
                  </a:cubicBezTo>
                  <a:lnTo>
                    <a:pt x="49305" y="725781"/>
                  </a:lnTo>
                  <a:cubicBezTo>
                    <a:pt x="36228" y="725781"/>
                    <a:pt x="23687" y="720586"/>
                    <a:pt x="14441" y="711340"/>
                  </a:cubicBezTo>
                  <a:cubicBezTo>
                    <a:pt x="5195" y="702093"/>
                    <a:pt x="0" y="689552"/>
                    <a:pt x="0" y="676476"/>
                  </a:cubicBezTo>
                  <a:lnTo>
                    <a:pt x="0" y="49305"/>
                  </a:lnTo>
                  <a:cubicBezTo>
                    <a:pt x="0" y="36228"/>
                    <a:pt x="5195" y="23687"/>
                    <a:pt x="14441" y="14441"/>
                  </a:cubicBezTo>
                  <a:cubicBezTo>
                    <a:pt x="23687" y="5195"/>
                    <a:pt x="36228" y="0"/>
                    <a:pt x="49305" y="0"/>
                  </a:cubicBezTo>
                  <a:close/>
                </a:path>
              </a:pathLst>
            </a:custGeom>
            <a:solidFill>
              <a:srgbClr val="A5AAAF"/>
            </a:solidFill>
          </p:spPr>
        </p:sp>
        <p:sp>
          <p:nvSpPr>
            <p:cNvPr name="TextBox 7" id="7"/>
            <p:cNvSpPr txBox="true"/>
            <p:nvPr/>
          </p:nvSpPr>
          <p:spPr>
            <a:xfrm>
              <a:off x="0" y="-57150"/>
              <a:ext cx="2500868" cy="782931"/>
            </a:xfrm>
            <a:prstGeom prst="rect">
              <a:avLst/>
            </a:prstGeom>
          </p:spPr>
          <p:txBody>
            <a:bodyPr anchor="ctr" rtlCol="false" tIns="254000" lIns="254000" bIns="254000" rIns="254000"/>
            <a:lstStyle/>
            <a:p>
              <a:pPr algn="l">
                <a:lnSpc>
                  <a:spcPts val="2860"/>
                </a:lnSpc>
              </a:pPr>
            </a:p>
          </p:txBody>
        </p:sp>
      </p:grpSp>
      <p:grpSp>
        <p:nvGrpSpPr>
          <p:cNvPr name="Group 8" id="8"/>
          <p:cNvGrpSpPr/>
          <p:nvPr/>
        </p:nvGrpSpPr>
        <p:grpSpPr>
          <a:xfrm rot="0">
            <a:off x="7497317" y="1131789"/>
            <a:ext cx="9951719" cy="408123"/>
            <a:chOff x="0" y="0"/>
            <a:chExt cx="2621029" cy="107489"/>
          </a:xfrm>
        </p:grpSpPr>
        <p:sp>
          <p:nvSpPr>
            <p:cNvPr name="Freeform 9" id="9"/>
            <p:cNvSpPr/>
            <p:nvPr/>
          </p:nvSpPr>
          <p:spPr>
            <a:xfrm flipH="false" flipV="false" rot="0">
              <a:off x="0" y="0"/>
              <a:ext cx="2621029" cy="107489"/>
            </a:xfrm>
            <a:custGeom>
              <a:avLst/>
              <a:gdLst/>
              <a:ahLst/>
              <a:cxnLst/>
              <a:rect r="r" b="b" t="t" l="l"/>
              <a:pathLst>
                <a:path h="107489" w="2621029">
                  <a:moveTo>
                    <a:pt x="0" y="0"/>
                  </a:moveTo>
                  <a:lnTo>
                    <a:pt x="2621029" y="0"/>
                  </a:lnTo>
                  <a:lnTo>
                    <a:pt x="2621029" y="107489"/>
                  </a:lnTo>
                  <a:lnTo>
                    <a:pt x="0" y="107489"/>
                  </a:lnTo>
                  <a:close/>
                </a:path>
              </a:pathLst>
            </a:custGeom>
            <a:solidFill>
              <a:srgbClr val="FFD076"/>
            </a:solidFill>
          </p:spPr>
        </p:sp>
        <p:sp>
          <p:nvSpPr>
            <p:cNvPr name="TextBox 10" id="10"/>
            <p:cNvSpPr txBox="true"/>
            <p:nvPr/>
          </p:nvSpPr>
          <p:spPr>
            <a:xfrm>
              <a:off x="0" y="-47625"/>
              <a:ext cx="2621029" cy="155114"/>
            </a:xfrm>
            <a:prstGeom prst="rect">
              <a:avLst/>
            </a:prstGeom>
          </p:spPr>
          <p:txBody>
            <a:bodyPr anchor="ctr" rtlCol="false" tIns="50800" lIns="50800" bIns="50800" rIns="50800"/>
            <a:lstStyle/>
            <a:p>
              <a:pPr algn="ctr">
                <a:lnSpc>
                  <a:spcPts val="3560"/>
                </a:lnSpc>
              </a:pPr>
            </a:p>
          </p:txBody>
        </p:sp>
      </p:grpSp>
      <p:sp>
        <p:nvSpPr>
          <p:cNvPr name="TextBox 11" id="11"/>
          <p:cNvSpPr txBox="true"/>
          <p:nvPr/>
        </p:nvSpPr>
        <p:spPr>
          <a:xfrm rot="0">
            <a:off x="393475" y="866775"/>
            <a:ext cx="6474340" cy="2053577"/>
          </a:xfrm>
          <a:prstGeom prst="rect">
            <a:avLst/>
          </a:prstGeom>
        </p:spPr>
        <p:txBody>
          <a:bodyPr anchor="t" rtlCol="false" tIns="0" lIns="0" bIns="0" rIns="0">
            <a:spAutoFit/>
          </a:bodyPr>
          <a:lstStyle/>
          <a:p>
            <a:pPr algn="l" marL="0" indent="0" lvl="0">
              <a:lnSpc>
                <a:spcPts val="8020"/>
              </a:lnSpc>
              <a:spcBef>
                <a:spcPct val="0"/>
              </a:spcBef>
            </a:pPr>
            <a:r>
              <a:rPr lang="en-US" b="true" sz="5728">
                <a:solidFill>
                  <a:srgbClr val="563C08"/>
                </a:solidFill>
                <a:latin typeface="Poppins Bold"/>
                <a:ea typeface="Poppins Bold"/>
                <a:cs typeface="Poppins Bold"/>
                <a:sym typeface="Poppins Bold"/>
              </a:rPr>
              <a:t>Characteristics of a Good Metric</a:t>
            </a:r>
          </a:p>
        </p:txBody>
      </p:sp>
      <p:sp>
        <p:nvSpPr>
          <p:cNvPr name="TextBox 12" id="12"/>
          <p:cNvSpPr txBox="true"/>
          <p:nvPr/>
        </p:nvSpPr>
        <p:spPr>
          <a:xfrm rot="0">
            <a:off x="7497317" y="2037534"/>
            <a:ext cx="11657547" cy="882818"/>
          </a:xfrm>
          <a:prstGeom prst="rect">
            <a:avLst/>
          </a:prstGeom>
        </p:spPr>
        <p:txBody>
          <a:bodyPr anchor="t" rtlCol="false" tIns="0" lIns="0" bIns="0" rIns="0">
            <a:spAutoFit/>
          </a:bodyPr>
          <a:lstStyle/>
          <a:p>
            <a:pPr algn="l" marL="0" indent="0" lvl="0">
              <a:lnSpc>
                <a:spcPts val="3426"/>
              </a:lnSpc>
              <a:spcBef>
                <a:spcPct val="0"/>
              </a:spcBef>
            </a:pPr>
            <a:r>
              <a:rPr lang="en-US" sz="2447">
                <a:solidFill>
                  <a:srgbClr val="563C08"/>
                </a:solidFill>
                <a:latin typeface="Poppins"/>
                <a:ea typeface="Poppins"/>
                <a:cs typeface="Poppins"/>
                <a:sym typeface="Poppins"/>
              </a:rPr>
              <a:t>A strong metric should satisfy several complementary qualities.</a:t>
            </a:r>
          </a:p>
          <a:p>
            <a:pPr algn="l" marL="0" indent="0" lvl="0">
              <a:lnSpc>
                <a:spcPts val="3426"/>
              </a:lnSpc>
              <a:spcBef>
                <a:spcPct val="0"/>
              </a:spcBef>
            </a:pPr>
          </a:p>
        </p:txBody>
      </p:sp>
      <p:sp>
        <p:nvSpPr>
          <p:cNvPr name="TextBox 13" id="13"/>
          <p:cNvSpPr txBox="true"/>
          <p:nvPr/>
        </p:nvSpPr>
        <p:spPr>
          <a:xfrm rot="0">
            <a:off x="4193458" y="4134069"/>
            <a:ext cx="2088685" cy="637415"/>
          </a:xfrm>
          <a:prstGeom prst="rect">
            <a:avLst/>
          </a:prstGeom>
        </p:spPr>
        <p:txBody>
          <a:bodyPr anchor="t" rtlCol="false" tIns="0" lIns="0" bIns="0" rIns="0">
            <a:spAutoFit/>
          </a:bodyPr>
          <a:lstStyle/>
          <a:p>
            <a:pPr algn="l" marL="0" indent="0" lvl="0">
              <a:lnSpc>
                <a:spcPts val="4987"/>
              </a:lnSpc>
              <a:spcBef>
                <a:spcPct val="0"/>
              </a:spcBef>
            </a:pPr>
            <a:r>
              <a:rPr lang="en-US" b="true" sz="3562">
                <a:solidFill>
                  <a:srgbClr val="563C08"/>
                </a:solidFill>
                <a:latin typeface="Poppins Bold"/>
                <a:ea typeface="Poppins Bold"/>
                <a:cs typeface="Poppins Bold"/>
                <a:sym typeface="Poppins Bold"/>
              </a:rPr>
              <a:t>Timely</a:t>
            </a:r>
          </a:p>
        </p:txBody>
      </p:sp>
      <p:sp>
        <p:nvSpPr>
          <p:cNvPr name="TextBox 14" id="14"/>
          <p:cNvSpPr txBox="true"/>
          <p:nvPr/>
        </p:nvSpPr>
        <p:spPr>
          <a:xfrm rot="0">
            <a:off x="1530921" y="4865082"/>
            <a:ext cx="7272279" cy="1430832"/>
          </a:xfrm>
          <a:prstGeom prst="rect">
            <a:avLst/>
          </a:prstGeom>
        </p:spPr>
        <p:txBody>
          <a:bodyPr anchor="t" rtlCol="false" tIns="0" lIns="0" bIns="0" rIns="0">
            <a:spAutoFit/>
          </a:bodyPr>
          <a:lstStyle/>
          <a:p>
            <a:pPr algn="l" marL="0" indent="0" lvl="0">
              <a:lnSpc>
                <a:spcPts val="3793"/>
              </a:lnSpc>
              <a:spcBef>
                <a:spcPct val="0"/>
              </a:spcBef>
            </a:pPr>
            <a:r>
              <a:rPr lang="en-US" sz="2709">
                <a:solidFill>
                  <a:srgbClr val="191919"/>
                </a:solidFill>
                <a:latin typeface="Poppins"/>
                <a:ea typeface="Poppins"/>
                <a:cs typeface="Poppins"/>
                <a:sym typeface="Poppins"/>
              </a:rPr>
              <a:t>Available when the information is needed for the decision.</a:t>
            </a:r>
          </a:p>
          <a:p>
            <a:pPr algn="l" marL="0" indent="0" lvl="0">
              <a:lnSpc>
                <a:spcPts val="3793"/>
              </a:lnSpc>
              <a:spcBef>
                <a:spcPct val="0"/>
              </a:spcBef>
            </a:pPr>
          </a:p>
        </p:txBody>
      </p:sp>
      <p:sp>
        <p:nvSpPr>
          <p:cNvPr name="TextBox 15" id="15"/>
          <p:cNvSpPr txBox="true"/>
          <p:nvPr/>
        </p:nvSpPr>
        <p:spPr>
          <a:xfrm rot="0">
            <a:off x="16205180" y="9645293"/>
            <a:ext cx="5461258" cy="458413"/>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ELUMBA</a:t>
            </a:r>
          </a:p>
        </p:txBody>
      </p:sp>
      <p:grpSp>
        <p:nvGrpSpPr>
          <p:cNvPr name="Group 16" id="16"/>
          <p:cNvGrpSpPr/>
          <p:nvPr/>
        </p:nvGrpSpPr>
        <p:grpSpPr>
          <a:xfrm rot="0">
            <a:off x="9144000" y="3931651"/>
            <a:ext cx="7851082" cy="2278475"/>
            <a:chOff x="0" y="0"/>
            <a:chExt cx="2500868" cy="725781"/>
          </a:xfrm>
        </p:grpSpPr>
        <p:sp>
          <p:nvSpPr>
            <p:cNvPr name="Freeform 17" id="17"/>
            <p:cNvSpPr/>
            <p:nvPr/>
          </p:nvSpPr>
          <p:spPr>
            <a:xfrm flipH="false" flipV="false" rot="0">
              <a:off x="0" y="0"/>
              <a:ext cx="2500868" cy="725781"/>
            </a:xfrm>
            <a:custGeom>
              <a:avLst/>
              <a:gdLst/>
              <a:ahLst/>
              <a:cxnLst/>
              <a:rect r="r" b="b" t="t" l="l"/>
              <a:pathLst>
                <a:path h="725781" w="2500868">
                  <a:moveTo>
                    <a:pt x="49305" y="0"/>
                  </a:moveTo>
                  <a:lnTo>
                    <a:pt x="2451563" y="0"/>
                  </a:lnTo>
                  <a:cubicBezTo>
                    <a:pt x="2464640" y="0"/>
                    <a:pt x="2477181" y="5195"/>
                    <a:pt x="2486427" y="14441"/>
                  </a:cubicBezTo>
                  <a:cubicBezTo>
                    <a:pt x="2495673" y="23687"/>
                    <a:pt x="2500868" y="36228"/>
                    <a:pt x="2500868" y="49305"/>
                  </a:cubicBezTo>
                  <a:lnTo>
                    <a:pt x="2500868" y="676476"/>
                  </a:lnTo>
                  <a:cubicBezTo>
                    <a:pt x="2500868" y="689552"/>
                    <a:pt x="2495673" y="702093"/>
                    <a:pt x="2486427" y="711340"/>
                  </a:cubicBezTo>
                  <a:cubicBezTo>
                    <a:pt x="2477181" y="720586"/>
                    <a:pt x="2464640" y="725781"/>
                    <a:pt x="2451563" y="725781"/>
                  </a:cubicBezTo>
                  <a:lnTo>
                    <a:pt x="49305" y="725781"/>
                  </a:lnTo>
                  <a:cubicBezTo>
                    <a:pt x="36228" y="725781"/>
                    <a:pt x="23687" y="720586"/>
                    <a:pt x="14441" y="711340"/>
                  </a:cubicBezTo>
                  <a:cubicBezTo>
                    <a:pt x="5195" y="702093"/>
                    <a:pt x="0" y="689552"/>
                    <a:pt x="0" y="676476"/>
                  </a:cubicBezTo>
                  <a:lnTo>
                    <a:pt x="0" y="49305"/>
                  </a:lnTo>
                  <a:cubicBezTo>
                    <a:pt x="0" y="36228"/>
                    <a:pt x="5195" y="23687"/>
                    <a:pt x="14441" y="14441"/>
                  </a:cubicBezTo>
                  <a:cubicBezTo>
                    <a:pt x="23687" y="5195"/>
                    <a:pt x="36228" y="0"/>
                    <a:pt x="49305" y="0"/>
                  </a:cubicBezTo>
                  <a:close/>
                </a:path>
              </a:pathLst>
            </a:custGeom>
            <a:solidFill>
              <a:srgbClr val="A5AAAF"/>
            </a:solidFill>
          </p:spPr>
        </p:sp>
        <p:sp>
          <p:nvSpPr>
            <p:cNvPr name="TextBox 18" id="18"/>
            <p:cNvSpPr txBox="true"/>
            <p:nvPr/>
          </p:nvSpPr>
          <p:spPr>
            <a:xfrm>
              <a:off x="0" y="-57150"/>
              <a:ext cx="2500868" cy="782931"/>
            </a:xfrm>
            <a:prstGeom prst="rect">
              <a:avLst/>
            </a:prstGeom>
          </p:spPr>
          <p:txBody>
            <a:bodyPr anchor="ctr" rtlCol="false" tIns="254000" lIns="254000" bIns="254000" rIns="254000"/>
            <a:lstStyle/>
            <a:p>
              <a:pPr algn="l">
                <a:lnSpc>
                  <a:spcPts val="2860"/>
                </a:lnSpc>
              </a:pPr>
            </a:p>
          </p:txBody>
        </p:sp>
      </p:grpSp>
      <p:sp>
        <p:nvSpPr>
          <p:cNvPr name="TextBox 19" id="19"/>
          <p:cNvSpPr txBox="true"/>
          <p:nvPr/>
        </p:nvSpPr>
        <p:spPr>
          <a:xfrm rot="0">
            <a:off x="11127276" y="4046629"/>
            <a:ext cx="3884531" cy="637415"/>
          </a:xfrm>
          <a:prstGeom prst="rect">
            <a:avLst/>
          </a:prstGeom>
        </p:spPr>
        <p:txBody>
          <a:bodyPr anchor="t" rtlCol="false" tIns="0" lIns="0" bIns="0" rIns="0">
            <a:spAutoFit/>
          </a:bodyPr>
          <a:lstStyle/>
          <a:p>
            <a:pPr algn="l" marL="0" indent="0" lvl="0">
              <a:lnSpc>
                <a:spcPts val="4987"/>
              </a:lnSpc>
              <a:spcBef>
                <a:spcPct val="0"/>
              </a:spcBef>
            </a:pPr>
            <a:r>
              <a:rPr lang="en-US" b="true" sz="3562">
                <a:solidFill>
                  <a:srgbClr val="563C08"/>
                </a:solidFill>
                <a:latin typeface="Poppins Bold"/>
                <a:ea typeface="Poppins Bold"/>
                <a:cs typeface="Poppins Bold"/>
                <a:sym typeface="Poppins Bold"/>
              </a:rPr>
              <a:t>Understandable</a:t>
            </a:r>
          </a:p>
        </p:txBody>
      </p:sp>
      <p:sp>
        <p:nvSpPr>
          <p:cNvPr name="TextBox 20" id="20"/>
          <p:cNvSpPr txBox="true"/>
          <p:nvPr/>
        </p:nvSpPr>
        <p:spPr>
          <a:xfrm rot="0">
            <a:off x="9841646" y="4779294"/>
            <a:ext cx="7153436" cy="1430832"/>
          </a:xfrm>
          <a:prstGeom prst="rect">
            <a:avLst/>
          </a:prstGeom>
        </p:spPr>
        <p:txBody>
          <a:bodyPr anchor="t" rtlCol="false" tIns="0" lIns="0" bIns="0" rIns="0">
            <a:spAutoFit/>
          </a:bodyPr>
          <a:lstStyle/>
          <a:p>
            <a:pPr algn="l" marL="0" indent="0" lvl="0">
              <a:lnSpc>
                <a:spcPts val="3793"/>
              </a:lnSpc>
              <a:spcBef>
                <a:spcPct val="0"/>
              </a:spcBef>
            </a:pPr>
            <a:r>
              <a:rPr lang="en-US" sz="2709">
                <a:solidFill>
                  <a:srgbClr val="191919"/>
                </a:solidFill>
                <a:latin typeface="Poppins"/>
                <a:ea typeface="Poppins"/>
                <a:cs typeface="Poppins"/>
                <a:sym typeface="Poppins"/>
              </a:rPr>
              <a:t>Clearly defined and easy for intended users to interpret.</a:t>
            </a:r>
          </a:p>
          <a:p>
            <a:pPr algn="l" marL="0" indent="0" lvl="0">
              <a:lnSpc>
                <a:spcPts val="3793"/>
              </a:lnSpc>
              <a:spcBef>
                <a:spcPct val="0"/>
              </a:spcBef>
            </a:pPr>
          </a:p>
        </p:txBody>
      </p:sp>
      <p:grpSp>
        <p:nvGrpSpPr>
          <p:cNvPr name="Group 21" id="21"/>
          <p:cNvGrpSpPr/>
          <p:nvPr/>
        </p:nvGrpSpPr>
        <p:grpSpPr>
          <a:xfrm rot="0">
            <a:off x="1089824" y="6867414"/>
            <a:ext cx="7851082" cy="2278475"/>
            <a:chOff x="0" y="0"/>
            <a:chExt cx="2500868" cy="725781"/>
          </a:xfrm>
        </p:grpSpPr>
        <p:sp>
          <p:nvSpPr>
            <p:cNvPr name="Freeform 22" id="22"/>
            <p:cNvSpPr/>
            <p:nvPr/>
          </p:nvSpPr>
          <p:spPr>
            <a:xfrm flipH="false" flipV="false" rot="0">
              <a:off x="0" y="0"/>
              <a:ext cx="2500868" cy="725781"/>
            </a:xfrm>
            <a:custGeom>
              <a:avLst/>
              <a:gdLst/>
              <a:ahLst/>
              <a:cxnLst/>
              <a:rect r="r" b="b" t="t" l="l"/>
              <a:pathLst>
                <a:path h="725781" w="2500868">
                  <a:moveTo>
                    <a:pt x="49305" y="0"/>
                  </a:moveTo>
                  <a:lnTo>
                    <a:pt x="2451563" y="0"/>
                  </a:lnTo>
                  <a:cubicBezTo>
                    <a:pt x="2464640" y="0"/>
                    <a:pt x="2477181" y="5195"/>
                    <a:pt x="2486427" y="14441"/>
                  </a:cubicBezTo>
                  <a:cubicBezTo>
                    <a:pt x="2495673" y="23687"/>
                    <a:pt x="2500868" y="36228"/>
                    <a:pt x="2500868" y="49305"/>
                  </a:cubicBezTo>
                  <a:lnTo>
                    <a:pt x="2500868" y="676476"/>
                  </a:lnTo>
                  <a:cubicBezTo>
                    <a:pt x="2500868" y="689552"/>
                    <a:pt x="2495673" y="702093"/>
                    <a:pt x="2486427" y="711340"/>
                  </a:cubicBezTo>
                  <a:cubicBezTo>
                    <a:pt x="2477181" y="720586"/>
                    <a:pt x="2464640" y="725781"/>
                    <a:pt x="2451563" y="725781"/>
                  </a:cubicBezTo>
                  <a:lnTo>
                    <a:pt x="49305" y="725781"/>
                  </a:lnTo>
                  <a:cubicBezTo>
                    <a:pt x="36228" y="725781"/>
                    <a:pt x="23687" y="720586"/>
                    <a:pt x="14441" y="711340"/>
                  </a:cubicBezTo>
                  <a:cubicBezTo>
                    <a:pt x="5195" y="702093"/>
                    <a:pt x="0" y="689552"/>
                    <a:pt x="0" y="676476"/>
                  </a:cubicBezTo>
                  <a:lnTo>
                    <a:pt x="0" y="49305"/>
                  </a:lnTo>
                  <a:cubicBezTo>
                    <a:pt x="0" y="36228"/>
                    <a:pt x="5195" y="23687"/>
                    <a:pt x="14441" y="14441"/>
                  </a:cubicBezTo>
                  <a:cubicBezTo>
                    <a:pt x="23687" y="5195"/>
                    <a:pt x="36228" y="0"/>
                    <a:pt x="49305" y="0"/>
                  </a:cubicBezTo>
                  <a:close/>
                </a:path>
              </a:pathLst>
            </a:custGeom>
            <a:solidFill>
              <a:srgbClr val="A5AAAF"/>
            </a:solidFill>
          </p:spPr>
        </p:sp>
        <p:sp>
          <p:nvSpPr>
            <p:cNvPr name="TextBox 23" id="23"/>
            <p:cNvSpPr txBox="true"/>
            <p:nvPr/>
          </p:nvSpPr>
          <p:spPr>
            <a:xfrm>
              <a:off x="0" y="-57150"/>
              <a:ext cx="2500868" cy="782931"/>
            </a:xfrm>
            <a:prstGeom prst="rect">
              <a:avLst/>
            </a:prstGeom>
          </p:spPr>
          <p:txBody>
            <a:bodyPr anchor="ctr" rtlCol="false" tIns="254000" lIns="254000" bIns="254000" rIns="254000"/>
            <a:lstStyle/>
            <a:p>
              <a:pPr algn="l">
                <a:lnSpc>
                  <a:spcPts val="2860"/>
                </a:lnSpc>
              </a:pPr>
            </a:p>
          </p:txBody>
        </p:sp>
      </p:grpSp>
      <p:sp>
        <p:nvSpPr>
          <p:cNvPr name="TextBox 24" id="24"/>
          <p:cNvSpPr txBox="true"/>
          <p:nvPr/>
        </p:nvSpPr>
        <p:spPr>
          <a:xfrm rot="0">
            <a:off x="3563957" y="7069831"/>
            <a:ext cx="3303859" cy="637415"/>
          </a:xfrm>
          <a:prstGeom prst="rect">
            <a:avLst/>
          </a:prstGeom>
        </p:spPr>
        <p:txBody>
          <a:bodyPr anchor="t" rtlCol="false" tIns="0" lIns="0" bIns="0" rIns="0">
            <a:spAutoFit/>
          </a:bodyPr>
          <a:lstStyle/>
          <a:p>
            <a:pPr algn="l" marL="0" indent="0" lvl="0">
              <a:lnSpc>
                <a:spcPts val="4987"/>
              </a:lnSpc>
              <a:spcBef>
                <a:spcPct val="0"/>
              </a:spcBef>
            </a:pPr>
            <a:r>
              <a:rPr lang="en-US" b="true" sz="3562">
                <a:solidFill>
                  <a:srgbClr val="563C08"/>
                </a:solidFill>
                <a:latin typeface="Poppins Bold"/>
                <a:ea typeface="Poppins Bold"/>
                <a:cs typeface="Poppins Bold"/>
                <a:sym typeface="Poppins Bold"/>
              </a:rPr>
              <a:t>Comparable</a:t>
            </a:r>
          </a:p>
        </p:txBody>
      </p:sp>
      <p:sp>
        <p:nvSpPr>
          <p:cNvPr name="TextBox 25" id="25"/>
          <p:cNvSpPr txBox="true"/>
          <p:nvPr/>
        </p:nvSpPr>
        <p:spPr>
          <a:xfrm rot="0">
            <a:off x="1530921" y="7800844"/>
            <a:ext cx="7409986" cy="1430832"/>
          </a:xfrm>
          <a:prstGeom prst="rect">
            <a:avLst/>
          </a:prstGeom>
        </p:spPr>
        <p:txBody>
          <a:bodyPr anchor="t" rtlCol="false" tIns="0" lIns="0" bIns="0" rIns="0">
            <a:spAutoFit/>
          </a:bodyPr>
          <a:lstStyle/>
          <a:p>
            <a:pPr algn="l" marL="0" indent="0" lvl="0">
              <a:lnSpc>
                <a:spcPts val="3793"/>
              </a:lnSpc>
              <a:spcBef>
                <a:spcPct val="0"/>
              </a:spcBef>
            </a:pPr>
            <a:r>
              <a:rPr lang="en-US" sz="2709">
                <a:solidFill>
                  <a:srgbClr val="191919"/>
                </a:solidFill>
                <a:latin typeface="Poppins"/>
                <a:ea typeface="Poppins"/>
                <a:cs typeface="Poppins"/>
                <a:sym typeface="Poppins"/>
              </a:rPr>
              <a:t>Allows meaningful comparison across time, targets, systems, or groups.</a:t>
            </a:r>
          </a:p>
          <a:p>
            <a:pPr algn="l" marL="0" indent="0" lvl="0">
              <a:lnSpc>
                <a:spcPts val="3793"/>
              </a:lnSpc>
              <a:spcBef>
                <a:spcPct val="0"/>
              </a:spcBef>
            </a:pPr>
          </a:p>
        </p:txBody>
      </p:sp>
      <p:grpSp>
        <p:nvGrpSpPr>
          <p:cNvPr name="Group 26" id="26"/>
          <p:cNvGrpSpPr/>
          <p:nvPr/>
        </p:nvGrpSpPr>
        <p:grpSpPr>
          <a:xfrm rot="0">
            <a:off x="9400549" y="6867414"/>
            <a:ext cx="7851082" cy="2278475"/>
            <a:chOff x="0" y="0"/>
            <a:chExt cx="2500868" cy="725781"/>
          </a:xfrm>
        </p:grpSpPr>
        <p:sp>
          <p:nvSpPr>
            <p:cNvPr name="Freeform 27" id="27"/>
            <p:cNvSpPr/>
            <p:nvPr/>
          </p:nvSpPr>
          <p:spPr>
            <a:xfrm flipH="false" flipV="false" rot="0">
              <a:off x="0" y="0"/>
              <a:ext cx="2500868" cy="725781"/>
            </a:xfrm>
            <a:custGeom>
              <a:avLst/>
              <a:gdLst/>
              <a:ahLst/>
              <a:cxnLst/>
              <a:rect r="r" b="b" t="t" l="l"/>
              <a:pathLst>
                <a:path h="725781" w="2500868">
                  <a:moveTo>
                    <a:pt x="49305" y="0"/>
                  </a:moveTo>
                  <a:lnTo>
                    <a:pt x="2451563" y="0"/>
                  </a:lnTo>
                  <a:cubicBezTo>
                    <a:pt x="2464640" y="0"/>
                    <a:pt x="2477181" y="5195"/>
                    <a:pt x="2486427" y="14441"/>
                  </a:cubicBezTo>
                  <a:cubicBezTo>
                    <a:pt x="2495673" y="23687"/>
                    <a:pt x="2500868" y="36228"/>
                    <a:pt x="2500868" y="49305"/>
                  </a:cubicBezTo>
                  <a:lnTo>
                    <a:pt x="2500868" y="676476"/>
                  </a:lnTo>
                  <a:cubicBezTo>
                    <a:pt x="2500868" y="689552"/>
                    <a:pt x="2495673" y="702093"/>
                    <a:pt x="2486427" y="711340"/>
                  </a:cubicBezTo>
                  <a:cubicBezTo>
                    <a:pt x="2477181" y="720586"/>
                    <a:pt x="2464640" y="725781"/>
                    <a:pt x="2451563" y="725781"/>
                  </a:cubicBezTo>
                  <a:lnTo>
                    <a:pt x="49305" y="725781"/>
                  </a:lnTo>
                  <a:cubicBezTo>
                    <a:pt x="36228" y="725781"/>
                    <a:pt x="23687" y="720586"/>
                    <a:pt x="14441" y="711340"/>
                  </a:cubicBezTo>
                  <a:cubicBezTo>
                    <a:pt x="5195" y="702093"/>
                    <a:pt x="0" y="689552"/>
                    <a:pt x="0" y="676476"/>
                  </a:cubicBezTo>
                  <a:lnTo>
                    <a:pt x="0" y="49305"/>
                  </a:lnTo>
                  <a:cubicBezTo>
                    <a:pt x="0" y="36228"/>
                    <a:pt x="5195" y="23687"/>
                    <a:pt x="14441" y="14441"/>
                  </a:cubicBezTo>
                  <a:cubicBezTo>
                    <a:pt x="23687" y="5195"/>
                    <a:pt x="36228" y="0"/>
                    <a:pt x="49305" y="0"/>
                  </a:cubicBezTo>
                  <a:close/>
                </a:path>
              </a:pathLst>
            </a:custGeom>
            <a:solidFill>
              <a:srgbClr val="A5AAAF"/>
            </a:solidFill>
          </p:spPr>
        </p:sp>
        <p:sp>
          <p:nvSpPr>
            <p:cNvPr name="TextBox 28" id="28"/>
            <p:cNvSpPr txBox="true"/>
            <p:nvPr/>
          </p:nvSpPr>
          <p:spPr>
            <a:xfrm>
              <a:off x="0" y="-57150"/>
              <a:ext cx="2500868" cy="782931"/>
            </a:xfrm>
            <a:prstGeom prst="rect">
              <a:avLst/>
            </a:prstGeom>
          </p:spPr>
          <p:txBody>
            <a:bodyPr anchor="ctr" rtlCol="false" tIns="254000" lIns="254000" bIns="254000" rIns="254000"/>
            <a:lstStyle/>
            <a:p>
              <a:pPr algn="l">
                <a:lnSpc>
                  <a:spcPts val="2860"/>
                </a:lnSpc>
              </a:pPr>
            </a:p>
          </p:txBody>
        </p:sp>
      </p:grpSp>
      <p:sp>
        <p:nvSpPr>
          <p:cNvPr name="TextBox 29" id="29"/>
          <p:cNvSpPr txBox="true"/>
          <p:nvPr/>
        </p:nvSpPr>
        <p:spPr>
          <a:xfrm rot="0">
            <a:off x="11640375" y="7069831"/>
            <a:ext cx="3371432" cy="637415"/>
          </a:xfrm>
          <a:prstGeom prst="rect">
            <a:avLst/>
          </a:prstGeom>
        </p:spPr>
        <p:txBody>
          <a:bodyPr anchor="t" rtlCol="false" tIns="0" lIns="0" bIns="0" rIns="0">
            <a:spAutoFit/>
          </a:bodyPr>
          <a:lstStyle/>
          <a:p>
            <a:pPr algn="l" marL="0" indent="0" lvl="0">
              <a:lnSpc>
                <a:spcPts val="4987"/>
              </a:lnSpc>
              <a:spcBef>
                <a:spcPct val="0"/>
              </a:spcBef>
            </a:pPr>
            <a:r>
              <a:rPr lang="en-US" b="true" sz="3562">
                <a:solidFill>
                  <a:srgbClr val="563C08"/>
                </a:solidFill>
                <a:latin typeface="Poppins Bold"/>
                <a:ea typeface="Poppins Bold"/>
                <a:cs typeface="Poppins Bold"/>
                <a:sym typeface="Poppins Bold"/>
              </a:rPr>
              <a:t>Cost-effective</a:t>
            </a:r>
          </a:p>
        </p:txBody>
      </p:sp>
      <p:sp>
        <p:nvSpPr>
          <p:cNvPr name="TextBox 30" id="30"/>
          <p:cNvSpPr txBox="true"/>
          <p:nvPr/>
        </p:nvSpPr>
        <p:spPr>
          <a:xfrm rot="0">
            <a:off x="9841646" y="7800844"/>
            <a:ext cx="7153436" cy="1430832"/>
          </a:xfrm>
          <a:prstGeom prst="rect">
            <a:avLst/>
          </a:prstGeom>
        </p:spPr>
        <p:txBody>
          <a:bodyPr anchor="t" rtlCol="false" tIns="0" lIns="0" bIns="0" rIns="0">
            <a:spAutoFit/>
          </a:bodyPr>
          <a:lstStyle/>
          <a:p>
            <a:pPr algn="l" marL="0" indent="0" lvl="0">
              <a:lnSpc>
                <a:spcPts val="3793"/>
              </a:lnSpc>
              <a:spcBef>
                <a:spcPct val="0"/>
              </a:spcBef>
            </a:pPr>
            <a:r>
              <a:rPr lang="en-US" sz="2709">
                <a:solidFill>
                  <a:srgbClr val="191919"/>
                </a:solidFill>
                <a:latin typeface="Poppins"/>
                <a:ea typeface="Poppins"/>
                <a:cs typeface="Poppins"/>
                <a:sym typeface="Poppins"/>
              </a:rPr>
              <a:t>The value of the information justifies the effort and resources required.</a:t>
            </a:r>
          </a:p>
          <a:p>
            <a:pPr algn="l" marL="0" indent="0" lvl="0">
              <a:lnSpc>
                <a:spcPts val="3793"/>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364650"/>
            <a:ext cx="18288000" cy="3459362"/>
            <a:chOff x="0" y="0"/>
            <a:chExt cx="4816593" cy="911108"/>
          </a:xfrm>
        </p:grpSpPr>
        <p:sp>
          <p:nvSpPr>
            <p:cNvPr name="Freeform 3" id="3"/>
            <p:cNvSpPr/>
            <p:nvPr/>
          </p:nvSpPr>
          <p:spPr>
            <a:xfrm flipH="false" flipV="false" rot="0">
              <a:off x="0" y="0"/>
              <a:ext cx="4816592" cy="911108"/>
            </a:xfrm>
            <a:custGeom>
              <a:avLst/>
              <a:gdLst/>
              <a:ahLst/>
              <a:cxnLst/>
              <a:rect r="r" b="b" t="t" l="l"/>
              <a:pathLst>
                <a:path h="911108" w="4816592">
                  <a:moveTo>
                    <a:pt x="0" y="0"/>
                  </a:moveTo>
                  <a:lnTo>
                    <a:pt x="4816592" y="0"/>
                  </a:lnTo>
                  <a:lnTo>
                    <a:pt x="4816592" y="911108"/>
                  </a:lnTo>
                  <a:lnTo>
                    <a:pt x="0" y="911108"/>
                  </a:lnTo>
                  <a:close/>
                </a:path>
              </a:pathLst>
            </a:custGeom>
            <a:solidFill>
              <a:srgbClr val="FFD076"/>
            </a:solidFill>
          </p:spPr>
        </p:sp>
        <p:sp>
          <p:nvSpPr>
            <p:cNvPr name="TextBox 4" id="4"/>
            <p:cNvSpPr txBox="true"/>
            <p:nvPr/>
          </p:nvSpPr>
          <p:spPr>
            <a:xfrm>
              <a:off x="0" y="-47625"/>
              <a:ext cx="4816593" cy="958733"/>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0" y="5821779"/>
            <a:ext cx="18288000" cy="2864780"/>
            <a:chOff x="0" y="0"/>
            <a:chExt cx="4816593" cy="754510"/>
          </a:xfrm>
        </p:grpSpPr>
        <p:sp>
          <p:nvSpPr>
            <p:cNvPr name="Freeform 6" id="6"/>
            <p:cNvSpPr/>
            <p:nvPr/>
          </p:nvSpPr>
          <p:spPr>
            <a:xfrm flipH="false" flipV="false" rot="0">
              <a:off x="0" y="0"/>
              <a:ext cx="4816592" cy="754510"/>
            </a:xfrm>
            <a:custGeom>
              <a:avLst/>
              <a:gdLst/>
              <a:ahLst/>
              <a:cxnLst/>
              <a:rect r="r" b="b" t="t" l="l"/>
              <a:pathLst>
                <a:path h="754510" w="4816592">
                  <a:moveTo>
                    <a:pt x="0" y="0"/>
                  </a:moveTo>
                  <a:lnTo>
                    <a:pt x="4816592" y="0"/>
                  </a:lnTo>
                  <a:lnTo>
                    <a:pt x="4816592" y="754510"/>
                  </a:lnTo>
                  <a:lnTo>
                    <a:pt x="0" y="754510"/>
                  </a:lnTo>
                  <a:close/>
                </a:path>
              </a:pathLst>
            </a:custGeom>
            <a:solidFill>
              <a:srgbClr val="F1F1F1"/>
            </a:solidFill>
          </p:spPr>
        </p:sp>
        <p:sp>
          <p:nvSpPr>
            <p:cNvPr name="TextBox 7" id="7"/>
            <p:cNvSpPr txBox="true"/>
            <p:nvPr/>
          </p:nvSpPr>
          <p:spPr>
            <a:xfrm>
              <a:off x="0" y="-47625"/>
              <a:ext cx="4816593" cy="802135"/>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14488993" y="2727503"/>
            <a:ext cx="2733657" cy="273365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
              <a:stretch>
                <a:fillRect l="-24906" t="0" r="-24906" b="0"/>
              </a:stretch>
            </a:blipFill>
          </p:spPr>
        </p:sp>
      </p:grpSp>
      <p:grpSp>
        <p:nvGrpSpPr>
          <p:cNvPr name="Group 10" id="10"/>
          <p:cNvGrpSpPr/>
          <p:nvPr/>
        </p:nvGrpSpPr>
        <p:grpSpPr>
          <a:xfrm rot="0">
            <a:off x="14525643" y="5821779"/>
            <a:ext cx="2733657" cy="273365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3"/>
              <a:stretch>
                <a:fillRect l="-25046" t="0" r="-25046" b="0"/>
              </a:stretch>
            </a:blipFill>
          </p:spPr>
        </p:sp>
      </p:grpSp>
      <p:sp>
        <p:nvSpPr>
          <p:cNvPr name="TextBox 12" id="12"/>
          <p:cNvSpPr txBox="true"/>
          <p:nvPr/>
        </p:nvSpPr>
        <p:spPr>
          <a:xfrm rot="0">
            <a:off x="1028700" y="207967"/>
            <a:ext cx="15384487" cy="1456179"/>
          </a:xfrm>
          <a:prstGeom prst="rect">
            <a:avLst/>
          </a:prstGeom>
        </p:spPr>
        <p:txBody>
          <a:bodyPr anchor="t" rtlCol="false" tIns="0" lIns="0" bIns="0" rIns="0">
            <a:spAutoFit/>
          </a:bodyPr>
          <a:lstStyle/>
          <a:p>
            <a:pPr algn="ctr" marL="0" indent="0" lvl="0">
              <a:lnSpc>
                <a:spcPts val="11276"/>
              </a:lnSpc>
              <a:spcBef>
                <a:spcPct val="0"/>
              </a:spcBef>
            </a:pPr>
            <a:r>
              <a:rPr lang="en-US" b="true" sz="8054">
                <a:solidFill>
                  <a:srgbClr val="8B5F0B"/>
                </a:solidFill>
                <a:latin typeface="Poppins Bold"/>
                <a:ea typeface="Poppins Bold"/>
                <a:cs typeface="Poppins Bold"/>
                <a:sym typeface="Poppins Bold"/>
              </a:rPr>
              <a:t>Good Metric vs. Weak Metric</a:t>
            </a:r>
          </a:p>
        </p:txBody>
      </p:sp>
      <p:sp>
        <p:nvSpPr>
          <p:cNvPr name="TextBox 13" id="13"/>
          <p:cNvSpPr txBox="true"/>
          <p:nvPr/>
        </p:nvSpPr>
        <p:spPr>
          <a:xfrm rot="0">
            <a:off x="1302598" y="3434317"/>
            <a:ext cx="11751677" cy="2111838"/>
          </a:xfrm>
          <a:prstGeom prst="rect">
            <a:avLst/>
          </a:prstGeom>
        </p:spPr>
        <p:txBody>
          <a:bodyPr anchor="t" rtlCol="false" tIns="0" lIns="0" bIns="0" rIns="0">
            <a:spAutoFit/>
          </a:bodyPr>
          <a:lstStyle/>
          <a:p>
            <a:pPr algn="l">
              <a:lnSpc>
                <a:spcPts val="3314"/>
              </a:lnSpc>
            </a:pPr>
            <a:r>
              <a:rPr lang="en-US" sz="2367">
                <a:solidFill>
                  <a:srgbClr val="000000"/>
                </a:solidFill>
                <a:latin typeface="Poppins"/>
                <a:ea typeface="Poppins"/>
                <a:cs typeface="Poppins"/>
                <a:sym typeface="Poppins"/>
              </a:rPr>
              <a:t>A higher number may indicate worse security—but it may also reflect better reporting, improved detection, increased monitoring, or a change in system exposure.</a:t>
            </a:r>
          </a:p>
          <a:p>
            <a:pPr algn="l">
              <a:lnSpc>
                <a:spcPts val="3314"/>
              </a:lnSpc>
            </a:pPr>
          </a:p>
          <a:p>
            <a:pPr algn="l" marL="0" indent="0" lvl="0">
              <a:lnSpc>
                <a:spcPts val="3314"/>
              </a:lnSpc>
              <a:spcBef>
                <a:spcPct val="0"/>
              </a:spcBef>
            </a:pPr>
            <a:r>
              <a:rPr lang="en-US" sz="2367">
                <a:solidFill>
                  <a:srgbClr val="000000"/>
                </a:solidFill>
                <a:latin typeface="Poppins"/>
                <a:ea typeface="Poppins"/>
                <a:cs typeface="Poppins"/>
                <a:sym typeface="Poppins"/>
              </a:rPr>
              <a:t>Without context, interpretation is uncertain.</a:t>
            </a:r>
          </a:p>
        </p:txBody>
      </p:sp>
      <p:sp>
        <p:nvSpPr>
          <p:cNvPr name="TextBox 14" id="14"/>
          <p:cNvSpPr txBox="true"/>
          <p:nvPr/>
        </p:nvSpPr>
        <p:spPr>
          <a:xfrm rot="0">
            <a:off x="1265949" y="7304968"/>
            <a:ext cx="13186395" cy="1273530"/>
          </a:xfrm>
          <a:prstGeom prst="rect">
            <a:avLst/>
          </a:prstGeom>
        </p:spPr>
        <p:txBody>
          <a:bodyPr anchor="t" rtlCol="false" tIns="0" lIns="0" bIns="0" rIns="0">
            <a:spAutoFit/>
          </a:bodyPr>
          <a:lstStyle/>
          <a:p>
            <a:pPr algn="l" marL="0" indent="0" lvl="0">
              <a:lnSpc>
                <a:spcPts val="3314"/>
              </a:lnSpc>
              <a:spcBef>
                <a:spcPct val="0"/>
              </a:spcBef>
            </a:pPr>
            <a:r>
              <a:rPr lang="en-US" sz="2367">
                <a:solidFill>
                  <a:srgbClr val="000000"/>
                </a:solidFill>
                <a:latin typeface="Poppins"/>
                <a:ea typeface="Poppins"/>
                <a:cs typeface="Poppins"/>
                <a:sym typeface="Poppins"/>
              </a:rPr>
              <a:t>Adds normalization and context, making comparison more meaningful.  Still, it should be interpreted with detection coverage, severity, and reporting changes.</a:t>
            </a:r>
          </a:p>
          <a:p>
            <a:pPr algn="l" marL="0" indent="0" lvl="0">
              <a:lnSpc>
                <a:spcPts val="3314"/>
              </a:lnSpc>
              <a:spcBef>
                <a:spcPct val="0"/>
              </a:spcBef>
            </a:pPr>
          </a:p>
        </p:txBody>
      </p:sp>
      <p:sp>
        <p:nvSpPr>
          <p:cNvPr name="TextBox 15" id="15"/>
          <p:cNvSpPr txBox="true"/>
          <p:nvPr/>
        </p:nvSpPr>
        <p:spPr>
          <a:xfrm rot="0">
            <a:off x="1302598" y="2603866"/>
            <a:ext cx="11227527" cy="524772"/>
          </a:xfrm>
          <a:prstGeom prst="rect">
            <a:avLst/>
          </a:prstGeom>
        </p:spPr>
        <p:txBody>
          <a:bodyPr anchor="t" rtlCol="false" tIns="0" lIns="0" bIns="0" rIns="0">
            <a:spAutoFit/>
          </a:bodyPr>
          <a:lstStyle/>
          <a:p>
            <a:pPr algn="l" marL="0" indent="0" lvl="0">
              <a:lnSpc>
                <a:spcPts val="4150"/>
              </a:lnSpc>
              <a:spcBef>
                <a:spcPct val="0"/>
              </a:spcBef>
            </a:pPr>
            <a:r>
              <a:rPr lang="en-US" b="true" sz="2964">
                <a:solidFill>
                  <a:srgbClr val="FF2828"/>
                </a:solidFill>
                <a:latin typeface="Poppins Bold"/>
                <a:ea typeface="Poppins Bold"/>
                <a:cs typeface="Poppins Bold"/>
                <a:sym typeface="Poppins Bold"/>
              </a:rPr>
              <a:t>Weak: “Number of security incidents”</a:t>
            </a:r>
          </a:p>
        </p:txBody>
      </p:sp>
      <p:sp>
        <p:nvSpPr>
          <p:cNvPr name="TextBox 16" id="16"/>
          <p:cNvSpPr txBox="true"/>
          <p:nvPr/>
        </p:nvSpPr>
        <p:spPr>
          <a:xfrm rot="0">
            <a:off x="1265949" y="6142725"/>
            <a:ext cx="13223045" cy="1048647"/>
          </a:xfrm>
          <a:prstGeom prst="rect">
            <a:avLst/>
          </a:prstGeom>
        </p:spPr>
        <p:txBody>
          <a:bodyPr anchor="t" rtlCol="false" tIns="0" lIns="0" bIns="0" rIns="0">
            <a:spAutoFit/>
          </a:bodyPr>
          <a:lstStyle/>
          <a:p>
            <a:pPr algn="l" marL="0" indent="0" lvl="0">
              <a:lnSpc>
                <a:spcPts val="4150"/>
              </a:lnSpc>
              <a:spcBef>
                <a:spcPct val="0"/>
              </a:spcBef>
            </a:pPr>
            <a:r>
              <a:rPr lang="en-US" b="true" sz="2964">
                <a:solidFill>
                  <a:srgbClr val="457A00"/>
                </a:solidFill>
                <a:latin typeface="Poppins Bold"/>
                <a:ea typeface="Poppins Bold"/>
                <a:cs typeface="Poppins Bold"/>
                <a:sym typeface="Poppins Bold"/>
              </a:rPr>
              <a:t>Stronger: “Rate of confirmed security incidents per 1,000 monitored assets”</a:t>
            </a:r>
          </a:p>
        </p:txBody>
      </p:sp>
      <p:sp>
        <p:nvSpPr>
          <p:cNvPr name="Freeform 17" id="17"/>
          <p:cNvSpPr/>
          <p:nvPr/>
        </p:nvSpPr>
        <p:spPr>
          <a:xfrm flipH="false" flipV="false" rot="0">
            <a:off x="-224578" y="9187447"/>
            <a:ext cx="2017463" cy="2030152"/>
          </a:xfrm>
          <a:custGeom>
            <a:avLst/>
            <a:gdLst/>
            <a:ahLst/>
            <a:cxnLst/>
            <a:rect r="r" b="b" t="t" l="l"/>
            <a:pathLst>
              <a:path h="2030152" w="2017463">
                <a:moveTo>
                  <a:pt x="0" y="0"/>
                </a:moveTo>
                <a:lnTo>
                  <a:pt x="2017464" y="0"/>
                </a:lnTo>
                <a:lnTo>
                  <a:pt x="2017464" y="2030152"/>
                </a:lnTo>
                <a:lnTo>
                  <a:pt x="0" y="2030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15586806" y="-1015076"/>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15892472" y="9435097"/>
            <a:ext cx="5461258" cy="458413"/>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ELUMBA</a:t>
            </a:r>
          </a:p>
        </p:txBody>
      </p:sp>
      <p:sp>
        <p:nvSpPr>
          <p:cNvPr name="TextBox 20" id="20"/>
          <p:cNvSpPr txBox="true"/>
          <p:nvPr/>
        </p:nvSpPr>
        <p:spPr>
          <a:xfrm rot="0">
            <a:off x="1235099" y="1864171"/>
            <a:ext cx="11751677" cy="854376"/>
          </a:xfrm>
          <a:prstGeom prst="rect">
            <a:avLst/>
          </a:prstGeom>
        </p:spPr>
        <p:txBody>
          <a:bodyPr anchor="t" rtlCol="false" tIns="0" lIns="0" bIns="0" rIns="0">
            <a:spAutoFit/>
          </a:bodyPr>
          <a:lstStyle/>
          <a:p>
            <a:pPr algn="l" marL="0" indent="0" lvl="0">
              <a:lnSpc>
                <a:spcPts val="3314"/>
              </a:lnSpc>
              <a:spcBef>
                <a:spcPct val="0"/>
              </a:spcBef>
            </a:pPr>
            <a:r>
              <a:rPr lang="en-US" sz="2367">
                <a:solidFill>
                  <a:srgbClr val="000000"/>
                </a:solidFill>
                <a:latin typeface="Poppins"/>
                <a:ea typeface="Poppins"/>
                <a:cs typeface="Poppins"/>
                <a:sym typeface="Poppins"/>
              </a:rPr>
              <a:t>The quality of a metric is demonstrated by what it tells the decision-maker.</a:t>
            </a:r>
          </a:p>
          <a:p>
            <a:pPr algn="l" marL="0" indent="0" lvl="0">
              <a:lnSpc>
                <a:spcPts val="3314"/>
              </a:lnSpc>
              <a:spcBef>
                <a:spcPct val="0"/>
              </a:spcBef>
            </a:pPr>
          </a:p>
        </p:txBody>
      </p:sp>
      <p:sp>
        <p:nvSpPr>
          <p:cNvPr name="TextBox 21" id="21"/>
          <p:cNvSpPr txBox="true"/>
          <p:nvPr/>
        </p:nvSpPr>
        <p:spPr>
          <a:xfrm rot="0">
            <a:off x="1229299" y="9054948"/>
            <a:ext cx="13877373" cy="1273530"/>
          </a:xfrm>
          <a:prstGeom prst="rect">
            <a:avLst/>
          </a:prstGeom>
        </p:spPr>
        <p:txBody>
          <a:bodyPr anchor="t" rtlCol="false" tIns="0" lIns="0" bIns="0" rIns="0">
            <a:spAutoFit/>
          </a:bodyPr>
          <a:lstStyle/>
          <a:p>
            <a:pPr algn="l">
              <a:lnSpc>
                <a:spcPts val="3314"/>
              </a:lnSpc>
            </a:pPr>
            <a:r>
              <a:rPr lang="en-US" sz="2367" b="true">
                <a:solidFill>
                  <a:srgbClr val="000000"/>
                </a:solidFill>
                <a:latin typeface="Poppins Bold"/>
                <a:ea typeface="Poppins Bold"/>
                <a:cs typeface="Poppins Bold"/>
                <a:sym typeface="Poppins Bold"/>
              </a:rPr>
              <a:t>LESSON: Good metrics reduce ambiguity, but even strong metrics should not be interpreted in isolation. Context and supporting measures matter.</a:t>
            </a:r>
          </a:p>
          <a:p>
            <a:pPr algn="l" marL="0" indent="0" lvl="0">
              <a:lnSpc>
                <a:spcPts val="3314"/>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364650"/>
            <a:ext cx="18288000" cy="3459362"/>
            <a:chOff x="0" y="0"/>
            <a:chExt cx="4816593" cy="911108"/>
          </a:xfrm>
        </p:grpSpPr>
        <p:sp>
          <p:nvSpPr>
            <p:cNvPr name="Freeform 3" id="3"/>
            <p:cNvSpPr/>
            <p:nvPr/>
          </p:nvSpPr>
          <p:spPr>
            <a:xfrm flipH="false" flipV="false" rot="0">
              <a:off x="0" y="0"/>
              <a:ext cx="4816592" cy="911108"/>
            </a:xfrm>
            <a:custGeom>
              <a:avLst/>
              <a:gdLst/>
              <a:ahLst/>
              <a:cxnLst/>
              <a:rect r="r" b="b" t="t" l="l"/>
              <a:pathLst>
                <a:path h="911108" w="4816592">
                  <a:moveTo>
                    <a:pt x="0" y="0"/>
                  </a:moveTo>
                  <a:lnTo>
                    <a:pt x="4816592" y="0"/>
                  </a:lnTo>
                  <a:lnTo>
                    <a:pt x="4816592" y="911108"/>
                  </a:lnTo>
                  <a:lnTo>
                    <a:pt x="0" y="911108"/>
                  </a:lnTo>
                  <a:close/>
                </a:path>
              </a:pathLst>
            </a:custGeom>
            <a:solidFill>
              <a:srgbClr val="FFD076"/>
            </a:solidFill>
          </p:spPr>
        </p:sp>
        <p:sp>
          <p:nvSpPr>
            <p:cNvPr name="TextBox 4" id="4"/>
            <p:cNvSpPr txBox="true"/>
            <p:nvPr/>
          </p:nvSpPr>
          <p:spPr>
            <a:xfrm>
              <a:off x="0" y="-47625"/>
              <a:ext cx="4816593" cy="958733"/>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0" y="5713717"/>
            <a:ext cx="18288000" cy="2864780"/>
            <a:chOff x="0" y="0"/>
            <a:chExt cx="4816593" cy="754510"/>
          </a:xfrm>
        </p:grpSpPr>
        <p:sp>
          <p:nvSpPr>
            <p:cNvPr name="Freeform 6" id="6"/>
            <p:cNvSpPr/>
            <p:nvPr/>
          </p:nvSpPr>
          <p:spPr>
            <a:xfrm flipH="false" flipV="false" rot="0">
              <a:off x="0" y="0"/>
              <a:ext cx="4816592" cy="754510"/>
            </a:xfrm>
            <a:custGeom>
              <a:avLst/>
              <a:gdLst/>
              <a:ahLst/>
              <a:cxnLst/>
              <a:rect r="r" b="b" t="t" l="l"/>
              <a:pathLst>
                <a:path h="754510" w="4816592">
                  <a:moveTo>
                    <a:pt x="0" y="0"/>
                  </a:moveTo>
                  <a:lnTo>
                    <a:pt x="4816592" y="0"/>
                  </a:lnTo>
                  <a:lnTo>
                    <a:pt x="4816592" y="754510"/>
                  </a:lnTo>
                  <a:lnTo>
                    <a:pt x="0" y="754510"/>
                  </a:lnTo>
                  <a:close/>
                </a:path>
              </a:pathLst>
            </a:custGeom>
            <a:solidFill>
              <a:srgbClr val="F1F1F1"/>
            </a:solidFill>
          </p:spPr>
        </p:sp>
        <p:sp>
          <p:nvSpPr>
            <p:cNvPr name="TextBox 7" id="7"/>
            <p:cNvSpPr txBox="true"/>
            <p:nvPr/>
          </p:nvSpPr>
          <p:spPr>
            <a:xfrm>
              <a:off x="0" y="-47625"/>
              <a:ext cx="4816593" cy="802135"/>
            </a:xfrm>
            <a:prstGeom prst="rect">
              <a:avLst/>
            </a:prstGeom>
          </p:spPr>
          <p:txBody>
            <a:bodyPr anchor="ctr" rtlCol="false" tIns="50800" lIns="50800" bIns="50800" rIns="50800"/>
            <a:lstStyle/>
            <a:p>
              <a:pPr algn="ctr">
                <a:lnSpc>
                  <a:spcPts val="3560"/>
                </a:lnSpc>
              </a:pPr>
            </a:p>
          </p:txBody>
        </p:sp>
      </p:grpSp>
      <p:sp>
        <p:nvSpPr>
          <p:cNvPr name="TextBox 8" id="8"/>
          <p:cNvSpPr txBox="true"/>
          <p:nvPr/>
        </p:nvSpPr>
        <p:spPr>
          <a:xfrm rot="0">
            <a:off x="1028700" y="207967"/>
            <a:ext cx="15384487" cy="1456179"/>
          </a:xfrm>
          <a:prstGeom prst="rect">
            <a:avLst/>
          </a:prstGeom>
        </p:spPr>
        <p:txBody>
          <a:bodyPr anchor="t" rtlCol="false" tIns="0" lIns="0" bIns="0" rIns="0">
            <a:spAutoFit/>
          </a:bodyPr>
          <a:lstStyle/>
          <a:p>
            <a:pPr algn="ctr" marL="0" indent="0" lvl="0">
              <a:lnSpc>
                <a:spcPts val="11276"/>
              </a:lnSpc>
              <a:spcBef>
                <a:spcPct val="0"/>
              </a:spcBef>
            </a:pPr>
            <a:r>
              <a:rPr lang="en-US" b="true" sz="8054">
                <a:solidFill>
                  <a:srgbClr val="8B5F0B"/>
                </a:solidFill>
                <a:latin typeface="Poppins Bold"/>
                <a:ea typeface="Poppins Bold"/>
                <a:cs typeface="Poppins Bold"/>
                <a:sym typeface="Poppins Bold"/>
              </a:rPr>
              <a:t>Validity and Reliability</a:t>
            </a:r>
          </a:p>
        </p:txBody>
      </p:sp>
      <p:sp>
        <p:nvSpPr>
          <p:cNvPr name="Freeform 9" id="9"/>
          <p:cNvSpPr/>
          <p:nvPr/>
        </p:nvSpPr>
        <p:spPr>
          <a:xfrm flipH="false" flipV="false" rot="0">
            <a:off x="-224578" y="9187447"/>
            <a:ext cx="2017463" cy="2030152"/>
          </a:xfrm>
          <a:custGeom>
            <a:avLst/>
            <a:gdLst/>
            <a:ahLst/>
            <a:cxnLst/>
            <a:rect r="r" b="b" t="t" l="l"/>
            <a:pathLst>
              <a:path h="2030152" w="2017463">
                <a:moveTo>
                  <a:pt x="0" y="0"/>
                </a:moveTo>
                <a:lnTo>
                  <a:pt x="2017464" y="0"/>
                </a:lnTo>
                <a:lnTo>
                  <a:pt x="2017464"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5586806" y="-1015076"/>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5212905" y="2596766"/>
            <a:ext cx="2765265" cy="2765265"/>
          </a:xfrm>
          <a:custGeom>
            <a:avLst/>
            <a:gdLst/>
            <a:ahLst/>
            <a:cxnLst/>
            <a:rect r="r" b="b" t="t" l="l"/>
            <a:pathLst>
              <a:path h="2765265" w="2765265">
                <a:moveTo>
                  <a:pt x="0" y="0"/>
                </a:moveTo>
                <a:lnTo>
                  <a:pt x="2765265" y="0"/>
                </a:lnTo>
                <a:lnTo>
                  <a:pt x="2765265" y="2765266"/>
                </a:lnTo>
                <a:lnTo>
                  <a:pt x="0" y="2765266"/>
                </a:lnTo>
                <a:lnTo>
                  <a:pt x="0" y="0"/>
                </a:lnTo>
                <a:close/>
              </a:path>
            </a:pathLst>
          </a:custGeom>
          <a:blipFill>
            <a:blip r:embed="rId4"/>
            <a:stretch>
              <a:fillRect l="0" t="0" r="0" b="0"/>
            </a:stretch>
          </a:blipFill>
        </p:spPr>
      </p:sp>
      <p:sp>
        <p:nvSpPr>
          <p:cNvPr name="Freeform 12" id="12"/>
          <p:cNvSpPr/>
          <p:nvPr/>
        </p:nvSpPr>
        <p:spPr>
          <a:xfrm flipH="false" flipV="false" rot="0">
            <a:off x="15212905" y="5714952"/>
            <a:ext cx="2742024" cy="2742024"/>
          </a:xfrm>
          <a:custGeom>
            <a:avLst/>
            <a:gdLst/>
            <a:ahLst/>
            <a:cxnLst/>
            <a:rect r="r" b="b" t="t" l="l"/>
            <a:pathLst>
              <a:path h="2742024" w="2742024">
                <a:moveTo>
                  <a:pt x="0" y="0"/>
                </a:moveTo>
                <a:lnTo>
                  <a:pt x="2742024" y="0"/>
                </a:lnTo>
                <a:lnTo>
                  <a:pt x="2742024" y="2742024"/>
                </a:lnTo>
                <a:lnTo>
                  <a:pt x="0" y="2742024"/>
                </a:lnTo>
                <a:lnTo>
                  <a:pt x="0" y="0"/>
                </a:lnTo>
                <a:close/>
              </a:path>
            </a:pathLst>
          </a:custGeom>
          <a:blipFill>
            <a:blip r:embed="rId5"/>
            <a:stretch>
              <a:fillRect l="0" t="0" r="0" b="0"/>
            </a:stretch>
          </a:blipFill>
        </p:spPr>
      </p:sp>
      <p:sp>
        <p:nvSpPr>
          <p:cNvPr name="TextBox 13" id="13"/>
          <p:cNvSpPr txBox="true"/>
          <p:nvPr/>
        </p:nvSpPr>
        <p:spPr>
          <a:xfrm rot="0">
            <a:off x="1302598" y="3434317"/>
            <a:ext cx="15110589" cy="2111838"/>
          </a:xfrm>
          <a:prstGeom prst="rect">
            <a:avLst/>
          </a:prstGeom>
        </p:spPr>
        <p:txBody>
          <a:bodyPr anchor="t" rtlCol="false" tIns="0" lIns="0" bIns="0" rIns="0">
            <a:spAutoFit/>
          </a:bodyPr>
          <a:lstStyle/>
          <a:p>
            <a:pPr algn="l">
              <a:lnSpc>
                <a:spcPts val="3314"/>
              </a:lnSpc>
            </a:pPr>
            <a:r>
              <a:rPr lang="en-US" sz="2367">
                <a:solidFill>
                  <a:srgbClr val="000000"/>
                </a:solidFill>
                <a:latin typeface="Poppins"/>
                <a:ea typeface="Poppins"/>
                <a:cs typeface="Poppins"/>
                <a:sym typeface="Poppins"/>
              </a:rPr>
              <a:t>Example: using the percentage of critical vulnerabilities fixed within the SLA is more valid for remediation timeliness than simply counting patches installed.</a:t>
            </a:r>
          </a:p>
          <a:p>
            <a:pPr algn="l">
              <a:lnSpc>
                <a:spcPts val="3314"/>
              </a:lnSpc>
            </a:pPr>
          </a:p>
          <a:p>
            <a:pPr algn="l" marL="0" indent="0" lvl="0">
              <a:lnSpc>
                <a:spcPts val="3314"/>
              </a:lnSpc>
              <a:spcBef>
                <a:spcPct val="0"/>
              </a:spcBef>
            </a:pPr>
            <a:r>
              <a:rPr lang="en-US" sz="2367">
                <a:solidFill>
                  <a:srgbClr val="000000"/>
                </a:solidFill>
                <a:latin typeface="Poppins"/>
                <a:ea typeface="Poppins"/>
                <a:cs typeface="Poppins"/>
                <a:sym typeface="Poppins"/>
              </a:rPr>
              <a:t>Validity concerns whether the metric represents the intended property.</a:t>
            </a:r>
          </a:p>
          <a:p>
            <a:pPr algn="l" marL="0" indent="0" lvl="0">
              <a:lnSpc>
                <a:spcPts val="3314"/>
              </a:lnSpc>
              <a:spcBef>
                <a:spcPct val="0"/>
              </a:spcBef>
            </a:pPr>
          </a:p>
        </p:txBody>
      </p:sp>
      <p:sp>
        <p:nvSpPr>
          <p:cNvPr name="TextBox 14" id="14"/>
          <p:cNvSpPr txBox="true"/>
          <p:nvPr/>
        </p:nvSpPr>
        <p:spPr>
          <a:xfrm rot="0">
            <a:off x="1235099" y="6610972"/>
            <a:ext cx="13227808" cy="2111838"/>
          </a:xfrm>
          <a:prstGeom prst="rect">
            <a:avLst/>
          </a:prstGeom>
        </p:spPr>
        <p:txBody>
          <a:bodyPr anchor="t" rtlCol="false" tIns="0" lIns="0" bIns="0" rIns="0">
            <a:spAutoFit/>
          </a:bodyPr>
          <a:lstStyle/>
          <a:p>
            <a:pPr algn="l">
              <a:lnSpc>
                <a:spcPts val="3314"/>
              </a:lnSpc>
            </a:pPr>
            <a:r>
              <a:rPr lang="en-US" sz="2367">
                <a:solidFill>
                  <a:srgbClr val="000000"/>
                </a:solidFill>
                <a:latin typeface="Poppins"/>
                <a:ea typeface="Poppins"/>
                <a:cs typeface="Poppins"/>
                <a:sym typeface="Poppins"/>
              </a:rPr>
              <a:t>If the same data and method are used under comparable conditions, the result should be consistent.</a:t>
            </a:r>
          </a:p>
          <a:p>
            <a:pPr algn="l" marL="0" indent="0" lvl="0">
              <a:lnSpc>
                <a:spcPts val="3314"/>
              </a:lnSpc>
              <a:spcBef>
                <a:spcPct val="0"/>
              </a:spcBef>
            </a:pPr>
            <a:r>
              <a:rPr lang="en-US" sz="2367">
                <a:solidFill>
                  <a:srgbClr val="000000"/>
                </a:solidFill>
                <a:latin typeface="Poppins"/>
                <a:ea typeface="Poppins"/>
                <a:cs typeface="Poppins"/>
                <a:sym typeface="Poppins"/>
              </a:rPr>
              <a:t>Reliable metrics depend on stable definitions, controlled calculations, and dependable data sources.</a:t>
            </a:r>
          </a:p>
          <a:p>
            <a:pPr algn="l" marL="0" indent="0" lvl="0">
              <a:lnSpc>
                <a:spcPts val="3314"/>
              </a:lnSpc>
              <a:spcBef>
                <a:spcPct val="0"/>
              </a:spcBef>
            </a:pPr>
          </a:p>
        </p:txBody>
      </p:sp>
      <p:sp>
        <p:nvSpPr>
          <p:cNvPr name="TextBox 15" id="15"/>
          <p:cNvSpPr txBox="true"/>
          <p:nvPr/>
        </p:nvSpPr>
        <p:spPr>
          <a:xfrm rot="0">
            <a:off x="1229299" y="2795245"/>
            <a:ext cx="11227527" cy="524772"/>
          </a:xfrm>
          <a:prstGeom prst="rect">
            <a:avLst/>
          </a:prstGeom>
        </p:spPr>
        <p:txBody>
          <a:bodyPr anchor="t" rtlCol="false" tIns="0" lIns="0" bIns="0" rIns="0">
            <a:spAutoFit/>
          </a:bodyPr>
          <a:lstStyle/>
          <a:p>
            <a:pPr algn="l" marL="0" indent="0" lvl="0">
              <a:lnSpc>
                <a:spcPts val="4150"/>
              </a:lnSpc>
              <a:spcBef>
                <a:spcPct val="0"/>
              </a:spcBef>
            </a:pPr>
            <a:r>
              <a:rPr lang="en-US" b="true" sz="2964">
                <a:solidFill>
                  <a:srgbClr val="FF2828"/>
                </a:solidFill>
                <a:latin typeface="Poppins Bold"/>
                <a:ea typeface="Poppins Bold"/>
                <a:cs typeface="Poppins Bold"/>
                <a:sym typeface="Poppins Bold"/>
              </a:rPr>
              <a:t>Validity — “Are we measuring the right thing?”</a:t>
            </a:r>
          </a:p>
        </p:txBody>
      </p:sp>
      <p:sp>
        <p:nvSpPr>
          <p:cNvPr name="TextBox 16" id="16"/>
          <p:cNvSpPr txBox="true"/>
          <p:nvPr/>
        </p:nvSpPr>
        <p:spPr>
          <a:xfrm rot="0">
            <a:off x="1265949" y="5849525"/>
            <a:ext cx="13223045" cy="524772"/>
          </a:xfrm>
          <a:prstGeom prst="rect">
            <a:avLst/>
          </a:prstGeom>
        </p:spPr>
        <p:txBody>
          <a:bodyPr anchor="t" rtlCol="false" tIns="0" lIns="0" bIns="0" rIns="0">
            <a:spAutoFit/>
          </a:bodyPr>
          <a:lstStyle/>
          <a:p>
            <a:pPr algn="l" marL="0" indent="0" lvl="0">
              <a:lnSpc>
                <a:spcPts val="4150"/>
              </a:lnSpc>
              <a:spcBef>
                <a:spcPct val="0"/>
              </a:spcBef>
            </a:pPr>
            <a:r>
              <a:rPr lang="en-US" b="true" sz="2964">
                <a:solidFill>
                  <a:srgbClr val="457A00"/>
                </a:solidFill>
                <a:latin typeface="Poppins Bold"/>
                <a:ea typeface="Poppins Bold"/>
                <a:cs typeface="Poppins Bold"/>
                <a:sym typeface="Poppins Bold"/>
              </a:rPr>
              <a:t>Reliability — “Can we trust the measurement?”</a:t>
            </a:r>
          </a:p>
        </p:txBody>
      </p:sp>
      <p:sp>
        <p:nvSpPr>
          <p:cNvPr name="TextBox 17" id="17"/>
          <p:cNvSpPr txBox="true"/>
          <p:nvPr/>
        </p:nvSpPr>
        <p:spPr>
          <a:xfrm rot="0">
            <a:off x="15892472" y="9435097"/>
            <a:ext cx="5461258" cy="458413"/>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ELUMBA</a:t>
            </a:r>
          </a:p>
        </p:txBody>
      </p:sp>
      <p:sp>
        <p:nvSpPr>
          <p:cNvPr name="TextBox 18" id="18"/>
          <p:cNvSpPr txBox="true"/>
          <p:nvPr/>
        </p:nvSpPr>
        <p:spPr>
          <a:xfrm rot="0">
            <a:off x="1235099" y="1864171"/>
            <a:ext cx="11751677" cy="435222"/>
          </a:xfrm>
          <a:prstGeom prst="rect">
            <a:avLst/>
          </a:prstGeom>
        </p:spPr>
        <p:txBody>
          <a:bodyPr anchor="t" rtlCol="false" tIns="0" lIns="0" bIns="0" rIns="0">
            <a:spAutoFit/>
          </a:bodyPr>
          <a:lstStyle/>
          <a:p>
            <a:pPr algn="l" marL="0" indent="0" lvl="0">
              <a:lnSpc>
                <a:spcPts val="3314"/>
              </a:lnSpc>
              <a:spcBef>
                <a:spcPct val="0"/>
              </a:spcBef>
            </a:pPr>
            <a:r>
              <a:rPr lang="en-US" sz="2367">
                <a:solidFill>
                  <a:srgbClr val="000000"/>
                </a:solidFill>
                <a:latin typeface="Poppins"/>
                <a:ea typeface="Poppins"/>
                <a:cs typeface="Poppins"/>
                <a:sym typeface="Poppins"/>
              </a:rPr>
              <a:t>A metric should measure the intended concept and do so consistently.</a:t>
            </a:r>
          </a:p>
        </p:txBody>
      </p:sp>
      <p:sp>
        <p:nvSpPr>
          <p:cNvPr name="TextBox 19" id="19"/>
          <p:cNvSpPr txBox="true"/>
          <p:nvPr/>
        </p:nvSpPr>
        <p:spPr>
          <a:xfrm rot="0">
            <a:off x="1302598" y="8892823"/>
            <a:ext cx="13877373" cy="854376"/>
          </a:xfrm>
          <a:prstGeom prst="rect">
            <a:avLst/>
          </a:prstGeom>
        </p:spPr>
        <p:txBody>
          <a:bodyPr anchor="t" rtlCol="false" tIns="0" lIns="0" bIns="0" rIns="0">
            <a:spAutoFit/>
          </a:bodyPr>
          <a:lstStyle/>
          <a:p>
            <a:pPr algn="l" marL="0" indent="0" lvl="0">
              <a:lnSpc>
                <a:spcPts val="3314"/>
              </a:lnSpc>
              <a:spcBef>
                <a:spcPct val="0"/>
              </a:spcBef>
            </a:pPr>
            <a:r>
              <a:rPr lang="en-US" b="true" sz="2367">
                <a:solidFill>
                  <a:srgbClr val="000000"/>
                </a:solidFill>
                <a:latin typeface="Poppins Bold"/>
                <a:ea typeface="Poppins Bold"/>
                <a:cs typeface="Poppins Bold"/>
                <a:sym typeface="Poppins Bold"/>
              </a:rPr>
              <a:t>REMEMBER: A metric can be reliable but not valid: a system may consistently count the wrong thing. Good measurement requires both.</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47625"/>
              <a:ext cx="1848158" cy="3198609"/>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498034" y="2355594"/>
            <a:ext cx="15291933" cy="7564863"/>
            <a:chOff x="0" y="0"/>
            <a:chExt cx="4027505" cy="1992392"/>
          </a:xfrm>
        </p:grpSpPr>
        <p:sp>
          <p:nvSpPr>
            <p:cNvPr name="Freeform 6" id="6"/>
            <p:cNvSpPr/>
            <p:nvPr/>
          </p:nvSpPr>
          <p:spPr>
            <a:xfrm flipH="false" flipV="false" rot="0">
              <a:off x="0" y="0"/>
              <a:ext cx="4027505" cy="1992392"/>
            </a:xfrm>
            <a:custGeom>
              <a:avLst/>
              <a:gdLst/>
              <a:ahLst/>
              <a:cxnLst/>
              <a:rect r="r" b="b" t="t" l="l"/>
              <a:pathLst>
                <a:path h="1992392" w="4027505">
                  <a:moveTo>
                    <a:pt x="0" y="0"/>
                  </a:moveTo>
                  <a:lnTo>
                    <a:pt x="4027505" y="0"/>
                  </a:lnTo>
                  <a:lnTo>
                    <a:pt x="4027505" y="1992392"/>
                  </a:lnTo>
                  <a:lnTo>
                    <a:pt x="0" y="1992392"/>
                  </a:lnTo>
                  <a:close/>
                </a:path>
              </a:pathLst>
            </a:custGeom>
            <a:solidFill>
              <a:srgbClr val="FFFFFF"/>
            </a:solidFill>
          </p:spPr>
        </p:sp>
        <p:sp>
          <p:nvSpPr>
            <p:cNvPr name="TextBox 7" id="7"/>
            <p:cNvSpPr txBox="true"/>
            <p:nvPr/>
          </p:nvSpPr>
          <p:spPr>
            <a:xfrm>
              <a:off x="0" y="-47625"/>
              <a:ext cx="4027505" cy="2040017"/>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1498034" y="2355594"/>
            <a:ext cx="596496" cy="7564863"/>
            <a:chOff x="0" y="0"/>
            <a:chExt cx="157102" cy="1992392"/>
          </a:xfrm>
        </p:grpSpPr>
        <p:sp>
          <p:nvSpPr>
            <p:cNvPr name="Freeform 9" id="9"/>
            <p:cNvSpPr/>
            <p:nvPr/>
          </p:nvSpPr>
          <p:spPr>
            <a:xfrm flipH="false" flipV="false" rot="0">
              <a:off x="0" y="0"/>
              <a:ext cx="157102" cy="1992392"/>
            </a:xfrm>
            <a:custGeom>
              <a:avLst/>
              <a:gdLst/>
              <a:ahLst/>
              <a:cxnLst/>
              <a:rect r="r" b="b" t="t" l="l"/>
              <a:pathLst>
                <a:path h="1992392" w="157102">
                  <a:moveTo>
                    <a:pt x="0" y="0"/>
                  </a:moveTo>
                  <a:lnTo>
                    <a:pt x="157102" y="0"/>
                  </a:lnTo>
                  <a:lnTo>
                    <a:pt x="157102" y="1992392"/>
                  </a:lnTo>
                  <a:lnTo>
                    <a:pt x="0" y="1992392"/>
                  </a:lnTo>
                  <a:close/>
                </a:path>
              </a:pathLst>
            </a:custGeom>
            <a:solidFill>
              <a:srgbClr val="FFD076"/>
            </a:solidFill>
          </p:spPr>
        </p:sp>
        <p:sp>
          <p:nvSpPr>
            <p:cNvPr name="TextBox 10" id="10"/>
            <p:cNvSpPr txBox="true"/>
            <p:nvPr/>
          </p:nvSpPr>
          <p:spPr>
            <a:xfrm>
              <a:off x="0" y="-47625"/>
              <a:ext cx="157102" cy="2040017"/>
            </a:xfrm>
            <a:prstGeom prst="rect">
              <a:avLst/>
            </a:prstGeom>
          </p:spPr>
          <p:txBody>
            <a:bodyPr anchor="ctr" rtlCol="false" tIns="50800" lIns="50800" bIns="50800" rIns="50800"/>
            <a:lstStyle/>
            <a:p>
              <a:pPr algn="ctr">
                <a:lnSpc>
                  <a:spcPts val="3560"/>
                </a:lnSpc>
              </a:pPr>
            </a:p>
          </p:txBody>
        </p:sp>
      </p:grpSp>
      <p:sp>
        <p:nvSpPr>
          <p:cNvPr name="Freeform 11" id="11"/>
          <p:cNvSpPr/>
          <p:nvPr/>
        </p:nvSpPr>
        <p:spPr>
          <a:xfrm flipH="false" flipV="false" rot="0">
            <a:off x="1085797" y="1028700"/>
            <a:ext cx="2017463" cy="2030152"/>
          </a:xfrm>
          <a:custGeom>
            <a:avLst/>
            <a:gdLst/>
            <a:ahLst/>
            <a:cxnLst/>
            <a:rect r="r" b="b" t="t" l="l"/>
            <a:pathLst>
              <a:path h="2030152" w="2017463">
                <a:moveTo>
                  <a:pt x="0" y="0"/>
                </a:moveTo>
                <a:lnTo>
                  <a:pt x="2017464" y="0"/>
                </a:lnTo>
                <a:lnTo>
                  <a:pt x="2017464"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2308174" y="3257573"/>
            <a:ext cx="14310084" cy="5760903"/>
          </a:xfrm>
          <a:custGeom>
            <a:avLst/>
            <a:gdLst/>
            <a:ahLst/>
            <a:cxnLst/>
            <a:rect r="r" b="b" t="t" l="l"/>
            <a:pathLst>
              <a:path h="5760903" w="14310084">
                <a:moveTo>
                  <a:pt x="0" y="0"/>
                </a:moveTo>
                <a:lnTo>
                  <a:pt x="14310084" y="0"/>
                </a:lnTo>
                <a:lnTo>
                  <a:pt x="14310084" y="5760904"/>
                </a:lnTo>
                <a:lnTo>
                  <a:pt x="0" y="5760904"/>
                </a:lnTo>
                <a:lnTo>
                  <a:pt x="0" y="0"/>
                </a:lnTo>
                <a:close/>
              </a:path>
            </a:pathLst>
          </a:custGeom>
          <a:blipFill>
            <a:blip r:embed="rId4"/>
            <a:stretch>
              <a:fillRect l="0" t="0" r="0" b="0"/>
            </a:stretch>
          </a:blipFill>
        </p:spPr>
      </p:sp>
      <p:sp>
        <p:nvSpPr>
          <p:cNvPr name="TextBox 14" id="14"/>
          <p:cNvSpPr txBox="true"/>
          <p:nvPr/>
        </p:nvSpPr>
        <p:spPr>
          <a:xfrm rot="0">
            <a:off x="15981039" y="9462044"/>
            <a:ext cx="5461258" cy="458413"/>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ELUMBA</a:t>
            </a:r>
          </a:p>
        </p:txBody>
      </p:sp>
      <p:sp>
        <p:nvSpPr>
          <p:cNvPr name="TextBox 15" id="15"/>
          <p:cNvSpPr txBox="true"/>
          <p:nvPr/>
        </p:nvSpPr>
        <p:spPr>
          <a:xfrm rot="0">
            <a:off x="2308174" y="8882"/>
            <a:ext cx="9993021" cy="2077883"/>
          </a:xfrm>
          <a:prstGeom prst="rect">
            <a:avLst/>
          </a:prstGeom>
        </p:spPr>
        <p:txBody>
          <a:bodyPr anchor="t" rtlCol="false" tIns="0" lIns="0" bIns="0" rIns="0">
            <a:spAutoFit/>
          </a:bodyPr>
          <a:lstStyle/>
          <a:p>
            <a:pPr algn="l" marL="0" indent="0" lvl="0">
              <a:lnSpc>
                <a:spcPts val="8156"/>
              </a:lnSpc>
              <a:spcBef>
                <a:spcPct val="0"/>
              </a:spcBef>
            </a:pPr>
            <a:r>
              <a:rPr lang="en-US" b="true" sz="5826">
                <a:solidFill>
                  <a:srgbClr val="8B5F0B"/>
                </a:solidFill>
                <a:latin typeface="Poppins Bold"/>
                <a:ea typeface="Poppins Bold"/>
                <a:cs typeface="Poppins Bold"/>
                <a:sym typeface="Poppins Bold"/>
              </a:rPr>
              <a:t>Designing a Good Metric: The Decision Chain</a:t>
            </a:r>
          </a:p>
        </p:txBody>
      </p:sp>
      <p:sp>
        <p:nvSpPr>
          <p:cNvPr name="TextBox 16" id="16"/>
          <p:cNvSpPr txBox="true"/>
          <p:nvPr/>
        </p:nvSpPr>
        <p:spPr>
          <a:xfrm rot="0">
            <a:off x="2308174" y="2416458"/>
            <a:ext cx="11751677" cy="435222"/>
          </a:xfrm>
          <a:prstGeom prst="rect">
            <a:avLst/>
          </a:prstGeom>
        </p:spPr>
        <p:txBody>
          <a:bodyPr anchor="t" rtlCol="false" tIns="0" lIns="0" bIns="0" rIns="0">
            <a:spAutoFit/>
          </a:bodyPr>
          <a:lstStyle/>
          <a:p>
            <a:pPr algn="l" marL="0" indent="0" lvl="0">
              <a:lnSpc>
                <a:spcPts val="3314"/>
              </a:lnSpc>
              <a:spcBef>
                <a:spcPct val="0"/>
              </a:spcBef>
            </a:pPr>
            <a:r>
              <a:rPr lang="en-US" sz="2367">
                <a:solidFill>
                  <a:srgbClr val="000000"/>
                </a:solidFill>
                <a:latin typeface="Poppins"/>
                <a:ea typeface="Poppins"/>
                <a:cs typeface="Poppins"/>
                <a:sym typeface="Poppins"/>
              </a:rPr>
              <a:t>Start with the objective—not with whatever data happens to be available.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47625"/>
              <a:ext cx="1848158" cy="3198609"/>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498034" y="2355594"/>
            <a:ext cx="15291933" cy="7564863"/>
            <a:chOff x="0" y="0"/>
            <a:chExt cx="4027505" cy="1992392"/>
          </a:xfrm>
        </p:grpSpPr>
        <p:sp>
          <p:nvSpPr>
            <p:cNvPr name="Freeform 6" id="6"/>
            <p:cNvSpPr/>
            <p:nvPr/>
          </p:nvSpPr>
          <p:spPr>
            <a:xfrm flipH="false" flipV="false" rot="0">
              <a:off x="0" y="0"/>
              <a:ext cx="4027505" cy="1992392"/>
            </a:xfrm>
            <a:custGeom>
              <a:avLst/>
              <a:gdLst/>
              <a:ahLst/>
              <a:cxnLst/>
              <a:rect r="r" b="b" t="t" l="l"/>
              <a:pathLst>
                <a:path h="1992392" w="4027505">
                  <a:moveTo>
                    <a:pt x="0" y="0"/>
                  </a:moveTo>
                  <a:lnTo>
                    <a:pt x="4027505" y="0"/>
                  </a:lnTo>
                  <a:lnTo>
                    <a:pt x="4027505" y="1992392"/>
                  </a:lnTo>
                  <a:lnTo>
                    <a:pt x="0" y="1992392"/>
                  </a:lnTo>
                  <a:close/>
                </a:path>
              </a:pathLst>
            </a:custGeom>
            <a:solidFill>
              <a:srgbClr val="FFFFFF"/>
            </a:solidFill>
          </p:spPr>
        </p:sp>
        <p:sp>
          <p:nvSpPr>
            <p:cNvPr name="TextBox 7" id="7"/>
            <p:cNvSpPr txBox="true"/>
            <p:nvPr/>
          </p:nvSpPr>
          <p:spPr>
            <a:xfrm>
              <a:off x="0" y="-47625"/>
              <a:ext cx="4027505" cy="2040017"/>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1498034" y="2355594"/>
            <a:ext cx="596496" cy="7564863"/>
            <a:chOff x="0" y="0"/>
            <a:chExt cx="157102" cy="1992392"/>
          </a:xfrm>
        </p:grpSpPr>
        <p:sp>
          <p:nvSpPr>
            <p:cNvPr name="Freeform 9" id="9"/>
            <p:cNvSpPr/>
            <p:nvPr/>
          </p:nvSpPr>
          <p:spPr>
            <a:xfrm flipH="false" flipV="false" rot="0">
              <a:off x="0" y="0"/>
              <a:ext cx="157102" cy="1992392"/>
            </a:xfrm>
            <a:custGeom>
              <a:avLst/>
              <a:gdLst/>
              <a:ahLst/>
              <a:cxnLst/>
              <a:rect r="r" b="b" t="t" l="l"/>
              <a:pathLst>
                <a:path h="1992392" w="157102">
                  <a:moveTo>
                    <a:pt x="0" y="0"/>
                  </a:moveTo>
                  <a:lnTo>
                    <a:pt x="157102" y="0"/>
                  </a:lnTo>
                  <a:lnTo>
                    <a:pt x="157102" y="1992392"/>
                  </a:lnTo>
                  <a:lnTo>
                    <a:pt x="0" y="1992392"/>
                  </a:lnTo>
                  <a:close/>
                </a:path>
              </a:pathLst>
            </a:custGeom>
            <a:solidFill>
              <a:srgbClr val="FFD076"/>
            </a:solidFill>
          </p:spPr>
        </p:sp>
        <p:sp>
          <p:nvSpPr>
            <p:cNvPr name="TextBox 10" id="10"/>
            <p:cNvSpPr txBox="true"/>
            <p:nvPr/>
          </p:nvSpPr>
          <p:spPr>
            <a:xfrm>
              <a:off x="0" y="-47625"/>
              <a:ext cx="157102" cy="2040017"/>
            </a:xfrm>
            <a:prstGeom prst="rect">
              <a:avLst/>
            </a:prstGeom>
          </p:spPr>
          <p:txBody>
            <a:bodyPr anchor="ctr" rtlCol="false" tIns="50800" lIns="50800" bIns="50800" rIns="50800"/>
            <a:lstStyle/>
            <a:p>
              <a:pPr algn="ctr">
                <a:lnSpc>
                  <a:spcPts val="3560"/>
                </a:lnSpc>
              </a:pPr>
            </a:p>
          </p:txBody>
        </p:sp>
      </p:grpSp>
      <p:sp>
        <p:nvSpPr>
          <p:cNvPr name="Freeform 11" id="11"/>
          <p:cNvSpPr/>
          <p:nvPr/>
        </p:nvSpPr>
        <p:spPr>
          <a:xfrm flipH="false" flipV="false" rot="0">
            <a:off x="1085797" y="1028700"/>
            <a:ext cx="2017463" cy="2030152"/>
          </a:xfrm>
          <a:custGeom>
            <a:avLst/>
            <a:gdLst/>
            <a:ahLst/>
            <a:cxnLst/>
            <a:rect r="r" b="b" t="t" l="l"/>
            <a:pathLst>
              <a:path h="2030152" w="2017463">
                <a:moveTo>
                  <a:pt x="0" y="0"/>
                </a:moveTo>
                <a:lnTo>
                  <a:pt x="2017464" y="0"/>
                </a:lnTo>
                <a:lnTo>
                  <a:pt x="2017464"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15981039" y="9462044"/>
            <a:ext cx="5461258" cy="458413"/>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ELUMBA</a:t>
            </a:r>
          </a:p>
        </p:txBody>
      </p:sp>
      <p:sp>
        <p:nvSpPr>
          <p:cNvPr name="TextBox 14" id="14"/>
          <p:cNvSpPr txBox="true"/>
          <p:nvPr/>
        </p:nvSpPr>
        <p:spPr>
          <a:xfrm rot="0">
            <a:off x="2308174" y="8882"/>
            <a:ext cx="9993021" cy="2077883"/>
          </a:xfrm>
          <a:prstGeom prst="rect">
            <a:avLst/>
          </a:prstGeom>
        </p:spPr>
        <p:txBody>
          <a:bodyPr anchor="t" rtlCol="false" tIns="0" lIns="0" bIns="0" rIns="0">
            <a:spAutoFit/>
          </a:bodyPr>
          <a:lstStyle/>
          <a:p>
            <a:pPr algn="l" marL="0" indent="0" lvl="0">
              <a:lnSpc>
                <a:spcPts val="8156"/>
              </a:lnSpc>
              <a:spcBef>
                <a:spcPct val="0"/>
              </a:spcBef>
            </a:pPr>
            <a:r>
              <a:rPr lang="en-US" b="true" sz="5826">
                <a:solidFill>
                  <a:srgbClr val="8B5F0B"/>
                </a:solidFill>
                <a:latin typeface="Poppins Bold"/>
                <a:ea typeface="Poppins Bold"/>
                <a:cs typeface="Poppins Bold"/>
                <a:sym typeface="Poppins Bold"/>
              </a:rPr>
              <a:t>Designing a Good Metric: The Decision Chain</a:t>
            </a:r>
          </a:p>
        </p:txBody>
      </p:sp>
      <p:sp>
        <p:nvSpPr>
          <p:cNvPr name="Freeform 15" id="15"/>
          <p:cNvSpPr/>
          <p:nvPr/>
        </p:nvSpPr>
        <p:spPr>
          <a:xfrm flipH="false" flipV="false" rot="0">
            <a:off x="2308174" y="3058852"/>
            <a:ext cx="14310084" cy="6067282"/>
          </a:xfrm>
          <a:custGeom>
            <a:avLst/>
            <a:gdLst/>
            <a:ahLst/>
            <a:cxnLst/>
            <a:rect r="r" b="b" t="t" l="l"/>
            <a:pathLst>
              <a:path h="6067282" w="14310084">
                <a:moveTo>
                  <a:pt x="0" y="0"/>
                </a:moveTo>
                <a:lnTo>
                  <a:pt x="14310084" y="0"/>
                </a:lnTo>
                <a:lnTo>
                  <a:pt x="14310084" y="6067282"/>
                </a:lnTo>
                <a:lnTo>
                  <a:pt x="0" y="6067282"/>
                </a:lnTo>
                <a:lnTo>
                  <a:pt x="0" y="0"/>
                </a:lnTo>
                <a:close/>
              </a:path>
            </a:pathLst>
          </a:custGeom>
          <a:blipFill>
            <a:blip r:embed="rId4"/>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47625"/>
              <a:ext cx="1848158" cy="3198609"/>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498034" y="2355594"/>
            <a:ext cx="15291933" cy="5575813"/>
            <a:chOff x="0" y="0"/>
            <a:chExt cx="4027505" cy="1468527"/>
          </a:xfrm>
        </p:grpSpPr>
        <p:sp>
          <p:nvSpPr>
            <p:cNvPr name="Freeform 6" id="6"/>
            <p:cNvSpPr/>
            <p:nvPr/>
          </p:nvSpPr>
          <p:spPr>
            <a:xfrm flipH="false" flipV="false" rot="0">
              <a:off x="0" y="0"/>
              <a:ext cx="4027505" cy="1468527"/>
            </a:xfrm>
            <a:custGeom>
              <a:avLst/>
              <a:gdLst/>
              <a:ahLst/>
              <a:cxnLst/>
              <a:rect r="r" b="b" t="t" l="l"/>
              <a:pathLst>
                <a:path h="1468527" w="4027505">
                  <a:moveTo>
                    <a:pt x="0" y="0"/>
                  </a:moveTo>
                  <a:lnTo>
                    <a:pt x="4027505" y="0"/>
                  </a:lnTo>
                  <a:lnTo>
                    <a:pt x="4027505" y="1468527"/>
                  </a:lnTo>
                  <a:lnTo>
                    <a:pt x="0" y="1468527"/>
                  </a:lnTo>
                  <a:close/>
                </a:path>
              </a:pathLst>
            </a:custGeom>
            <a:solidFill>
              <a:srgbClr val="FFFFFF"/>
            </a:solidFill>
          </p:spPr>
        </p:sp>
        <p:sp>
          <p:nvSpPr>
            <p:cNvPr name="TextBox 7" id="7"/>
            <p:cNvSpPr txBox="true"/>
            <p:nvPr/>
          </p:nvSpPr>
          <p:spPr>
            <a:xfrm>
              <a:off x="0" y="-47625"/>
              <a:ext cx="4027505" cy="1516152"/>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1498034" y="2355594"/>
            <a:ext cx="956740" cy="5575813"/>
            <a:chOff x="0" y="0"/>
            <a:chExt cx="251981" cy="1468527"/>
          </a:xfrm>
        </p:grpSpPr>
        <p:sp>
          <p:nvSpPr>
            <p:cNvPr name="Freeform 9" id="9"/>
            <p:cNvSpPr/>
            <p:nvPr/>
          </p:nvSpPr>
          <p:spPr>
            <a:xfrm flipH="false" flipV="false" rot="0">
              <a:off x="0" y="0"/>
              <a:ext cx="251981" cy="1468527"/>
            </a:xfrm>
            <a:custGeom>
              <a:avLst/>
              <a:gdLst/>
              <a:ahLst/>
              <a:cxnLst/>
              <a:rect r="r" b="b" t="t" l="l"/>
              <a:pathLst>
                <a:path h="1468527" w="251981">
                  <a:moveTo>
                    <a:pt x="0" y="0"/>
                  </a:moveTo>
                  <a:lnTo>
                    <a:pt x="251981" y="0"/>
                  </a:lnTo>
                  <a:lnTo>
                    <a:pt x="251981" y="1468527"/>
                  </a:lnTo>
                  <a:lnTo>
                    <a:pt x="0" y="1468527"/>
                  </a:lnTo>
                  <a:close/>
                </a:path>
              </a:pathLst>
            </a:custGeom>
            <a:solidFill>
              <a:srgbClr val="FFD076"/>
            </a:solidFill>
          </p:spPr>
        </p:sp>
        <p:sp>
          <p:nvSpPr>
            <p:cNvPr name="TextBox 10" id="10"/>
            <p:cNvSpPr txBox="true"/>
            <p:nvPr/>
          </p:nvSpPr>
          <p:spPr>
            <a:xfrm>
              <a:off x="0" y="-47625"/>
              <a:ext cx="251981" cy="1516152"/>
            </a:xfrm>
            <a:prstGeom prst="rect">
              <a:avLst/>
            </a:prstGeom>
          </p:spPr>
          <p:txBody>
            <a:bodyPr anchor="ctr" rtlCol="false" tIns="50800" lIns="50800" bIns="50800" rIns="50800"/>
            <a:lstStyle/>
            <a:p>
              <a:pPr algn="ctr">
                <a:lnSpc>
                  <a:spcPts val="3560"/>
                </a:lnSpc>
              </a:pPr>
            </a:p>
          </p:txBody>
        </p:sp>
      </p:grpSp>
      <p:sp>
        <p:nvSpPr>
          <p:cNvPr name="TextBox 11" id="11"/>
          <p:cNvSpPr txBox="true"/>
          <p:nvPr/>
        </p:nvSpPr>
        <p:spPr>
          <a:xfrm rot="0">
            <a:off x="2696302" y="2906452"/>
            <a:ext cx="11330217" cy="994450"/>
          </a:xfrm>
          <a:prstGeom prst="rect">
            <a:avLst/>
          </a:prstGeom>
        </p:spPr>
        <p:txBody>
          <a:bodyPr anchor="t" rtlCol="false" tIns="0" lIns="0" bIns="0" rIns="0">
            <a:spAutoFit/>
          </a:bodyPr>
          <a:lstStyle/>
          <a:p>
            <a:pPr algn="l" marL="0" indent="0" lvl="0">
              <a:lnSpc>
                <a:spcPts val="7769"/>
              </a:lnSpc>
              <a:spcBef>
                <a:spcPct val="0"/>
              </a:spcBef>
            </a:pPr>
            <a:r>
              <a:rPr lang="en-US" b="true" sz="5549">
                <a:solidFill>
                  <a:srgbClr val="8B5F0B"/>
                </a:solidFill>
                <a:latin typeface="Poppins Bold"/>
                <a:ea typeface="Poppins Bold"/>
                <a:cs typeface="Poppins Bold"/>
                <a:sym typeface="Poppins Bold"/>
              </a:rPr>
              <a:t>What makes a  good metric?</a:t>
            </a:r>
          </a:p>
        </p:txBody>
      </p:sp>
      <p:sp>
        <p:nvSpPr>
          <p:cNvPr name="TextBox 12" id="12"/>
          <p:cNvSpPr txBox="true"/>
          <p:nvPr/>
        </p:nvSpPr>
        <p:spPr>
          <a:xfrm rot="0">
            <a:off x="2901974" y="4255789"/>
            <a:ext cx="13079065" cy="2972359"/>
          </a:xfrm>
          <a:prstGeom prst="rect">
            <a:avLst/>
          </a:prstGeom>
        </p:spPr>
        <p:txBody>
          <a:bodyPr anchor="t" rtlCol="false" tIns="0" lIns="0" bIns="0" rIns="0">
            <a:spAutoFit/>
          </a:bodyPr>
          <a:lstStyle/>
          <a:p>
            <a:pPr algn="just" marL="725060" indent="-362530" lvl="1">
              <a:lnSpc>
                <a:spcPts val="4701"/>
              </a:lnSpc>
              <a:buFont typeface="Arial"/>
              <a:buChar char="•"/>
            </a:pPr>
            <a:r>
              <a:rPr lang="en-US" sz="3358">
                <a:solidFill>
                  <a:srgbClr val="000000"/>
                </a:solidFill>
                <a:latin typeface="Poppins"/>
                <a:ea typeface="Poppins"/>
                <a:cs typeface="Poppins"/>
                <a:sym typeface="Poppins"/>
              </a:rPr>
              <a:t>A good security metric is relevant, valid, reliable, actionable, timely, understandable, comparable, and cost-effective. Most importantly, it should provide trustworthy information that helps an organization make better security decisions.</a:t>
            </a:r>
          </a:p>
        </p:txBody>
      </p:sp>
      <p:sp>
        <p:nvSpPr>
          <p:cNvPr name="Freeform 13" id="13"/>
          <p:cNvSpPr/>
          <p:nvPr/>
        </p:nvSpPr>
        <p:spPr>
          <a:xfrm flipH="false" flipV="false" rot="0">
            <a:off x="1085797" y="1028700"/>
            <a:ext cx="2017463" cy="2030152"/>
          </a:xfrm>
          <a:custGeom>
            <a:avLst/>
            <a:gdLst/>
            <a:ahLst/>
            <a:cxnLst/>
            <a:rect r="r" b="b" t="t" l="l"/>
            <a:pathLst>
              <a:path h="2030152" w="2017463">
                <a:moveTo>
                  <a:pt x="0" y="0"/>
                </a:moveTo>
                <a:lnTo>
                  <a:pt x="2017464" y="0"/>
                </a:lnTo>
                <a:lnTo>
                  <a:pt x="2017464"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15981039" y="9462044"/>
            <a:ext cx="5461258" cy="458413"/>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ELUMBA</a:t>
            </a:r>
          </a:p>
        </p:txBody>
      </p:sp>
      <p:sp>
        <p:nvSpPr>
          <p:cNvPr name="TextBox 16" id="16"/>
          <p:cNvSpPr txBox="true"/>
          <p:nvPr/>
        </p:nvSpPr>
        <p:spPr>
          <a:xfrm rot="0">
            <a:off x="2454774" y="987455"/>
            <a:ext cx="13097574" cy="1368166"/>
          </a:xfrm>
          <a:prstGeom prst="rect">
            <a:avLst/>
          </a:prstGeom>
        </p:spPr>
        <p:txBody>
          <a:bodyPr anchor="t" rtlCol="false" tIns="0" lIns="0" bIns="0" rIns="0">
            <a:spAutoFit/>
          </a:bodyPr>
          <a:lstStyle/>
          <a:p>
            <a:pPr algn="l" marL="0" indent="0" lvl="0">
              <a:lnSpc>
                <a:spcPts val="10690"/>
              </a:lnSpc>
              <a:spcBef>
                <a:spcPct val="0"/>
              </a:spcBef>
            </a:pPr>
            <a:r>
              <a:rPr lang="en-US" b="true" sz="7636">
                <a:solidFill>
                  <a:srgbClr val="8B5F0B"/>
                </a:solidFill>
                <a:latin typeface="Poppins Bold"/>
                <a:ea typeface="Poppins Bold"/>
                <a:cs typeface="Poppins Bold"/>
                <a:sym typeface="Poppins Bold"/>
              </a:rPr>
              <a:t>CONCLUSION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47625"/>
              <a:ext cx="1848158" cy="3198609"/>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498034" y="2355594"/>
            <a:ext cx="15291933" cy="5575813"/>
            <a:chOff x="0" y="0"/>
            <a:chExt cx="4027505" cy="1468527"/>
          </a:xfrm>
        </p:grpSpPr>
        <p:sp>
          <p:nvSpPr>
            <p:cNvPr name="Freeform 6" id="6"/>
            <p:cNvSpPr/>
            <p:nvPr/>
          </p:nvSpPr>
          <p:spPr>
            <a:xfrm flipH="false" flipV="false" rot="0">
              <a:off x="0" y="0"/>
              <a:ext cx="4027505" cy="1468527"/>
            </a:xfrm>
            <a:custGeom>
              <a:avLst/>
              <a:gdLst/>
              <a:ahLst/>
              <a:cxnLst/>
              <a:rect r="r" b="b" t="t" l="l"/>
              <a:pathLst>
                <a:path h="1468527" w="4027505">
                  <a:moveTo>
                    <a:pt x="0" y="0"/>
                  </a:moveTo>
                  <a:lnTo>
                    <a:pt x="4027505" y="0"/>
                  </a:lnTo>
                  <a:lnTo>
                    <a:pt x="4027505" y="1468527"/>
                  </a:lnTo>
                  <a:lnTo>
                    <a:pt x="0" y="1468527"/>
                  </a:lnTo>
                  <a:close/>
                </a:path>
              </a:pathLst>
            </a:custGeom>
            <a:solidFill>
              <a:srgbClr val="FFFFFF"/>
            </a:solidFill>
          </p:spPr>
        </p:sp>
        <p:sp>
          <p:nvSpPr>
            <p:cNvPr name="TextBox 7" id="7"/>
            <p:cNvSpPr txBox="true"/>
            <p:nvPr/>
          </p:nvSpPr>
          <p:spPr>
            <a:xfrm>
              <a:off x="0" y="-47625"/>
              <a:ext cx="4027505" cy="1516152"/>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1498034" y="2355594"/>
            <a:ext cx="956740" cy="5575813"/>
            <a:chOff x="0" y="0"/>
            <a:chExt cx="251981" cy="1468527"/>
          </a:xfrm>
        </p:grpSpPr>
        <p:sp>
          <p:nvSpPr>
            <p:cNvPr name="Freeform 9" id="9"/>
            <p:cNvSpPr/>
            <p:nvPr/>
          </p:nvSpPr>
          <p:spPr>
            <a:xfrm flipH="false" flipV="false" rot="0">
              <a:off x="0" y="0"/>
              <a:ext cx="251981" cy="1468527"/>
            </a:xfrm>
            <a:custGeom>
              <a:avLst/>
              <a:gdLst/>
              <a:ahLst/>
              <a:cxnLst/>
              <a:rect r="r" b="b" t="t" l="l"/>
              <a:pathLst>
                <a:path h="1468527" w="251981">
                  <a:moveTo>
                    <a:pt x="0" y="0"/>
                  </a:moveTo>
                  <a:lnTo>
                    <a:pt x="251981" y="0"/>
                  </a:lnTo>
                  <a:lnTo>
                    <a:pt x="251981" y="1468527"/>
                  </a:lnTo>
                  <a:lnTo>
                    <a:pt x="0" y="1468527"/>
                  </a:lnTo>
                  <a:close/>
                </a:path>
              </a:pathLst>
            </a:custGeom>
            <a:solidFill>
              <a:srgbClr val="FFD076"/>
            </a:solidFill>
          </p:spPr>
        </p:sp>
        <p:sp>
          <p:nvSpPr>
            <p:cNvPr name="TextBox 10" id="10"/>
            <p:cNvSpPr txBox="true"/>
            <p:nvPr/>
          </p:nvSpPr>
          <p:spPr>
            <a:xfrm>
              <a:off x="0" y="-47625"/>
              <a:ext cx="251981" cy="1516152"/>
            </a:xfrm>
            <a:prstGeom prst="rect">
              <a:avLst/>
            </a:prstGeom>
          </p:spPr>
          <p:txBody>
            <a:bodyPr anchor="ctr" rtlCol="false" tIns="50800" lIns="50800" bIns="50800" rIns="50800"/>
            <a:lstStyle/>
            <a:p>
              <a:pPr algn="ctr">
                <a:lnSpc>
                  <a:spcPts val="3560"/>
                </a:lnSpc>
              </a:pPr>
            </a:p>
          </p:txBody>
        </p:sp>
      </p:grpSp>
      <p:sp>
        <p:nvSpPr>
          <p:cNvPr name="Freeform 11" id="11"/>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5981039" y="9462044"/>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CORTEZ</a:t>
            </a:r>
          </a:p>
        </p:txBody>
      </p:sp>
      <p:grpSp>
        <p:nvGrpSpPr>
          <p:cNvPr name="Group 13" id="13"/>
          <p:cNvGrpSpPr/>
          <p:nvPr/>
        </p:nvGrpSpPr>
        <p:grpSpPr>
          <a:xfrm rot="0">
            <a:off x="1167759" y="1428643"/>
            <a:ext cx="14401800" cy="685800"/>
            <a:chOff x="0" y="0"/>
            <a:chExt cx="19202400" cy="914400"/>
          </a:xfrm>
        </p:grpSpPr>
        <p:sp>
          <p:nvSpPr>
            <p:cNvPr name="Freeform 14" id="14"/>
            <p:cNvSpPr/>
            <p:nvPr/>
          </p:nvSpPr>
          <p:spPr>
            <a:xfrm flipH="false" flipV="false" rot="0">
              <a:off x="0" y="0"/>
              <a:ext cx="19202400" cy="914400"/>
            </a:xfrm>
            <a:custGeom>
              <a:avLst/>
              <a:gdLst/>
              <a:ahLst/>
              <a:cxnLst/>
              <a:rect r="r" b="b" t="t" l="l"/>
              <a:pathLst>
                <a:path h="914400" w="19202400">
                  <a:moveTo>
                    <a:pt x="0" y="0"/>
                  </a:moveTo>
                  <a:lnTo>
                    <a:pt x="19202400" y="0"/>
                  </a:lnTo>
                  <a:lnTo>
                    <a:pt x="19202400" y="914400"/>
                  </a:lnTo>
                  <a:lnTo>
                    <a:pt x="0" y="914400"/>
                  </a:lnTo>
                  <a:close/>
                </a:path>
              </a:pathLst>
            </a:custGeom>
            <a:blipFill>
              <a:blip r:embed="rId4">
                <a:alphaModFix amt="0"/>
              </a:blip>
              <a:stretch>
                <a:fillRect l="0" t="-359185" r="0" b="-359185"/>
              </a:stretch>
            </a:blipFill>
          </p:spPr>
        </p:sp>
        <p:sp>
          <p:nvSpPr>
            <p:cNvPr name="TextBox 15" id="15"/>
            <p:cNvSpPr txBox="true"/>
            <p:nvPr/>
          </p:nvSpPr>
          <p:spPr>
            <a:xfrm>
              <a:off x="0" y="-47625"/>
              <a:ext cx="19202400" cy="962025"/>
            </a:xfrm>
            <a:prstGeom prst="rect">
              <a:avLst/>
            </a:prstGeom>
          </p:spPr>
          <p:txBody>
            <a:bodyPr anchor="ctr" rtlCol="false" tIns="0" lIns="0" bIns="0" rIns="0"/>
            <a:lstStyle/>
            <a:p>
              <a:pPr algn="l">
                <a:lnSpc>
                  <a:spcPts val="2520"/>
                </a:lnSpc>
              </a:pPr>
              <a:r>
                <a:rPr lang="en-US" b="true" sz="2100" spc="450">
                  <a:solidFill>
                    <a:srgbClr val="000000"/>
                  </a:solidFill>
                  <a:latin typeface="Calibri (MS) Bold"/>
                  <a:ea typeface="Calibri (MS) Bold"/>
                  <a:cs typeface="Calibri (MS) Bold"/>
                  <a:sym typeface="Calibri (MS) Bold"/>
                </a:rPr>
                <a:t>SECURITY METRICS &amp; FISMA</a:t>
              </a:r>
            </a:p>
          </p:txBody>
        </p:sp>
      </p:grpSp>
      <p:grpSp>
        <p:nvGrpSpPr>
          <p:cNvPr name="Group 16" id="16"/>
          <p:cNvGrpSpPr/>
          <p:nvPr/>
        </p:nvGrpSpPr>
        <p:grpSpPr>
          <a:xfrm rot="0">
            <a:off x="2985418" y="2760249"/>
            <a:ext cx="14813280" cy="2057400"/>
            <a:chOff x="0" y="0"/>
            <a:chExt cx="19751040" cy="2743200"/>
          </a:xfrm>
        </p:grpSpPr>
        <p:sp>
          <p:nvSpPr>
            <p:cNvPr name="Freeform 17" id="17"/>
            <p:cNvSpPr/>
            <p:nvPr/>
          </p:nvSpPr>
          <p:spPr>
            <a:xfrm flipH="false" flipV="false" rot="0">
              <a:off x="0" y="0"/>
              <a:ext cx="19751039" cy="2743200"/>
            </a:xfrm>
            <a:custGeom>
              <a:avLst/>
              <a:gdLst/>
              <a:ahLst/>
              <a:cxnLst/>
              <a:rect r="r" b="b" t="t" l="l"/>
              <a:pathLst>
                <a:path h="2743200" w="19751039">
                  <a:moveTo>
                    <a:pt x="0" y="0"/>
                  </a:moveTo>
                  <a:lnTo>
                    <a:pt x="19751039" y="0"/>
                  </a:lnTo>
                  <a:lnTo>
                    <a:pt x="19751039" y="2743200"/>
                  </a:lnTo>
                  <a:lnTo>
                    <a:pt x="0" y="2743200"/>
                  </a:lnTo>
                  <a:close/>
                </a:path>
              </a:pathLst>
            </a:custGeom>
            <a:blipFill>
              <a:blip r:embed="rId4">
                <a:alphaModFix amt="0"/>
              </a:blip>
              <a:stretch>
                <a:fillRect l="0" t="-90292" r="0" b="-90292"/>
              </a:stretch>
            </a:blipFill>
          </p:spPr>
        </p:sp>
        <p:sp>
          <p:nvSpPr>
            <p:cNvPr name="TextBox 18" id="18"/>
            <p:cNvSpPr txBox="true"/>
            <p:nvPr/>
          </p:nvSpPr>
          <p:spPr>
            <a:xfrm>
              <a:off x="0" y="-38100"/>
              <a:ext cx="19751040" cy="2781300"/>
            </a:xfrm>
            <a:prstGeom prst="rect">
              <a:avLst/>
            </a:prstGeom>
          </p:spPr>
          <p:txBody>
            <a:bodyPr anchor="ctr" rtlCol="false" tIns="0" lIns="0" bIns="0" rIns="0"/>
            <a:lstStyle/>
            <a:p>
              <a:pPr algn="l">
                <a:lnSpc>
                  <a:spcPts val="7559"/>
                </a:lnSpc>
              </a:pPr>
              <a:r>
                <a:rPr lang="en-US" b="true" sz="6000">
                  <a:solidFill>
                    <a:srgbClr val="000000"/>
                  </a:solidFill>
                  <a:latin typeface="Cambria Bold"/>
                  <a:ea typeface="Cambria Bold"/>
                  <a:cs typeface="Cambria Bold"/>
                  <a:sym typeface="Cambria Bold"/>
                </a:rPr>
                <a:t>Measuring, Managing, and Reporting Information Security Performance</a:t>
              </a:r>
            </a:p>
          </p:txBody>
        </p:sp>
      </p:grpSp>
      <p:grpSp>
        <p:nvGrpSpPr>
          <p:cNvPr name="Group 19" id="19"/>
          <p:cNvGrpSpPr/>
          <p:nvPr/>
        </p:nvGrpSpPr>
        <p:grpSpPr>
          <a:xfrm rot="0">
            <a:off x="2985418" y="5080882"/>
            <a:ext cx="14813280" cy="1490922"/>
            <a:chOff x="0" y="0"/>
            <a:chExt cx="19751040" cy="1987896"/>
          </a:xfrm>
        </p:grpSpPr>
        <p:sp>
          <p:nvSpPr>
            <p:cNvPr name="Freeform 20" id="20"/>
            <p:cNvSpPr/>
            <p:nvPr/>
          </p:nvSpPr>
          <p:spPr>
            <a:xfrm flipH="false" flipV="false" rot="0">
              <a:off x="0" y="0"/>
              <a:ext cx="19751039" cy="1987896"/>
            </a:xfrm>
            <a:custGeom>
              <a:avLst/>
              <a:gdLst/>
              <a:ahLst/>
              <a:cxnLst/>
              <a:rect r="r" b="b" t="t" l="l"/>
              <a:pathLst>
                <a:path h="1987896" w="19751039">
                  <a:moveTo>
                    <a:pt x="0" y="0"/>
                  </a:moveTo>
                  <a:lnTo>
                    <a:pt x="19751039" y="0"/>
                  </a:lnTo>
                  <a:lnTo>
                    <a:pt x="19751039" y="1987896"/>
                  </a:lnTo>
                  <a:lnTo>
                    <a:pt x="0" y="1987896"/>
                  </a:lnTo>
                  <a:close/>
                </a:path>
              </a:pathLst>
            </a:custGeom>
            <a:blipFill>
              <a:blip r:embed="rId4">
                <a:alphaModFix amt="0"/>
              </a:blip>
              <a:stretch>
                <a:fillRect l="0" t="-170597" r="0" b="-116595"/>
              </a:stretch>
            </a:blipFill>
          </p:spPr>
        </p:sp>
        <p:sp>
          <p:nvSpPr>
            <p:cNvPr name="TextBox 21" id="21"/>
            <p:cNvSpPr txBox="true"/>
            <p:nvPr/>
          </p:nvSpPr>
          <p:spPr>
            <a:xfrm>
              <a:off x="0" y="-57150"/>
              <a:ext cx="19751040" cy="2045046"/>
            </a:xfrm>
            <a:prstGeom prst="rect">
              <a:avLst/>
            </a:prstGeom>
          </p:spPr>
          <p:txBody>
            <a:bodyPr anchor="ctr" rtlCol="false" tIns="0" lIns="0" bIns="0" rIns="0"/>
            <a:lstStyle/>
            <a:p>
              <a:pPr algn="l">
                <a:lnSpc>
                  <a:spcPts val="3599"/>
                </a:lnSpc>
              </a:pPr>
              <a:r>
                <a:rPr lang="en-US" sz="2999">
                  <a:solidFill>
                    <a:srgbClr val="000000"/>
                  </a:solidFill>
                  <a:latin typeface="Calibri (MS)"/>
                  <a:ea typeface="Calibri (MS)"/>
                  <a:cs typeface="Calibri (MS)"/>
                  <a:sym typeface="Calibri (MS)"/>
                </a:rPr>
                <a:t>9.3 Approaches to Security Metrics   </a:t>
              </a:r>
            </a:p>
            <a:p>
              <a:pPr algn="l">
                <a:lnSpc>
                  <a:spcPts val="3599"/>
                </a:lnSpc>
              </a:pPr>
            </a:p>
            <a:p>
              <a:pPr algn="l">
                <a:lnSpc>
                  <a:spcPts val="3599"/>
                </a:lnSpc>
              </a:pPr>
              <a:r>
                <a:rPr lang="en-US" sz="2999">
                  <a:solidFill>
                    <a:srgbClr val="000000"/>
                  </a:solidFill>
                  <a:latin typeface="Calibri (MS)"/>
                  <a:ea typeface="Calibri (MS)"/>
                  <a:cs typeface="Calibri (MS)"/>
                  <a:sym typeface="Calibri (MS)"/>
                </a:rPr>
                <a:t>9.4 Metrics and FISMA</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57150"/>
              <a:ext cx="1848158" cy="3208134"/>
            </a:xfrm>
            <a:prstGeom prst="rect">
              <a:avLst/>
            </a:prstGeom>
          </p:spPr>
          <p:txBody>
            <a:bodyPr anchor="ctr" rtlCol="false" tIns="50800" lIns="50800" bIns="50800" rIns="50800"/>
            <a:lstStyle/>
            <a:p>
              <a:pPr algn="ctr">
                <a:lnSpc>
                  <a:spcPts val="4120"/>
                </a:lnSpc>
              </a:pPr>
            </a:p>
          </p:txBody>
        </p:sp>
      </p:grpSp>
      <p:grpSp>
        <p:nvGrpSpPr>
          <p:cNvPr name="Group 5" id="5"/>
          <p:cNvGrpSpPr/>
          <p:nvPr/>
        </p:nvGrpSpPr>
        <p:grpSpPr>
          <a:xfrm rot="0">
            <a:off x="1028700" y="3011501"/>
            <a:ext cx="15291933" cy="5575813"/>
            <a:chOff x="0" y="0"/>
            <a:chExt cx="4027505" cy="1468527"/>
          </a:xfrm>
        </p:grpSpPr>
        <p:sp>
          <p:nvSpPr>
            <p:cNvPr name="Freeform 6" id="6"/>
            <p:cNvSpPr/>
            <p:nvPr/>
          </p:nvSpPr>
          <p:spPr>
            <a:xfrm flipH="false" flipV="false" rot="0">
              <a:off x="0" y="0"/>
              <a:ext cx="4027505" cy="1468527"/>
            </a:xfrm>
            <a:custGeom>
              <a:avLst/>
              <a:gdLst/>
              <a:ahLst/>
              <a:cxnLst/>
              <a:rect r="r" b="b" t="t" l="l"/>
              <a:pathLst>
                <a:path h="1468527" w="4027505">
                  <a:moveTo>
                    <a:pt x="0" y="0"/>
                  </a:moveTo>
                  <a:lnTo>
                    <a:pt x="4027505" y="0"/>
                  </a:lnTo>
                  <a:lnTo>
                    <a:pt x="4027505" y="1468527"/>
                  </a:lnTo>
                  <a:lnTo>
                    <a:pt x="0" y="1468527"/>
                  </a:lnTo>
                  <a:close/>
                </a:path>
              </a:pathLst>
            </a:custGeom>
            <a:solidFill>
              <a:srgbClr val="FFFFFF"/>
            </a:solidFill>
          </p:spPr>
        </p:sp>
        <p:sp>
          <p:nvSpPr>
            <p:cNvPr name="TextBox 7" id="7"/>
            <p:cNvSpPr txBox="true"/>
            <p:nvPr/>
          </p:nvSpPr>
          <p:spPr>
            <a:xfrm>
              <a:off x="0" y="-47625"/>
              <a:ext cx="4027505" cy="1516152"/>
            </a:xfrm>
            <a:prstGeom prst="rect">
              <a:avLst/>
            </a:prstGeom>
          </p:spPr>
          <p:txBody>
            <a:bodyPr anchor="ctr" rtlCol="false" tIns="50800" lIns="50800" bIns="50800" rIns="50800"/>
            <a:lstStyle/>
            <a:p>
              <a:pPr algn="ctr">
                <a:lnSpc>
                  <a:spcPts val="3560"/>
                </a:lnSpc>
              </a:pPr>
            </a:p>
          </p:txBody>
        </p:sp>
      </p:grpSp>
      <p:sp>
        <p:nvSpPr>
          <p:cNvPr name="Freeform 8" id="8"/>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5981039" y="9462044"/>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CORTEZ</a:t>
            </a:r>
          </a:p>
        </p:txBody>
      </p:sp>
      <p:grpSp>
        <p:nvGrpSpPr>
          <p:cNvPr name="Group 10" id="10"/>
          <p:cNvGrpSpPr/>
          <p:nvPr/>
        </p:nvGrpSpPr>
        <p:grpSpPr>
          <a:xfrm rot="0">
            <a:off x="2331720" y="277554"/>
            <a:ext cx="15087600" cy="960120"/>
            <a:chOff x="0" y="0"/>
            <a:chExt cx="20116800" cy="1280160"/>
          </a:xfrm>
        </p:grpSpPr>
        <p:sp>
          <p:nvSpPr>
            <p:cNvPr name="Freeform 11" id="11"/>
            <p:cNvSpPr/>
            <p:nvPr/>
          </p:nvSpPr>
          <p:spPr>
            <a:xfrm flipH="false" flipV="false" rot="0">
              <a:off x="0" y="0"/>
              <a:ext cx="20116800" cy="1280160"/>
            </a:xfrm>
            <a:custGeom>
              <a:avLst/>
              <a:gdLst/>
              <a:ahLst/>
              <a:cxnLst/>
              <a:rect r="r" b="b" t="t" l="l"/>
              <a:pathLst>
                <a:path h="1280160" w="20116800">
                  <a:moveTo>
                    <a:pt x="0" y="0"/>
                  </a:moveTo>
                  <a:lnTo>
                    <a:pt x="20116800" y="0"/>
                  </a:lnTo>
                  <a:lnTo>
                    <a:pt x="20116800" y="1280160"/>
                  </a:lnTo>
                  <a:lnTo>
                    <a:pt x="0" y="1280160"/>
                  </a:lnTo>
                  <a:close/>
                </a:path>
              </a:pathLst>
            </a:custGeom>
            <a:blipFill>
              <a:blip r:embed="rId4">
                <a:alphaModFix amt="0"/>
              </a:blip>
              <a:stretch>
                <a:fillRect l="0" t="-256193" r="0" b="-256193"/>
              </a:stretch>
            </a:blipFill>
          </p:spPr>
        </p:sp>
        <p:sp>
          <p:nvSpPr>
            <p:cNvPr name="TextBox 12" id="12"/>
            <p:cNvSpPr txBox="true"/>
            <p:nvPr/>
          </p:nvSpPr>
          <p:spPr>
            <a:xfrm>
              <a:off x="0" y="-9525"/>
              <a:ext cx="20116800" cy="1289685"/>
            </a:xfrm>
            <a:prstGeom prst="rect">
              <a:avLst/>
            </a:prstGeom>
          </p:spPr>
          <p:txBody>
            <a:bodyPr anchor="ctr" rtlCol="false" tIns="0" lIns="0" bIns="0" rIns="0"/>
            <a:lstStyle/>
            <a:p>
              <a:pPr algn="l">
                <a:lnSpc>
                  <a:spcPts val="5759"/>
                </a:lnSpc>
              </a:pPr>
              <a:r>
                <a:rPr lang="en-US" b="true" sz="4800">
                  <a:solidFill>
                    <a:srgbClr val="000000"/>
                  </a:solidFill>
                  <a:latin typeface="Cambria Bold"/>
                  <a:ea typeface="Cambria Bold"/>
                  <a:cs typeface="Cambria Bold"/>
                  <a:sym typeface="Cambria Bold"/>
                </a:rPr>
                <a:t>What Are Security Metrics?</a:t>
              </a:r>
            </a:p>
          </p:txBody>
        </p:sp>
      </p:grpSp>
      <p:grpSp>
        <p:nvGrpSpPr>
          <p:cNvPr name="Group 13" id="13"/>
          <p:cNvGrpSpPr/>
          <p:nvPr/>
        </p:nvGrpSpPr>
        <p:grpSpPr>
          <a:xfrm rot="0">
            <a:off x="2331720" y="1108338"/>
            <a:ext cx="8641080" cy="2194560"/>
            <a:chOff x="0" y="0"/>
            <a:chExt cx="11521440" cy="2926080"/>
          </a:xfrm>
        </p:grpSpPr>
        <p:sp>
          <p:nvSpPr>
            <p:cNvPr name="Freeform 14" id="14"/>
            <p:cNvSpPr/>
            <p:nvPr/>
          </p:nvSpPr>
          <p:spPr>
            <a:xfrm flipH="false" flipV="false" rot="0">
              <a:off x="0" y="0"/>
              <a:ext cx="11521440" cy="2926080"/>
            </a:xfrm>
            <a:custGeom>
              <a:avLst/>
              <a:gdLst/>
              <a:ahLst/>
              <a:cxnLst/>
              <a:rect r="r" b="b" t="t" l="l"/>
              <a:pathLst>
                <a:path h="2926080" w="11521440">
                  <a:moveTo>
                    <a:pt x="0" y="0"/>
                  </a:moveTo>
                  <a:lnTo>
                    <a:pt x="11521440" y="0"/>
                  </a:lnTo>
                  <a:lnTo>
                    <a:pt x="11521440" y="2926080"/>
                  </a:lnTo>
                  <a:lnTo>
                    <a:pt x="0" y="2926080"/>
                  </a:lnTo>
                  <a:close/>
                </a:path>
              </a:pathLst>
            </a:custGeom>
            <a:blipFill>
              <a:blip r:embed="rId4">
                <a:alphaModFix amt="0"/>
              </a:blip>
              <a:stretch>
                <a:fillRect l="0" t="-26722" r="0" b="-26722"/>
              </a:stretch>
            </a:blipFill>
          </p:spPr>
        </p:sp>
        <p:sp>
          <p:nvSpPr>
            <p:cNvPr name="TextBox 15" id="15"/>
            <p:cNvSpPr txBox="true"/>
            <p:nvPr/>
          </p:nvSpPr>
          <p:spPr>
            <a:xfrm>
              <a:off x="0" y="-114300"/>
              <a:ext cx="11521440" cy="3040380"/>
            </a:xfrm>
            <a:prstGeom prst="rect">
              <a:avLst/>
            </a:prstGeom>
          </p:spPr>
          <p:txBody>
            <a:bodyPr anchor="ctr" rtlCol="false" tIns="0" lIns="0" bIns="0" rIns="0"/>
            <a:lstStyle/>
            <a:p>
              <a:pPr algn="l">
                <a:lnSpc>
                  <a:spcPts val="3375"/>
                </a:lnSpc>
              </a:pPr>
              <a:r>
                <a:rPr lang="en-US" sz="2250">
                  <a:solidFill>
                    <a:srgbClr val="000000"/>
                  </a:solidFill>
                  <a:latin typeface="Calibri (MS)"/>
                  <a:ea typeface="Calibri (MS)"/>
                  <a:cs typeface="Calibri (MS)"/>
                  <a:sym typeface="Calibri (MS)"/>
                </a:rPr>
                <a:t>Quantifiable measurements used to gauge the performance, effectiveness, and maturity of an organization's information security program — turning technical activity into evidence decision-makers can act on.</a:t>
              </a:r>
            </a:p>
          </p:txBody>
        </p:sp>
      </p:grpSp>
      <p:grpSp>
        <p:nvGrpSpPr>
          <p:cNvPr name="Group 16" id="16"/>
          <p:cNvGrpSpPr/>
          <p:nvPr/>
        </p:nvGrpSpPr>
        <p:grpSpPr>
          <a:xfrm rot="0">
            <a:off x="1773888" y="3676194"/>
            <a:ext cx="671131" cy="671131"/>
            <a:chOff x="0" y="0"/>
            <a:chExt cx="1005840" cy="1005840"/>
          </a:xfrm>
        </p:grpSpPr>
        <p:sp>
          <p:nvSpPr>
            <p:cNvPr name="Freeform 17" id="17"/>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18" id="18"/>
          <p:cNvGrpSpPr/>
          <p:nvPr/>
        </p:nvGrpSpPr>
        <p:grpSpPr>
          <a:xfrm rot="0">
            <a:off x="1773888" y="3676194"/>
            <a:ext cx="671131" cy="671131"/>
            <a:chOff x="0" y="0"/>
            <a:chExt cx="1005840" cy="1005840"/>
          </a:xfrm>
        </p:grpSpPr>
        <p:sp>
          <p:nvSpPr>
            <p:cNvPr name="Freeform 19" id="19"/>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4">
                <a:alphaModFix amt="0"/>
              </a:blip>
              <a:stretch>
                <a:fillRect l="-78303" t="0" r="-78303" b="0"/>
              </a:stretch>
            </a:blipFill>
          </p:spPr>
        </p:sp>
        <p:sp>
          <p:nvSpPr>
            <p:cNvPr name="TextBox 20" id="20"/>
            <p:cNvSpPr txBox="true"/>
            <p:nvPr/>
          </p:nvSpPr>
          <p:spPr>
            <a:xfrm>
              <a:off x="0" y="-66675"/>
              <a:ext cx="1005840" cy="1072515"/>
            </a:xfrm>
            <a:prstGeom prst="rect">
              <a:avLst/>
            </a:prstGeom>
          </p:spPr>
          <p:txBody>
            <a:bodyPr anchor="ctr" rtlCol="false" tIns="0" lIns="0" bIns="0" rIns="0"/>
            <a:lstStyle/>
            <a:p>
              <a:pPr algn="ctr">
                <a:lnSpc>
                  <a:spcPts val="3359"/>
                </a:lnSpc>
              </a:pPr>
              <a:r>
                <a:rPr lang="en-US" b="true" sz="2799">
                  <a:solidFill>
                    <a:srgbClr val="000000"/>
                  </a:solidFill>
                  <a:latin typeface="Calibri (MS) Bold"/>
                  <a:ea typeface="Calibri (MS) Bold"/>
                  <a:cs typeface="Calibri (MS) Bold"/>
                  <a:sym typeface="Calibri (MS) Bold"/>
                </a:rPr>
                <a:t>■</a:t>
              </a:r>
            </a:p>
          </p:txBody>
        </p:sp>
      </p:grpSp>
      <p:grpSp>
        <p:nvGrpSpPr>
          <p:cNvPr name="Group 21" id="21"/>
          <p:cNvGrpSpPr/>
          <p:nvPr/>
        </p:nvGrpSpPr>
        <p:grpSpPr>
          <a:xfrm rot="0">
            <a:off x="2689066" y="3615182"/>
            <a:ext cx="6589284" cy="427083"/>
            <a:chOff x="0" y="0"/>
            <a:chExt cx="9875520" cy="640080"/>
          </a:xfrm>
        </p:grpSpPr>
        <p:sp>
          <p:nvSpPr>
            <p:cNvPr name="Freeform 22" id="22"/>
            <p:cNvSpPr/>
            <p:nvPr/>
          </p:nvSpPr>
          <p:spPr>
            <a:xfrm flipH="false" flipV="false" rot="0">
              <a:off x="0" y="0"/>
              <a:ext cx="9875520" cy="640080"/>
            </a:xfrm>
            <a:custGeom>
              <a:avLst/>
              <a:gdLst/>
              <a:ahLst/>
              <a:cxnLst/>
              <a:rect r="r" b="b" t="t" l="l"/>
              <a:pathLst>
                <a:path h="640080" w="9875520">
                  <a:moveTo>
                    <a:pt x="0" y="0"/>
                  </a:moveTo>
                  <a:lnTo>
                    <a:pt x="9875520" y="0"/>
                  </a:lnTo>
                  <a:lnTo>
                    <a:pt x="9875520" y="640080"/>
                  </a:lnTo>
                  <a:lnTo>
                    <a:pt x="0" y="640080"/>
                  </a:lnTo>
                  <a:close/>
                </a:path>
              </a:pathLst>
            </a:custGeom>
            <a:blipFill>
              <a:blip r:embed="rId4">
                <a:alphaModFix amt="0"/>
              </a:blip>
              <a:stretch>
                <a:fillRect l="0" t="-250626" r="0" b="-250626"/>
              </a:stretch>
            </a:blipFill>
          </p:spPr>
        </p:sp>
        <p:sp>
          <p:nvSpPr>
            <p:cNvPr name="TextBox 23" id="23"/>
            <p:cNvSpPr txBox="true"/>
            <p:nvPr/>
          </p:nvSpPr>
          <p:spPr>
            <a:xfrm>
              <a:off x="0" y="-47625"/>
              <a:ext cx="9875520" cy="687705"/>
            </a:xfrm>
            <a:prstGeom prst="rect">
              <a:avLst/>
            </a:prstGeom>
          </p:spPr>
          <p:txBody>
            <a:bodyPr anchor="ctr" rtlCol="false" tIns="0" lIns="0" bIns="0" rIns="0"/>
            <a:lstStyle/>
            <a:p>
              <a:pPr algn="l">
                <a:lnSpc>
                  <a:spcPts val="2520"/>
                </a:lnSpc>
              </a:pPr>
              <a:r>
                <a:rPr lang="en-US" b="true" sz="2100">
                  <a:solidFill>
                    <a:srgbClr val="000000"/>
                  </a:solidFill>
                  <a:latin typeface="Calibri (MS) Bold"/>
                  <a:ea typeface="Calibri (MS) Bold"/>
                  <a:cs typeface="Calibri (MS) Bold"/>
                  <a:sym typeface="Calibri (MS) Bold"/>
                </a:rPr>
                <a:t>Objective</a:t>
              </a:r>
            </a:p>
          </p:txBody>
        </p:sp>
      </p:grpSp>
      <p:grpSp>
        <p:nvGrpSpPr>
          <p:cNvPr name="Group 24" id="24"/>
          <p:cNvGrpSpPr/>
          <p:nvPr/>
        </p:nvGrpSpPr>
        <p:grpSpPr>
          <a:xfrm rot="0">
            <a:off x="2689066" y="4017860"/>
            <a:ext cx="6711308" cy="488095"/>
            <a:chOff x="0" y="0"/>
            <a:chExt cx="10058400" cy="731520"/>
          </a:xfrm>
        </p:grpSpPr>
        <p:sp>
          <p:nvSpPr>
            <p:cNvPr name="Freeform 25" id="25"/>
            <p:cNvSpPr/>
            <p:nvPr/>
          </p:nvSpPr>
          <p:spPr>
            <a:xfrm flipH="false" flipV="false" rot="0">
              <a:off x="0" y="0"/>
              <a:ext cx="10058400" cy="731520"/>
            </a:xfrm>
            <a:custGeom>
              <a:avLst/>
              <a:gdLst/>
              <a:ahLst/>
              <a:cxnLst/>
              <a:rect r="r" b="b" t="t" l="l"/>
              <a:pathLst>
                <a:path h="731520" w="10058400">
                  <a:moveTo>
                    <a:pt x="0" y="0"/>
                  </a:moveTo>
                  <a:lnTo>
                    <a:pt x="10058400" y="0"/>
                  </a:lnTo>
                  <a:lnTo>
                    <a:pt x="10058400" y="731520"/>
                  </a:lnTo>
                  <a:lnTo>
                    <a:pt x="0" y="731520"/>
                  </a:lnTo>
                  <a:close/>
                </a:path>
              </a:pathLst>
            </a:custGeom>
            <a:blipFill>
              <a:blip r:embed="rId4">
                <a:alphaModFix amt="0"/>
              </a:blip>
              <a:stretch>
                <a:fillRect l="0" t="-217919" r="0" b="-217919"/>
              </a:stretch>
            </a:blipFill>
          </p:spPr>
        </p:sp>
        <p:sp>
          <p:nvSpPr>
            <p:cNvPr name="TextBox 26" id="26"/>
            <p:cNvSpPr txBox="true"/>
            <p:nvPr/>
          </p:nvSpPr>
          <p:spPr>
            <a:xfrm>
              <a:off x="0" y="-47625"/>
              <a:ext cx="10058400" cy="779145"/>
            </a:xfrm>
            <a:prstGeom prst="rect">
              <a:avLst/>
            </a:prstGeom>
          </p:spPr>
          <p:txBody>
            <a:bodyPr anchor="ctr" rtlCol="false" tIns="0" lIns="0" bIns="0" rIns="0"/>
            <a:lstStyle/>
            <a:p>
              <a:pPr algn="l">
                <a:lnSpc>
                  <a:spcPts val="2549"/>
                </a:lnSpc>
              </a:pPr>
              <a:r>
                <a:rPr lang="en-US" sz="2124">
                  <a:solidFill>
                    <a:srgbClr val="000000"/>
                  </a:solidFill>
                  <a:latin typeface="Calibri (MS)"/>
                  <a:ea typeface="Calibri (MS)"/>
                  <a:cs typeface="Calibri (MS)"/>
                  <a:sym typeface="Calibri (MS)"/>
                </a:rPr>
                <a:t>Based on data, not opinion or intuition</a:t>
              </a:r>
            </a:p>
          </p:txBody>
        </p:sp>
      </p:grpSp>
      <p:grpSp>
        <p:nvGrpSpPr>
          <p:cNvPr name="Group 27" id="27"/>
          <p:cNvGrpSpPr/>
          <p:nvPr/>
        </p:nvGrpSpPr>
        <p:grpSpPr>
          <a:xfrm rot="0">
            <a:off x="1773888" y="4835420"/>
            <a:ext cx="671131" cy="671131"/>
            <a:chOff x="0" y="0"/>
            <a:chExt cx="1005840" cy="1005840"/>
          </a:xfrm>
        </p:grpSpPr>
        <p:sp>
          <p:nvSpPr>
            <p:cNvPr name="Freeform 28" id="28"/>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29" id="29"/>
          <p:cNvGrpSpPr/>
          <p:nvPr/>
        </p:nvGrpSpPr>
        <p:grpSpPr>
          <a:xfrm rot="0">
            <a:off x="1773888" y="4835420"/>
            <a:ext cx="671131" cy="671131"/>
            <a:chOff x="0" y="0"/>
            <a:chExt cx="1005840" cy="1005840"/>
          </a:xfrm>
        </p:grpSpPr>
        <p:sp>
          <p:nvSpPr>
            <p:cNvPr name="Freeform 30" id="30"/>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4">
                <a:alphaModFix amt="0"/>
              </a:blip>
              <a:stretch>
                <a:fillRect l="-78303" t="0" r="-78303" b="0"/>
              </a:stretch>
            </a:blipFill>
          </p:spPr>
        </p:sp>
        <p:sp>
          <p:nvSpPr>
            <p:cNvPr name="TextBox 31" id="31"/>
            <p:cNvSpPr txBox="true"/>
            <p:nvPr/>
          </p:nvSpPr>
          <p:spPr>
            <a:xfrm>
              <a:off x="0" y="-66675"/>
              <a:ext cx="1005840" cy="1072515"/>
            </a:xfrm>
            <a:prstGeom prst="rect">
              <a:avLst/>
            </a:prstGeom>
          </p:spPr>
          <p:txBody>
            <a:bodyPr anchor="ctr" rtlCol="false" tIns="0" lIns="0" bIns="0" rIns="0"/>
            <a:lstStyle/>
            <a:p>
              <a:pPr algn="ctr">
                <a:lnSpc>
                  <a:spcPts val="3359"/>
                </a:lnSpc>
              </a:pPr>
              <a:r>
                <a:rPr lang="en-US" b="true" sz="2799">
                  <a:solidFill>
                    <a:srgbClr val="000000"/>
                  </a:solidFill>
                  <a:latin typeface="Calibri (MS) Bold"/>
                  <a:ea typeface="Calibri (MS) Bold"/>
                  <a:cs typeface="Calibri (MS) Bold"/>
                  <a:sym typeface="Calibri (MS) Bold"/>
                </a:rPr>
                <a:t>▲</a:t>
              </a:r>
            </a:p>
          </p:txBody>
        </p:sp>
      </p:grpSp>
      <p:grpSp>
        <p:nvGrpSpPr>
          <p:cNvPr name="Group 32" id="32"/>
          <p:cNvGrpSpPr/>
          <p:nvPr/>
        </p:nvGrpSpPr>
        <p:grpSpPr>
          <a:xfrm rot="0">
            <a:off x="2689066" y="4774408"/>
            <a:ext cx="6589284" cy="494723"/>
            <a:chOff x="0" y="0"/>
            <a:chExt cx="9875520" cy="741453"/>
          </a:xfrm>
        </p:grpSpPr>
        <p:sp>
          <p:nvSpPr>
            <p:cNvPr name="Freeform 33" id="33"/>
            <p:cNvSpPr/>
            <p:nvPr/>
          </p:nvSpPr>
          <p:spPr>
            <a:xfrm flipH="false" flipV="false" rot="0">
              <a:off x="0" y="0"/>
              <a:ext cx="9875520" cy="741453"/>
            </a:xfrm>
            <a:custGeom>
              <a:avLst/>
              <a:gdLst/>
              <a:ahLst/>
              <a:cxnLst/>
              <a:rect r="r" b="b" t="t" l="l"/>
              <a:pathLst>
                <a:path h="741453" w="9875520">
                  <a:moveTo>
                    <a:pt x="0" y="0"/>
                  </a:moveTo>
                  <a:lnTo>
                    <a:pt x="9875520" y="0"/>
                  </a:lnTo>
                  <a:lnTo>
                    <a:pt x="9875520" y="741453"/>
                  </a:lnTo>
                  <a:lnTo>
                    <a:pt x="0" y="741453"/>
                  </a:lnTo>
                  <a:close/>
                </a:path>
              </a:pathLst>
            </a:custGeom>
            <a:blipFill>
              <a:blip r:embed="rId4">
                <a:alphaModFix amt="0"/>
              </a:blip>
              <a:stretch>
                <a:fillRect l="0" t="-216360" r="0" b="-202687"/>
              </a:stretch>
            </a:blipFill>
          </p:spPr>
        </p:sp>
        <p:sp>
          <p:nvSpPr>
            <p:cNvPr name="TextBox 34" id="34"/>
            <p:cNvSpPr txBox="true"/>
            <p:nvPr/>
          </p:nvSpPr>
          <p:spPr>
            <a:xfrm>
              <a:off x="0" y="-47625"/>
              <a:ext cx="9875520" cy="789078"/>
            </a:xfrm>
            <a:prstGeom prst="rect">
              <a:avLst/>
            </a:prstGeom>
          </p:spPr>
          <p:txBody>
            <a:bodyPr anchor="ctr" rtlCol="false" tIns="0" lIns="0" bIns="0" rIns="0"/>
            <a:lstStyle/>
            <a:p>
              <a:pPr algn="l">
                <a:lnSpc>
                  <a:spcPts val="2999"/>
                </a:lnSpc>
              </a:pPr>
              <a:r>
                <a:rPr lang="en-US" b="true" sz="2499">
                  <a:solidFill>
                    <a:srgbClr val="000000"/>
                  </a:solidFill>
                  <a:latin typeface="Calibri (MS) Bold"/>
                  <a:ea typeface="Calibri (MS) Bold"/>
                  <a:cs typeface="Calibri (MS) Bold"/>
                  <a:sym typeface="Calibri (MS) Bold"/>
                </a:rPr>
                <a:t>Quantifiable</a:t>
              </a:r>
            </a:p>
          </p:txBody>
        </p:sp>
      </p:grpSp>
      <p:grpSp>
        <p:nvGrpSpPr>
          <p:cNvPr name="Group 35" id="35"/>
          <p:cNvGrpSpPr/>
          <p:nvPr/>
        </p:nvGrpSpPr>
        <p:grpSpPr>
          <a:xfrm rot="0">
            <a:off x="2689066" y="5177086"/>
            <a:ext cx="6711308" cy="488095"/>
            <a:chOff x="0" y="0"/>
            <a:chExt cx="10058400" cy="731520"/>
          </a:xfrm>
        </p:grpSpPr>
        <p:sp>
          <p:nvSpPr>
            <p:cNvPr name="Freeform 36" id="36"/>
            <p:cNvSpPr/>
            <p:nvPr/>
          </p:nvSpPr>
          <p:spPr>
            <a:xfrm flipH="false" flipV="false" rot="0">
              <a:off x="0" y="0"/>
              <a:ext cx="10058400" cy="731520"/>
            </a:xfrm>
            <a:custGeom>
              <a:avLst/>
              <a:gdLst/>
              <a:ahLst/>
              <a:cxnLst/>
              <a:rect r="r" b="b" t="t" l="l"/>
              <a:pathLst>
                <a:path h="731520" w="10058400">
                  <a:moveTo>
                    <a:pt x="0" y="0"/>
                  </a:moveTo>
                  <a:lnTo>
                    <a:pt x="10058400" y="0"/>
                  </a:lnTo>
                  <a:lnTo>
                    <a:pt x="10058400" y="731520"/>
                  </a:lnTo>
                  <a:lnTo>
                    <a:pt x="0" y="731520"/>
                  </a:lnTo>
                  <a:close/>
                </a:path>
              </a:pathLst>
            </a:custGeom>
            <a:blipFill>
              <a:blip r:embed="rId4">
                <a:alphaModFix amt="0"/>
              </a:blip>
              <a:stretch>
                <a:fillRect l="0" t="-217919" r="0" b="-217919"/>
              </a:stretch>
            </a:blipFill>
          </p:spPr>
        </p:sp>
        <p:sp>
          <p:nvSpPr>
            <p:cNvPr name="TextBox 37" id="37"/>
            <p:cNvSpPr txBox="true"/>
            <p:nvPr/>
          </p:nvSpPr>
          <p:spPr>
            <a:xfrm>
              <a:off x="0" y="-47625"/>
              <a:ext cx="10058400" cy="779145"/>
            </a:xfrm>
            <a:prstGeom prst="rect">
              <a:avLst/>
            </a:prstGeom>
          </p:spPr>
          <p:txBody>
            <a:bodyPr anchor="ctr" rtlCol="false" tIns="0" lIns="0" bIns="0" rIns="0"/>
            <a:lstStyle/>
            <a:p>
              <a:pPr algn="l">
                <a:lnSpc>
                  <a:spcPts val="2549"/>
                </a:lnSpc>
              </a:pPr>
              <a:r>
                <a:rPr lang="en-US" sz="2124">
                  <a:solidFill>
                    <a:srgbClr val="000000"/>
                  </a:solidFill>
                  <a:latin typeface="Calibri (MS)"/>
                  <a:ea typeface="Calibri (MS)"/>
                  <a:cs typeface="Calibri (MS)"/>
                  <a:sym typeface="Calibri (MS)"/>
                </a:rPr>
                <a:t>Expressed in numbers, percentages, or ratios</a:t>
              </a:r>
            </a:p>
          </p:txBody>
        </p:sp>
      </p:grpSp>
      <p:grpSp>
        <p:nvGrpSpPr>
          <p:cNvPr name="Group 38" id="38"/>
          <p:cNvGrpSpPr/>
          <p:nvPr/>
        </p:nvGrpSpPr>
        <p:grpSpPr>
          <a:xfrm rot="0">
            <a:off x="1773888" y="5994646"/>
            <a:ext cx="671131" cy="671131"/>
            <a:chOff x="0" y="0"/>
            <a:chExt cx="1005840" cy="1005840"/>
          </a:xfrm>
        </p:grpSpPr>
        <p:sp>
          <p:nvSpPr>
            <p:cNvPr name="Freeform 39" id="39"/>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40" id="40"/>
          <p:cNvGrpSpPr/>
          <p:nvPr/>
        </p:nvGrpSpPr>
        <p:grpSpPr>
          <a:xfrm rot="0">
            <a:off x="1773888" y="5994646"/>
            <a:ext cx="671131" cy="671131"/>
            <a:chOff x="0" y="0"/>
            <a:chExt cx="1005840" cy="1005840"/>
          </a:xfrm>
        </p:grpSpPr>
        <p:sp>
          <p:nvSpPr>
            <p:cNvPr name="Freeform 41" id="41"/>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4">
                <a:alphaModFix amt="0"/>
              </a:blip>
              <a:stretch>
                <a:fillRect l="-78303" t="0" r="-78303" b="0"/>
              </a:stretch>
            </a:blipFill>
          </p:spPr>
        </p:sp>
        <p:sp>
          <p:nvSpPr>
            <p:cNvPr name="TextBox 42" id="42"/>
            <p:cNvSpPr txBox="true"/>
            <p:nvPr/>
          </p:nvSpPr>
          <p:spPr>
            <a:xfrm>
              <a:off x="0" y="-66675"/>
              <a:ext cx="1005840" cy="1072515"/>
            </a:xfrm>
            <a:prstGeom prst="rect">
              <a:avLst/>
            </a:prstGeom>
          </p:spPr>
          <p:txBody>
            <a:bodyPr anchor="ctr" rtlCol="false" tIns="0" lIns="0" bIns="0" rIns="0"/>
            <a:lstStyle/>
            <a:p>
              <a:pPr algn="ctr">
                <a:lnSpc>
                  <a:spcPts val="3359"/>
                </a:lnSpc>
              </a:pPr>
              <a:r>
                <a:rPr lang="en-US" b="true" sz="2799">
                  <a:solidFill>
                    <a:srgbClr val="000000"/>
                  </a:solidFill>
                  <a:latin typeface="Calibri (MS) Bold"/>
                  <a:ea typeface="Calibri (MS) Bold"/>
                  <a:cs typeface="Calibri (MS) Bold"/>
                  <a:sym typeface="Calibri (MS) Bold"/>
                </a:rPr>
                <a:t>✓</a:t>
              </a:r>
            </a:p>
          </p:txBody>
        </p:sp>
      </p:grpSp>
      <p:grpSp>
        <p:nvGrpSpPr>
          <p:cNvPr name="Group 43" id="43"/>
          <p:cNvGrpSpPr/>
          <p:nvPr/>
        </p:nvGrpSpPr>
        <p:grpSpPr>
          <a:xfrm rot="0">
            <a:off x="2689066" y="5933634"/>
            <a:ext cx="6589284" cy="494723"/>
            <a:chOff x="0" y="0"/>
            <a:chExt cx="9875520" cy="741453"/>
          </a:xfrm>
        </p:grpSpPr>
        <p:sp>
          <p:nvSpPr>
            <p:cNvPr name="Freeform 44" id="44"/>
            <p:cNvSpPr/>
            <p:nvPr/>
          </p:nvSpPr>
          <p:spPr>
            <a:xfrm flipH="false" flipV="false" rot="0">
              <a:off x="0" y="0"/>
              <a:ext cx="9875520" cy="741453"/>
            </a:xfrm>
            <a:custGeom>
              <a:avLst/>
              <a:gdLst/>
              <a:ahLst/>
              <a:cxnLst/>
              <a:rect r="r" b="b" t="t" l="l"/>
              <a:pathLst>
                <a:path h="741453" w="9875520">
                  <a:moveTo>
                    <a:pt x="0" y="0"/>
                  </a:moveTo>
                  <a:lnTo>
                    <a:pt x="9875520" y="0"/>
                  </a:lnTo>
                  <a:lnTo>
                    <a:pt x="9875520" y="741453"/>
                  </a:lnTo>
                  <a:lnTo>
                    <a:pt x="0" y="741453"/>
                  </a:lnTo>
                  <a:close/>
                </a:path>
              </a:pathLst>
            </a:custGeom>
            <a:blipFill>
              <a:blip r:embed="rId4">
                <a:alphaModFix amt="0"/>
              </a:blip>
              <a:stretch>
                <a:fillRect l="0" t="-216360" r="0" b="-202687"/>
              </a:stretch>
            </a:blipFill>
          </p:spPr>
        </p:sp>
        <p:sp>
          <p:nvSpPr>
            <p:cNvPr name="TextBox 45" id="45"/>
            <p:cNvSpPr txBox="true"/>
            <p:nvPr/>
          </p:nvSpPr>
          <p:spPr>
            <a:xfrm>
              <a:off x="0" y="-47625"/>
              <a:ext cx="9875520" cy="789078"/>
            </a:xfrm>
            <a:prstGeom prst="rect">
              <a:avLst/>
            </a:prstGeom>
          </p:spPr>
          <p:txBody>
            <a:bodyPr anchor="ctr" rtlCol="false" tIns="0" lIns="0" bIns="0" rIns="0"/>
            <a:lstStyle/>
            <a:p>
              <a:pPr algn="l">
                <a:lnSpc>
                  <a:spcPts val="2999"/>
                </a:lnSpc>
              </a:pPr>
              <a:r>
                <a:rPr lang="en-US" b="true" sz="2499">
                  <a:solidFill>
                    <a:srgbClr val="000000"/>
                  </a:solidFill>
                  <a:latin typeface="Calibri (MS) Bold"/>
                  <a:ea typeface="Calibri (MS) Bold"/>
                  <a:cs typeface="Calibri (MS) Bold"/>
                  <a:sym typeface="Calibri (MS) Bold"/>
                </a:rPr>
                <a:t>Actionable</a:t>
              </a:r>
            </a:p>
          </p:txBody>
        </p:sp>
      </p:grpSp>
      <p:grpSp>
        <p:nvGrpSpPr>
          <p:cNvPr name="Group 46" id="46"/>
          <p:cNvGrpSpPr/>
          <p:nvPr/>
        </p:nvGrpSpPr>
        <p:grpSpPr>
          <a:xfrm rot="0">
            <a:off x="2689066" y="6336312"/>
            <a:ext cx="6711308" cy="488095"/>
            <a:chOff x="0" y="0"/>
            <a:chExt cx="10058400" cy="731520"/>
          </a:xfrm>
        </p:grpSpPr>
        <p:sp>
          <p:nvSpPr>
            <p:cNvPr name="Freeform 47" id="47"/>
            <p:cNvSpPr/>
            <p:nvPr/>
          </p:nvSpPr>
          <p:spPr>
            <a:xfrm flipH="false" flipV="false" rot="0">
              <a:off x="0" y="0"/>
              <a:ext cx="10058400" cy="731520"/>
            </a:xfrm>
            <a:custGeom>
              <a:avLst/>
              <a:gdLst/>
              <a:ahLst/>
              <a:cxnLst/>
              <a:rect r="r" b="b" t="t" l="l"/>
              <a:pathLst>
                <a:path h="731520" w="10058400">
                  <a:moveTo>
                    <a:pt x="0" y="0"/>
                  </a:moveTo>
                  <a:lnTo>
                    <a:pt x="10058400" y="0"/>
                  </a:lnTo>
                  <a:lnTo>
                    <a:pt x="10058400" y="731520"/>
                  </a:lnTo>
                  <a:lnTo>
                    <a:pt x="0" y="731520"/>
                  </a:lnTo>
                  <a:close/>
                </a:path>
              </a:pathLst>
            </a:custGeom>
            <a:blipFill>
              <a:blip r:embed="rId4">
                <a:alphaModFix amt="0"/>
              </a:blip>
              <a:stretch>
                <a:fillRect l="0" t="-217919" r="0" b="-217919"/>
              </a:stretch>
            </a:blipFill>
          </p:spPr>
        </p:sp>
        <p:sp>
          <p:nvSpPr>
            <p:cNvPr name="TextBox 48" id="48"/>
            <p:cNvSpPr txBox="true"/>
            <p:nvPr/>
          </p:nvSpPr>
          <p:spPr>
            <a:xfrm>
              <a:off x="0" y="-47625"/>
              <a:ext cx="10058400" cy="779145"/>
            </a:xfrm>
            <a:prstGeom prst="rect">
              <a:avLst/>
            </a:prstGeom>
          </p:spPr>
          <p:txBody>
            <a:bodyPr anchor="ctr" rtlCol="false" tIns="0" lIns="0" bIns="0" rIns="0"/>
            <a:lstStyle/>
            <a:p>
              <a:pPr algn="l">
                <a:lnSpc>
                  <a:spcPts val="2549"/>
                </a:lnSpc>
              </a:pPr>
              <a:r>
                <a:rPr lang="en-US" sz="2124">
                  <a:solidFill>
                    <a:srgbClr val="000000"/>
                  </a:solidFill>
                  <a:latin typeface="Calibri (MS)"/>
                  <a:ea typeface="Calibri (MS)"/>
                  <a:cs typeface="Calibri (MS)"/>
                  <a:sym typeface="Calibri (MS)"/>
                </a:rPr>
                <a:t>Drive decisions on budget, staffing, and controls</a:t>
              </a:r>
            </a:p>
          </p:txBody>
        </p:sp>
      </p:grpSp>
      <p:grpSp>
        <p:nvGrpSpPr>
          <p:cNvPr name="Group 49" id="49"/>
          <p:cNvGrpSpPr/>
          <p:nvPr/>
        </p:nvGrpSpPr>
        <p:grpSpPr>
          <a:xfrm rot="0">
            <a:off x="1773888" y="7153871"/>
            <a:ext cx="671131" cy="671131"/>
            <a:chOff x="0" y="0"/>
            <a:chExt cx="1005840" cy="1005840"/>
          </a:xfrm>
        </p:grpSpPr>
        <p:sp>
          <p:nvSpPr>
            <p:cNvPr name="Freeform 50" id="5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51" id="51"/>
          <p:cNvGrpSpPr/>
          <p:nvPr/>
        </p:nvGrpSpPr>
        <p:grpSpPr>
          <a:xfrm rot="0">
            <a:off x="1773888" y="7153871"/>
            <a:ext cx="671131" cy="671131"/>
            <a:chOff x="0" y="0"/>
            <a:chExt cx="1005840" cy="1005840"/>
          </a:xfrm>
        </p:grpSpPr>
        <p:sp>
          <p:nvSpPr>
            <p:cNvPr name="Freeform 52" id="52"/>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4">
                <a:alphaModFix amt="0"/>
              </a:blip>
              <a:stretch>
                <a:fillRect l="-78303" t="0" r="-78303" b="0"/>
              </a:stretch>
            </a:blipFill>
          </p:spPr>
        </p:sp>
        <p:sp>
          <p:nvSpPr>
            <p:cNvPr name="TextBox 53" id="53"/>
            <p:cNvSpPr txBox="true"/>
            <p:nvPr/>
          </p:nvSpPr>
          <p:spPr>
            <a:xfrm>
              <a:off x="0" y="-66675"/>
              <a:ext cx="1005840" cy="1072515"/>
            </a:xfrm>
            <a:prstGeom prst="rect">
              <a:avLst/>
            </a:prstGeom>
          </p:spPr>
          <p:txBody>
            <a:bodyPr anchor="ctr" rtlCol="false" tIns="0" lIns="0" bIns="0" rIns="0"/>
            <a:lstStyle/>
            <a:p>
              <a:pPr algn="ctr">
                <a:lnSpc>
                  <a:spcPts val="3359"/>
                </a:lnSpc>
              </a:pPr>
              <a:r>
                <a:rPr lang="en-US" b="true" sz="2799">
                  <a:solidFill>
                    <a:srgbClr val="000000"/>
                  </a:solidFill>
                  <a:latin typeface="Calibri (MS) Bold"/>
                  <a:ea typeface="Calibri (MS) Bold"/>
                  <a:cs typeface="Calibri (MS) Bold"/>
                  <a:sym typeface="Calibri (MS) Bold"/>
                </a:rPr>
                <a:t>↻</a:t>
              </a:r>
            </a:p>
          </p:txBody>
        </p:sp>
      </p:grpSp>
      <p:grpSp>
        <p:nvGrpSpPr>
          <p:cNvPr name="Group 54" id="54"/>
          <p:cNvGrpSpPr/>
          <p:nvPr/>
        </p:nvGrpSpPr>
        <p:grpSpPr>
          <a:xfrm rot="0">
            <a:off x="2689066" y="7092860"/>
            <a:ext cx="6589284" cy="480268"/>
            <a:chOff x="0" y="0"/>
            <a:chExt cx="9875520" cy="719789"/>
          </a:xfrm>
        </p:grpSpPr>
        <p:sp>
          <p:nvSpPr>
            <p:cNvPr name="Freeform 55" id="55"/>
            <p:cNvSpPr/>
            <p:nvPr/>
          </p:nvSpPr>
          <p:spPr>
            <a:xfrm flipH="false" flipV="false" rot="0">
              <a:off x="0" y="0"/>
              <a:ext cx="9875520" cy="719789"/>
            </a:xfrm>
            <a:custGeom>
              <a:avLst/>
              <a:gdLst/>
              <a:ahLst/>
              <a:cxnLst/>
              <a:rect r="r" b="b" t="t" l="l"/>
              <a:pathLst>
                <a:path h="719789" w="9875520">
                  <a:moveTo>
                    <a:pt x="0" y="0"/>
                  </a:moveTo>
                  <a:lnTo>
                    <a:pt x="9875520" y="0"/>
                  </a:lnTo>
                  <a:lnTo>
                    <a:pt x="9875520" y="719789"/>
                  </a:lnTo>
                  <a:lnTo>
                    <a:pt x="0" y="719789"/>
                  </a:lnTo>
                  <a:close/>
                </a:path>
              </a:pathLst>
            </a:custGeom>
            <a:blipFill>
              <a:blip r:embed="rId4">
                <a:alphaModFix amt="0"/>
              </a:blip>
              <a:stretch>
                <a:fillRect l="0" t="-222872" r="0" b="-211798"/>
              </a:stretch>
            </a:blipFill>
          </p:spPr>
        </p:sp>
        <p:sp>
          <p:nvSpPr>
            <p:cNvPr name="TextBox 56" id="56"/>
            <p:cNvSpPr txBox="true"/>
            <p:nvPr/>
          </p:nvSpPr>
          <p:spPr>
            <a:xfrm>
              <a:off x="0" y="-57150"/>
              <a:ext cx="9875520" cy="776939"/>
            </a:xfrm>
            <a:prstGeom prst="rect">
              <a:avLst/>
            </a:prstGeom>
          </p:spPr>
          <p:txBody>
            <a:bodyPr anchor="ctr" rtlCol="false" tIns="0" lIns="0" bIns="0" rIns="0"/>
            <a:lstStyle/>
            <a:p>
              <a:pPr algn="l">
                <a:lnSpc>
                  <a:spcPts val="2879"/>
                </a:lnSpc>
              </a:pPr>
              <a:r>
                <a:rPr lang="en-US" b="true" sz="2399">
                  <a:solidFill>
                    <a:srgbClr val="000000"/>
                  </a:solidFill>
                  <a:latin typeface="Calibri (MS) Bold"/>
                  <a:ea typeface="Calibri (MS) Bold"/>
                  <a:cs typeface="Calibri (MS) Bold"/>
                  <a:sym typeface="Calibri (MS) Bold"/>
                </a:rPr>
                <a:t>Repeatable</a:t>
              </a:r>
            </a:p>
          </p:txBody>
        </p:sp>
      </p:grpSp>
      <p:grpSp>
        <p:nvGrpSpPr>
          <p:cNvPr name="Group 57" id="57"/>
          <p:cNvGrpSpPr/>
          <p:nvPr/>
        </p:nvGrpSpPr>
        <p:grpSpPr>
          <a:xfrm rot="0">
            <a:off x="2689066" y="7495538"/>
            <a:ext cx="6711308" cy="488095"/>
            <a:chOff x="0" y="0"/>
            <a:chExt cx="10058400" cy="731520"/>
          </a:xfrm>
        </p:grpSpPr>
        <p:sp>
          <p:nvSpPr>
            <p:cNvPr name="Freeform 58" id="58"/>
            <p:cNvSpPr/>
            <p:nvPr/>
          </p:nvSpPr>
          <p:spPr>
            <a:xfrm flipH="false" flipV="false" rot="0">
              <a:off x="0" y="0"/>
              <a:ext cx="10058400" cy="731520"/>
            </a:xfrm>
            <a:custGeom>
              <a:avLst/>
              <a:gdLst/>
              <a:ahLst/>
              <a:cxnLst/>
              <a:rect r="r" b="b" t="t" l="l"/>
              <a:pathLst>
                <a:path h="731520" w="10058400">
                  <a:moveTo>
                    <a:pt x="0" y="0"/>
                  </a:moveTo>
                  <a:lnTo>
                    <a:pt x="10058400" y="0"/>
                  </a:lnTo>
                  <a:lnTo>
                    <a:pt x="10058400" y="731520"/>
                  </a:lnTo>
                  <a:lnTo>
                    <a:pt x="0" y="731520"/>
                  </a:lnTo>
                  <a:close/>
                </a:path>
              </a:pathLst>
            </a:custGeom>
            <a:blipFill>
              <a:blip r:embed="rId4">
                <a:alphaModFix amt="0"/>
              </a:blip>
              <a:stretch>
                <a:fillRect l="0" t="-217919" r="0" b="-217919"/>
              </a:stretch>
            </a:blipFill>
          </p:spPr>
        </p:sp>
        <p:sp>
          <p:nvSpPr>
            <p:cNvPr name="TextBox 59" id="59"/>
            <p:cNvSpPr txBox="true"/>
            <p:nvPr/>
          </p:nvSpPr>
          <p:spPr>
            <a:xfrm>
              <a:off x="0" y="-47625"/>
              <a:ext cx="10058400" cy="779145"/>
            </a:xfrm>
            <a:prstGeom prst="rect">
              <a:avLst/>
            </a:prstGeom>
          </p:spPr>
          <p:txBody>
            <a:bodyPr anchor="ctr" rtlCol="false" tIns="0" lIns="0" bIns="0" rIns="0"/>
            <a:lstStyle/>
            <a:p>
              <a:pPr algn="l">
                <a:lnSpc>
                  <a:spcPts val="2549"/>
                </a:lnSpc>
              </a:pPr>
              <a:r>
                <a:rPr lang="en-US" sz="2124">
                  <a:solidFill>
                    <a:srgbClr val="000000"/>
                  </a:solidFill>
                  <a:latin typeface="Calibri (MS)"/>
                  <a:ea typeface="Calibri (MS)"/>
                  <a:cs typeface="Calibri (MS)"/>
                  <a:sym typeface="Calibri (MS)"/>
                </a:rPr>
                <a:t>Collected consistently over time for trend analysis</a:t>
              </a:r>
            </a:p>
          </p:txBody>
        </p:sp>
      </p:grpSp>
      <p:grpSp>
        <p:nvGrpSpPr>
          <p:cNvPr name="Group 60" id="60"/>
          <p:cNvGrpSpPr/>
          <p:nvPr/>
        </p:nvGrpSpPr>
        <p:grpSpPr>
          <a:xfrm rot="0">
            <a:off x="10081260" y="1645920"/>
            <a:ext cx="7338060" cy="7543800"/>
            <a:chOff x="0" y="0"/>
            <a:chExt cx="9784080" cy="10058400"/>
          </a:xfrm>
        </p:grpSpPr>
        <p:sp>
          <p:nvSpPr>
            <p:cNvPr name="Freeform 61" id="61"/>
            <p:cNvSpPr/>
            <p:nvPr/>
          </p:nvSpPr>
          <p:spPr>
            <a:xfrm flipH="false" flipV="false" rot="0">
              <a:off x="0" y="0"/>
              <a:ext cx="9784080" cy="10058400"/>
            </a:xfrm>
            <a:custGeom>
              <a:avLst/>
              <a:gdLst/>
              <a:ahLst/>
              <a:cxnLst/>
              <a:rect r="r" b="b" t="t" l="l"/>
              <a:pathLst>
                <a:path h="10058400" w="9784080">
                  <a:moveTo>
                    <a:pt x="0" y="219456"/>
                  </a:moveTo>
                  <a:cubicBezTo>
                    <a:pt x="0" y="98298"/>
                    <a:pt x="98298" y="0"/>
                    <a:pt x="219456" y="0"/>
                  </a:cubicBezTo>
                  <a:lnTo>
                    <a:pt x="9564624" y="0"/>
                  </a:lnTo>
                  <a:cubicBezTo>
                    <a:pt x="9685782" y="0"/>
                    <a:pt x="9784080" y="98298"/>
                    <a:pt x="9784080" y="219456"/>
                  </a:cubicBezTo>
                  <a:lnTo>
                    <a:pt x="9784080" y="9838944"/>
                  </a:lnTo>
                  <a:cubicBezTo>
                    <a:pt x="9784080" y="9960101"/>
                    <a:pt x="9685782" y="10058400"/>
                    <a:pt x="9564624" y="10058400"/>
                  </a:cubicBezTo>
                  <a:lnTo>
                    <a:pt x="219456" y="10058400"/>
                  </a:lnTo>
                  <a:cubicBezTo>
                    <a:pt x="98298" y="10058400"/>
                    <a:pt x="0" y="9960102"/>
                    <a:pt x="0" y="9838944"/>
                  </a:cubicBezTo>
                  <a:close/>
                </a:path>
              </a:pathLst>
            </a:custGeom>
            <a:solidFill>
              <a:srgbClr val="F3F5FC"/>
            </a:solidFill>
          </p:spPr>
        </p:sp>
      </p:grpSp>
      <p:grpSp>
        <p:nvGrpSpPr>
          <p:cNvPr name="Group 62" id="62"/>
          <p:cNvGrpSpPr/>
          <p:nvPr/>
        </p:nvGrpSpPr>
        <p:grpSpPr>
          <a:xfrm rot="0">
            <a:off x="10629900" y="2125980"/>
            <a:ext cx="6309360" cy="548640"/>
            <a:chOff x="0" y="0"/>
            <a:chExt cx="8412480" cy="731520"/>
          </a:xfrm>
        </p:grpSpPr>
        <p:sp>
          <p:nvSpPr>
            <p:cNvPr name="Freeform 63" id="63"/>
            <p:cNvSpPr/>
            <p:nvPr/>
          </p:nvSpPr>
          <p:spPr>
            <a:xfrm flipH="false" flipV="false" rot="0">
              <a:off x="0" y="0"/>
              <a:ext cx="8412480" cy="731520"/>
            </a:xfrm>
            <a:custGeom>
              <a:avLst/>
              <a:gdLst/>
              <a:ahLst/>
              <a:cxnLst/>
              <a:rect r="r" b="b" t="t" l="l"/>
              <a:pathLst>
                <a:path h="731520" w="8412480">
                  <a:moveTo>
                    <a:pt x="0" y="0"/>
                  </a:moveTo>
                  <a:lnTo>
                    <a:pt x="8412480" y="0"/>
                  </a:lnTo>
                  <a:lnTo>
                    <a:pt x="8412480" y="731520"/>
                  </a:lnTo>
                  <a:lnTo>
                    <a:pt x="0" y="731520"/>
                  </a:lnTo>
                  <a:close/>
                </a:path>
              </a:pathLst>
            </a:custGeom>
            <a:blipFill>
              <a:blip r:embed="rId4">
                <a:alphaModFix amt="0"/>
              </a:blip>
              <a:stretch>
                <a:fillRect l="0" t="-174077" r="0" b="-174077"/>
              </a:stretch>
            </a:blipFill>
          </p:spPr>
        </p:sp>
        <p:sp>
          <p:nvSpPr>
            <p:cNvPr name="TextBox 64" id="64"/>
            <p:cNvSpPr txBox="true"/>
            <p:nvPr/>
          </p:nvSpPr>
          <p:spPr>
            <a:xfrm>
              <a:off x="0" y="-38100"/>
              <a:ext cx="8412480" cy="769620"/>
            </a:xfrm>
            <a:prstGeom prst="rect">
              <a:avLst/>
            </a:prstGeom>
          </p:spPr>
          <p:txBody>
            <a:bodyPr anchor="ctr" rtlCol="false" tIns="0" lIns="0" bIns="0" rIns="0"/>
            <a:lstStyle/>
            <a:p>
              <a:pPr algn="l">
                <a:lnSpc>
                  <a:spcPts val="2879"/>
                </a:lnSpc>
              </a:pPr>
              <a:r>
                <a:rPr lang="en-US" b="true" sz="2400">
                  <a:solidFill>
                    <a:srgbClr val="000000"/>
                  </a:solidFill>
                  <a:latin typeface="Calibri (MS) Bold"/>
                  <a:ea typeface="Calibri (MS) Bold"/>
                  <a:cs typeface="Calibri (MS) Bold"/>
                  <a:sym typeface="Calibri (MS) Bold"/>
                </a:rPr>
                <a:t>Why They Matter</a:t>
              </a:r>
            </a:p>
          </p:txBody>
        </p:sp>
      </p:grpSp>
      <p:sp>
        <p:nvSpPr>
          <p:cNvPr name="TextBox 65" id="65"/>
          <p:cNvSpPr txBox="true"/>
          <p:nvPr/>
        </p:nvSpPr>
        <p:spPr>
          <a:xfrm rot="0">
            <a:off x="10721340" y="3021330"/>
            <a:ext cx="6126480" cy="3171826"/>
          </a:xfrm>
          <a:prstGeom prst="rect">
            <a:avLst/>
          </a:prstGeom>
        </p:spPr>
        <p:txBody>
          <a:bodyPr anchor="t" rtlCol="false" tIns="0" lIns="0" bIns="0" rIns="0">
            <a:spAutoFit/>
          </a:bodyPr>
          <a:lstStyle/>
          <a:p>
            <a:pPr algn="l" marL="452436" indent="-226218" lvl="1">
              <a:lnSpc>
                <a:spcPts val="5099"/>
              </a:lnSpc>
              <a:buFont typeface="Arial"/>
              <a:buChar char="•"/>
            </a:pPr>
            <a:r>
              <a:rPr lang="en-US" sz="2499">
                <a:solidFill>
                  <a:srgbClr val="000000"/>
                </a:solidFill>
                <a:latin typeface="Calibri (MS)"/>
                <a:ea typeface="Calibri (MS)"/>
                <a:cs typeface="Calibri (MS)"/>
                <a:sym typeface="Calibri (MS)"/>
              </a:rPr>
              <a:t>Justify security spending with evidence</a:t>
            </a:r>
          </a:p>
          <a:p>
            <a:pPr algn="l" marL="452436" indent="-226218" lvl="1">
              <a:lnSpc>
                <a:spcPts val="5099"/>
              </a:lnSpc>
              <a:buFont typeface="Arial"/>
              <a:buChar char="•"/>
            </a:pPr>
            <a:r>
              <a:rPr lang="en-US" sz="2499">
                <a:solidFill>
                  <a:srgbClr val="000000"/>
                </a:solidFill>
                <a:latin typeface="Calibri (MS)"/>
                <a:ea typeface="Calibri (MS)"/>
                <a:cs typeface="Calibri (MS)"/>
                <a:sym typeface="Calibri (MS)"/>
              </a:rPr>
              <a:t>Reveal gaps between policy and practice</a:t>
            </a:r>
          </a:p>
          <a:p>
            <a:pPr algn="l" marL="452436" indent="-226218" lvl="1">
              <a:lnSpc>
                <a:spcPts val="5099"/>
              </a:lnSpc>
              <a:buFont typeface="Arial"/>
              <a:buChar char="•"/>
            </a:pPr>
            <a:r>
              <a:rPr lang="en-US" sz="2499">
                <a:solidFill>
                  <a:srgbClr val="000000"/>
                </a:solidFill>
                <a:latin typeface="Calibri (MS)"/>
                <a:ea typeface="Calibri (MS)"/>
                <a:cs typeface="Calibri (MS)"/>
                <a:sym typeface="Calibri (MS)"/>
              </a:rPr>
              <a:t>Support compliance reporting (e.g., FISMA)</a:t>
            </a:r>
          </a:p>
          <a:p>
            <a:pPr algn="l" marL="452436" indent="-226218" lvl="1">
              <a:lnSpc>
                <a:spcPts val="5099"/>
              </a:lnSpc>
              <a:buFont typeface="Arial"/>
              <a:buChar char="•"/>
            </a:pPr>
            <a:r>
              <a:rPr lang="en-US" sz="2499">
                <a:solidFill>
                  <a:srgbClr val="000000"/>
                </a:solidFill>
                <a:latin typeface="Calibri (MS)"/>
                <a:ea typeface="Calibri (MS)"/>
                <a:cs typeface="Calibri (MS)"/>
                <a:sym typeface="Calibri (MS)"/>
              </a:rPr>
              <a:t>Track progress toward risk-reduction goals</a:t>
            </a:r>
          </a:p>
          <a:p>
            <a:pPr algn="l" marL="452436" indent="-226218" lvl="1">
              <a:lnSpc>
                <a:spcPts val="5099"/>
              </a:lnSpc>
              <a:buFont typeface="Arial"/>
              <a:buChar char="•"/>
            </a:pPr>
            <a:r>
              <a:rPr lang="en-US" sz="2499">
                <a:solidFill>
                  <a:srgbClr val="000000"/>
                </a:solidFill>
                <a:latin typeface="Calibri (MS)"/>
                <a:ea typeface="Calibri (MS)"/>
                <a:cs typeface="Calibri (MS)"/>
                <a:sym typeface="Calibri (MS)"/>
              </a:rPr>
              <a:t>Enable benchmarking across time and peers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47625"/>
              <a:ext cx="1848158" cy="3198609"/>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498034" y="2355594"/>
            <a:ext cx="15291933" cy="5575813"/>
            <a:chOff x="0" y="0"/>
            <a:chExt cx="4027505" cy="1468527"/>
          </a:xfrm>
        </p:grpSpPr>
        <p:sp>
          <p:nvSpPr>
            <p:cNvPr name="Freeform 6" id="6"/>
            <p:cNvSpPr/>
            <p:nvPr/>
          </p:nvSpPr>
          <p:spPr>
            <a:xfrm flipH="false" flipV="false" rot="0">
              <a:off x="0" y="0"/>
              <a:ext cx="4027505" cy="1468527"/>
            </a:xfrm>
            <a:custGeom>
              <a:avLst/>
              <a:gdLst/>
              <a:ahLst/>
              <a:cxnLst/>
              <a:rect r="r" b="b" t="t" l="l"/>
              <a:pathLst>
                <a:path h="1468527" w="4027505">
                  <a:moveTo>
                    <a:pt x="0" y="0"/>
                  </a:moveTo>
                  <a:lnTo>
                    <a:pt x="4027505" y="0"/>
                  </a:lnTo>
                  <a:lnTo>
                    <a:pt x="4027505" y="1468527"/>
                  </a:lnTo>
                  <a:lnTo>
                    <a:pt x="0" y="1468527"/>
                  </a:lnTo>
                  <a:close/>
                </a:path>
              </a:pathLst>
            </a:custGeom>
            <a:solidFill>
              <a:srgbClr val="FFFFFF"/>
            </a:solidFill>
          </p:spPr>
        </p:sp>
        <p:sp>
          <p:nvSpPr>
            <p:cNvPr name="TextBox 7" id="7"/>
            <p:cNvSpPr txBox="true"/>
            <p:nvPr/>
          </p:nvSpPr>
          <p:spPr>
            <a:xfrm>
              <a:off x="0" y="-47625"/>
              <a:ext cx="4027505" cy="1516152"/>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1498034" y="2355594"/>
            <a:ext cx="956740" cy="5575813"/>
            <a:chOff x="0" y="0"/>
            <a:chExt cx="251981" cy="1468527"/>
          </a:xfrm>
        </p:grpSpPr>
        <p:sp>
          <p:nvSpPr>
            <p:cNvPr name="Freeform 9" id="9"/>
            <p:cNvSpPr/>
            <p:nvPr/>
          </p:nvSpPr>
          <p:spPr>
            <a:xfrm flipH="false" flipV="false" rot="0">
              <a:off x="0" y="0"/>
              <a:ext cx="251981" cy="1468527"/>
            </a:xfrm>
            <a:custGeom>
              <a:avLst/>
              <a:gdLst/>
              <a:ahLst/>
              <a:cxnLst/>
              <a:rect r="r" b="b" t="t" l="l"/>
              <a:pathLst>
                <a:path h="1468527" w="251981">
                  <a:moveTo>
                    <a:pt x="0" y="0"/>
                  </a:moveTo>
                  <a:lnTo>
                    <a:pt x="251981" y="0"/>
                  </a:lnTo>
                  <a:lnTo>
                    <a:pt x="251981" y="1468527"/>
                  </a:lnTo>
                  <a:lnTo>
                    <a:pt x="0" y="1468527"/>
                  </a:lnTo>
                  <a:close/>
                </a:path>
              </a:pathLst>
            </a:custGeom>
            <a:solidFill>
              <a:srgbClr val="FFD076"/>
            </a:solidFill>
          </p:spPr>
        </p:sp>
        <p:sp>
          <p:nvSpPr>
            <p:cNvPr name="TextBox 10" id="10"/>
            <p:cNvSpPr txBox="true"/>
            <p:nvPr/>
          </p:nvSpPr>
          <p:spPr>
            <a:xfrm>
              <a:off x="0" y="-47625"/>
              <a:ext cx="251981" cy="1516152"/>
            </a:xfrm>
            <a:prstGeom prst="rect">
              <a:avLst/>
            </a:prstGeom>
          </p:spPr>
          <p:txBody>
            <a:bodyPr anchor="ctr" rtlCol="false" tIns="50800" lIns="50800" bIns="50800" rIns="50800"/>
            <a:lstStyle/>
            <a:p>
              <a:pPr algn="ctr">
                <a:lnSpc>
                  <a:spcPts val="3560"/>
                </a:lnSpc>
              </a:pPr>
            </a:p>
          </p:txBody>
        </p:sp>
      </p:grpSp>
      <p:sp>
        <p:nvSpPr>
          <p:cNvPr name="Freeform 11" id="11"/>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5981039" y="9462044"/>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CORTEZ</a:t>
            </a:r>
          </a:p>
        </p:txBody>
      </p:sp>
      <p:grpSp>
        <p:nvGrpSpPr>
          <p:cNvPr name="Group 13" id="13"/>
          <p:cNvGrpSpPr/>
          <p:nvPr/>
        </p:nvGrpSpPr>
        <p:grpSpPr>
          <a:xfrm rot="0">
            <a:off x="822960" y="548640"/>
            <a:ext cx="2743200" cy="685800"/>
            <a:chOff x="0" y="0"/>
            <a:chExt cx="3657600" cy="914400"/>
          </a:xfrm>
        </p:grpSpPr>
        <p:sp>
          <p:nvSpPr>
            <p:cNvPr name="Freeform 14" id="14"/>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4">
                <a:alphaModFix amt="0"/>
              </a:blip>
              <a:stretch>
                <a:fillRect l="0" t="-27940" r="0" b="-27940"/>
              </a:stretch>
            </a:blipFill>
          </p:spPr>
        </p:sp>
        <p:sp>
          <p:nvSpPr>
            <p:cNvPr name="TextBox 15" id="15"/>
            <p:cNvSpPr txBox="true"/>
            <p:nvPr/>
          </p:nvSpPr>
          <p:spPr>
            <a:xfrm>
              <a:off x="0" y="-38100"/>
              <a:ext cx="3657600" cy="952500"/>
            </a:xfrm>
            <a:prstGeom prst="rect">
              <a:avLst/>
            </a:prstGeom>
          </p:spPr>
          <p:txBody>
            <a:bodyPr anchor="ctr" rtlCol="false" tIns="0" lIns="0" bIns="0" rIns="0"/>
            <a:lstStyle/>
            <a:p>
              <a:pPr algn="l">
                <a:lnSpc>
                  <a:spcPts val="2879"/>
                </a:lnSpc>
              </a:pPr>
              <a:r>
                <a:rPr lang="en-US" sz="2400" b="true">
                  <a:solidFill>
                    <a:srgbClr val="C9A227"/>
                  </a:solidFill>
                  <a:latin typeface="Calibri (MS) Bold"/>
                  <a:ea typeface="Calibri (MS) Bold"/>
                  <a:cs typeface="Calibri (MS) Bold"/>
                  <a:sym typeface="Calibri (MS) Bold"/>
                </a:rPr>
                <a:t>9.3</a:t>
              </a:r>
            </a:p>
          </p:txBody>
        </p:sp>
      </p:grpSp>
      <p:grpSp>
        <p:nvGrpSpPr>
          <p:cNvPr name="Group 16" id="16"/>
          <p:cNvGrpSpPr/>
          <p:nvPr/>
        </p:nvGrpSpPr>
        <p:grpSpPr>
          <a:xfrm rot="0">
            <a:off x="822960" y="1028700"/>
            <a:ext cx="15087600" cy="960120"/>
            <a:chOff x="0" y="0"/>
            <a:chExt cx="20116800" cy="1280160"/>
          </a:xfrm>
        </p:grpSpPr>
        <p:sp>
          <p:nvSpPr>
            <p:cNvPr name="Freeform 17" id="17"/>
            <p:cNvSpPr/>
            <p:nvPr/>
          </p:nvSpPr>
          <p:spPr>
            <a:xfrm flipH="false" flipV="false" rot="0">
              <a:off x="0" y="0"/>
              <a:ext cx="20116800" cy="1280160"/>
            </a:xfrm>
            <a:custGeom>
              <a:avLst/>
              <a:gdLst/>
              <a:ahLst/>
              <a:cxnLst/>
              <a:rect r="r" b="b" t="t" l="l"/>
              <a:pathLst>
                <a:path h="1280160" w="20116800">
                  <a:moveTo>
                    <a:pt x="0" y="0"/>
                  </a:moveTo>
                  <a:lnTo>
                    <a:pt x="20116800" y="0"/>
                  </a:lnTo>
                  <a:lnTo>
                    <a:pt x="20116800" y="1280160"/>
                  </a:lnTo>
                  <a:lnTo>
                    <a:pt x="0" y="1280160"/>
                  </a:lnTo>
                  <a:close/>
                </a:path>
              </a:pathLst>
            </a:custGeom>
            <a:blipFill>
              <a:blip r:embed="rId4">
                <a:alphaModFix amt="0"/>
              </a:blip>
              <a:stretch>
                <a:fillRect l="0" t="-256193" r="0" b="-256193"/>
              </a:stretch>
            </a:blipFill>
          </p:spPr>
        </p:sp>
        <p:sp>
          <p:nvSpPr>
            <p:cNvPr name="TextBox 18" id="18"/>
            <p:cNvSpPr txBox="true"/>
            <p:nvPr/>
          </p:nvSpPr>
          <p:spPr>
            <a:xfrm>
              <a:off x="0" y="-19050"/>
              <a:ext cx="20116800" cy="1299210"/>
            </a:xfrm>
            <a:prstGeom prst="rect">
              <a:avLst/>
            </a:prstGeom>
          </p:spPr>
          <p:txBody>
            <a:bodyPr anchor="ctr" rtlCol="false" tIns="0" lIns="0" bIns="0" rIns="0"/>
            <a:lstStyle/>
            <a:p>
              <a:pPr algn="l">
                <a:lnSpc>
                  <a:spcPts val="5400"/>
                </a:lnSpc>
              </a:pPr>
              <a:r>
                <a:rPr lang="en-US" sz="4500" b="true">
                  <a:solidFill>
                    <a:srgbClr val="1E2761"/>
                  </a:solidFill>
                  <a:latin typeface="Cambria Bold"/>
                  <a:ea typeface="Cambria Bold"/>
                  <a:cs typeface="Cambria Bold"/>
                  <a:sym typeface="Cambria Bold"/>
                </a:rPr>
                <a:t>Approaches to Security Metrics</a:t>
              </a:r>
            </a:p>
          </p:txBody>
        </p:sp>
      </p:grpSp>
      <p:grpSp>
        <p:nvGrpSpPr>
          <p:cNvPr name="Group 19" id="19"/>
          <p:cNvGrpSpPr/>
          <p:nvPr/>
        </p:nvGrpSpPr>
        <p:grpSpPr>
          <a:xfrm rot="0">
            <a:off x="822960" y="1920240"/>
            <a:ext cx="15773400" cy="548640"/>
            <a:chOff x="0" y="0"/>
            <a:chExt cx="21031200" cy="731520"/>
          </a:xfrm>
        </p:grpSpPr>
        <p:sp>
          <p:nvSpPr>
            <p:cNvPr name="Freeform 20" id="20"/>
            <p:cNvSpPr/>
            <p:nvPr/>
          </p:nvSpPr>
          <p:spPr>
            <a:xfrm flipH="false" flipV="false" rot="0">
              <a:off x="0" y="0"/>
              <a:ext cx="21031200" cy="731520"/>
            </a:xfrm>
            <a:custGeom>
              <a:avLst/>
              <a:gdLst/>
              <a:ahLst/>
              <a:cxnLst/>
              <a:rect r="r" b="b" t="t" l="l"/>
              <a:pathLst>
                <a:path h="731520" w="21031200">
                  <a:moveTo>
                    <a:pt x="0" y="0"/>
                  </a:moveTo>
                  <a:lnTo>
                    <a:pt x="21031200" y="0"/>
                  </a:lnTo>
                  <a:lnTo>
                    <a:pt x="21031200" y="731520"/>
                  </a:lnTo>
                  <a:lnTo>
                    <a:pt x="0" y="731520"/>
                  </a:lnTo>
                  <a:close/>
                </a:path>
              </a:pathLst>
            </a:custGeom>
            <a:blipFill>
              <a:blip r:embed="rId4">
                <a:alphaModFix amt="0"/>
              </a:blip>
              <a:stretch>
                <a:fillRect l="0" t="-510194" r="0" b="-510194"/>
              </a:stretch>
            </a:blipFill>
          </p:spPr>
        </p:sp>
        <p:sp>
          <p:nvSpPr>
            <p:cNvPr name="TextBox 21" id="21"/>
            <p:cNvSpPr txBox="true"/>
            <p:nvPr/>
          </p:nvSpPr>
          <p:spPr>
            <a:xfrm>
              <a:off x="0" y="-47625"/>
              <a:ext cx="21031200" cy="779145"/>
            </a:xfrm>
            <a:prstGeom prst="rect">
              <a:avLst/>
            </a:prstGeom>
          </p:spPr>
          <p:txBody>
            <a:bodyPr anchor="ctr" rtlCol="false" tIns="0" lIns="0" bIns="0" rIns="0"/>
            <a:lstStyle/>
            <a:p>
              <a:pPr algn="l">
                <a:lnSpc>
                  <a:spcPts val="2520"/>
                </a:lnSpc>
              </a:pPr>
              <a:r>
                <a:rPr lang="en-US" sz="2100" i="true">
                  <a:solidFill>
                    <a:srgbClr val="5A6494"/>
                  </a:solidFill>
                  <a:latin typeface="Calibri (MS) Italics"/>
                  <a:ea typeface="Calibri (MS) Italics"/>
                  <a:cs typeface="Calibri (MS) Italics"/>
                  <a:sym typeface="Calibri (MS) Italics"/>
                </a:rPr>
                <a:t>Three widely used frameworks help organizations decide what to measure and why.</a:t>
              </a:r>
            </a:p>
          </p:txBody>
        </p:sp>
      </p:grpSp>
      <p:grpSp>
        <p:nvGrpSpPr>
          <p:cNvPr name="Group 22" id="22"/>
          <p:cNvGrpSpPr/>
          <p:nvPr/>
        </p:nvGrpSpPr>
        <p:grpSpPr>
          <a:xfrm rot="0">
            <a:off x="822960" y="2948940"/>
            <a:ext cx="5349240" cy="6172200"/>
            <a:chOff x="0" y="0"/>
            <a:chExt cx="7132320" cy="8229600"/>
          </a:xfrm>
        </p:grpSpPr>
        <p:sp>
          <p:nvSpPr>
            <p:cNvPr name="Freeform 23" id="23"/>
            <p:cNvSpPr/>
            <p:nvPr/>
          </p:nvSpPr>
          <p:spPr>
            <a:xfrm flipH="false" flipV="false" rot="0">
              <a:off x="0" y="0"/>
              <a:ext cx="7132320" cy="8229600"/>
            </a:xfrm>
            <a:custGeom>
              <a:avLst/>
              <a:gdLst/>
              <a:ahLst/>
              <a:cxnLst/>
              <a:rect r="r" b="b" t="t" l="l"/>
              <a:pathLst>
                <a:path h="8229600" w="7132320">
                  <a:moveTo>
                    <a:pt x="0" y="219456"/>
                  </a:moveTo>
                  <a:cubicBezTo>
                    <a:pt x="0" y="98298"/>
                    <a:pt x="98298" y="0"/>
                    <a:pt x="219456" y="0"/>
                  </a:cubicBezTo>
                  <a:lnTo>
                    <a:pt x="6912864" y="0"/>
                  </a:lnTo>
                  <a:cubicBezTo>
                    <a:pt x="7034022" y="0"/>
                    <a:pt x="7132320" y="98298"/>
                    <a:pt x="7132320" y="219456"/>
                  </a:cubicBezTo>
                  <a:lnTo>
                    <a:pt x="7132320" y="8010144"/>
                  </a:lnTo>
                  <a:cubicBezTo>
                    <a:pt x="7132320" y="8131301"/>
                    <a:pt x="7034022" y="8229600"/>
                    <a:pt x="6912864" y="8229600"/>
                  </a:cubicBezTo>
                  <a:lnTo>
                    <a:pt x="219456" y="8229600"/>
                  </a:lnTo>
                  <a:cubicBezTo>
                    <a:pt x="98298" y="8229600"/>
                    <a:pt x="0" y="8131302"/>
                    <a:pt x="0" y="8010144"/>
                  </a:cubicBezTo>
                  <a:close/>
                </a:path>
              </a:pathLst>
            </a:custGeom>
            <a:solidFill>
              <a:srgbClr val="F3F5FC"/>
            </a:solidFill>
          </p:spPr>
        </p:sp>
      </p:grpSp>
      <p:grpSp>
        <p:nvGrpSpPr>
          <p:cNvPr name="Group 24" id="24"/>
          <p:cNvGrpSpPr/>
          <p:nvPr/>
        </p:nvGrpSpPr>
        <p:grpSpPr>
          <a:xfrm rot="0">
            <a:off x="1303020" y="3429000"/>
            <a:ext cx="822960" cy="822960"/>
            <a:chOff x="0" y="0"/>
            <a:chExt cx="1097280" cy="1097280"/>
          </a:xfrm>
        </p:grpSpPr>
        <p:sp>
          <p:nvSpPr>
            <p:cNvPr name="Freeform 25" id="25"/>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1E2761"/>
            </a:solidFill>
          </p:spPr>
        </p:sp>
      </p:grpSp>
      <p:grpSp>
        <p:nvGrpSpPr>
          <p:cNvPr name="Group 26" id="26"/>
          <p:cNvGrpSpPr/>
          <p:nvPr/>
        </p:nvGrpSpPr>
        <p:grpSpPr>
          <a:xfrm rot="0">
            <a:off x="1303020" y="3429000"/>
            <a:ext cx="822960" cy="822960"/>
            <a:chOff x="0" y="0"/>
            <a:chExt cx="1097280" cy="1097280"/>
          </a:xfrm>
        </p:grpSpPr>
        <p:sp>
          <p:nvSpPr>
            <p:cNvPr name="Freeform 27" id="27"/>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03" t="0" r="-78303" b="0"/>
              </a:stretch>
            </a:blipFill>
          </p:spPr>
        </p:sp>
        <p:sp>
          <p:nvSpPr>
            <p:cNvPr name="TextBox 28" id="28"/>
            <p:cNvSpPr txBox="true"/>
            <p:nvPr/>
          </p:nvSpPr>
          <p:spPr>
            <a:xfrm>
              <a:off x="0" y="-66675"/>
              <a:ext cx="1097280" cy="1163955"/>
            </a:xfrm>
            <a:prstGeom prst="rect">
              <a:avLst/>
            </a:prstGeom>
          </p:spPr>
          <p:txBody>
            <a:bodyPr anchor="ctr" rtlCol="false" tIns="0" lIns="0" bIns="0" rIns="0"/>
            <a:lstStyle/>
            <a:p>
              <a:pPr algn="ctr">
                <a:lnSpc>
                  <a:spcPts val="3960"/>
                </a:lnSpc>
              </a:pPr>
              <a:r>
                <a:rPr lang="en-US" sz="3300" b="true">
                  <a:solidFill>
                    <a:srgbClr val="FFFFFF"/>
                  </a:solidFill>
                  <a:latin typeface="Calibri (MS) Bold"/>
                  <a:ea typeface="Calibri (MS) Bold"/>
                  <a:cs typeface="Calibri (MS) Bold"/>
                  <a:sym typeface="Calibri (MS) Bold"/>
                </a:rPr>
                <a:t>1</a:t>
              </a:r>
            </a:p>
          </p:txBody>
        </p:sp>
      </p:grpSp>
      <p:grpSp>
        <p:nvGrpSpPr>
          <p:cNvPr name="Group 29" id="29"/>
          <p:cNvGrpSpPr/>
          <p:nvPr/>
        </p:nvGrpSpPr>
        <p:grpSpPr>
          <a:xfrm rot="0">
            <a:off x="1303020" y="4526280"/>
            <a:ext cx="4389120" cy="1234440"/>
            <a:chOff x="0" y="0"/>
            <a:chExt cx="5852160" cy="1645920"/>
          </a:xfrm>
        </p:grpSpPr>
        <p:sp>
          <p:nvSpPr>
            <p:cNvPr name="Freeform 30" id="30"/>
            <p:cNvSpPr/>
            <p:nvPr/>
          </p:nvSpPr>
          <p:spPr>
            <a:xfrm flipH="false" flipV="false" rot="0">
              <a:off x="0" y="0"/>
              <a:ext cx="5852160" cy="1645920"/>
            </a:xfrm>
            <a:custGeom>
              <a:avLst/>
              <a:gdLst/>
              <a:ahLst/>
              <a:cxnLst/>
              <a:rect r="r" b="b" t="t" l="l"/>
              <a:pathLst>
                <a:path h="1645920" w="5852160">
                  <a:moveTo>
                    <a:pt x="0" y="0"/>
                  </a:moveTo>
                  <a:lnTo>
                    <a:pt x="5852160" y="0"/>
                  </a:lnTo>
                  <a:lnTo>
                    <a:pt x="5852160" y="1645920"/>
                  </a:lnTo>
                  <a:lnTo>
                    <a:pt x="0" y="1645920"/>
                  </a:lnTo>
                  <a:close/>
                </a:path>
              </a:pathLst>
            </a:custGeom>
            <a:blipFill>
              <a:blip r:embed="rId4">
                <a:alphaModFix amt="0"/>
              </a:blip>
              <a:stretch>
                <a:fillRect l="0" t="-19280" r="0" b="-19280"/>
              </a:stretch>
            </a:blipFill>
          </p:spPr>
        </p:sp>
        <p:sp>
          <p:nvSpPr>
            <p:cNvPr name="TextBox 31" id="31"/>
            <p:cNvSpPr txBox="true"/>
            <p:nvPr/>
          </p:nvSpPr>
          <p:spPr>
            <a:xfrm>
              <a:off x="0" y="-28575"/>
              <a:ext cx="5852160" cy="1674495"/>
            </a:xfrm>
            <a:prstGeom prst="rect">
              <a:avLst/>
            </a:prstGeom>
          </p:spPr>
          <p:txBody>
            <a:bodyPr anchor="ctr" rtlCol="false" tIns="0" lIns="0" bIns="0" rIns="0"/>
            <a:lstStyle/>
            <a:p>
              <a:pPr algn="l">
                <a:lnSpc>
                  <a:spcPts val="3213"/>
                </a:lnSpc>
              </a:pPr>
              <a:r>
                <a:rPr lang="en-US" sz="2550" b="true">
                  <a:solidFill>
                    <a:srgbClr val="1E2761"/>
                  </a:solidFill>
                  <a:latin typeface="Cambria Bold"/>
                  <a:ea typeface="Cambria Bold"/>
                  <a:cs typeface="Cambria Bold"/>
                  <a:sym typeface="Cambria Bold"/>
                </a:rPr>
                <a:t>Goal-Question-</a:t>
              </a:r>
            </a:p>
            <a:p>
              <a:pPr algn="l">
                <a:lnSpc>
                  <a:spcPts val="3213"/>
                </a:lnSpc>
              </a:pPr>
              <a:r>
                <a:rPr lang="en-US" sz="2550" b="true">
                  <a:solidFill>
                    <a:srgbClr val="1E2761"/>
                  </a:solidFill>
                  <a:latin typeface="Cambria Bold"/>
                  <a:ea typeface="Cambria Bold"/>
                  <a:cs typeface="Cambria Bold"/>
                  <a:sym typeface="Cambria Bold"/>
                </a:rPr>
                <a:t>Metric (GQM)</a:t>
              </a:r>
            </a:p>
          </p:txBody>
        </p:sp>
      </p:grpSp>
      <p:grpSp>
        <p:nvGrpSpPr>
          <p:cNvPr name="Group 32" id="32"/>
          <p:cNvGrpSpPr/>
          <p:nvPr/>
        </p:nvGrpSpPr>
        <p:grpSpPr>
          <a:xfrm rot="0">
            <a:off x="1303020" y="5829300"/>
            <a:ext cx="4389120" cy="3017520"/>
            <a:chOff x="0" y="0"/>
            <a:chExt cx="5852160" cy="4023360"/>
          </a:xfrm>
        </p:grpSpPr>
        <p:sp>
          <p:nvSpPr>
            <p:cNvPr name="Freeform 33" id="33"/>
            <p:cNvSpPr/>
            <p:nvPr/>
          </p:nvSpPr>
          <p:spPr>
            <a:xfrm flipH="false" flipV="false" rot="0">
              <a:off x="0" y="0"/>
              <a:ext cx="5852160" cy="4023360"/>
            </a:xfrm>
            <a:custGeom>
              <a:avLst/>
              <a:gdLst/>
              <a:ahLst/>
              <a:cxnLst/>
              <a:rect r="r" b="b" t="t" l="l"/>
              <a:pathLst>
                <a:path h="4023360" w="5852160">
                  <a:moveTo>
                    <a:pt x="0" y="0"/>
                  </a:moveTo>
                  <a:lnTo>
                    <a:pt x="5852160" y="0"/>
                  </a:lnTo>
                  <a:lnTo>
                    <a:pt x="5852160" y="4023360"/>
                  </a:lnTo>
                  <a:lnTo>
                    <a:pt x="0" y="4023360"/>
                  </a:lnTo>
                  <a:close/>
                </a:path>
              </a:pathLst>
            </a:custGeom>
            <a:blipFill>
              <a:blip r:embed="rId4">
                <a:alphaModFix amt="0"/>
              </a:blip>
              <a:stretch>
                <a:fillRect l="-38208" t="0" r="-38208" b="0"/>
              </a:stretch>
            </a:blipFill>
          </p:spPr>
        </p:sp>
        <p:sp>
          <p:nvSpPr>
            <p:cNvPr name="TextBox 34" id="34"/>
            <p:cNvSpPr txBox="true"/>
            <p:nvPr/>
          </p:nvSpPr>
          <p:spPr>
            <a:xfrm>
              <a:off x="0" y="-104775"/>
              <a:ext cx="5852160" cy="4128135"/>
            </a:xfrm>
            <a:prstGeom prst="rect">
              <a:avLst/>
            </a:prstGeom>
          </p:spPr>
          <p:txBody>
            <a:bodyPr anchor="ctr" rtlCol="false" tIns="0" lIns="0" bIns="0" rIns="0"/>
            <a:lstStyle/>
            <a:p>
              <a:pPr algn="l">
                <a:lnSpc>
                  <a:spcPts val="2925"/>
                </a:lnSpc>
              </a:pPr>
              <a:r>
                <a:rPr lang="en-US" sz="1875">
                  <a:solidFill>
                    <a:srgbClr val="1B1F3B"/>
                  </a:solidFill>
                  <a:latin typeface="Calibri (MS)"/>
                  <a:ea typeface="Calibri (MS)"/>
                  <a:cs typeface="Calibri (MS)"/>
                  <a:sym typeface="Calibri (MS)"/>
                </a:rPr>
                <a:t>Start from business goals, derive questions, then define metrics that answer them.</a:t>
              </a:r>
            </a:p>
          </p:txBody>
        </p:sp>
      </p:grpSp>
      <p:grpSp>
        <p:nvGrpSpPr>
          <p:cNvPr name="Group 35" id="35"/>
          <p:cNvGrpSpPr/>
          <p:nvPr/>
        </p:nvGrpSpPr>
        <p:grpSpPr>
          <a:xfrm rot="0">
            <a:off x="6515100" y="2948940"/>
            <a:ext cx="5349240" cy="6172200"/>
            <a:chOff x="0" y="0"/>
            <a:chExt cx="7132320" cy="8229600"/>
          </a:xfrm>
        </p:grpSpPr>
        <p:sp>
          <p:nvSpPr>
            <p:cNvPr name="Freeform 36" id="36"/>
            <p:cNvSpPr/>
            <p:nvPr/>
          </p:nvSpPr>
          <p:spPr>
            <a:xfrm flipH="false" flipV="false" rot="0">
              <a:off x="0" y="0"/>
              <a:ext cx="7132320" cy="8229600"/>
            </a:xfrm>
            <a:custGeom>
              <a:avLst/>
              <a:gdLst/>
              <a:ahLst/>
              <a:cxnLst/>
              <a:rect r="r" b="b" t="t" l="l"/>
              <a:pathLst>
                <a:path h="8229600" w="7132320">
                  <a:moveTo>
                    <a:pt x="0" y="219456"/>
                  </a:moveTo>
                  <a:cubicBezTo>
                    <a:pt x="0" y="98298"/>
                    <a:pt x="98298" y="0"/>
                    <a:pt x="219456" y="0"/>
                  </a:cubicBezTo>
                  <a:lnTo>
                    <a:pt x="6912864" y="0"/>
                  </a:lnTo>
                  <a:cubicBezTo>
                    <a:pt x="7034022" y="0"/>
                    <a:pt x="7132320" y="98298"/>
                    <a:pt x="7132320" y="219456"/>
                  </a:cubicBezTo>
                  <a:lnTo>
                    <a:pt x="7132320" y="8010144"/>
                  </a:lnTo>
                  <a:cubicBezTo>
                    <a:pt x="7132320" y="8131301"/>
                    <a:pt x="7034022" y="8229600"/>
                    <a:pt x="6912864" y="8229600"/>
                  </a:cubicBezTo>
                  <a:lnTo>
                    <a:pt x="219456" y="8229600"/>
                  </a:lnTo>
                  <a:cubicBezTo>
                    <a:pt x="98298" y="8229600"/>
                    <a:pt x="0" y="8131302"/>
                    <a:pt x="0" y="8010144"/>
                  </a:cubicBezTo>
                  <a:close/>
                </a:path>
              </a:pathLst>
            </a:custGeom>
            <a:solidFill>
              <a:srgbClr val="F3F5FC"/>
            </a:solidFill>
          </p:spPr>
        </p:sp>
      </p:grpSp>
      <p:grpSp>
        <p:nvGrpSpPr>
          <p:cNvPr name="Group 37" id="37"/>
          <p:cNvGrpSpPr/>
          <p:nvPr/>
        </p:nvGrpSpPr>
        <p:grpSpPr>
          <a:xfrm rot="0">
            <a:off x="6995160" y="3429000"/>
            <a:ext cx="822960" cy="822960"/>
            <a:chOff x="0" y="0"/>
            <a:chExt cx="1097280" cy="1097280"/>
          </a:xfrm>
        </p:grpSpPr>
        <p:sp>
          <p:nvSpPr>
            <p:cNvPr name="Freeform 38" id="38"/>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1E2761"/>
            </a:solidFill>
          </p:spPr>
        </p:sp>
      </p:grpSp>
      <p:grpSp>
        <p:nvGrpSpPr>
          <p:cNvPr name="Group 39" id="39"/>
          <p:cNvGrpSpPr/>
          <p:nvPr/>
        </p:nvGrpSpPr>
        <p:grpSpPr>
          <a:xfrm rot="0">
            <a:off x="6995160" y="3429000"/>
            <a:ext cx="822960" cy="822960"/>
            <a:chOff x="0" y="0"/>
            <a:chExt cx="1097280" cy="1097280"/>
          </a:xfrm>
        </p:grpSpPr>
        <p:sp>
          <p:nvSpPr>
            <p:cNvPr name="Freeform 40" id="40"/>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03" t="0" r="-78303" b="0"/>
              </a:stretch>
            </a:blipFill>
          </p:spPr>
        </p:sp>
        <p:sp>
          <p:nvSpPr>
            <p:cNvPr name="TextBox 41" id="41"/>
            <p:cNvSpPr txBox="true"/>
            <p:nvPr/>
          </p:nvSpPr>
          <p:spPr>
            <a:xfrm>
              <a:off x="0" y="-66675"/>
              <a:ext cx="1097280" cy="1163955"/>
            </a:xfrm>
            <a:prstGeom prst="rect">
              <a:avLst/>
            </a:prstGeom>
          </p:spPr>
          <p:txBody>
            <a:bodyPr anchor="ctr" rtlCol="false" tIns="0" lIns="0" bIns="0" rIns="0"/>
            <a:lstStyle/>
            <a:p>
              <a:pPr algn="ctr">
                <a:lnSpc>
                  <a:spcPts val="3960"/>
                </a:lnSpc>
              </a:pPr>
              <a:r>
                <a:rPr lang="en-US" sz="3300" b="true">
                  <a:solidFill>
                    <a:srgbClr val="FFFFFF"/>
                  </a:solidFill>
                  <a:latin typeface="Calibri (MS) Bold"/>
                  <a:ea typeface="Calibri (MS) Bold"/>
                  <a:cs typeface="Calibri (MS) Bold"/>
                  <a:sym typeface="Calibri (MS) Bold"/>
                </a:rPr>
                <a:t>2</a:t>
              </a:r>
            </a:p>
          </p:txBody>
        </p:sp>
      </p:grpSp>
      <p:grpSp>
        <p:nvGrpSpPr>
          <p:cNvPr name="Group 42" id="42"/>
          <p:cNvGrpSpPr/>
          <p:nvPr/>
        </p:nvGrpSpPr>
        <p:grpSpPr>
          <a:xfrm rot="0">
            <a:off x="6995160" y="4526280"/>
            <a:ext cx="4389120" cy="1234440"/>
            <a:chOff x="0" y="0"/>
            <a:chExt cx="5852160" cy="1645920"/>
          </a:xfrm>
        </p:grpSpPr>
        <p:sp>
          <p:nvSpPr>
            <p:cNvPr name="Freeform 43" id="43"/>
            <p:cNvSpPr/>
            <p:nvPr/>
          </p:nvSpPr>
          <p:spPr>
            <a:xfrm flipH="false" flipV="false" rot="0">
              <a:off x="0" y="0"/>
              <a:ext cx="5852160" cy="1645920"/>
            </a:xfrm>
            <a:custGeom>
              <a:avLst/>
              <a:gdLst/>
              <a:ahLst/>
              <a:cxnLst/>
              <a:rect r="r" b="b" t="t" l="l"/>
              <a:pathLst>
                <a:path h="1645920" w="5852160">
                  <a:moveTo>
                    <a:pt x="0" y="0"/>
                  </a:moveTo>
                  <a:lnTo>
                    <a:pt x="5852160" y="0"/>
                  </a:lnTo>
                  <a:lnTo>
                    <a:pt x="5852160" y="1645920"/>
                  </a:lnTo>
                  <a:lnTo>
                    <a:pt x="0" y="1645920"/>
                  </a:lnTo>
                  <a:close/>
                </a:path>
              </a:pathLst>
            </a:custGeom>
            <a:blipFill>
              <a:blip r:embed="rId4">
                <a:alphaModFix amt="0"/>
              </a:blip>
              <a:stretch>
                <a:fillRect l="0" t="-19280" r="0" b="-19280"/>
              </a:stretch>
            </a:blipFill>
          </p:spPr>
        </p:sp>
        <p:sp>
          <p:nvSpPr>
            <p:cNvPr name="TextBox 44" id="44"/>
            <p:cNvSpPr txBox="true"/>
            <p:nvPr/>
          </p:nvSpPr>
          <p:spPr>
            <a:xfrm>
              <a:off x="0" y="-28575"/>
              <a:ext cx="5852160" cy="1674495"/>
            </a:xfrm>
            <a:prstGeom prst="rect">
              <a:avLst/>
            </a:prstGeom>
          </p:spPr>
          <p:txBody>
            <a:bodyPr anchor="ctr" rtlCol="false" tIns="0" lIns="0" bIns="0" rIns="0"/>
            <a:lstStyle/>
            <a:p>
              <a:pPr algn="l">
                <a:lnSpc>
                  <a:spcPts val="3213"/>
                </a:lnSpc>
              </a:pPr>
              <a:r>
                <a:rPr lang="en-US" sz="2550" b="true">
                  <a:solidFill>
                    <a:srgbClr val="1E2761"/>
                  </a:solidFill>
                  <a:latin typeface="Cambria Bold"/>
                  <a:ea typeface="Cambria Bold"/>
                  <a:cs typeface="Cambria Bold"/>
                  <a:sym typeface="Cambria Bold"/>
                </a:rPr>
                <a:t>Balanced</a:t>
              </a:r>
            </a:p>
            <a:p>
              <a:pPr algn="l">
                <a:lnSpc>
                  <a:spcPts val="3213"/>
                </a:lnSpc>
              </a:pPr>
              <a:r>
                <a:rPr lang="en-US" sz="2550" b="true">
                  <a:solidFill>
                    <a:srgbClr val="1E2761"/>
                  </a:solidFill>
                  <a:latin typeface="Cambria Bold"/>
                  <a:ea typeface="Cambria Bold"/>
                  <a:cs typeface="Cambria Bold"/>
                  <a:sym typeface="Cambria Bold"/>
                </a:rPr>
                <a:t>Scorecard</a:t>
              </a:r>
            </a:p>
          </p:txBody>
        </p:sp>
      </p:grpSp>
      <p:grpSp>
        <p:nvGrpSpPr>
          <p:cNvPr name="Group 45" id="45"/>
          <p:cNvGrpSpPr/>
          <p:nvPr/>
        </p:nvGrpSpPr>
        <p:grpSpPr>
          <a:xfrm rot="0">
            <a:off x="6995160" y="5829300"/>
            <a:ext cx="4389120" cy="3017520"/>
            <a:chOff x="0" y="0"/>
            <a:chExt cx="5852160" cy="4023360"/>
          </a:xfrm>
        </p:grpSpPr>
        <p:sp>
          <p:nvSpPr>
            <p:cNvPr name="Freeform 46" id="46"/>
            <p:cNvSpPr/>
            <p:nvPr/>
          </p:nvSpPr>
          <p:spPr>
            <a:xfrm flipH="false" flipV="false" rot="0">
              <a:off x="0" y="0"/>
              <a:ext cx="5852160" cy="4023360"/>
            </a:xfrm>
            <a:custGeom>
              <a:avLst/>
              <a:gdLst/>
              <a:ahLst/>
              <a:cxnLst/>
              <a:rect r="r" b="b" t="t" l="l"/>
              <a:pathLst>
                <a:path h="4023360" w="5852160">
                  <a:moveTo>
                    <a:pt x="0" y="0"/>
                  </a:moveTo>
                  <a:lnTo>
                    <a:pt x="5852160" y="0"/>
                  </a:lnTo>
                  <a:lnTo>
                    <a:pt x="5852160" y="4023360"/>
                  </a:lnTo>
                  <a:lnTo>
                    <a:pt x="0" y="4023360"/>
                  </a:lnTo>
                  <a:close/>
                </a:path>
              </a:pathLst>
            </a:custGeom>
            <a:blipFill>
              <a:blip r:embed="rId4">
                <a:alphaModFix amt="0"/>
              </a:blip>
              <a:stretch>
                <a:fillRect l="-38208" t="0" r="-38208" b="0"/>
              </a:stretch>
            </a:blipFill>
          </p:spPr>
        </p:sp>
        <p:sp>
          <p:nvSpPr>
            <p:cNvPr name="TextBox 47" id="47"/>
            <p:cNvSpPr txBox="true"/>
            <p:nvPr/>
          </p:nvSpPr>
          <p:spPr>
            <a:xfrm>
              <a:off x="0" y="-104775"/>
              <a:ext cx="5852160" cy="4128135"/>
            </a:xfrm>
            <a:prstGeom prst="rect">
              <a:avLst/>
            </a:prstGeom>
          </p:spPr>
          <p:txBody>
            <a:bodyPr anchor="ctr" rtlCol="false" tIns="0" lIns="0" bIns="0" rIns="0"/>
            <a:lstStyle/>
            <a:p>
              <a:pPr algn="l">
                <a:lnSpc>
                  <a:spcPts val="2925"/>
                </a:lnSpc>
              </a:pPr>
              <a:r>
                <a:rPr lang="en-US" sz="1875">
                  <a:solidFill>
                    <a:srgbClr val="1B1F3B"/>
                  </a:solidFill>
                  <a:latin typeface="Calibri (MS)"/>
                  <a:ea typeface="Calibri (MS)"/>
                  <a:cs typeface="Calibri (MS)"/>
                  <a:sym typeface="Calibri (MS)"/>
                </a:rPr>
                <a:t>View security across four lenses: financial, customer, internal process, and learning/growth.</a:t>
              </a:r>
            </a:p>
          </p:txBody>
        </p:sp>
      </p:grpSp>
      <p:grpSp>
        <p:nvGrpSpPr>
          <p:cNvPr name="Group 48" id="48"/>
          <p:cNvGrpSpPr/>
          <p:nvPr/>
        </p:nvGrpSpPr>
        <p:grpSpPr>
          <a:xfrm rot="0">
            <a:off x="12207240" y="2948940"/>
            <a:ext cx="5349240" cy="6172200"/>
            <a:chOff x="0" y="0"/>
            <a:chExt cx="7132320" cy="8229600"/>
          </a:xfrm>
        </p:grpSpPr>
        <p:sp>
          <p:nvSpPr>
            <p:cNvPr name="Freeform 49" id="49"/>
            <p:cNvSpPr/>
            <p:nvPr/>
          </p:nvSpPr>
          <p:spPr>
            <a:xfrm flipH="false" flipV="false" rot="0">
              <a:off x="0" y="0"/>
              <a:ext cx="7132320" cy="8229600"/>
            </a:xfrm>
            <a:custGeom>
              <a:avLst/>
              <a:gdLst/>
              <a:ahLst/>
              <a:cxnLst/>
              <a:rect r="r" b="b" t="t" l="l"/>
              <a:pathLst>
                <a:path h="8229600" w="7132320">
                  <a:moveTo>
                    <a:pt x="0" y="219456"/>
                  </a:moveTo>
                  <a:cubicBezTo>
                    <a:pt x="0" y="98298"/>
                    <a:pt x="98298" y="0"/>
                    <a:pt x="219456" y="0"/>
                  </a:cubicBezTo>
                  <a:lnTo>
                    <a:pt x="6912864" y="0"/>
                  </a:lnTo>
                  <a:cubicBezTo>
                    <a:pt x="7034022" y="0"/>
                    <a:pt x="7132320" y="98298"/>
                    <a:pt x="7132320" y="219456"/>
                  </a:cubicBezTo>
                  <a:lnTo>
                    <a:pt x="7132320" y="8010144"/>
                  </a:lnTo>
                  <a:cubicBezTo>
                    <a:pt x="7132320" y="8131301"/>
                    <a:pt x="7034022" y="8229600"/>
                    <a:pt x="6912864" y="8229600"/>
                  </a:cubicBezTo>
                  <a:lnTo>
                    <a:pt x="219456" y="8229600"/>
                  </a:lnTo>
                  <a:cubicBezTo>
                    <a:pt x="98298" y="8229600"/>
                    <a:pt x="0" y="8131302"/>
                    <a:pt x="0" y="8010144"/>
                  </a:cubicBezTo>
                  <a:close/>
                </a:path>
              </a:pathLst>
            </a:custGeom>
            <a:solidFill>
              <a:srgbClr val="F3F5FC"/>
            </a:solidFill>
          </p:spPr>
        </p:sp>
      </p:grpSp>
      <p:grpSp>
        <p:nvGrpSpPr>
          <p:cNvPr name="Group 50" id="50"/>
          <p:cNvGrpSpPr/>
          <p:nvPr/>
        </p:nvGrpSpPr>
        <p:grpSpPr>
          <a:xfrm rot="0">
            <a:off x="12687300" y="3429000"/>
            <a:ext cx="822960" cy="822960"/>
            <a:chOff x="0" y="0"/>
            <a:chExt cx="1097280" cy="1097280"/>
          </a:xfrm>
        </p:grpSpPr>
        <p:sp>
          <p:nvSpPr>
            <p:cNvPr name="Freeform 51" id="51"/>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1E2761"/>
            </a:solidFill>
          </p:spPr>
        </p:sp>
      </p:grpSp>
      <p:grpSp>
        <p:nvGrpSpPr>
          <p:cNvPr name="Group 52" id="52"/>
          <p:cNvGrpSpPr/>
          <p:nvPr/>
        </p:nvGrpSpPr>
        <p:grpSpPr>
          <a:xfrm rot="0">
            <a:off x="12687300" y="3429000"/>
            <a:ext cx="822960" cy="822960"/>
            <a:chOff x="0" y="0"/>
            <a:chExt cx="1097280" cy="1097280"/>
          </a:xfrm>
        </p:grpSpPr>
        <p:sp>
          <p:nvSpPr>
            <p:cNvPr name="Freeform 53" id="5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03" t="0" r="-78303" b="0"/>
              </a:stretch>
            </a:blipFill>
          </p:spPr>
        </p:sp>
        <p:sp>
          <p:nvSpPr>
            <p:cNvPr name="TextBox 54" id="54"/>
            <p:cNvSpPr txBox="true"/>
            <p:nvPr/>
          </p:nvSpPr>
          <p:spPr>
            <a:xfrm>
              <a:off x="0" y="-66675"/>
              <a:ext cx="1097280" cy="1163955"/>
            </a:xfrm>
            <a:prstGeom prst="rect">
              <a:avLst/>
            </a:prstGeom>
          </p:spPr>
          <p:txBody>
            <a:bodyPr anchor="ctr" rtlCol="false" tIns="0" lIns="0" bIns="0" rIns="0"/>
            <a:lstStyle/>
            <a:p>
              <a:pPr algn="ctr">
                <a:lnSpc>
                  <a:spcPts val="3960"/>
                </a:lnSpc>
              </a:pPr>
              <a:r>
                <a:rPr lang="en-US" sz="3300" b="true">
                  <a:solidFill>
                    <a:srgbClr val="FFFFFF"/>
                  </a:solidFill>
                  <a:latin typeface="Calibri (MS) Bold"/>
                  <a:ea typeface="Calibri (MS) Bold"/>
                  <a:cs typeface="Calibri (MS) Bold"/>
                  <a:sym typeface="Calibri (MS) Bold"/>
                </a:rPr>
                <a:t>3</a:t>
              </a:r>
            </a:p>
          </p:txBody>
        </p:sp>
      </p:grpSp>
      <p:grpSp>
        <p:nvGrpSpPr>
          <p:cNvPr name="Group 55" id="55"/>
          <p:cNvGrpSpPr/>
          <p:nvPr/>
        </p:nvGrpSpPr>
        <p:grpSpPr>
          <a:xfrm rot="0">
            <a:off x="12687300" y="4526280"/>
            <a:ext cx="4389120" cy="1234440"/>
            <a:chOff x="0" y="0"/>
            <a:chExt cx="5852160" cy="1645920"/>
          </a:xfrm>
        </p:grpSpPr>
        <p:sp>
          <p:nvSpPr>
            <p:cNvPr name="Freeform 56" id="56"/>
            <p:cNvSpPr/>
            <p:nvPr/>
          </p:nvSpPr>
          <p:spPr>
            <a:xfrm flipH="false" flipV="false" rot="0">
              <a:off x="0" y="0"/>
              <a:ext cx="5852160" cy="1645920"/>
            </a:xfrm>
            <a:custGeom>
              <a:avLst/>
              <a:gdLst/>
              <a:ahLst/>
              <a:cxnLst/>
              <a:rect r="r" b="b" t="t" l="l"/>
              <a:pathLst>
                <a:path h="1645920" w="5852160">
                  <a:moveTo>
                    <a:pt x="0" y="0"/>
                  </a:moveTo>
                  <a:lnTo>
                    <a:pt x="5852160" y="0"/>
                  </a:lnTo>
                  <a:lnTo>
                    <a:pt x="5852160" y="1645920"/>
                  </a:lnTo>
                  <a:lnTo>
                    <a:pt x="0" y="1645920"/>
                  </a:lnTo>
                  <a:close/>
                </a:path>
              </a:pathLst>
            </a:custGeom>
            <a:blipFill>
              <a:blip r:embed="rId4">
                <a:alphaModFix amt="0"/>
              </a:blip>
              <a:stretch>
                <a:fillRect l="0" t="-19280" r="0" b="-19280"/>
              </a:stretch>
            </a:blipFill>
          </p:spPr>
        </p:sp>
        <p:sp>
          <p:nvSpPr>
            <p:cNvPr name="TextBox 57" id="57"/>
            <p:cNvSpPr txBox="true"/>
            <p:nvPr/>
          </p:nvSpPr>
          <p:spPr>
            <a:xfrm>
              <a:off x="0" y="-28575"/>
              <a:ext cx="5852160" cy="1674495"/>
            </a:xfrm>
            <a:prstGeom prst="rect">
              <a:avLst/>
            </a:prstGeom>
          </p:spPr>
          <p:txBody>
            <a:bodyPr anchor="ctr" rtlCol="false" tIns="0" lIns="0" bIns="0" rIns="0"/>
            <a:lstStyle/>
            <a:p>
              <a:pPr algn="l">
                <a:lnSpc>
                  <a:spcPts val="3213"/>
                </a:lnSpc>
              </a:pPr>
              <a:r>
                <a:rPr lang="en-US" sz="2550" b="true">
                  <a:solidFill>
                    <a:srgbClr val="1E2761"/>
                  </a:solidFill>
                  <a:latin typeface="Cambria Bold"/>
                  <a:ea typeface="Cambria Bold"/>
                  <a:cs typeface="Cambria Bold"/>
                  <a:sym typeface="Cambria Bold"/>
                </a:rPr>
                <a:t>NIST SP 800-55</a:t>
              </a:r>
            </a:p>
            <a:p>
              <a:pPr algn="l">
                <a:lnSpc>
                  <a:spcPts val="3213"/>
                </a:lnSpc>
              </a:pPr>
              <a:r>
                <a:rPr lang="en-US" sz="2550" b="true">
                  <a:solidFill>
                    <a:srgbClr val="1E2761"/>
                  </a:solidFill>
                  <a:latin typeface="Cambria Bold"/>
                  <a:ea typeface="Cambria Bold"/>
                  <a:cs typeface="Cambria Bold"/>
                  <a:sym typeface="Cambria Bold"/>
                </a:rPr>
                <a:t>Three-Tier Model</a:t>
              </a:r>
            </a:p>
          </p:txBody>
        </p:sp>
      </p:grpSp>
      <p:grpSp>
        <p:nvGrpSpPr>
          <p:cNvPr name="Group 58" id="58"/>
          <p:cNvGrpSpPr/>
          <p:nvPr/>
        </p:nvGrpSpPr>
        <p:grpSpPr>
          <a:xfrm rot="0">
            <a:off x="12687300" y="5829300"/>
            <a:ext cx="4389120" cy="3017520"/>
            <a:chOff x="0" y="0"/>
            <a:chExt cx="5852160" cy="4023360"/>
          </a:xfrm>
        </p:grpSpPr>
        <p:sp>
          <p:nvSpPr>
            <p:cNvPr name="Freeform 59" id="59"/>
            <p:cNvSpPr/>
            <p:nvPr/>
          </p:nvSpPr>
          <p:spPr>
            <a:xfrm flipH="false" flipV="false" rot="0">
              <a:off x="0" y="0"/>
              <a:ext cx="5852160" cy="4023360"/>
            </a:xfrm>
            <a:custGeom>
              <a:avLst/>
              <a:gdLst/>
              <a:ahLst/>
              <a:cxnLst/>
              <a:rect r="r" b="b" t="t" l="l"/>
              <a:pathLst>
                <a:path h="4023360" w="5852160">
                  <a:moveTo>
                    <a:pt x="0" y="0"/>
                  </a:moveTo>
                  <a:lnTo>
                    <a:pt x="5852160" y="0"/>
                  </a:lnTo>
                  <a:lnTo>
                    <a:pt x="5852160" y="4023360"/>
                  </a:lnTo>
                  <a:lnTo>
                    <a:pt x="0" y="4023360"/>
                  </a:lnTo>
                  <a:close/>
                </a:path>
              </a:pathLst>
            </a:custGeom>
            <a:blipFill>
              <a:blip r:embed="rId4">
                <a:alphaModFix amt="0"/>
              </a:blip>
              <a:stretch>
                <a:fillRect l="-38208" t="0" r="-38208" b="0"/>
              </a:stretch>
            </a:blipFill>
          </p:spPr>
        </p:sp>
        <p:sp>
          <p:nvSpPr>
            <p:cNvPr name="TextBox 60" id="60"/>
            <p:cNvSpPr txBox="true"/>
            <p:nvPr/>
          </p:nvSpPr>
          <p:spPr>
            <a:xfrm>
              <a:off x="0" y="-104775"/>
              <a:ext cx="5852160" cy="4128135"/>
            </a:xfrm>
            <a:prstGeom prst="rect">
              <a:avLst/>
            </a:prstGeom>
          </p:spPr>
          <p:txBody>
            <a:bodyPr anchor="ctr" rtlCol="false" tIns="0" lIns="0" bIns="0" rIns="0"/>
            <a:lstStyle/>
            <a:p>
              <a:pPr algn="l">
                <a:lnSpc>
                  <a:spcPts val="2925"/>
                </a:lnSpc>
              </a:pPr>
              <a:r>
                <a:rPr lang="en-US" sz="1875">
                  <a:solidFill>
                    <a:srgbClr val="1B1F3B"/>
                  </a:solidFill>
                  <a:latin typeface="Calibri (MS)"/>
                  <a:ea typeface="Calibri (MS)"/>
                  <a:cs typeface="Calibri (MS)"/>
                  <a:sym typeface="Calibri (MS)"/>
                </a:rPr>
                <a:t>Measure at the implementation, effectiveness/efficiency, and mission-impact levels.</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47625"/>
              <a:ext cx="1848158" cy="3198609"/>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498034" y="2355594"/>
            <a:ext cx="15291933" cy="5575813"/>
            <a:chOff x="0" y="0"/>
            <a:chExt cx="4027505" cy="1468527"/>
          </a:xfrm>
        </p:grpSpPr>
        <p:sp>
          <p:nvSpPr>
            <p:cNvPr name="Freeform 6" id="6"/>
            <p:cNvSpPr/>
            <p:nvPr/>
          </p:nvSpPr>
          <p:spPr>
            <a:xfrm flipH="false" flipV="false" rot="0">
              <a:off x="0" y="0"/>
              <a:ext cx="4027505" cy="1468527"/>
            </a:xfrm>
            <a:custGeom>
              <a:avLst/>
              <a:gdLst/>
              <a:ahLst/>
              <a:cxnLst/>
              <a:rect r="r" b="b" t="t" l="l"/>
              <a:pathLst>
                <a:path h="1468527" w="4027505">
                  <a:moveTo>
                    <a:pt x="0" y="0"/>
                  </a:moveTo>
                  <a:lnTo>
                    <a:pt x="4027505" y="0"/>
                  </a:lnTo>
                  <a:lnTo>
                    <a:pt x="4027505" y="1468527"/>
                  </a:lnTo>
                  <a:lnTo>
                    <a:pt x="0" y="1468527"/>
                  </a:lnTo>
                  <a:close/>
                </a:path>
              </a:pathLst>
            </a:custGeom>
            <a:solidFill>
              <a:srgbClr val="FFFFFF"/>
            </a:solidFill>
          </p:spPr>
        </p:sp>
        <p:sp>
          <p:nvSpPr>
            <p:cNvPr name="TextBox 7" id="7"/>
            <p:cNvSpPr txBox="true"/>
            <p:nvPr/>
          </p:nvSpPr>
          <p:spPr>
            <a:xfrm>
              <a:off x="0" y="-47625"/>
              <a:ext cx="4027505" cy="1516152"/>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1498034" y="2355594"/>
            <a:ext cx="956740" cy="5575813"/>
            <a:chOff x="0" y="0"/>
            <a:chExt cx="251981" cy="1468527"/>
          </a:xfrm>
        </p:grpSpPr>
        <p:sp>
          <p:nvSpPr>
            <p:cNvPr name="Freeform 9" id="9"/>
            <p:cNvSpPr/>
            <p:nvPr/>
          </p:nvSpPr>
          <p:spPr>
            <a:xfrm flipH="false" flipV="false" rot="0">
              <a:off x="0" y="0"/>
              <a:ext cx="251981" cy="1468527"/>
            </a:xfrm>
            <a:custGeom>
              <a:avLst/>
              <a:gdLst/>
              <a:ahLst/>
              <a:cxnLst/>
              <a:rect r="r" b="b" t="t" l="l"/>
              <a:pathLst>
                <a:path h="1468527" w="251981">
                  <a:moveTo>
                    <a:pt x="0" y="0"/>
                  </a:moveTo>
                  <a:lnTo>
                    <a:pt x="251981" y="0"/>
                  </a:lnTo>
                  <a:lnTo>
                    <a:pt x="251981" y="1468527"/>
                  </a:lnTo>
                  <a:lnTo>
                    <a:pt x="0" y="1468527"/>
                  </a:lnTo>
                  <a:close/>
                </a:path>
              </a:pathLst>
            </a:custGeom>
            <a:solidFill>
              <a:srgbClr val="FFD076"/>
            </a:solidFill>
          </p:spPr>
        </p:sp>
        <p:sp>
          <p:nvSpPr>
            <p:cNvPr name="TextBox 10" id="10"/>
            <p:cNvSpPr txBox="true"/>
            <p:nvPr/>
          </p:nvSpPr>
          <p:spPr>
            <a:xfrm>
              <a:off x="0" y="-47625"/>
              <a:ext cx="251981" cy="1516152"/>
            </a:xfrm>
            <a:prstGeom prst="rect">
              <a:avLst/>
            </a:prstGeom>
          </p:spPr>
          <p:txBody>
            <a:bodyPr anchor="ctr" rtlCol="false" tIns="50800" lIns="50800" bIns="50800" rIns="50800"/>
            <a:lstStyle/>
            <a:p>
              <a:pPr algn="ctr">
                <a:lnSpc>
                  <a:spcPts val="3560"/>
                </a:lnSpc>
              </a:pPr>
            </a:p>
          </p:txBody>
        </p:sp>
      </p:grpSp>
      <p:sp>
        <p:nvSpPr>
          <p:cNvPr name="Freeform 11" id="11"/>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5981039" y="9462044"/>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CORTEZ</a:t>
            </a:r>
          </a:p>
        </p:txBody>
      </p:sp>
      <p:grpSp>
        <p:nvGrpSpPr>
          <p:cNvPr name="Group 13" id="13"/>
          <p:cNvGrpSpPr/>
          <p:nvPr/>
        </p:nvGrpSpPr>
        <p:grpSpPr>
          <a:xfrm rot="0">
            <a:off x="822960" y="548640"/>
            <a:ext cx="5486400" cy="548640"/>
            <a:chOff x="0" y="0"/>
            <a:chExt cx="7315200" cy="731520"/>
          </a:xfrm>
        </p:grpSpPr>
        <p:sp>
          <p:nvSpPr>
            <p:cNvPr name="Freeform 14" id="14"/>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4">
                <a:alphaModFix amt="0"/>
              </a:blip>
              <a:stretch>
                <a:fillRect l="0" t="-144850" r="0" b="-144850"/>
              </a:stretch>
            </a:blipFill>
          </p:spPr>
        </p:sp>
        <p:sp>
          <p:nvSpPr>
            <p:cNvPr name="TextBox 15" id="15"/>
            <p:cNvSpPr txBox="true"/>
            <p:nvPr/>
          </p:nvSpPr>
          <p:spPr>
            <a:xfrm>
              <a:off x="0" y="-47625"/>
              <a:ext cx="7315200" cy="779145"/>
            </a:xfrm>
            <a:prstGeom prst="rect">
              <a:avLst/>
            </a:prstGeom>
          </p:spPr>
          <p:txBody>
            <a:bodyPr anchor="ctr" rtlCol="false" tIns="0" lIns="0" bIns="0" rIns="0"/>
            <a:lstStyle/>
            <a:p>
              <a:pPr algn="l">
                <a:lnSpc>
                  <a:spcPts val="2520"/>
                </a:lnSpc>
              </a:pPr>
              <a:r>
                <a:rPr lang="en-US" sz="2100" b="true">
                  <a:solidFill>
                    <a:srgbClr val="C9A227"/>
                  </a:solidFill>
                  <a:latin typeface="Calibri (MS) Bold"/>
                  <a:ea typeface="Calibri (MS) Bold"/>
                  <a:cs typeface="Calibri (MS) Bold"/>
                  <a:sym typeface="Calibri (MS) Bold"/>
                </a:rPr>
                <a:t>Approach 1</a:t>
              </a:r>
            </a:p>
          </p:txBody>
        </p:sp>
      </p:grpSp>
      <p:grpSp>
        <p:nvGrpSpPr>
          <p:cNvPr name="Group 16" id="16"/>
          <p:cNvGrpSpPr/>
          <p:nvPr/>
        </p:nvGrpSpPr>
        <p:grpSpPr>
          <a:xfrm rot="0">
            <a:off x="822960" y="1028700"/>
            <a:ext cx="15087600" cy="960120"/>
            <a:chOff x="0" y="0"/>
            <a:chExt cx="20116800" cy="1280160"/>
          </a:xfrm>
        </p:grpSpPr>
        <p:sp>
          <p:nvSpPr>
            <p:cNvPr name="Freeform 17" id="17"/>
            <p:cNvSpPr/>
            <p:nvPr/>
          </p:nvSpPr>
          <p:spPr>
            <a:xfrm flipH="false" flipV="false" rot="0">
              <a:off x="0" y="0"/>
              <a:ext cx="20116800" cy="1280160"/>
            </a:xfrm>
            <a:custGeom>
              <a:avLst/>
              <a:gdLst/>
              <a:ahLst/>
              <a:cxnLst/>
              <a:rect r="r" b="b" t="t" l="l"/>
              <a:pathLst>
                <a:path h="1280160" w="20116800">
                  <a:moveTo>
                    <a:pt x="0" y="0"/>
                  </a:moveTo>
                  <a:lnTo>
                    <a:pt x="20116800" y="0"/>
                  </a:lnTo>
                  <a:lnTo>
                    <a:pt x="20116800" y="1280160"/>
                  </a:lnTo>
                  <a:lnTo>
                    <a:pt x="0" y="1280160"/>
                  </a:lnTo>
                  <a:close/>
                </a:path>
              </a:pathLst>
            </a:custGeom>
            <a:blipFill>
              <a:blip r:embed="rId4">
                <a:alphaModFix amt="0"/>
              </a:blip>
              <a:stretch>
                <a:fillRect l="0" t="-256193" r="0" b="-256193"/>
              </a:stretch>
            </a:blipFill>
          </p:spPr>
        </p:sp>
        <p:sp>
          <p:nvSpPr>
            <p:cNvPr name="TextBox 18" id="18"/>
            <p:cNvSpPr txBox="true"/>
            <p:nvPr/>
          </p:nvSpPr>
          <p:spPr>
            <a:xfrm>
              <a:off x="0" y="-9525"/>
              <a:ext cx="20116800" cy="1289685"/>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Goal-Question-Metric (GQM) Method</a:t>
              </a:r>
            </a:p>
          </p:txBody>
        </p:sp>
      </p:grpSp>
      <p:grpSp>
        <p:nvGrpSpPr>
          <p:cNvPr name="Group 19" id="19"/>
          <p:cNvGrpSpPr/>
          <p:nvPr/>
        </p:nvGrpSpPr>
        <p:grpSpPr>
          <a:xfrm rot="0">
            <a:off x="1498034" y="2486154"/>
            <a:ext cx="754380" cy="754380"/>
            <a:chOff x="0" y="0"/>
            <a:chExt cx="1005840" cy="1005840"/>
          </a:xfrm>
        </p:grpSpPr>
        <p:sp>
          <p:nvSpPr>
            <p:cNvPr name="Freeform 20" id="2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21" id="21"/>
          <p:cNvGrpSpPr/>
          <p:nvPr/>
        </p:nvGrpSpPr>
        <p:grpSpPr>
          <a:xfrm rot="0">
            <a:off x="1498034" y="2486154"/>
            <a:ext cx="754380" cy="754380"/>
            <a:chOff x="0" y="0"/>
            <a:chExt cx="1005840" cy="1005840"/>
          </a:xfrm>
        </p:grpSpPr>
        <p:sp>
          <p:nvSpPr>
            <p:cNvPr name="Freeform 22" id="22"/>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4">
                <a:alphaModFix amt="0"/>
              </a:blip>
              <a:stretch>
                <a:fillRect l="-78303" t="0" r="-78303" b="0"/>
              </a:stretch>
            </a:blipFill>
          </p:spPr>
        </p:sp>
        <p:sp>
          <p:nvSpPr>
            <p:cNvPr name="TextBox 23" id="23"/>
            <p:cNvSpPr txBox="true"/>
            <p:nvPr/>
          </p:nvSpPr>
          <p:spPr>
            <a:xfrm>
              <a:off x="0" y="-85725"/>
              <a:ext cx="1005840" cy="1091565"/>
            </a:xfrm>
            <a:prstGeom prst="rect">
              <a:avLst/>
            </a:prstGeom>
          </p:spPr>
          <p:txBody>
            <a:bodyPr anchor="ctr" rtlCol="false" tIns="0" lIns="0" bIns="0" rIns="0"/>
            <a:lstStyle/>
            <a:p>
              <a:pPr algn="ctr">
                <a:lnSpc>
                  <a:spcPts val="4319"/>
                </a:lnSpc>
              </a:pPr>
              <a:r>
                <a:rPr lang="en-US" sz="3599" b="true">
                  <a:solidFill>
                    <a:srgbClr val="FFFFFF"/>
                  </a:solidFill>
                  <a:latin typeface="Calibri (MS) Bold"/>
                  <a:ea typeface="Calibri (MS) Bold"/>
                  <a:cs typeface="Calibri (MS) Bold"/>
                  <a:sym typeface="Calibri (MS) Bold"/>
                </a:rPr>
                <a:t>1</a:t>
              </a:r>
            </a:p>
          </p:txBody>
        </p:sp>
      </p:grpSp>
      <p:grpSp>
        <p:nvGrpSpPr>
          <p:cNvPr name="Group 24" id="24"/>
          <p:cNvGrpSpPr/>
          <p:nvPr/>
        </p:nvGrpSpPr>
        <p:grpSpPr>
          <a:xfrm rot="0">
            <a:off x="2526734" y="2376426"/>
            <a:ext cx="2743200" cy="631542"/>
            <a:chOff x="0" y="0"/>
            <a:chExt cx="3657600" cy="842056"/>
          </a:xfrm>
        </p:grpSpPr>
        <p:sp>
          <p:nvSpPr>
            <p:cNvPr name="Freeform 25" id="25"/>
            <p:cNvSpPr/>
            <p:nvPr/>
          </p:nvSpPr>
          <p:spPr>
            <a:xfrm flipH="false" flipV="false" rot="0">
              <a:off x="0" y="0"/>
              <a:ext cx="3657600" cy="842056"/>
            </a:xfrm>
            <a:custGeom>
              <a:avLst/>
              <a:gdLst/>
              <a:ahLst/>
              <a:cxnLst/>
              <a:rect r="r" b="b" t="t" l="l"/>
              <a:pathLst>
                <a:path h="842056" w="3657600">
                  <a:moveTo>
                    <a:pt x="0" y="0"/>
                  </a:moveTo>
                  <a:lnTo>
                    <a:pt x="3657600" y="0"/>
                  </a:lnTo>
                  <a:lnTo>
                    <a:pt x="3657600" y="842056"/>
                  </a:lnTo>
                  <a:lnTo>
                    <a:pt x="0" y="842056"/>
                  </a:lnTo>
                  <a:close/>
                </a:path>
              </a:pathLst>
            </a:custGeom>
            <a:blipFill>
              <a:blip r:embed="rId4">
                <a:alphaModFix amt="0"/>
              </a:blip>
              <a:stretch>
                <a:fillRect l="0" t="-41199" r="0" b="-28072"/>
              </a:stretch>
            </a:blipFill>
          </p:spPr>
        </p:sp>
        <p:sp>
          <p:nvSpPr>
            <p:cNvPr name="TextBox 26" id="26"/>
            <p:cNvSpPr txBox="true"/>
            <p:nvPr/>
          </p:nvSpPr>
          <p:spPr>
            <a:xfrm>
              <a:off x="0" y="-66675"/>
              <a:ext cx="3657600" cy="908731"/>
            </a:xfrm>
            <a:prstGeom prst="rect">
              <a:avLst/>
            </a:prstGeom>
          </p:spPr>
          <p:txBody>
            <a:bodyPr anchor="ctr" rtlCol="false" tIns="0" lIns="0" bIns="0" rIns="0"/>
            <a:lstStyle/>
            <a:p>
              <a:pPr algn="l">
                <a:lnSpc>
                  <a:spcPts val="3779"/>
                </a:lnSpc>
              </a:pPr>
              <a:r>
                <a:rPr lang="en-US" sz="3149" b="true">
                  <a:solidFill>
                    <a:srgbClr val="1E2761"/>
                  </a:solidFill>
                  <a:latin typeface="Calibri (MS) Bold"/>
                  <a:ea typeface="Calibri (MS) Bold"/>
                  <a:cs typeface="Calibri (MS) Bold"/>
                  <a:sym typeface="Calibri (MS) Bold"/>
                </a:rPr>
                <a:t>GOAL</a:t>
              </a:r>
            </a:p>
          </p:txBody>
        </p:sp>
      </p:grpSp>
      <p:grpSp>
        <p:nvGrpSpPr>
          <p:cNvPr name="Group 27" id="27"/>
          <p:cNvGrpSpPr/>
          <p:nvPr/>
        </p:nvGrpSpPr>
        <p:grpSpPr>
          <a:xfrm rot="0">
            <a:off x="2526734" y="2925066"/>
            <a:ext cx="7955280" cy="754380"/>
            <a:chOff x="0" y="0"/>
            <a:chExt cx="10607040" cy="1005840"/>
          </a:xfrm>
        </p:grpSpPr>
        <p:sp>
          <p:nvSpPr>
            <p:cNvPr name="Freeform 28" id="28"/>
            <p:cNvSpPr/>
            <p:nvPr/>
          </p:nvSpPr>
          <p:spPr>
            <a:xfrm flipH="false" flipV="false" rot="0">
              <a:off x="0" y="0"/>
              <a:ext cx="10607040" cy="1005840"/>
            </a:xfrm>
            <a:custGeom>
              <a:avLst/>
              <a:gdLst/>
              <a:ahLst/>
              <a:cxnLst/>
              <a:rect r="r" b="b" t="t" l="l"/>
              <a:pathLst>
                <a:path h="1005840" w="10607040">
                  <a:moveTo>
                    <a:pt x="0" y="0"/>
                  </a:moveTo>
                  <a:lnTo>
                    <a:pt x="10607040" y="0"/>
                  </a:lnTo>
                  <a:lnTo>
                    <a:pt x="10607040" y="1005840"/>
                  </a:lnTo>
                  <a:lnTo>
                    <a:pt x="0" y="1005840"/>
                  </a:lnTo>
                  <a:close/>
                </a:path>
              </a:pathLst>
            </a:custGeom>
            <a:blipFill>
              <a:blip r:embed="rId4">
                <a:alphaModFix amt="0"/>
              </a:blip>
              <a:stretch>
                <a:fillRect l="0" t="-155478" r="0" b="-155478"/>
              </a:stretch>
            </a:blipFill>
          </p:spPr>
        </p:sp>
        <p:sp>
          <p:nvSpPr>
            <p:cNvPr name="TextBox 29" id="29"/>
            <p:cNvSpPr txBox="true"/>
            <p:nvPr/>
          </p:nvSpPr>
          <p:spPr>
            <a:xfrm>
              <a:off x="0" y="-123825"/>
              <a:ext cx="10607040" cy="1129665"/>
            </a:xfrm>
            <a:prstGeom prst="rect">
              <a:avLst/>
            </a:prstGeom>
          </p:spPr>
          <p:txBody>
            <a:bodyPr anchor="ctr" rtlCol="false" tIns="0" lIns="0" bIns="0" rIns="0"/>
            <a:lstStyle/>
            <a:p>
              <a:pPr algn="l">
                <a:lnSpc>
                  <a:spcPts val="3995"/>
                </a:lnSpc>
              </a:pPr>
              <a:r>
                <a:rPr lang="en-US" sz="2774">
                  <a:solidFill>
                    <a:srgbClr val="1B1F3B"/>
                  </a:solidFill>
                  <a:latin typeface="Calibri (MS)"/>
                  <a:ea typeface="Calibri (MS)"/>
                  <a:cs typeface="Calibri (MS)"/>
                  <a:sym typeface="Calibri (MS)"/>
                </a:rPr>
                <a:t>Define what the organization wants to achieve</a:t>
              </a:r>
            </a:p>
          </p:txBody>
        </p:sp>
      </p:grpSp>
      <p:grpSp>
        <p:nvGrpSpPr>
          <p:cNvPr name="Group 30" id="30"/>
          <p:cNvGrpSpPr/>
          <p:nvPr/>
        </p:nvGrpSpPr>
        <p:grpSpPr>
          <a:xfrm rot="0">
            <a:off x="10287000" y="2221992"/>
            <a:ext cx="7132320" cy="1303020"/>
            <a:chOff x="0" y="0"/>
            <a:chExt cx="9509760" cy="1737360"/>
          </a:xfrm>
        </p:grpSpPr>
        <p:sp>
          <p:nvSpPr>
            <p:cNvPr name="Freeform 31" id="31"/>
            <p:cNvSpPr/>
            <p:nvPr/>
          </p:nvSpPr>
          <p:spPr>
            <a:xfrm flipH="false" flipV="false" rot="0">
              <a:off x="0" y="0"/>
              <a:ext cx="9509760" cy="1737360"/>
            </a:xfrm>
            <a:custGeom>
              <a:avLst/>
              <a:gdLst/>
              <a:ahLst/>
              <a:cxnLst/>
              <a:rect r="r" b="b" t="t" l="l"/>
              <a:pathLst>
                <a:path h="1737360" w="9509760">
                  <a:moveTo>
                    <a:pt x="0" y="182880"/>
                  </a:moveTo>
                  <a:cubicBezTo>
                    <a:pt x="0" y="81915"/>
                    <a:pt x="81915" y="0"/>
                    <a:pt x="182880" y="0"/>
                  </a:cubicBezTo>
                  <a:lnTo>
                    <a:pt x="9326880" y="0"/>
                  </a:lnTo>
                  <a:cubicBezTo>
                    <a:pt x="9427845" y="0"/>
                    <a:pt x="9509760" y="81915"/>
                    <a:pt x="9509760" y="182880"/>
                  </a:cubicBezTo>
                  <a:lnTo>
                    <a:pt x="9509760" y="1554480"/>
                  </a:lnTo>
                  <a:cubicBezTo>
                    <a:pt x="9509760" y="1655445"/>
                    <a:pt x="9427845" y="1737360"/>
                    <a:pt x="9326880" y="1737360"/>
                  </a:cubicBezTo>
                  <a:lnTo>
                    <a:pt x="182880" y="1737360"/>
                  </a:lnTo>
                  <a:cubicBezTo>
                    <a:pt x="81915" y="1737360"/>
                    <a:pt x="0" y="1655445"/>
                    <a:pt x="0" y="1554480"/>
                  </a:cubicBezTo>
                  <a:close/>
                </a:path>
              </a:pathLst>
            </a:custGeom>
            <a:solidFill>
              <a:srgbClr val="F3F5FC"/>
            </a:solidFill>
          </p:spPr>
        </p:sp>
      </p:grpSp>
      <p:grpSp>
        <p:nvGrpSpPr>
          <p:cNvPr name="Group 32" id="32"/>
          <p:cNvGrpSpPr/>
          <p:nvPr/>
        </p:nvGrpSpPr>
        <p:grpSpPr>
          <a:xfrm rot="0">
            <a:off x="10629900" y="2304288"/>
            <a:ext cx="6446520" cy="1165860"/>
            <a:chOff x="0" y="0"/>
            <a:chExt cx="8595360" cy="1554480"/>
          </a:xfrm>
        </p:grpSpPr>
        <p:sp>
          <p:nvSpPr>
            <p:cNvPr name="Freeform 33" id="33"/>
            <p:cNvSpPr/>
            <p:nvPr/>
          </p:nvSpPr>
          <p:spPr>
            <a:xfrm flipH="false" flipV="false" rot="0">
              <a:off x="0" y="0"/>
              <a:ext cx="8595360" cy="1554480"/>
            </a:xfrm>
            <a:custGeom>
              <a:avLst/>
              <a:gdLst/>
              <a:ahLst/>
              <a:cxnLst/>
              <a:rect r="r" b="b" t="t" l="l"/>
              <a:pathLst>
                <a:path h="1554480" w="8595360">
                  <a:moveTo>
                    <a:pt x="0" y="0"/>
                  </a:moveTo>
                  <a:lnTo>
                    <a:pt x="8595360" y="0"/>
                  </a:lnTo>
                  <a:lnTo>
                    <a:pt x="8595360" y="1554480"/>
                  </a:lnTo>
                  <a:lnTo>
                    <a:pt x="0" y="1554480"/>
                  </a:lnTo>
                  <a:close/>
                </a:path>
              </a:pathLst>
            </a:custGeom>
            <a:blipFill>
              <a:blip r:embed="rId4">
                <a:alphaModFix amt="0"/>
              </a:blip>
              <a:stretch>
                <a:fillRect l="0" t="-57740" r="0" b="-57740"/>
              </a:stretch>
            </a:blipFill>
          </p:spPr>
        </p:sp>
        <p:sp>
          <p:nvSpPr>
            <p:cNvPr name="TextBox 34" id="34"/>
            <p:cNvSpPr txBox="true"/>
            <p:nvPr/>
          </p:nvSpPr>
          <p:spPr>
            <a:xfrm>
              <a:off x="0" y="-57150"/>
              <a:ext cx="8595360" cy="1611630"/>
            </a:xfrm>
            <a:prstGeom prst="rect">
              <a:avLst/>
            </a:prstGeom>
          </p:spPr>
          <p:txBody>
            <a:bodyPr anchor="ctr" rtlCol="false" tIns="0" lIns="0" bIns="0" rIns="0"/>
            <a:lstStyle/>
            <a:p>
              <a:pPr algn="l">
                <a:lnSpc>
                  <a:spcPts val="3149"/>
                </a:lnSpc>
              </a:pPr>
              <a:r>
                <a:rPr lang="en-US" sz="2624" i="true">
                  <a:solidFill>
                    <a:srgbClr val="5A6494"/>
                  </a:solidFill>
                  <a:latin typeface="Calibri (MS) Italics"/>
                  <a:ea typeface="Calibri (MS) Italics"/>
                  <a:cs typeface="Calibri (MS) Italics"/>
                  <a:sym typeface="Calibri (MS) Italics"/>
                </a:rPr>
                <a:t>“Reduce unauthorized access incidents.”</a:t>
              </a:r>
            </a:p>
          </p:txBody>
        </p:sp>
      </p:grpSp>
      <p:sp>
        <p:nvSpPr>
          <p:cNvPr name="AutoShape 35" id="35"/>
          <p:cNvSpPr/>
          <p:nvPr/>
        </p:nvSpPr>
        <p:spPr>
          <a:xfrm>
            <a:off x="1849319" y="3290065"/>
            <a:ext cx="38093" cy="792479"/>
          </a:xfrm>
          <a:prstGeom prst="line">
            <a:avLst/>
          </a:prstGeom>
          <a:ln cap="rnd" w="19050">
            <a:solidFill>
              <a:srgbClr val="CADCFC"/>
            </a:solidFill>
            <a:prstDash val="solid"/>
            <a:headEnd type="none" len="sm" w="sm"/>
            <a:tailEnd type="none" len="sm" w="sm"/>
          </a:ln>
        </p:spPr>
      </p:sp>
      <p:grpSp>
        <p:nvGrpSpPr>
          <p:cNvPr name="Group 36" id="36"/>
          <p:cNvGrpSpPr/>
          <p:nvPr/>
        </p:nvGrpSpPr>
        <p:grpSpPr>
          <a:xfrm rot="0">
            <a:off x="1498034" y="4612134"/>
            <a:ext cx="754380" cy="754380"/>
            <a:chOff x="0" y="0"/>
            <a:chExt cx="1005840" cy="1005840"/>
          </a:xfrm>
        </p:grpSpPr>
        <p:sp>
          <p:nvSpPr>
            <p:cNvPr name="Freeform 37" id="37"/>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38" id="38"/>
          <p:cNvGrpSpPr/>
          <p:nvPr/>
        </p:nvGrpSpPr>
        <p:grpSpPr>
          <a:xfrm rot="0">
            <a:off x="1498034" y="4612134"/>
            <a:ext cx="754380" cy="754380"/>
            <a:chOff x="0" y="0"/>
            <a:chExt cx="1005840" cy="1005840"/>
          </a:xfrm>
        </p:grpSpPr>
        <p:sp>
          <p:nvSpPr>
            <p:cNvPr name="Freeform 39" id="39"/>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4">
                <a:alphaModFix amt="0"/>
              </a:blip>
              <a:stretch>
                <a:fillRect l="-78303" t="0" r="-78303" b="0"/>
              </a:stretch>
            </a:blipFill>
          </p:spPr>
        </p:sp>
        <p:sp>
          <p:nvSpPr>
            <p:cNvPr name="TextBox 40" id="40"/>
            <p:cNvSpPr txBox="true"/>
            <p:nvPr/>
          </p:nvSpPr>
          <p:spPr>
            <a:xfrm>
              <a:off x="0" y="-85725"/>
              <a:ext cx="1005840" cy="1091565"/>
            </a:xfrm>
            <a:prstGeom prst="rect">
              <a:avLst/>
            </a:prstGeom>
          </p:spPr>
          <p:txBody>
            <a:bodyPr anchor="ctr" rtlCol="false" tIns="0" lIns="0" bIns="0" rIns="0"/>
            <a:lstStyle/>
            <a:p>
              <a:pPr algn="ctr">
                <a:lnSpc>
                  <a:spcPts val="4319"/>
                </a:lnSpc>
              </a:pPr>
              <a:r>
                <a:rPr lang="en-US" sz="3599" b="true">
                  <a:solidFill>
                    <a:srgbClr val="FFFFFF"/>
                  </a:solidFill>
                  <a:latin typeface="Calibri (MS) Bold"/>
                  <a:ea typeface="Calibri (MS) Bold"/>
                  <a:cs typeface="Calibri (MS) Bold"/>
                  <a:sym typeface="Calibri (MS) Bold"/>
                </a:rPr>
                <a:t>2</a:t>
              </a:r>
            </a:p>
          </p:txBody>
        </p:sp>
      </p:grpSp>
      <p:grpSp>
        <p:nvGrpSpPr>
          <p:cNvPr name="Group 41" id="41"/>
          <p:cNvGrpSpPr/>
          <p:nvPr/>
        </p:nvGrpSpPr>
        <p:grpSpPr>
          <a:xfrm rot="0">
            <a:off x="2526734" y="4502406"/>
            <a:ext cx="2743200" cy="631542"/>
            <a:chOff x="0" y="0"/>
            <a:chExt cx="3657600" cy="842056"/>
          </a:xfrm>
        </p:grpSpPr>
        <p:sp>
          <p:nvSpPr>
            <p:cNvPr name="Freeform 42" id="42"/>
            <p:cNvSpPr/>
            <p:nvPr/>
          </p:nvSpPr>
          <p:spPr>
            <a:xfrm flipH="false" flipV="false" rot="0">
              <a:off x="0" y="0"/>
              <a:ext cx="3657600" cy="842056"/>
            </a:xfrm>
            <a:custGeom>
              <a:avLst/>
              <a:gdLst/>
              <a:ahLst/>
              <a:cxnLst/>
              <a:rect r="r" b="b" t="t" l="l"/>
              <a:pathLst>
                <a:path h="842056" w="3657600">
                  <a:moveTo>
                    <a:pt x="0" y="0"/>
                  </a:moveTo>
                  <a:lnTo>
                    <a:pt x="3657600" y="0"/>
                  </a:lnTo>
                  <a:lnTo>
                    <a:pt x="3657600" y="842056"/>
                  </a:lnTo>
                  <a:lnTo>
                    <a:pt x="0" y="842056"/>
                  </a:lnTo>
                  <a:close/>
                </a:path>
              </a:pathLst>
            </a:custGeom>
            <a:blipFill>
              <a:blip r:embed="rId4">
                <a:alphaModFix amt="0"/>
              </a:blip>
              <a:stretch>
                <a:fillRect l="0" t="-41199" r="0" b="-28072"/>
              </a:stretch>
            </a:blipFill>
          </p:spPr>
        </p:sp>
        <p:sp>
          <p:nvSpPr>
            <p:cNvPr name="TextBox 43" id="43"/>
            <p:cNvSpPr txBox="true"/>
            <p:nvPr/>
          </p:nvSpPr>
          <p:spPr>
            <a:xfrm>
              <a:off x="0" y="-66675"/>
              <a:ext cx="3657600" cy="908731"/>
            </a:xfrm>
            <a:prstGeom prst="rect">
              <a:avLst/>
            </a:prstGeom>
          </p:spPr>
          <p:txBody>
            <a:bodyPr anchor="ctr" rtlCol="false" tIns="0" lIns="0" bIns="0" rIns="0"/>
            <a:lstStyle/>
            <a:p>
              <a:pPr algn="l">
                <a:lnSpc>
                  <a:spcPts val="3779"/>
                </a:lnSpc>
              </a:pPr>
              <a:r>
                <a:rPr lang="en-US" sz="3149" b="true">
                  <a:solidFill>
                    <a:srgbClr val="1E2761"/>
                  </a:solidFill>
                  <a:latin typeface="Calibri (MS) Bold"/>
                  <a:ea typeface="Calibri (MS) Bold"/>
                  <a:cs typeface="Calibri (MS) Bold"/>
                  <a:sym typeface="Calibri (MS) Bold"/>
                </a:rPr>
                <a:t>QUESTION</a:t>
              </a:r>
            </a:p>
          </p:txBody>
        </p:sp>
      </p:grpSp>
      <p:grpSp>
        <p:nvGrpSpPr>
          <p:cNvPr name="Group 44" id="44"/>
          <p:cNvGrpSpPr/>
          <p:nvPr/>
        </p:nvGrpSpPr>
        <p:grpSpPr>
          <a:xfrm rot="0">
            <a:off x="2526734" y="5051046"/>
            <a:ext cx="7955280" cy="754380"/>
            <a:chOff x="0" y="0"/>
            <a:chExt cx="10607040" cy="1005840"/>
          </a:xfrm>
        </p:grpSpPr>
        <p:sp>
          <p:nvSpPr>
            <p:cNvPr name="Freeform 45" id="45"/>
            <p:cNvSpPr/>
            <p:nvPr/>
          </p:nvSpPr>
          <p:spPr>
            <a:xfrm flipH="false" flipV="false" rot="0">
              <a:off x="0" y="0"/>
              <a:ext cx="10607040" cy="1005840"/>
            </a:xfrm>
            <a:custGeom>
              <a:avLst/>
              <a:gdLst/>
              <a:ahLst/>
              <a:cxnLst/>
              <a:rect r="r" b="b" t="t" l="l"/>
              <a:pathLst>
                <a:path h="1005840" w="10607040">
                  <a:moveTo>
                    <a:pt x="0" y="0"/>
                  </a:moveTo>
                  <a:lnTo>
                    <a:pt x="10607040" y="0"/>
                  </a:lnTo>
                  <a:lnTo>
                    <a:pt x="10607040" y="1005840"/>
                  </a:lnTo>
                  <a:lnTo>
                    <a:pt x="0" y="1005840"/>
                  </a:lnTo>
                  <a:close/>
                </a:path>
              </a:pathLst>
            </a:custGeom>
            <a:blipFill>
              <a:blip r:embed="rId4">
                <a:alphaModFix amt="0"/>
              </a:blip>
              <a:stretch>
                <a:fillRect l="0" t="-155478" r="0" b="-155478"/>
              </a:stretch>
            </a:blipFill>
          </p:spPr>
        </p:sp>
        <p:sp>
          <p:nvSpPr>
            <p:cNvPr name="TextBox 46" id="46"/>
            <p:cNvSpPr txBox="true"/>
            <p:nvPr/>
          </p:nvSpPr>
          <p:spPr>
            <a:xfrm>
              <a:off x="0" y="-123825"/>
              <a:ext cx="10607040" cy="1129665"/>
            </a:xfrm>
            <a:prstGeom prst="rect">
              <a:avLst/>
            </a:prstGeom>
          </p:spPr>
          <p:txBody>
            <a:bodyPr anchor="ctr" rtlCol="false" tIns="0" lIns="0" bIns="0" rIns="0"/>
            <a:lstStyle/>
            <a:p>
              <a:pPr algn="l">
                <a:lnSpc>
                  <a:spcPts val="3995"/>
                </a:lnSpc>
              </a:pPr>
              <a:r>
                <a:rPr lang="en-US" sz="2774">
                  <a:solidFill>
                    <a:srgbClr val="1B1F3B"/>
                  </a:solidFill>
                  <a:latin typeface="Calibri (MS)"/>
                  <a:ea typeface="Calibri (MS)"/>
                  <a:cs typeface="Calibri (MS)"/>
                  <a:sym typeface="Calibri (MS)"/>
                </a:rPr>
                <a:t>Ask what you need to know to tell if the goal is met</a:t>
              </a:r>
            </a:p>
          </p:txBody>
        </p:sp>
      </p:grpSp>
      <p:grpSp>
        <p:nvGrpSpPr>
          <p:cNvPr name="Group 47" id="47"/>
          <p:cNvGrpSpPr/>
          <p:nvPr/>
        </p:nvGrpSpPr>
        <p:grpSpPr>
          <a:xfrm rot="0">
            <a:off x="10287000" y="4347972"/>
            <a:ext cx="7132320" cy="1303020"/>
            <a:chOff x="0" y="0"/>
            <a:chExt cx="9509760" cy="1737360"/>
          </a:xfrm>
        </p:grpSpPr>
        <p:sp>
          <p:nvSpPr>
            <p:cNvPr name="Freeform 48" id="48"/>
            <p:cNvSpPr/>
            <p:nvPr/>
          </p:nvSpPr>
          <p:spPr>
            <a:xfrm flipH="false" flipV="false" rot="0">
              <a:off x="0" y="0"/>
              <a:ext cx="9509760" cy="1737360"/>
            </a:xfrm>
            <a:custGeom>
              <a:avLst/>
              <a:gdLst/>
              <a:ahLst/>
              <a:cxnLst/>
              <a:rect r="r" b="b" t="t" l="l"/>
              <a:pathLst>
                <a:path h="1737360" w="9509760">
                  <a:moveTo>
                    <a:pt x="0" y="182880"/>
                  </a:moveTo>
                  <a:cubicBezTo>
                    <a:pt x="0" y="81915"/>
                    <a:pt x="81915" y="0"/>
                    <a:pt x="182880" y="0"/>
                  </a:cubicBezTo>
                  <a:lnTo>
                    <a:pt x="9326880" y="0"/>
                  </a:lnTo>
                  <a:cubicBezTo>
                    <a:pt x="9427845" y="0"/>
                    <a:pt x="9509760" y="81915"/>
                    <a:pt x="9509760" y="182880"/>
                  </a:cubicBezTo>
                  <a:lnTo>
                    <a:pt x="9509760" y="1554480"/>
                  </a:lnTo>
                  <a:cubicBezTo>
                    <a:pt x="9509760" y="1655445"/>
                    <a:pt x="9427845" y="1737360"/>
                    <a:pt x="9326880" y="1737360"/>
                  </a:cubicBezTo>
                  <a:lnTo>
                    <a:pt x="182880" y="1737360"/>
                  </a:lnTo>
                  <a:cubicBezTo>
                    <a:pt x="81915" y="1737360"/>
                    <a:pt x="0" y="1655445"/>
                    <a:pt x="0" y="1554480"/>
                  </a:cubicBezTo>
                  <a:close/>
                </a:path>
              </a:pathLst>
            </a:custGeom>
            <a:solidFill>
              <a:srgbClr val="F3F5FC"/>
            </a:solidFill>
          </p:spPr>
        </p:sp>
      </p:grpSp>
      <p:grpSp>
        <p:nvGrpSpPr>
          <p:cNvPr name="Group 49" id="49"/>
          <p:cNvGrpSpPr/>
          <p:nvPr/>
        </p:nvGrpSpPr>
        <p:grpSpPr>
          <a:xfrm rot="0">
            <a:off x="10629900" y="4430268"/>
            <a:ext cx="6446520" cy="1165860"/>
            <a:chOff x="0" y="0"/>
            <a:chExt cx="8595360" cy="1554480"/>
          </a:xfrm>
        </p:grpSpPr>
        <p:sp>
          <p:nvSpPr>
            <p:cNvPr name="Freeform 50" id="50"/>
            <p:cNvSpPr/>
            <p:nvPr/>
          </p:nvSpPr>
          <p:spPr>
            <a:xfrm flipH="false" flipV="false" rot="0">
              <a:off x="0" y="0"/>
              <a:ext cx="8595360" cy="1554480"/>
            </a:xfrm>
            <a:custGeom>
              <a:avLst/>
              <a:gdLst/>
              <a:ahLst/>
              <a:cxnLst/>
              <a:rect r="r" b="b" t="t" l="l"/>
              <a:pathLst>
                <a:path h="1554480" w="8595360">
                  <a:moveTo>
                    <a:pt x="0" y="0"/>
                  </a:moveTo>
                  <a:lnTo>
                    <a:pt x="8595360" y="0"/>
                  </a:lnTo>
                  <a:lnTo>
                    <a:pt x="8595360" y="1554480"/>
                  </a:lnTo>
                  <a:lnTo>
                    <a:pt x="0" y="1554480"/>
                  </a:lnTo>
                  <a:close/>
                </a:path>
              </a:pathLst>
            </a:custGeom>
            <a:blipFill>
              <a:blip r:embed="rId4">
                <a:alphaModFix amt="0"/>
              </a:blip>
              <a:stretch>
                <a:fillRect l="0" t="-57740" r="0" b="-57740"/>
              </a:stretch>
            </a:blipFill>
          </p:spPr>
        </p:sp>
        <p:sp>
          <p:nvSpPr>
            <p:cNvPr name="TextBox 51" id="51"/>
            <p:cNvSpPr txBox="true"/>
            <p:nvPr/>
          </p:nvSpPr>
          <p:spPr>
            <a:xfrm>
              <a:off x="0" y="-57150"/>
              <a:ext cx="8595360" cy="1611630"/>
            </a:xfrm>
            <a:prstGeom prst="rect">
              <a:avLst/>
            </a:prstGeom>
          </p:spPr>
          <p:txBody>
            <a:bodyPr anchor="ctr" rtlCol="false" tIns="0" lIns="0" bIns="0" rIns="0"/>
            <a:lstStyle/>
            <a:p>
              <a:pPr algn="l">
                <a:lnSpc>
                  <a:spcPts val="3029"/>
                </a:lnSpc>
              </a:pPr>
              <a:r>
                <a:rPr lang="en-US" sz="2524" i="true">
                  <a:solidFill>
                    <a:srgbClr val="5A6494"/>
                  </a:solidFill>
                  <a:latin typeface="Calibri (MS) Italics"/>
                  <a:ea typeface="Calibri (MS) Italics"/>
                  <a:cs typeface="Calibri (MS) Italics"/>
                  <a:sym typeface="Calibri (MS) Italics"/>
                </a:rPr>
                <a:t>“How many access attempts were blocked vs. successful?”</a:t>
              </a:r>
            </a:p>
          </p:txBody>
        </p:sp>
      </p:grpSp>
      <p:sp>
        <p:nvSpPr>
          <p:cNvPr name="AutoShape 52" id="52"/>
          <p:cNvSpPr/>
          <p:nvPr/>
        </p:nvSpPr>
        <p:spPr>
          <a:xfrm>
            <a:off x="1849319" y="5416045"/>
            <a:ext cx="38093" cy="792479"/>
          </a:xfrm>
          <a:prstGeom prst="line">
            <a:avLst/>
          </a:prstGeom>
          <a:ln cap="rnd" w="19050">
            <a:solidFill>
              <a:srgbClr val="CADCFC"/>
            </a:solidFill>
            <a:prstDash val="solid"/>
            <a:headEnd type="none" len="sm" w="sm"/>
            <a:tailEnd type="none" len="sm" w="sm"/>
          </a:ln>
        </p:spPr>
      </p:sp>
      <p:grpSp>
        <p:nvGrpSpPr>
          <p:cNvPr name="Group 53" id="53"/>
          <p:cNvGrpSpPr/>
          <p:nvPr/>
        </p:nvGrpSpPr>
        <p:grpSpPr>
          <a:xfrm rot="0">
            <a:off x="1498034" y="6738114"/>
            <a:ext cx="754380" cy="754380"/>
            <a:chOff x="0" y="0"/>
            <a:chExt cx="1005840" cy="1005840"/>
          </a:xfrm>
        </p:grpSpPr>
        <p:sp>
          <p:nvSpPr>
            <p:cNvPr name="Freeform 54" id="54"/>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55" id="55"/>
          <p:cNvGrpSpPr/>
          <p:nvPr/>
        </p:nvGrpSpPr>
        <p:grpSpPr>
          <a:xfrm rot="0">
            <a:off x="1498034" y="6738114"/>
            <a:ext cx="754380" cy="754380"/>
            <a:chOff x="0" y="0"/>
            <a:chExt cx="1005840" cy="1005840"/>
          </a:xfrm>
        </p:grpSpPr>
        <p:sp>
          <p:nvSpPr>
            <p:cNvPr name="Freeform 56" id="56"/>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4">
                <a:alphaModFix amt="0"/>
              </a:blip>
              <a:stretch>
                <a:fillRect l="-78303" t="0" r="-78303" b="0"/>
              </a:stretch>
            </a:blipFill>
          </p:spPr>
        </p:sp>
        <p:sp>
          <p:nvSpPr>
            <p:cNvPr name="TextBox 57" id="57"/>
            <p:cNvSpPr txBox="true"/>
            <p:nvPr/>
          </p:nvSpPr>
          <p:spPr>
            <a:xfrm>
              <a:off x="0" y="-85725"/>
              <a:ext cx="1005840" cy="1091565"/>
            </a:xfrm>
            <a:prstGeom prst="rect">
              <a:avLst/>
            </a:prstGeom>
          </p:spPr>
          <p:txBody>
            <a:bodyPr anchor="ctr" rtlCol="false" tIns="0" lIns="0" bIns="0" rIns="0"/>
            <a:lstStyle/>
            <a:p>
              <a:pPr algn="ctr">
                <a:lnSpc>
                  <a:spcPts val="4319"/>
                </a:lnSpc>
              </a:pPr>
              <a:r>
                <a:rPr lang="en-US" sz="3599" b="true">
                  <a:solidFill>
                    <a:srgbClr val="FFFFFF"/>
                  </a:solidFill>
                  <a:latin typeface="Calibri (MS) Bold"/>
                  <a:ea typeface="Calibri (MS) Bold"/>
                  <a:cs typeface="Calibri (MS) Bold"/>
                  <a:sym typeface="Calibri (MS) Bold"/>
                </a:rPr>
                <a:t>3</a:t>
              </a:r>
            </a:p>
          </p:txBody>
        </p:sp>
      </p:grpSp>
      <p:grpSp>
        <p:nvGrpSpPr>
          <p:cNvPr name="Group 58" id="58"/>
          <p:cNvGrpSpPr/>
          <p:nvPr/>
        </p:nvGrpSpPr>
        <p:grpSpPr>
          <a:xfrm rot="0">
            <a:off x="2526734" y="6628386"/>
            <a:ext cx="2743200" cy="631542"/>
            <a:chOff x="0" y="0"/>
            <a:chExt cx="3657600" cy="842056"/>
          </a:xfrm>
        </p:grpSpPr>
        <p:sp>
          <p:nvSpPr>
            <p:cNvPr name="Freeform 59" id="59"/>
            <p:cNvSpPr/>
            <p:nvPr/>
          </p:nvSpPr>
          <p:spPr>
            <a:xfrm flipH="false" flipV="false" rot="0">
              <a:off x="0" y="0"/>
              <a:ext cx="3657600" cy="842056"/>
            </a:xfrm>
            <a:custGeom>
              <a:avLst/>
              <a:gdLst/>
              <a:ahLst/>
              <a:cxnLst/>
              <a:rect r="r" b="b" t="t" l="l"/>
              <a:pathLst>
                <a:path h="842056" w="3657600">
                  <a:moveTo>
                    <a:pt x="0" y="0"/>
                  </a:moveTo>
                  <a:lnTo>
                    <a:pt x="3657600" y="0"/>
                  </a:lnTo>
                  <a:lnTo>
                    <a:pt x="3657600" y="842056"/>
                  </a:lnTo>
                  <a:lnTo>
                    <a:pt x="0" y="842056"/>
                  </a:lnTo>
                  <a:close/>
                </a:path>
              </a:pathLst>
            </a:custGeom>
            <a:blipFill>
              <a:blip r:embed="rId4">
                <a:alphaModFix amt="0"/>
              </a:blip>
              <a:stretch>
                <a:fillRect l="0" t="-41199" r="0" b="-28072"/>
              </a:stretch>
            </a:blipFill>
          </p:spPr>
        </p:sp>
        <p:sp>
          <p:nvSpPr>
            <p:cNvPr name="TextBox 60" id="60"/>
            <p:cNvSpPr txBox="true"/>
            <p:nvPr/>
          </p:nvSpPr>
          <p:spPr>
            <a:xfrm>
              <a:off x="0" y="-66675"/>
              <a:ext cx="3657600" cy="908731"/>
            </a:xfrm>
            <a:prstGeom prst="rect">
              <a:avLst/>
            </a:prstGeom>
          </p:spPr>
          <p:txBody>
            <a:bodyPr anchor="ctr" rtlCol="false" tIns="0" lIns="0" bIns="0" rIns="0"/>
            <a:lstStyle/>
            <a:p>
              <a:pPr algn="l">
                <a:lnSpc>
                  <a:spcPts val="3779"/>
                </a:lnSpc>
              </a:pPr>
              <a:r>
                <a:rPr lang="en-US" sz="3149" b="true">
                  <a:solidFill>
                    <a:srgbClr val="1E2761"/>
                  </a:solidFill>
                  <a:latin typeface="Calibri (MS) Bold"/>
                  <a:ea typeface="Calibri (MS) Bold"/>
                  <a:cs typeface="Calibri (MS) Bold"/>
                  <a:sym typeface="Calibri (MS) Bold"/>
                </a:rPr>
                <a:t>METRIC</a:t>
              </a:r>
            </a:p>
          </p:txBody>
        </p:sp>
      </p:grpSp>
      <p:grpSp>
        <p:nvGrpSpPr>
          <p:cNvPr name="Group 61" id="61"/>
          <p:cNvGrpSpPr/>
          <p:nvPr/>
        </p:nvGrpSpPr>
        <p:grpSpPr>
          <a:xfrm rot="0">
            <a:off x="2526734" y="7177026"/>
            <a:ext cx="7955280" cy="754380"/>
            <a:chOff x="0" y="0"/>
            <a:chExt cx="10607040" cy="1005840"/>
          </a:xfrm>
        </p:grpSpPr>
        <p:sp>
          <p:nvSpPr>
            <p:cNvPr name="Freeform 62" id="62"/>
            <p:cNvSpPr/>
            <p:nvPr/>
          </p:nvSpPr>
          <p:spPr>
            <a:xfrm flipH="false" flipV="false" rot="0">
              <a:off x="0" y="0"/>
              <a:ext cx="10607040" cy="1005840"/>
            </a:xfrm>
            <a:custGeom>
              <a:avLst/>
              <a:gdLst/>
              <a:ahLst/>
              <a:cxnLst/>
              <a:rect r="r" b="b" t="t" l="l"/>
              <a:pathLst>
                <a:path h="1005840" w="10607040">
                  <a:moveTo>
                    <a:pt x="0" y="0"/>
                  </a:moveTo>
                  <a:lnTo>
                    <a:pt x="10607040" y="0"/>
                  </a:lnTo>
                  <a:lnTo>
                    <a:pt x="10607040" y="1005840"/>
                  </a:lnTo>
                  <a:lnTo>
                    <a:pt x="0" y="1005840"/>
                  </a:lnTo>
                  <a:close/>
                </a:path>
              </a:pathLst>
            </a:custGeom>
            <a:blipFill>
              <a:blip r:embed="rId4">
                <a:alphaModFix amt="0"/>
              </a:blip>
              <a:stretch>
                <a:fillRect l="0" t="-155478" r="0" b="-155478"/>
              </a:stretch>
            </a:blipFill>
          </p:spPr>
        </p:sp>
        <p:sp>
          <p:nvSpPr>
            <p:cNvPr name="TextBox 63" id="63"/>
            <p:cNvSpPr txBox="true"/>
            <p:nvPr/>
          </p:nvSpPr>
          <p:spPr>
            <a:xfrm>
              <a:off x="0" y="-123825"/>
              <a:ext cx="10607040" cy="1129665"/>
            </a:xfrm>
            <a:prstGeom prst="rect">
              <a:avLst/>
            </a:prstGeom>
          </p:spPr>
          <p:txBody>
            <a:bodyPr anchor="ctr" rtlCol="false" tIns="0" lIns="0" bIns="0" rIns="0"/>
            <a:lstStyle/>
            <a:p>
              <a:pPr algn="l">
                <a:lnSpc>
                  <a:spcPts val="3995"/>
                </a:lnSpc>
              </a:pPr>
              <a:r>
                <a:rPr lang="en-US" sz="2774">
                  <a:solidFill>
                    <a:srgbClr val="1B1F3B"/>
                  </a:solidFill>
                  <a:latin typeface="Calibri (MS)"/>
                  <a:ea typeface="Calibri (MS)"/>
                  <a:cs typeface="Calibri (MS)"/>
                  <a:sym typeface="Calibri (MS)"/>
                </a:rPr>
                <a:t>Define the measurable data that answers the question</a:t>
              </a:r>
            </a:p>
          </p:txBody>
        </p:sp>
      </p:grpSp>
      <p:grpSp>
        <p:nvGrpSpPr>
          <p:cNvPr name="Group 64" id="64"/>
          <p:cNvGrpSpPr/>
          <p:nvPr/>
        </p:nvGrpSpPr>
        <p:grpSpPr>
          <a:xfrm rot="0">
            <a:off x="10287000" y="6473952"/>
            <a:ext cx="7132320" cy="1303020"/>
            <a:chOff x="0" y="0"/>
            <a:chExt cx="9509760" cy="1737360"/>
          </a:xfrm>
        </p:grpSpPr>
        <p:sp>
          <p:nvSpPr>
            <p:cNvPr name="Freeform 65" id="65"/>
            <p:cNvSpPr/>
            <p:nvPr/>
          </p:nvSpPr>
          <p:spPr>
            <a:xfrm flipH="false" flipV="false" rot="0">
              <a:off x="0" y="0"/>
              <a:ext cx="9509760" cy="1737360"/>
            </a:xfrm>
            <a:custGeom>
              <a:avLst/>
              <a:gdLst/>
              <a:ahLst/>
              <a:cxnLst/>
              <a:rect r="r" b="b" t="t" l="l"/>
              <a:pathLst>
                <a:path h="1737360" w="9509760">
                  <a:moveTo>
                    <a:pt x="0" y="182880"/>
                  </a:moveTo>
                  <a:cubicBezTo>
                    <a:pt x="0" y="81915"/>
                    <a:pt x="81915" y="0"/>
                    <a:pt x="182880" y="0"/>
                  </a:cubicBezTo>
                  <a:lnTo>
                    <a:pt x="9326880" y="0"/>
                  </a:lnTo>
                  <a:cubicBezTo>
                    <a:pt x="9427845" y="0"/>
                    <a:pt x="9509760" y="81915"/>
                    <a:pt x="9509760" y="182880"/>
                  </a:cubicBezTo>
                  <a:lnTo>
                    <a:pt x="9509760" y="1554480"/>
                  </a:lnTo>
                  <a:cubicBezTo>
                    <a:pt x="9509760" y="1655445"/>
                    <a:pt x="9427845" y="1737360"/>
                    <a:pt x="9326880" y="1737360"/>
                  </a:cubicBezTo>
                  <a:lnTo>
                    <a:pt x="182880" y="1737360"/>
                  </a:lnTo>
                  <a:cubicBezTo>
                    <a:pt x="81915" y="1737360"/>
                    <a:pt x="0" y="1655445"/>
                    <a:pt x="0" y="1554480"/>
                  </a:cubicBezTo>
                  <a:close/>
                </a:path>
              </a:pathLst>
            </a:custGeom>
            <a:solidFill>
              <a:srgbClr val="F3F5FC"/>
            </a:solidFill>
          </p:spPr>
        </p:sp>
      </p:grpSp>
      <p:grpSp>
        <p:nvGrpSpPr>
          <p:cNvPr name="Group 66" id="66"/>
          <p:cNvGrpSpPr/>
          <p:nvPr/>
        </p:nvGrpSpPr>
        <p:grpSpPr>
          <a:xfrm rot="0">
            <a:off x="10629900" y="6556248"/>
            <a:ext cx="6446520" cy="1165860"/>
            <a:chOff x="0" y="0"/>
            <a:chExt cx="8595360" cy="1554480"/>
          </a:xfrm>
        </p:grpSpPr>
        <p:sp>
          <p:nvSpPr>
            <p:cNvPr name="Freeform 67" id="67"/>
            <p:cNvSpPr/>
            <p:nvPr/>
          </p:nvSpPr>
          <p:spPr>
            <a:xfrm flipH="false" flipV="false" rot="0">
              <a:off x="0" y="0"/>
              <a:ext cx="8595360" cy="1554480"/>
            </a:xfrm>
            <a:custGeom>
              <a:avLst/>
              <a:gdLst/>
              <a:ahLst/>
              <a:cxnLst/>
              <a:rect r="r" b="b" t="t" l="l"/>
              <a:pathLst>
                <a:path h="1554480" w="8595360">
                  <a:moveTo>
                    <a:pt x="0" y="0"/>
                  </a:moveTo>
                  <a:lnTo>
                    <a:pt x="8595360" y="0"/>
                  </a:lnTo>
                  <a:lnTo>
                    <a:pt x="8595360" y="1554480"/>
                  </a:lnTo>
                  <a:lnTo>
                    <a:pt x="0" y="1554480"/>
                  </a:lnTo>
                  <a:close/>
                </a:path>
              </a:pathLst>
            </a:custGeom>
            <a:blipFill>
              <a:blip r:embed="rId4">
                <a:alphaModFix amt="0"/>
              </a:blip>
              <a:stretch>
                <a:fillRect l="0" t="-57740" r="0" b="-57740"/>
              </a:stretch>
            </a:blipFill>
          </p:spPr>
        </p:sp>
        <p:sp>
          <p:nvSpPr>
            <p:cNvPr name="TextBox 68" id="68"/>
            <p:cNvSpPr txBox="true"/>
            <p:nvPr/>
          </p:nvSpPr>
          <p:spPr>
            <a:xfrm>
              <a:off x="0" y="-57150"/>
              <a:ext cx="8595360" cy="1611630"/>
            </a:xfrm>
            <a:prstGeom prst="rect">
              <a:avLst/>
            </a:prstGeom>
          </p:spPr>
          <p:txBody>
            <a:bodyPr anchor="ctr" rtlCol="false" tIns="0" lIns="0" bIns="0" rIns="0"/>
            <a:lstStyle/>
            <a:p>
              <a:pPr algn="l">
                <a:lnSpc>
                  <a:spcPts val="3029"/>
                </a:lnSpc>
              </a:pPr>
              <a:r>
                <a:rPr lang="en-US" sz="2524" i="true">
                  <a:solidFill>
                    <a:srgbClr val="5A6494"/>
                  </a:solidFill>
                  <a:latin typeface="Calibri (MS) Italics"/>
                  <a:ea typeface="Calibri (MS) Italics"/>
                  <a:cs typeface="Calibri (MS) Italics"/>
                  <a:sym typeface="Calibri (MS) Italics"/>
                </a:rPr>
                <a:t>“Nnumber of unauthorized access attempts per month.”</a:t>
              </a:r>
            </a:p>
          </p:txBody>
        </p:sp>
      </p:grpSp>
      <p:grpSp>
        <p:nvGrpSpPr>
          <p:cNvPr name="Group 69" id="69"/>
          <p:cNvGrpSpPr/>
          <p:nvPr/>
        </p:nvGrpSpPr>
        <p:grpSpPr>
          <a:xfrm rot="0">
            <a:off x="822960" y="8983980"/>
            <a:ext cx="16459200" cy="685800"/>
            <a:chOff x="0" y="0"/>
            <a:chExt cx="21945600" cy="914400"/>
          </a:xfrm>
        </p:grpSpPr>
        <p:sp>
          <p:nvSpPr>
            <p:cNvPr name="Freeform 70" id="70"/>
            <p:cNvSpPr/>
            <p:nvPr/>
          </p:nvSpPr>
          <p:spPr>
            <a:xfrm flipH="false" flipV="false" rot="0">
              <a:off x="0" y="0"/>
              <a:ext cx="21945600" cy="914400"/>
            </a:xfrm>
            <a:custGeom>
              <a:avLst/>
              <a:gdLst/>
              <a:ahLst/>
              <a:cxnLst/>
              <a:rect r="r" b="b" t="t" l="l"/>
              <a:pathLst>
                <a:path h="914400" w="21945600">
                  <a:moveTo>
                    <a:pt x="0" y="0"/>
                  </a:moveTo>
                  <a:lnTo>
                    <a:pt x="21945600" y="0"/>
                  </a:lnTo>
                  <a:lnTo>
                    <a:pt x="21945600" y="914400"/>
                  </a:lnTo>
                  <a:lnTo>
                    <a:pt x="0" y="914400"/>
                  </a:lnTo>
                  <a:close/>
                </a:path>
              </a:pathLst>
            </a:custGeom>
            <a:blipFill>
              <a:blip r:embed="rId4">
                <a:alphaModFix amt="0"/>
              </a:blip>
              <a:stretch>
                <a:fillRect l="0" t="-417640" r="0" b="-417640"/>
              </a:stretch>
            </a:blipFill>
          </p:spPr>
        </p:sp>
        <p:sp>
          <p:nvSpPr>
            <p:cNvPr name="TextBox 71" id="71"/>
            <p:cNvSpPr txBox="true"/>
            <p:nvPr/>
          </p:nvSpPr>
          <p:spPr>
            <a:xfrm>
              <a:off x="0" y="-47625"/>
              <a:ext cx="21945600" cy="962025"/>
            </a:xfrm>
            <a:prstGeom prst="rect">
              <a:avLst/>
            </a:prstGeom>
          </p:spPr>
          <p:txBody>
            <a:bodyPr anchor="ctr" rtlCol="false" tIns="0" lIns="0" bIns="0" rIns="0"/>
            <a:lstStyle/>
            <a:p>
              <a:pPr algn="l">
                <a:lnSpc>
                  <a:spcPts val="2759"/>
                </a:lnSpc>
              </a:pPr>
              <a:r>
                <a:rPr lang="en-US" sz="2299" b="true">
                  <a:solidFill>
                    <a:srgbClr val="1E2761"/>
                  </a:solidFill>
                  <a:latin typeface="Calibri (MS) Bold"/>
                  <a:ea typeface="Calibri (MS) Bold"/>
                  <a:cs typeface="Calibri (MS) Bold"/>
                  <a:sym typeface="Calibri (MS) Bold"/>
                </a:rPr>
                <a:t>Strength: keeps metrics tied to business objectives instead of collecting data for its own sake.</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47625"/>
              <a:ext cx="1848158" cy="3198609"/>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498034" y="2355594"/>
            <a:ext cx="15291933" cy="5575813"/>
            <a:chOff x="0" y="0"/>
            <a:chExt cx="4027505" cy="1468527"/>
          </a:xfrm>
        </p:grpSpPr>
        <p:sp>
          <p:nvSpPr>
            <p:cNvPr name="Freeform 6" id="6"/>
            <p:cNvSpPr/>
            <p:nvPr/>
          </p:nvSpPr>
          <p:spPr>
            <a:xfrm flipH="false" flipV="false" rot="0">
              <a:off x="0" y="0"/>
              <a:ext cx="4027505" cy="1468527"/>
            </a:xfrm>
            <a:custGeom>
              <a:avLst/>
              <a:gdLst/>
              <a:ahLst/>
              <a:cxnLst/>
              <a:rect r="r" b="b" t="t" l="l"/>
              <a:pathLst>
                <a:path h="1468527" w="4027505">
                  <a:moveTo>
                    <a:pt x="0" y="0"/>
                  </a:moveTo>
                  <a:lnTo>
                    <a:pt x="4027505" y="0"/>
                  </a:lnTo>
                  <a:lnTo>
                    <a:pt x="4027505" y="1468527"/>
                  </a:lnTo>
                  <a:lnTo>
                    <a:pt x="0" y="1468527"/>
                  </a:lnTo>
                  <a:close/>
                </a:path>
              </a:pathLst>
            </a:custGeom>
            <a:solidFill>
              <a:srgbClr val="FFFFFF"/>
            </a:solidFill>
          </p:spPr>
        </p:sp>
        <p:sp>
          <p:nvSpPr>
            <p:cNvPr name="TextBox 7" id="7"/>
            <p:cNvSpPr txBox="true"/>
            <p:nvPr/>
          </p:nvSpPr>
          <p:spPr>
            <a:xfrm>
              <a:off x="0" y="-47625"/>
              <a:ext cx="4027505" cy="1516152"/>
            </a:xfrm>
            <a:prstGeom prst="rect">
              <a:avLst/>
            </a:prstGeom>
          </p:spPr>
          <p:txBody>
            <a:bodyPr anchor="ctr" rtlCol="false" tIns="50800" lIns="50800" bIns="50800" rIns="50800"/>
            <a:lstStyle/>
            <a:p>
              <a:pPr algn="ctr">
                <a:lnSpc>
                  <a:spcPts val="3560"/>
                </a:lnSpc>
              </a:pPr>
            </a:p>
          </p:txBody>
        </p:sp>
      </p:grpSp>
      <p:sp>
        <p:nvSpPr>
          <p:cNvPr name="Freeform 8" id="8"/>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5981039" y="9462044"/>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CORTEZ</a:t>
            </a:r>
          </a:p>
        </p:txBody>
      </p:sp>
      <p:grpSp>
        <p:nvGrpSpPr>
          <p:cNvPr name="Group 10" id="10"/>
          <p:cNvGrpSpPr/>
          <p:nvPr/>
        </p:nvGrpSpPr>
        <p:grpSpPr>
          <a:xfrm rot="0">
            <a:off x="822960" y="548640"/>
            <a:ext cx="5486400" cy="548640"/>
            <a:chOff x="0" y="0"/>
            <a:chExt cx="7315200" cy="731520"/>
          </a:xfrm>
        </p:grpSpPr>
        <p:sp>
          <p:nvSpPr>
            <p:cNvPr name="Freeform 11" id="11"/>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4">
                <a:alphaModFix amt="0"/>
              </a:blip>
              <a:stretch>
                <a:fillRect l="0" t="-144850" r="0" b="-144850"/>
              </a:stretch>
            </a:blipFill>
          </p:spPr>
        </p:sp>
        <p:sp>
          <p:nvSpPr>
            <p:cNvPr name="TextBox 12" id="12"/>
            <p:cNvSpPr txBox="true"/>
            <p:nvPr/>
          </p:nvSpPr>
          <p:spPr>
            <a:xfrm>
              <a:off x="0" y="-47625"/>
              <a:ext cx="7315200" cy="779145"/>
            </a:xfrm>
            <a:prstGeom prst="rect">
              <a:avLst/>
            </a:prstGeom>
          </p:spPr>
          <p:txBody>
            <a:bodyPr anchor="ctr" rtlCol="false" tIns="0" lIns="0" bIns="0" rIns="0"/>
            <a:lstStyle/>
            <a:p>
              <a:pPr algn="l">
                <a:lnSpc>
                  <a:spcPts val="2520"/>
                </a:lnSpc>
              </a:pPr>
              <a:r>
                <a:rPr lang="en-US" sz="2100" b="true">
                  <a:solidFill>
                    <a:srgbClr val="C9A227"/>
                  </a:solidFill>
                  <a:latin typeface="Calibri (MS) Bold"/>
                  <a:ea typeface="Calibri (MS) Bold"/>
                  <a:cs typeface="Calibri (MS) Bold"/>
                  <a:sym typeface="Calibri (MS) Bold"/>
                </a:rPr>
                <a:t>Approach 2</a:t>
              </a:r>
            </a:p>
          </p:txBody>
        </p:sp>
      </p:grpSp>
      <p:grpSp>
        <p:nvGrpSpPr>
          <p:cNvPr name="Group 13" id="13"/>
          <p:cNvGrpSpPr/>
          <p:nvPr/>
        </p:nvGrpSpPr>
        <p:grpSpPr>
          <a:xfrm rot="0">
            <a:off x="822960" y="1028700"/>
            <a:ext cx="15087600" cy="960120"/>
            <a:chOff x="0" y="0"/>
            <a:chExt cx="20116800" cy="1280160"/>
          </a:xfrm>
        </p:grpSpPr>
        <p:sp>
          <p:nvSpPr>
            <p:cNvPr name="Freeform 14" id="14"/>
            <p:cNvSpPr/>
            <p:nvPr/>
          </p:nvSpPr>
          <p:spPr>
            <a:xfrm flipH="false" flipV="false" rot="0">
              <a:off x="0" y="0"/>
              <a:ext cx="20116800" cy="1280160"/>
            </a:xfrm>
            <a:custGeom>
              <a:avLst/>
              <a:gdLst/>
              <a:ahLst/>
              <a:cxnLst/>
              <a:rect r="r" b="b" t="t" l="l"/>
              <a:pathLst>
                <a:path h="1280160" w="20116800">
                  <a:moveTo>
                    <a:pt x="0" y="0"/>
                  </a:moveTo>
                  <a:lnTo>
                    <a:pt x="20116800" y="0"/>
                  </a:lnTo>
                  <a:lnTo>
                    <a:pt x="20116800" y="1280160"/>
                  </a:lnTo>
                  <a:lnTo>
                    <a:pt x="0" y="1280160"/>
                  </a:lnTo>
                  <a:close/>
                </a:path>
              </a:pathLst>
            </a:custGeom>
            <a:blipFill>
              <a:blip r:embed="rId4">
                <a:alphaModFix amt="0"/>
              </a:blip>
              <a:stretch>
                <a:fillRect l="0" t="-256193" r="0" b="-256193"/>
              </a:stretch>
            </a:blipFill>
          </p:spPr>
        </p:sp>
        <p:sp>
          <p:nvSpPr>
            <p:cNvPr name="TextBox 15" id="15"/>
            <p:cNvSpPr txBox="true"/>
            <p:nvPr/>
          </p:nvSpPr>
          <p:spPr>
            <a:xfrm>
              <a:off x="0" y="-9525"/>
              <a:ext cx="20116800" cy="1289685"/>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The Balanced Scorecard Approach</a:t>
              </a:r>
            </a:p>
          </p:txBody>
        </p:sp>
      </p:grpSp>
      <p:grpSp>
        <p:nvGrpSpPr>
          <p:cNvPr name="Group 16" id="16"/>
          <p:cNvGrpSpPr/>
          <p:nvPr/>
        </p:nvGrpSpPr>
        <p:grpSpPr>
          <a:xfrm rot="0">
            <a:off x="822960" y="1680210"/>
            <a:ext cx="16184880" cy="822960"/>
            <a:chOff x="0" y="0"/>
            <a:chExt cx="21579840" cy="1097280"/>
          </a:xfrm>
        </p:grpSpPr>
        <p:sp>
          <p:nvSpPr>
            <p:cNvPr name="Freeform 17" id="17"/>
            <p:cNvSpPr/>
            <p:nvPr/>
          </p:nvSpPr>
          <p:spPr>
            <a:xfrm flipH="false" flipV="false" rot="0">
              <a:off x="0" y="0"/>
              <a:ext cx="21579839" cy="1097280"/>
            </a:xfrm>
            <a:custGeom>
              <a:avLst/>
              <a:gdLst/>
              <a:ahLst/>
              <a:cxnLst/>
              <a:rect r="r" b="b" t="t" l="l"/>
              <a:pathLst>
                <a:path h="1097280" w="21579839">
                  <a:moveTo>
                    <a:pt x="0" y="0"/>
                  </a:moveTo>
                  <a:lnTo>
                    <a:pt x="21579839" y="0"/>
                  </a:lnTo>
                  <a:lnTo>
                    <a:pt x="21579839" y="1097280"/>
                  </a:lnTo>
                  <a:lnTo>
                    <a:pt x="0" y="1097280"/>
                  </a:lnTo>
                  <a:close/>
                </a:path>
              </a:pathLst>
            </a:custGeom>
            <a:blipFill>
              <a:blip r:embed="rId4">
                <a:alphaModFix amt="0"/>
              </a:blip>
              <a:stretch>
                <a:fillRect l="0" t="-333205" r="0" b="-333205"/>
              </a:stretch>
            </a:blipFill>
          </p:spPr>
        </p:sp>
        <p:sp>
          <p:nvSpPr>
            <p:cNvPr name="TextBox 18" id="18"/>
            <p:cNvSpPr txBox="true"/>
            <p:nvPr/>
          </p:nvSpPr>
          <p:spPr>
            <a:xfrm>
              <a:off x="0" y="-85725"/>
              <a:ext cx="21579840" cy="1183005"/>
            </a:xfrm>
            <a:prstGeom prst="rect">
              <a:avLst/>
            </a:prstGeom>
          </p:spPr>
          <p:txBody>
            <a:bodyPr anchor="ctr" rtlCol="false" tIns="0" lIns="0" bIns="0" rIns="0"/>
            <a:lstStyle/>
            <a:p>
              <a:pPr algn="l">
                <a:lnSpc>
                  <a:spcPts val="2916"/>
                </a:lnSpc>
              </a:pPr>
              <a:r>
                <a:rPr lang="en-US" sz="2025">
                  <a:solidFill>
                    <a:srgbClr val="5A6494"/>
                  </a:solidFill>
                  <a:latin typeface="Calibri (MS)"/>
                  <a:ea typeface="Calibri (MS)"/>
                  <a:cs typeface="Calibri (MS)"/>
                  <a:sym typeface="Calibri (MS)"/>
                </a:rPr>
                <a:t>Adapted from business strategy, it balances security metrics across four perspectives so no single view dominates decision-making.</a:t>
              </a:r>
            </a:p>
          </p:txBody>
        </p:sp>
      </p:grpSp>
      <p:grpSp>
        <p:nvGrpSpPr>
          <p:cNvPr name="Group 19" id="19"/>
          <p:cNvGrpSpPr/>
          <p:nvPr/>
        </p:nvGrpSpPr>
        <p:grpSpPr>
          <a:xfrm rot="0">
            <a:off x="845820" y="2355594"/>
            <a:ext cx="8161020" cy="3071430"/>
            <a:chOff x="0" y="0"/>
            <a:chExt cx="10881360" cy="4095240"/>
          </a:xfrm>
        </p:grpSpPr>
        <p:sp>
          <p:nvSpPr>
            <p:cNvPr name="Freeform 20" id="20"/>
            <p:cNvSpPr/>
            <p:nvPr/>
          </p:nvSpPr>
          <p:spPr>
            <a:xfrm flipH="false" flipV="false" rot="0">
              <a:off x="0" y="0"/>
              <a:ext cx="10881361" cy="4095240"/>
            </a:xfrm>
            <a:custGeom>
              <a:avLst/>
              <a:gdLst/>
              <a:ahLst/>
              <a:cxnLst/>
              <a:rect r="r" b="b" t="t" l="l"/>
              <a:pathLst>
                <a:path h="4095240" w="10881361">
                  <a:moveTo>
                    <a:pt x="0" y="228572"/>
                  </a:moveTo>
                  <a:cubicBezTo>
                    <a:pt x="0" y="102381"/>
                    <a:pt x="98298" y="0"/>
                    <a:pt x="219456" y="0"/>
                  </a:cubicBezTo>
                  <a:lnTo>
                    <a:pt x="10661904" y="0"/>
                  </a:lnTo>
                  <a:cubicBezTo>
                    <a:pt x="10783062" y="0"/>
                    <a:pt x="10881361" y="102381"/>
                    <a:pt x="10881361" y="228572"/>
                  </a:cubicBezTo>
                  <a:lnTo>
                    <a:pt x="10881361" y="3866668"/>
                  </a:lnTo>
                  <a:cubicBezTo>
                    <a:pt x="10881361" y="3992859"/>
                    <a:pt x="10783062" y="4095240"/>
                    <a:pt x="10661904" y="4095240"/>
                  </a:cubicBezTo>
                  <a:lnTo>
                    <a:pt x="219456" y="4095240"/>
                  </a:lnTo>
                  <a:cubicBezTo>
                    <a:pt x="98298" y="4095240"/>
                    <a:pt x="0" y="3992859"/>
                    <a:pt x="0" y="3866668"/>
                  </a:cubicBezTo>
                  <a:close/>
                </a:path>
              </a:pathLst>
            </a:custGeom>
            <a:solidFill>
              <a:srgbClr val="F3F5FC"/>
            </a:solidFill>
          </p:spPr>
        </p:sp>
      </p:grpSp>
      <p:grpSp>
        <p:nvGrpSpPr>
          <p:cNvPr name="Group 21" id="21"/>
          <p:cNvGrpSpPr/>
          <p:nvPr/>
        </p:nvGrpSpPr>
        <p:grpSpPr>
          <a:xfrm rot="0">
            <a:off x="1257300" y="2784165"/>
            <a:ext cx="754380" cy="785715"/>
            <a:chOff x="0" y="0"/>
            <a:chExt cx="1005840" cy="1047619"/>
          </a:xfrm>
        </p:grpSpPr>
        <p:sp>
          <p:nvSpPr>
            <p:cNvPr name="Freeform 22" id="22"/>
            <p:cNvSpPr/>
            <p:nvPr/>
          </p:nvSpPr>
          <p:spPr>
            <a:xfrm flipH="false" flipV="false" rot="0">
              <a:off x="0" y="0"/>
              <a:ext cx="1005840" cy="1047619"/>
            </a:xfrm>
            <a:custGeom>
              <a:avLst/>
              <a:gdLst/>
              <a:ahLst/>
              <a:cxnLst/>
              <a:rect r="r" b="b" t="t" l="l"/>
              <a:pathLst>
                <a:path h="1047619" w="1005840">
                  <a:moveTo>
                    <a:pt x="0" y="523810"/>
                  </a:moveTo>
                  <a:cubicBezTo>
                    <a:pt x="0" y="234524"/>
                    <a:pt x="225171" y="0"/>
                    <a:pt x="502920" y="0"/>
                  </a:cubicBezTo>
                  <a:cubicBezTo>
                    <a:pt x="780669" y="0"/>
                    <a:pt x="1005840" y="234524"/>
                    <a:pt x="1005840" y="523810"/>
                  </a:cubicBezTo>
                  <a:cubicBezTo>
                    <a:pt x="1005840" y="813096"/>
                    <a:pt x="780669" y="1047619"/>
                    <a:pt x="502920" y="1047619"/>
                  </a:cubicBezTo>
                  <a:cubicBezTo>
                    <a:pt x="225171" y="1047619"/>
                    <a:pt x="0" y="813096"/>
                    <a:pt x="0" y="523810"/>
                  </a:cubicBezTo>
                  <a:close/>
                </a:path>
              </a:pathLst>
            </a:custGeom>
            <a:solidFill>
              <a:srgbClr val="1E2761"/>
            </a:solidFill>
          </p:spPr>
        </p:sp>
      </p:grpSp>
      <p:grpSp>
        <p:nvGrpSpPr>
          <p:cNvPr name="Group 23" id="23"/>
          <p:cNvGrpSpPr/>
          <p:nvPr/>
        </p:nvGrpSpPr>
        <p:grpSpPr>
          <a:xfrm rot="0">
            <a:off x="1257300" y="2784165"/>
            <a:ext cx="754380" cy="855363"/>
            <a:chOff x="0" y="0"/>
            <a:chExt cx="1005840" cy="1140484"/>
          </a:xfrm>
        </p:grpSpPr>
        <p:sp>
          <p:nvSpPr>
            <p:cNvPr name="Freeform 24" id="24"/>
            <p:cNvSpPr/>
            <p:nvPr/>
          </p:nvSpPr>
          <p:spPr>
            <a:xfrm flipH="false" flipV="false" rot="0">
              <a:off x="0" y="0"/>
              <a:ext cx="1005840" cy="1140484"/>
            </a:xfrm>
            <a:custGeom>
              <a:avLst/>
              <a:gdLst/>
              <a:ahLst/>
              <a:cxnLst/>
              <a:rect r="r" b="b" t="t" l="l"/>
              <a:pathLst>
                <a:path h="1140484" w="1005840">
                  <a:moveTo>
                    <a:pt x="0" y="0"/>
                  </a:moveTo>
                  <a:lnTo>
                    <a:pt x="1005840" y="0"/>
                  </a:lnTo>
                  <a:lnTo>
                    <a:pt x="1005840" y="1140484"/>
                  </a:lnTo>
                  <a:lnTo>
                    <a:pt x="0" y="1140484"/>
                  </a:lnTo>
                  <a:close/>
                </a:path>
              </a:pathLst>
            </a:custGeom>
            <a:blipFill>
              <a:blip r:embed="rId4">
                <a:alphaModFix amt="0"/>
              </a:blip>
              <a:stretch>
                <a:fillRect l="-78303" t="0" r="-78303" b="11805"/>
              </a:stretch>
            </a:blipFill>
          </p:spPr>
        </p:sp>
        <p:sp>
          <p:nvSpPr>
            <p:cNvPr name="TextBox 25" id="25"/>
            <p:cNvSpPr txBox="true"/>
            <p:nvPr/>
          </p:nvSpPr>
          <p:spPr>
            <a:xfrm>
              <a:off x="0" y="-85725"/>
              <a:ext cx="1005840" cy="1226209"/>
            </a:xfrm>
            <a:prstGeom prst="rect">
              <a:avLst/>
            </a:prstGeom>
          </p:spPr>
          <p:txBody>
            <a:bodyPr anchor="ctr" rtlCol="false" tIns="0" lIns="0" bIns="0" rIns="0"/>
            <a:lstStyle/>
            <a:p>
              <a:pPr algn="ctr">
                <a:lnSpc>
                  <a:spcPts val="4919"/>
                </a:lnSpc>
              </a:pPr>
              <a:r>
                <a:rPr lang="en-US" sz="4099" b="true">
                  <a:solidFill>
                    <a:srgbClr val="FFFFFF"/>
                  </a:solidFill>
                  <a:latin typeface="Calibri (MS) Bold"/>
                  <a:ea typeface="Calibri (MS) Bold"/>
                  <a:cs typeface="Calibri (MS) Bold"/>
                  <a:sym typeface="Calibri (MS) Bold"/>
                </a:rPr>
                <a:t>$</a:t>
              </a:r>
            </a:p>
          </p:txBody>
        </p:sp>
      </p:grpSp>
      <p:grpSp>
        <p:nvGrpSpPr>
          <p:cNvPr name="Group 26" id="26"/>
          <p:cNvGrpSpPr/>
          <p:nvPr/>
        </p:nvGrpSpPr>
        <p:grpSpPr>
          <a:xfrm rot="0">
            <a:off x="2286000" y="2755594"/>
            <a:ext cx="6309360" cy="762812"/>
            <a:chOff x="0" y="0"/>
            <a:chExt cx="8412480" cy="1017083"/>
          </a:xfrm>
        </p:grpSpPr>
        <p:sp>
          <p:nvSpPr>
            <p:cNvPr name="Freeform 27" id="27"/>
            <p:cNvSpPr/>
            <p:nvPr/>
          </p:nvSpPr>
          <p:spPr>
            <a:xfrm flipH="false" flipV="false" rot="0">
              <a:off x="0" y="0"/>
              <a:ext cx="8412480" cy="1017083"/>
            </a:xfrm>
            <a:custGeom>
              <a:avLst/>
              <a:gdLst/>
              <a:ahLst/>
              <a:cxnLst/>
              <a:rect r="r" b="b" t="t" l="l"/>
              <a:pathLst>
                <a:path h="1017083" w="8412480">
                  <a:moveTo>
                    <a:pt x="0" y="0"/>
                  </a:moveTo>
                  <a:lnTo>
                    <a:pt x="8412480" y="0"/>
                  </a:lnTo>
                  <a:lnTo>
                    <a:pt x="8412480" y="1017083"/>
                  </a:lnTo>
                  <a:lnTo>
                    <a:pt x="0" y="1017083"/>
                  </a:lnTo>
                  <a:close/>
                </a:path>
              </a:pathLst>
            </a:custGeom>
            <a:blipFill>
              <a:blip r:embed="rId4">
                <a:alphaModFix amt="0"/>
              </a:blip>
              <a:stretch>
                <a:fillRect l="0" t="-125202" r="0" b="-97126"/>
              </a:stretch>
            </a:blipFill>
          </p:spPr>
        </p:sp>
        <p:sp>
          <p:nvSpPr>
            <p:cNvPr name="TextBox 28" id="28"/>
            <p:cNvSpPr txBox="true"/>
            <p:nvPr/>
          </p:nvSpPr>
          <p:spPr>
            <a:xfrm>
              <a:off x="0" y="-66675"/>
              <a:ext cx="8412480" cy="1083758"/>
            </a:xfrm>
            <a:prstGeom prst="rect">
              <a:avLst/>
            </a:prstGeom>
          </p:spPr>
          <p:txBody>
            <a:bodyPr anchor="ctr" rtlCol="false" tIns="0" lIns="0" bIns="0" rIns="0"/>
            <a:lstStyle/>
            <a:p>
              <a:pPr algn="l">
                <a:lnSpc>
                  <a:spcPts val="4379"/>
                </a:lnSpc>
              </a:pPr>
              <a:r>
                <a:rPr lang="en-US" sz="3649" b="true">
                  <a:solidFill>
                    <a:srgbClr val="1E2761"/>
                  </a:solidFill>
                  <a:latin typeface="Calibri (MS) Bold"/>
                  <a:ea typeface="Calibri (MS) Bold"/>
                  <a:cs typeface="Calibri (MS) Bold"/>
                  <a:sym typeface="Calibri (MS) Bold"/>
                </a:rPr>
                <a:t>Financial</a:t>
              </a:r>
            </a:p>
          </p:txBody>
        </p:sp>
      </p:grpSp>
      <p:grpSp>
        <p:nvGrpSpPr>
          <p:cNvPr name="Group 29" id="29"/>
          <p:cNvGrpSpPr/>
          <p:nvPr/>
        </p:nvGrpSpPr>
        <p:grpSpPr>
          <a:xfrm rot="0">
            <a:off x="1257300" y="3784166"/>
            <a:ext cx="7406640" cy="1428572"/>
            <a:chOff x="0" y="0"/>
            <a:chExt cx="9875520" cy="1904763"/>
          </a:xfrm>
        </p:grpSpPr>
        <p:sp>
          <p:nvSpPr>
            <p:cNvPr name="Freeform 30" id="30"/>
            <p:cNvSpPr/>
            <p:nvPr/>
          </p:nvSpPr>
          <p:spPr>
            <a:xfrm flipH="false" flipV="false" rot="0">
              <a:off x="0" y="0"/>
              <a:ext cx="9875520" cy="1904763"/>
            </a:xfrm>
            <a:custGeom>
              <a:avLst/>
              <a:gdLst/>
              <a:ahLst/>
              <a:cxnLst/>
              <a:rect r="r" b="b" t="t" l="l"/>
              <a:pathLst>
                <a:path h="1904763" w="9875520">
                  <a:moveTo>
                    <a:pt x="0" y="0"/>
                  </a:moveTo>
                  <a:lnTo>
                    <a:pt x="9875520" y="0"/>
                  </a:lnTo>
                  <a:lnTo>
                    <a:pt x="9875520" y="1904763"/>
                  </a:lnTo>
                  <a:lnTo>
                    <a:pt x="0" y="1904763"/>
                  </a:lnTo>
                  <a:close/>
                </a:path>
              </a:pathLst>
            </a:custGeom>
            <a:blipFill>
              <a:blip r:embed="rId4">
                <a:alphaModFix amt="0"/>
              </a:blip>
              <a:stretch>
                <a:fillRect l="0" t="-53017" r="0" b="-49029"/>
              </a:stretch>
            </a:blipFill>
          </p:spPr>
        </p:sp>
        <p:sp>
          <p:nvSpPr>
            <p:cNvPr name="TextBox 31" id="31"/>
            <p:cNvSpPr txBox="true"/>
            <p:nvPr/>
          </p:nvSpPr>
          <p:spPr>
            <a:xfrm>
              <a:off x="0" y="-161925"/>
              <a:ext cx="9875520" cy="2066688"/>
            </a:xfrm>
            <a:prstGeom prst="rect">
              <a:avLst/>
            </a:prstGeom>
          </p:spPr>
          <p:txBody>
            <a:bodyPr anchor="ctr" rtlCol="false" tIns="0" lIns="0" bIns="0" rIns="0"/>
            <a:lstStyle/>
            <a:p>
              <a:pPr algn="l">
                <a:lnSpc>
                  <a:spcPts val="4799"/>
                </a:lnSpc>
              </a:pPr>
              <a:r>
                <a:rPr lang="en-US" sz="3199">
                  <a:solidFill>
                    <a:srgbClr val="1B1F3B"/>
                  </a:solidFill>
                  <a:latin typeface="Calibri (MS)"/>
                  <a:ea typeface="Calibri (MS)"/>
                  <a:cs typeface="Calibri (MS)"/>
                  <a:sym typeface="Calibri (MS)"/>
                </a:rPr>
                <a:t>Cost of controls vs. cost of incidents avoided</a:t>
              </a:r>
            </a:p>
          </p:txBody>
        </p:sp>
      </p:grpSp>
      <p:grpSp>
        <p:nvGrpSpPr>
          <p:cNvPr name="Group 32" id="32"/>
          <p:cNvGrpSpPr/>
          <p:nvPr/>
        </p:nvGrpSpPr>
        <p:grpSpPr>
          <a:xfrm rot="0">
            <a:off x="9281160" y="2355594"/>
            <a:ext cx="8161020" cy="3071430"/>
            <a:chOff x="0" y="0"/>
            <a:chExt cx="10881360" cy="4095240"/>
          </a:xfrm>
        </p:grpSpPr>
        <p:sp>
          <p:nvSpPr>
            <p:cNvPr name="Freeform 33" id="33"/>
            <p:cNvSpPr/>
            <p:nvPr/>
          </p:nvSpPr>
          <p:spPr>
            <a:xfrm flipH="false" flipV="false" rot="0">
              <a:off x="0" y="0"/>
              <a:ext cx="10881361" cy="4095240"/>
            </a:xfrm>
            <a:custGeom>
              <a:avLst/>
              <a:gdLst/>
              <a:ahLst/>
              <a:cxnLst/>
              <a:rect r="r" b="b" t="t" l="l"/>
              <a:pathLst>
                <a:path h="4095240" w="10881361">
                  <a:moveTo>
                    <a:pt x="0" y="228572"/>
                  </a:moveTo>
                  <a:cubicBezTo>
                    <a:pt x="0" y="102381"/>
                    <a:pt x="98298" y="0"/>
                    <a:pt x="219456" y="0"/>
                  </a:cubicBezTo>
                  <a:lnTo>
                    <a:pt x="10661904" y="0"/>
                  </a:lnTo>
                  <a:cubicBezTo>
                    <a:pt x="10783062" y="0"/>
                    <a:pt x="10881361" y="102381"/>
                    <a:pt x="10881361" y="228572"/>
                  </a:cubicBezTo>
                  <a:lnTo>
                    <a:pt x="10881361" y="3866668"/>
                  </a:lnTo>
                  <a:cubicBezTo>
                    <a:pt x="10881361" y="3992859"/>
                    <a:pt x="10783062" y="4095240"/>
                    <a:pt x="10661904" y="4095240"/>
                  </a:cubicBezTo>
                  <a:lnTo>
                    <a:pt x="219456" y="4095240"/>
                  </a:lnTo>
                  <a:cubicBezTo>
                    <a:pt x="98298" y="4095240"/>
                    <a:pt x="0" y="3992859"/>
                    <a:pt x="0" y="3866668"/>
                  </a:cubicBezTo>
                  <a:close/>
                </a:path>
              </a:pathLst>
            </a:custGeom>
            <a:solidFill>
              <a:srgbClr val="F3F5FC"/>
            </a:solidFill>
          </p:spPr>
        </p:sp>
      </p:grpSp>
      <p:grpSp>
        <p:nvGrpSpPr>
          <p:cNvPr name="Group 34" id="34"/>
          <p:cNvGrpSpPr/>
          <p:nvPr/>
        </p:nvGrpSpPr>
        <p:grpSpPr>
          <a:xfrm rot="0">
            <a:off x="9692640" y="2784165"/>
            <a:ext cx="754380" cy="785715"/>
            <a:chOff x="0" y="0"/>
            <a:chExt cx="1005840" cy="1047619"/>
          </a:xfrm>
        </p:grpSpPr>
        <p:sp>
          <p:nvSpPr>
            <p:cNvPr name="Freeform 35" id="35"/>
            <p:cNvSpPr/>
            <p:nvPr/>
          </p:nvSpPr>
          <p:spPr>
            <a:xfrm flipH="false" flipV="false" rot="0">
              <a:off x="0" y="0"/>
              <a:ext cx="1005840" cy="1047619"/>
            </a:xfrm>
            <a:custGeom>
              <a:avLst/>
              <a:gdLst/>
              <a:ahLst/>
              <a:cxnLst/>
              <a:rect r="r" b="b" t="t" l="l"/>
              <a:pathLst>
                <a:path h="1047619" w="1005840">
                  <a:moveTo>
                    <a:pt x="0" y="523810"/>
                  </a:moveTo>
                  <a:cubicBezTo>
                    <a:pt x="0" y="234524"/>
                    <a:pt x="225171" y="0"/>
                    <a:pt x="502920" y="0"/>
                  </a:cubicBezTo>
                  <a:cubicBezTo>
                    <a:pt x="780669" y="0"/>
                    <a:pt x="1005840" y="234524"/>
                    <a:pt x="1005840" y="523810"/>
                  </a:cubicBezTo>
                  <a:cubicBezTo>
                    <a:pt x="1005840" y="813096"/>
                    <a:pt x="780669" y="1047619"/>
                    <a:pt x="502920" y="1047619"/>
                  </a:cubicBezTo>
                  <a:cubicBezTo>
                    <a:pt x="225171" y="1047619"/>
                    <a:pt x="0" y="813096"/>
                    <a:pt x="0" y="523810"/>
                  </a:cubicBezTo>
                  <a:close/>
                </a:path>
              </a:pathLst>
            </a:custGeom>
            <a:solidFill>
              <a:srgbClr val="1E2761"/>
            </a:solidFill>
          </p:spPr>
        </p:sp>
      </p:grpSp>
      <p:grpSp>
        <p:nvGrpSpPr>
          <p:cNvPr name="Group 36" id="36"/>
          <p:cNvGrpSpPr/>
          <p:nvPr/>
        </p:nvGrpSpPr>
        <p:grpSpPr>
          <a:xfrm rot="0">
            <a:off x="9692640" y="2784165"/>
            <a:ext cx="754380" cy="855363"/>
            <a:chOff x="0" y="0"/>
            <a:chExt cx="1005840" cy="1140484"/>
          </a:xfrm>
        </p:grpSpPr>
        <p:sp>
          <p:nvSpPr>
            <p:cNvPr name="Freeform 37" id="37"/>
            <p:cNvSpPr/>
            <p:nvPr/>
          </p:nvSpPr>
          <p:spPr>
            <a:xfrm flipH="false" flipV="false" rot="0">
              <a:off x="0" y="0"/>
              <a:ext cx="1005840" cy="1140484"/>
            </a:xfrm>
            <a:custGeom>
              <a:avLst/>
              <a:gdLst/>
              <a:ahLst/>
              <a:cxnLst/>
              <a:rect r="r" b="b" t="t" l="l"/>
              <a:pathLst>
                <a:path h="1140484" w="1005840">
                  <a:moveTo>
                    <a:pt x="0" y="0"/>
                  </a:moveTo>
                  <a:lnTo>
                    <a:pt x="1005840" y="0"/>
                  </a:lnTo>
                  <a:lnTo>
                    <a:pt x="1005840" y="1140484"/>
                  </a:lnTo>
                  <a:lnTo>
                    <a:pt x="0" y="1140484"/>
                  </a:lnTo>
                  <a:close/>
                </a:path>
              </a:pathLst>
            </a:custGeom>
            <a:blipFill>
              <a:blip r:embed="rId4">
                <a:alphaModFix amt="0"/>
              </a:blip>
              <a:stretch>
                <a:fillRect l="-78303" t="0" r="-78303" b="11805"/>
              </a:stretch>
            </a:blipFill>
          </p:spPr>
        </p:sp>
        <p:sp>
          <p:nvSpPr>
            <p:cNvPr name="TextBox 38" id="38"/>
            <p:cNvSpPr txBox="true"/>
            <p:nvPr/>
          </p:nvSpPr>
          <p:spPr>
            <a:xfrm>
              <a:off x="0" y="-85725"/>
              <a:ext cx="1005840" cy="1226209"/>
            </a:xfrm>
            <a:prstGeom prst="rect">
              <a:avLst/>
            </a:prstGeom>
          </p:spPr>
          <p:txBody>
            <a:bodyPr anchor="ctr" rtlCol="false" tIns="0" lIns="0" bIns="0" rIns="0"/>
            <a:lstStyle/>
            <a:p>
              <a:pPr algn="ctr">
                <a:lnSpc>
                  <a:spcPts val="4919"/>
                </a:lnSpc>
              </a:pPr>
              <a:r>
                <a:rPr lang="en-US" sz="4099" b="true">
                  <a:solidFill>
                    <a:srgbClr val="FFFFFF"/>
                  </a:solidFill>
                  <a:latin typeface="Calibri (MS) Bold"/>
                  <a:ea typeface="Calibri (MS) Bold"/>
                  <a:cs typeface="Calibri (MS) Bold"/>
                  <a:sym typeface="Calibri (MS) Bold"/>
                </a:rPr>
                <a:t>♥</a:t>
              </a:r>
            </a:p>
          </p:txBody>
        </p:sp>
      </p:grpSp>
      <p:grpSp>
        <p:nvGrpSpPr>
          <p:cNvPr name="Group 39" id="39"/>
          <p:cNvGrpSpPr/>
          <p:nvPr/>
        </p:nvGrpSpPr>
        <p:grpSpPr>
          <a:xfrm rot="0">
            <a:off x="10721340" y="2755594"/>
            <a:ext cx="6309360" cy="762812"/>
            <a:chOff x="0" y="0"/>
            <a:chExt cx="8412480" cy="1017083"/>
          </a:xfrm>
        </p:grpSpPr>
        <p:sp>
          <p:nvSpPr>
            <p:cNvPr name="Freeform 40" id="40"/>
            <p:cNvSpPr/>
            <p:nvPr/>
          </p:nvSpPr>
          <p:spPr>
            <a:xfrm flipH="false" flipV="false" rot="0">
              <a:off x="0" y="0"/>
              <a:ext cx="8412480" cy="1017083"/>
            </a:xfrm>
            <a:custGeom>
              <a:avLst/>
              <a:gdLst/>
              <a:ahLst/>
              <a:cxnLst/>
              <a:rect r="r" b="b" t="t" l="l"/>
              <a:pathLst>
                <a:path h="1017083" w="8412480">
                  <a:moveTo>
                    <a:pt x="0" y="0"/>
                  </a:moveTo>
                  <a:lnTo>
                    <a:pt x="8412480" y="0"/>
                  </a:lnTo>
                  <a:lnTo>
                    <a:pt x="8412480" y="1017083"/>
                  </a:lnTo>
                  <a:lnTo>
                    <a:pt x="0" y="1017083"/>
                  </a:lnTo>
                  <a:close/>
                </a:path>
              </a:pathLst>
            </a:custGeom>
            <a:blipFill>
              <a:blip r:embed="rId4">
                <a:alphaModFix amt="0"/>
              </a:blip>
              <a:stretch>
                <a:fillRect l="0" t="-125202" r="0" b="-97126"/>
              </a:stretch>
            </a:blipFill>
          </p:spPr>
        </p:sp>
        <p:sp>
          <p:nvSpPr>
            <p:cNvPr name="TextBox 41" id="41"/>
            <p:cNvSpPr txBox="true"/>
            <p:nvPr/>
          </p:nvSpPr>
          <p:spPr>
            <a:xfrm>
              <a:off x="0" y="-66675"/>
              <a:ext cx="8412480" cy="1083758"/>
            </a:xfrm>
            <a:prstGeom prst="rect">
              <a:avLst/>
            </a:prstGeom>
          </p:spPr>
          <p:txBody>
            <a:bodyPr anchor="ctr" rtlCol="false" tIns="0" lIns="0" bIns="0" rIns="0"/>
            <a:lstStyle/>
            <a:p>
              <a:pPr algn="l">
                <a:lnSpc>
                  <a:spcPts val="4379"/>
                </a:lnSpc>
              </a:pPr>
              <a:r>
                <a:rPr lang="en-US" sz="3649" b="true">
                  <a:solidFill>
                    <a:srgbClr val="1E2761"/>
                  </a:solidFill>
                  <a:latin typeface="Calibri (MS) Bold"/>
                  <a:ea typeface="Calibri (MS) Bold"/>
                  <a:cs typeface="Calibri (MS) Bold"/>
                  <a:sym typeface="Calibri (MS) Bold"/>
                </a:rPr>
                <a:t>Customer / Stakeholder</a:t>
              </a:r>
            </a:p>
          </p:txBody>
        </p:sp>
      </p:grpSp>
      <p:grpSp>
        <p:nvGrpSpPr>
          <p:cNvPr name="Group 42" id="42"/>
          <p:cNvGrpSpPr/>
          <p:nvPr/>
        </p:nvGrpSpPr>
        <p:grpSpPr>
          <a:xfrm rot="0">
            <a:off x="9692640" y="3784166"/>
            <a:ext cx="7406640" cy="1428572"/>
            <a:chOff x="0" y="0"/>
            <a:chExt cx="9875520" cy="1904763"/>
          </a:xfrm>
        </p:grpSpPr>
        <p:sp>
          <p:nvSpPr>
            <p:cNvPr name="Freeform 43" id="43"/>
            <p:cNvSpPr/>
            <p:nvPr/>
          </p:nvSpPr>
          <p:spPr>
            <a:xfrm flipH="false" flipV="false" rot="0">
              <a:off x="0" y="0"/>
              <a:ext cx="9875520" cy="1904763"/>
            </a:xfrm>
            <a:custGeom>
              <a:avLst/>
              <a:gdLst/>
              <a:ahLst/>
              <a:cxnLst/>
              <a:rect r="r" b="b" t="t" l="l"/>
              <a:pathLst>
                <a:path h="1904763" w="9875520">
                  <a:moveTo>
                    <a:pt x="0" y="0"/>
                  </a:moveTo>
                  <a:lnTo>
                    <a:pt x="9875520" y="0"/>
                  </a:lnTo>
                  <a:lnTo>
                    <a:pt x="9875520" y="1904763"/>
                  </a:lnTo>
                  <a:lnTo>
                    <a:pt x="0" y="1904763"/>
                  </a:lnTo>
                  <a:close/>
                </a:path>
              </a:pathLst>
            </a:custGeom>
            <a:blipFill>
              <a:blip r:embed="rId4">
                <a:alphaModFix amt="0"/>
              </a:blip>
              <a:stretch>
                <a:fillRect l="0" t="-53017" r="0" b="-49029"/>
              </a:stretch>
            </a:blipFill>
          </p:spPr>
        </p:sp>
        <p:sp>
          <p:nvSpPr>
            <p:cNvPr name="TextBox 44" id="44"/>
            <p:cNvSpPr txBox="true"/>
            <p:nvPr/>
          </p:nvSpPr>
          <p:spPr>
            <a:xfrm>
              <a:off x="0" y="-161925"/>
              <a:ext cx="9875520" cy="2066688"/>
            </a:xfrm>
            <a:prstGeom prst="rect">
              <a:avLst/>
            </a:prstGeom>
          </p:spPr>
          <p:txBody>
            <a:bodyPr anchor="ctr" rtlCol="false" tIns="0" lIns="0" bIns="0" rIns="0"/>
            <a:lstStyle/>
            <a:p>
              <a:pPr algn="l">
                <a:lnSpc>
                  <a:spcPts val="4799"/>
                </a:lnSpc>
              </a:pPr>
              <a:r>
                <a:rPr lang="en-US" sz="3199">
                  <a:solidFill>
                    <a:srgbClr val="1B1F3B"/>
                  </a:solidFill>
                  <a:latin typeface="Calibri (MS)"/>
                  <a:ea typeface="Calibri (MS)"/>
                  <a:cs typeface="Calibri (MS)"/>
                  <a:sym typeface="Calibri (MS)"/>
                </a:rPr>
                <a:t>Trust, compliance status, breach exposure</a:t>
              </a:r>
            </a:p>
          </p:txBody>
        </p:sp>
      </p:grpSp>
      <p:grpSp>
        <p:nvGrpSpPr>
          <p:cNvPr name="Group 45" id="45"/>
          <p:cNvGrpSpPr/>
          <p:nvPr/>
        </p:nvGrpSpPr>
        <p:grpSpPr>
          <a:xfrm rot="0">
            <a:off x="845820" y="5712738"/>
            <a:ext cx="8161020" cy="3071430"/>
            <a:chOff x="0" y="0"/>
            <a:chExt cx="10881360" cy="4095240"/>
          </a:xfrm>
        </p:grpSpPr>
        <p:sp>
          <p:nvSpPr>
            <p:cNvPr name="Freeform 46" id="46"/>
            <p:cNvSpPr/>
            <p:nvPr/>
          </p:nvSpPr>
          <p:spPr>
            <a:xfrm flipH="false" flipV="false" rot="0">
              <a:off x="0" y="0"/>
              <a:ext cx="10881361" cy="4095240"/>
            </a:xfrm>
            <a:custGeom>
              <a:avLst/>
              <a:gdLst/>
              <a:ahLst/>
              <a:cxnLst/>
              <a:rect r="r" b="b" t="t" l="l"/>
              <a:pathLst>
                <a:path h="4095240" w="10881361">
                  <a:moveTo>
                    <a:pt x="0" y="228572"/>
                  </a:moveTo>
                  <a:cubicBezTo>
                    <a:pt x="0" y="102381"/>
                    <a:pt x="98298" y="0"/>
                    <a:pt x="219456" y="0"/>
                  </a:cubicBezTo>
                  <a:lnTo>
                    <a:pt x="10661904" y="0"/>
                  </a:lnTo>
                  <a:cubicBezTo>
                    <a:pt x="10783062" y="0"/>
                    <a:pt x="10881361" y="102381"/>
                    <a:pt x="10881361" y="228572"/>
                  </a:cubicBezTo>
                  <a:lnTo>
                    <a:pt x="10881361" y="3866668"/>
                  </a:lnTo>
                  <a:cubicBezTo>
                    <a:pt x="10881361" y="3992859"/>
                    <a:pt x="10783062" y="4095240"/>
                    <a:pt x="10661904" y="4095240"/>
                  </a:cubicBezTo>
                  <a:lnTo>
                    <a:pt x="219456" y="4095240"/>
                  </a:lnTo>
                  <a:cubicBezTo>
                    <a:pt x="98298" y="4095240"/>
                    <a:pt x="0" y="3992859"/>
                    <a:pt x="0" y="3866668"/>
                  </a:cubicBezTo>
                  <a:close/>
                </a:path>
              </a:pathLst>
            </a:custGeom>
            <a:solidFill>
              <a:srgbClr val="F3F5FC"/>
            </a:solidFill>
          </p:spPr>
        </p:sp>
      </p:grpSp>
      <p:grpSp>
        <p:nvGrpSpPr>
          <p:cNvPr name="Group 47" id="47"/>
          <p:cNvGrpSpPr/>
          <p:nvPr/>
        </p:nvGrpSpPr>
        <p:grpSpPr>
          <a:xfrm rot="0">
            <a:off x="1257300" y="6141309"/>
            <a:ext cx="754380" cy="785715"/>
            <a:chOff x="0" y="0"/>
            <a:chExt cx="1005840" cy="1047619"/>
          </a:xfrm>
        </p:grpSpPr>
        <p:sp>
          <p:nvSpPr>
            <p:cNvPr name="Freeform 48" id="48"/>
            <p:cNvSpPr/>
            <p:nvPr/>
          </p:nvSpPr>
          <p:spPr>
            <a:xfrm flipH="false" flipV="false" rot="0">
              <a:off x="0" y="0"/>
              <a:ext cx="1005840" cy="1047619"/>
            </a:xfrm>
            <a:custGeom>
              <a:avLst/>
              <a:gdLst/>
              <a:ahLst/>
              <a:cxnLst/>
              <a:rect r="r" b="b" t="t" l="l"/>
              <a:pathLst>
                <a:path h="1047619" w="1005840">
                  <a:moveTo>
                    <a:pt x="0" y="523810"/>
                  </a:moveTo>
                  <a:cubicBezTo>
                    <a:pt x="0" y="234524"/>
                    <a:pt x="225171" y="0"/>
                    <a:pt x="502920" y="0"/>
                  </a:cubicBezTo>
                  <a:cubicBezTo>
                    <a:pt x="780669" y="0"/>
                    <a:pt x="1005840" y="234524"/>
                    <a:pt x="1005840" y="523810"/>
                  </a:cubicBezTo>
                  <a:cubicBezTo>
                    <a:pt x="1005840" y="813096"/>
                    <a:pt x="780669" y="1047619"/>
                    <a:pt x="502920" y="1047619"/>
                  </a:cubicBezTo>
                  <a:cubicBezTo>
                    <a:pt x="225171" y="1047619"/>
                    <a:pt x="0" y="813096"/>
                    <a:pt x="0" y="523810"/>
                  </a:cubicBezTo>
                  <a:close/>
                </a:path>
              </a:pathLst>
            </a:custGeom>
            <a:solidFill>
              <a:srgbClr val="1E2761"/>
            </a:solidFill>
          </p:spPr>
        </p:sp>
      </p:grpSp>
      <p:grpSp>
        <p:nvGrpSpPr>
          <p:cNvPr name="Group 49" id="49"/>
          <p:cNvGrpSpPr/>
          <p:nvPr/>
        </p:nvGrpSpPr>
        <p:grpSpPr>
          <a:xfrm rot="0">
            <a:off x="1257300" y="6141309"/>
            <a:ext cx="754380" cy="855363"/>
            <a:chOff x="0" y="0"/>
            <a:chExt cx="1005840" cy="1140484"/>
          </a:xfrm>
        </p:grpSpPr>
        <p:sp>
          <p:nvSpPr>
            <p:cNvPr name="Freeform 50" id="50"/>
            <p:cNvSpPr/>
            <p:nvPr/>
          </p:nvSpPr>
          <p:spPr>
            <a:xfrm flipH="false" flipV="false" rot="0">
              <a:off x="0" y="0"/>
              <a:ext cx="1005840" cy="1140484"/>
            </a:xfrm>
            <a:custGeom>
              <a:avLst/>
              <a:gdLst/>
              <a:ahLst/>
              <a:cxnLst/>
              <a:rect r="r" b="b" t="t" l="l"/>
              <a:pathLst>
                <a:path h="1140484" w="1005840">
                  <a:moveTo>
                    <a:pt x="0" y="0"/>
                  </a:moveTo>
                  <a:lnTo>
                    <a:pt x="1005840" y="0"/>
                  </a:lnTo>
                  <a:lnTo>
                    <a:pt x="1005840" y="1140484"/>
                  </a:lnTo>
                  <a:lnTo>
                    <a:pt x="0" y="1140484"/>
                  </a:lnTo>
                  <a:close/>
                </a:path>
              </a:pathLst>
            </a:custGeom>
            <a:blipFill>
              <a:blip r:embed="rId4">
                <a:alphaModFix amt="0"/>
              </a:blip>
              <a:stretch>
                <a:fillRect l="-78303" t="0" r="-78303" b="11805"/>
              </a:stretch>
            </a:blipFill>
          </p:spPr>
        </p:sp>
        <p:sp>
          <p:nvSpPr>
            <p:cNvPr name="TextBox 51" id="51"/>
            <p:cNvSpPr txBox="true"/>
            <p:nvPr/>
          </p:nvSpPr>
          <p:spPr>
            <a:xfrm>
              <a:off x="0" y="-85725"/>
              <a:ext cx="1005840" cy="1226209"/>
            </a:xfrm>
            <a:prstGeom prst="rect">
              <a:avLst/>
            </a:prstGeom>
          </p:spPr>
          <p:txBody>
            <a:bodyPr anchor="ctr" rtlCol="false" tIns="0" lIns="0" bIns="0" rIns="0"/>
            <a:lstStyle/>
            <a:p>
              <a:pPr algn="ctr">
                <a:lnSpc>
                  <a:spcPts val="4919"/>
                </a:lnSpc>
              </a:pPr>
              <a:r>
                <a:rPr lang="en-US" sz="4099" b="true">
                  <a:solidFill>
                    <a:srgbClr val="FFFFFF"/>
                  </a:solidFill>
                  <a:latin typeface="Calibri (MS) Bold"/>
                  <a:ea typeface="Calibri (MS) Bold"/>
                  <a:cs typeface="Calibri (MS) Bold"/>
                  <a:sym typeface="Calibri (MS) Bold"/>
                </a:rPr>
                <a:t>⚙</a:t>
              </a:r>
            </a:p>
          </p:txBody>
        </p:sp>
      </p:grpSp>
      <p:grpSp>
        <p:nvGrpSpPr>
          <p:cNvPr name="Group 52" id="52"/>
          <p:cNvGrpSpPr/>
          <p:nvPr/>
        </p:nvGrpSpPr>
        <p:grpSpPr>
          <a:xfrm rot="0">
            <a:off x="2286000" y="6112738"/>
            <a:ext cx="6309360" cy="762812"/>
            <a:chOff x="0" y="0"/>
            <a:chExt cx="8412480" cy="1017083"/>
          </a:xfrm>
        </p:grpSpPr>
        <p:sp>
          <p:nvSpPr>
            <p:cNvPr name="Freeform 53" id="53"/>
            <p:cNvSpPr/>
            <p:nvPr/>
          </p:nvSpPr>
          <p:spPr>
            <a:xfrm flipH="false" flipV="false" rot="0">
              <a:off x="0" y="0"/>
              <a:ext cx="8412480" cy="1017083"/>
            </a:xfrm>
            <a:custGeom>
              <a:avLst/>
              <a:gdLst/>
              <a:ahLst/>
              <a:cxnLst/>
              <a:rect r="r" b="b" t="t" l="l"/>
              <a:pathLst>
                <a:path h="1017083" w="8412480">
                  <a:moveTo>
                    <a:pt x="0" y="0"/>
                  </a:moveTo>
                  <a:lnTo>
                    <a:pt x="8412480" y="0"/>
                  </a:lnTo>
                  <a:lnTo>
                    <a:pt x="8412480" y="1017083"/>
                  </a:lnTo>
                  <a:lnTo>
                    <a:pt x="0" y="1017083"/>
                  </a:lnTo>
                  <a:close/>
                </a:path>
              </a:pathLst>
            </a:custGeom>
            <a:blipFill>
              <a:blip r:embed="rId4">
                <a:alphaModFix amt="0"/>
              </a:blip>
              <a:stretch>
                <a:fillRect l="0" t="-125202" r="0" b="-97126"/>
              </a:stretch>
            </a:blipFill>
          </p:spPr>
        </p:sp>
        <p:sp>
          <p:nvSpPr>
            <p:cNvPr name="TextBox 54" id="54"/>
            <p:cNvSpPr txBox="true"/>
            <p:nvPr/>
          </p:nvSpPr>
          <p:spPr>
            <a:xfrm>
              <a:off x="0" y="-66675"/>
              <a:ext cx="8412480" cy="1083758"/>
            </a:xfrm>
            <a:prstGeom prst="rect">
              <a:avLst/>
            </a:prstGeom>
          </p:spPr>
          <p:txBody>
            <a:bodyPr anchor="ctr" rtlCol="false" tIns="0" lIns="0" bIns="0" rIns="0"/>
            <a:lstStyle/>
            <a:p>
              <a:pPr algn="l">
                <a:lnSpc>
                  <a:spcPts val="4379"/>
                </a:lnSpc>
              </a:pPr>
              <a:r>
                <a:rPr lang="en-US" sz="3649" b="true">
                  <a:solidFill>
                    <a:srgbClr val="1E2761"/>
                  </a:solidFill>
                  <a:latin typeface="Calibri (MS) Bold"/>
                  <a:ea typeface="Calibri (MS) Bold"/>
                  <a:cs typeface="Calibri (MS) Bold"/>
                  <a:sym typeface="Calibri (MS) Bold"/>
                </a:rPr>
                <a:t>Internal Process</a:t>
              </a:r>
            </a:p>
          </p:txBody>
        </p:sp>
      </p:grpSp>
      <p:grpSp>
        <p:nvGrpSpPr>
          <p:cNvPr name="Group 55" id="55"/>
          <p:cNvGrpSpPr/>
          <p:nvPr/>
        </p:nvGrpSpPr>
        <p:grpSpPr>
          <a:xfrm rot="0">
            <a:off x="1257300" y="7141310"/>
            <a:ext cx="7406640" cy="1428572"/>
            <a:chOff x="0" y="0"/>
            <a:chExt cx="9875520" cy="1904763"/>
          </a:xfrm>
        </p:grpSpPr>
        <p:sp>
          <p:nvSpPr>
            <p:cNvPr name="Freeform 56" id="56"/>
            <p:cNvSpPr/>
            <p:nvPr/>
          </p:nvSpPr>
          <p:spPr>
            <a:xfrm flipH="false" flipV="false" rot="0">
              <a:off x="0" y="0"/>
              <a:ext cx="9875520" cy="1904763"/>
            </a:xfrm>
            <a:custGeom>
              <a:avLst/>
              <a:gdLst/>
              <a:ahLst/>
              <a:cxnLst/>
              <a:rect r="r" b="b" t="t" l="l"/>
              <a:pathLst>
                <a:path h="1904763" w="9875520">
                  <a:moveTo>
                    <a:pt x="0" y="0"/>
                  </a:moveTo>
                  <a:lnTo>
                    <a:pt x="9875520" y="0"/>
                  </a:lnTo>
                  <a:lnTo>
                    <a:pt x="9875520" y="1904763"/>
                  </a:lnTo>
                  <a:lnTo>
                    <a:pt x="0" y="1904763"/>
                  </a:lnTo>
                  <a:close/>
                </a:path>
              </a:pathLst>
            </a:custGeom>
            <a:blipFill>
              <a:blip r:embed="rId4">
                <a:alphaModFix amt="0"/>
              </a:blip>
              <a:stretch>
                <a:fillRect l="0" t="-53017" r="0" b="-49029"/>
              </a:stretch>
            </a:blipFill>
          </p:spPr>
        </p:sp>
        <p:sp>
          <p:nvSpPr>
            <p:cNvPr name="TextBox 57" id="57"/>
            <p:cNvSpPr txBox="true"/>
            <p:nvPr/>
          </p:nvSpPr>
          <p:spPr>
            <a:xfrm>
              <a:off x="0" y="-161925"/>
              <a:ext cx="9875520" cy="2066688"/>
            </a:xfrm>
            <a:prstGeom prst="rect">
              <a:avLst/>
            </a:prstGeom>
          </p:spPr>
          <p:txBody>
            <a:bodyPr anchor="ctr" rtlCol="false" tIns="0" lIns="0" bIns="0" rIns="0"/>
            <a:lstStyle/>
            <a:p>
              <a:pPr algn="l">
                <a:lnSpc>
                  <a:spcPts val="4799"/>
                </a:lnSpc>
              </a:pPr>
              <a:r>
                <a:rPr lang="en-US" sz="3199">
                  <a:solidFill>
                    <a:srgbClr val="1B1F3B"/>
                  </a:solidFill>
                  <a:latin typeface="Calibri (MS)"/>
                  <a:ea typeface="Calibri (MS)"/>
                  <a:cs typeface="Calibri (MS)"/>
                  <a:sym typeface="Calibri (MS)"/>
                </a:rPr>
                <a:t>Patch cycle time, audit findings closed</a:t>
              </a:r>
            </a:p>
          </p:txBody>
        </p:sp>
      </p:grpSp>
      <p:grpSp>
        <p:nvGrpSpPr>
          <p:cNvPr name="Group 58" id="58"/>
          <p:cNvGrpSpPr/>
          <p:nvPr/>
        </p:nvGrpSpPr>
        <p:grpSpPr>
          <a:xfrm rot="0">
            <a:off x="9281160" y="5712738"/>
            <a:ext cx="8161020" cy="3071430"/>
            <a:chOff x="0" y="0"/>
            <a:chExt cx="10881360" cy="4095240"/>
          </a:xfrm>
        </p:grpSpPr>
        <p:sp>
          <p:nvSpPr>
            <p:cNvPr name="Freeform 59" id="59"/>
            <p:cNvSpPr/>
            <p:nvPr/>
          </p:nvSpPr>
          <p:spPr>
            <a:xfrm flipH="false" flipV="false" rot="0">
              <a:off x="0" y="0"/>
              <a:ext cx="10881361" cy="4095240"/>
            </a:xfrm>
            <a:custGeom>
              <a:avLst/>
              <a:gdLst/>
              <a:ahLst/>
              <a:cxnLst/>
              <a:rect r="r" b="b" t="t" l="l"/>
              <a:pathLst>
                <a:path h="4095240" w="10881361">
                  <a:moveTo>
                    <a:pt x="0" y="228572"/>
                  </a:moveTo>
                  <a:cubicBezTo>
                    <a:pt x="0" y="102381"/>
                    <a:pt x="98298" y="0"/>
                    <a:pt x="219456" y="0"/>
                  </a:cubicBezTo>
                  <a:lnTo>
                    <a:pt x="10661904" y="0"/>
                  </a:lnTo>
                  <a:cubicBezTo>
                    <a:pt x="10783062" y="0"/>
                    <a:pt x="10881361" y="102381"/>
                    <a:pt x="10881361" y="228572"/>
                  </a:cubicBezTo>
                  <a:lnTo>
                    <a:pt x="10881361" y="3866668"/>
                  </a:lnTo>
                  <a:cubicBezTo>
                    <a:pt x="10881361" y="3992859"/>
                    <a:pt x="10783062" y="4095240"/>
                    <a:pt x="10661904" y="4095240"/>
                  </a:cubicBezTo>
                  <a:lnTo>
                    <a:pt x="219456" y="4095240"/>
                  </a:lnTo>
                  <a:cubicBezTo>
                    <a:pt x="98298" y="4095240"/>
                    <a:pt x="0" y="3992859"/>
                    <a:pt x="0" y="3866668"/>
                  </a:cubicBezTo>
                  <a:close/>
                </a:path>
              </a:pathLst>
            </a:custGeom>
            <a:solidFill>
              <a:srgbClr val="F3F5FC"/>
            </a:solidFill>
          </p:spPr>
        </p:sp>
      </p:grpSp>
      <p:grpSp>
        <p:nvGrpSpPr>
          <p:cNvPr name="Group 60" id="60"/>
          <p:cNvGrpSpPr/>
          <p:nvPr/>
        </p:nvGrpSpPr>
        <p:grpSpPr>
          <a:xfrm rot="0">
            <a:off x="9692640" y="6141309"/>
            <a:ext cx="754380" cy="785715"/>
            <a:chOff x="0" y="0"/>
            <a:chExt cx="1005840" cy="1047619"/>
          </a:xfrm>
        </p:grpSpPr>
        <p:sp>
          <p:nvSpPr>
            <p:cNvPr name="Freeform 61" id="61"/>
            <p:cNvSpPr/>
            <p:nvPr/>
          </p:nvSpPr>
          <p:spPr>
            <a:xfrm flipH="false" flipV="false" rot="0">
              <a:off x="0" y="0"/>
              <a:ext cx="1005840" cy="1047619"/>
            </a:xfrm>
            <a:custGeom>
              <a:avLst/>
              <a:gdLst/>
              <a:ahLst/>
              <a:cxnLst/>
              <a:rect r="r" b="b" t="t" l="l"/>
              <a:pathLst>
                <a:path h="1047619" w="1005840">
                  <a:moveTo>
                    <a:pt x="0" y="523810"/>
                  </a:moveTo>
                  <a:cubicBezTo>
                    <a:pt x="0" y="234524"/>
                    <a:pt x="225171" y="0"/>
                    <a:pt x="502920" y="0"/>
                  </a:cubicBezTo>
                  <a:cubicBezTo>
                    <a:pt x="780669" y="0"/>
                    <a:pt x="1005840" y="234524"/>
                    <a:pt x="1005840" y="523810"/>
                  </a:cubicBezTo>
                  <a:cubicBezTo>
                    <a:pt x="1005840" y="813096"/>
                    <a:pt x="780669" y="1047619"/>
                    <a:pt x="502920" y="1047619"/>
                  </a:cubicBezTo>
                  <a:cubicBezTo>
                    <a:pt x="225171" y="1047619"/>
                    <a:pt x="0" y="813096"/>
                    <a:pt x="0" y="523810"/>
                  </a:cubicBezTo>
                  <a:close/>
                </a:path>
              </a:pathLst>
            </a:custGeom>
            <a:solidFill>
              <a:srgbClr val="1E2761"/>
            </a:solidFill>
          </p:spPr>
        </p:sp>
      </p:grpSp>
      <p:grpSp>
        <p:nvGrpSpPr>
          <p:cNvPr name="Group 62" id="62"/>
          <p:cNvGrpSpPr/>
          <p:nvPr/>
        </p:nvGrpSpPr>
        <p:grpSpPr>
          <a:xfrm rot="0">
            <a:off x="9692640" y="6141309"/>
            <a:ext cx="754380" cy="855363"/>
            <a:chOff x="0" y="0"/>
            <a:chExt cx="1005840" cy="1140484"/>
          </a:xfrm>
        </p:grpSpPr>
        <p:sp>
          <p:nvSpPr>
            <p:cNvPr name="Freeform 63" id="63"/>
            <p:cNvSpPr/>
            <p:nvPr/>
          </p:nvSpPr>
          <p:spPr>
            <a:xfrm flipH="false" flipV="false" rot="0">
              <a:off x="0" y="0"/>
              <a:ext cx="1005840" cy="1140484"/>
            </a:xfrm>
            <a:custGeom>
              <a:avLst/>
              <a:gdLst/>
              <a:ahLst/>
              <a:cxnLst/>
              <a:rect r="r" b="b" t="t" l="l"/>
              <a:pathLst>
                <a:path h="1140484" w="1005840">
                  <a:moveTo>
                    <a:pt x="0" y="0"/>
                  </a:moveTo>
                  <a:lnTo>
                    <a:pt x="1005840" y="0"/>
                  </a:lnTo>
                  <a:lnTo>
                    <a:pt x="1005840" y="1140484"/>
                  </a:lnTo>
                  <a:lnTo>
                    <a:pt x="0" y="1140484"/>
                  </a:lnTo>
                  <a:close/>
                </a:path>
              </a:pathLst>
            </a:custGeom>
            <a:blipFill>
              <a:blip r:embed="rId4">
                <a:alphaModFix amt="0"/>
              </a:blip>
              <a:stretch>
                <a:fillRect l="-78303" t="0" r="-78303" b="11805"/>
              </a:stretch>
            </a:blipFill>
          </p:spPr>
        </p:sp>
        <p:sp>
          <p:nvSpPr>
            <p:cNvPr name="TextBox 64" id="64"/>
            <p:cNvSpPr txBox="true"/>
            <p:nvPr/>
          </p:nvSpPr>
          <p:spPr>
            <a:xfrm>
              <a:off x="0" y="-85725"/>
              <a:ext cx="1005840" cy="1226209"/>
            </a:xfrm>
            <a:prstGeom prst="rect">
              <a:avLst/>
            </a:prstGeom>
          </p:spPr>
          <p:txBody>
            <a:bodyPr anchor="ctr" rtlCol="false" tIns="0" lIns="0" bIns="0" rIns="0"/>
            <a:lstStyle/>
            <a:p>
              <a:pPr algn="ctr">
                <a:lnSpc>
                  <a:spcPts val="4919"/>
                </a:lnSpc>
              </a:pPr>
              <a:r>
                <a:rPr lang="en-US" sz="4099" b="true">
                  <a:solidFill>
                    <a:srgbClr val="FFFFFF"/>
                  </a:solidFill>
                  <a:latin typeface="Calibri (MS) Bold"/>
                  <a:ea typeface="Calibri (MS) Bold"/>
                  <a:cs typeface="Calibri (MS) Bold"/>
                  <a:sym typeface="Calibri (MS) Bold"/>
                </a:rPr>
                <a:t>↑</a:t>
              </a:r>
            </a:p>
          </p:txBody>
        </p:sp>
      </p:grpSp>
      <p:grpSp>
        <p:nvGrpSpPr>
          <p:cNvPr name="Group 65" id="65"/>
          <p:cNvGrpSpPr/>
          <p:nvPr/>
        </p:nvGrpSpPr>
        <p:grpSpPr>
          <a:xfrm rot="0">
            <a:off x="10721340" y="6112738"/>
            <a:ext cx="6309360" cy="762812"/>
            <a:chOff x="0" y="0"/>
            <a:chExt cx="8412480" cy="1017083"/>
          </a:xfrm>
        </p:grpSpPr>
        <p:sp>
          <p:nvSpPr>
            <p:cNvPr name="Freeform 66" id="66"/>
            <p:cNvSpPr/>
            <p:nvPr/>
          </p:nvSpPr>
          <p:spPr>
            <a:xfrm flipH="false" flipV="false" rot="0">
              <a:off x="0" y="0"/>
              <a:ext cx="8412480" cy="1017083"/>
            </a:xfrm>
            <a:custGeom>
              <a:avLst/>
              <a:gdLst/>
              <a:ahLst/>
              <a:cxnLst/>
              <a:rect r="r" b="b" t="t" l="l"/>
              <a:pathLst>
                <a:path h="1017083" w="8412480">
                  <a:moveTo>
                    <a:pt x="0" y="0"/>
                  </a:moveTo>
                  <a:lnTo>
                    <a:pt x="8412480" y="0"/>
                  </a:lnTo>
                  <a:lnTo>
                    <a:pt x="8412480" y="1017083"/>
                  </a:lnTo>
                  <a:lnTo>
                    <a:pt x="0" y="1017083"/>
                  </a:lnTo>
                  <a:close/>
                </a:path>
              </a:pathLst>
            </a:custGeom>
            <a:blipFill>
              <a:blip r:embed="rId4">
                <a:alphaModFix amt="0"/>
              </a:blip>
              <a:stretch>
                <a:fillRect l="0" t="-125202" r="0" b="-97126"/>
              </a:stretch>
            </a:blipFill>
          </p:spPr>
        </p:sp>
        <p:sp>
          <p:nvSpPr>
            <p:cNvPr name="TextBox 67" id="67"/>
            <p:cNvSpPr txBox="true"/>
            <p:nvPr/>
          </p:nvSpPr>
          <p:spPr>
            <a:xfrm>
              <a:off x="0" y="-66675"/>
              <a:ext cx="8412480" cy="1083758"/>
            </a:xfrm>
            <a:prstGeom prst="rect">
              <a:avLst/>
            </a:prstGeom>
          </p:spPr>
          <p:txBody>
            <a:bodyPr anchor="ctr" rtlCol="false" tIns="0" lIns="0" bIns="0" rIns="0"/>
            <a:lstStyle/>
            <a:p>
              <a:pPr algn="l">
                <a:lnSpc>
                  <a:spcPts val="4379"/>
                </a:lnSpc>
              </a:pPr>
              <a:r>
                <a:rPr lang="en-US" sz="3649" b="true">
                  <a:solidFill>
                    <a:srgbClr val="1E2761"/>
                  </a:solidFill>
                  <a:latin typeface="Calibri (MS) Bold"/>
                  <a:ea typeface="Calibri (MS) Bold"/>
                  <a:cs typeface="Calibri (MS) Bold"/>
                  <a:sym typeface="Calibri (MS) Bold"/>
                </a:rPr>
                <a:t>Learning &amp; Growth</a:t>
              </a:r>
            </a:p>
          </p:txBody>
        </p:sp>
      </p:grpSp>
      <p:grpSp>
        <p:nvGrpSpPr>
          <p:cNvPr name="Group 68" id="68"/>
          <p:cNvGrpSpPr/>
          <p:nvPr/>
        </p:nvGrpSpPr>
        <p:grpSpPr>
          <a:xfrm rot="0">
            <a:off x="9692640" y="7141310"/>
            <a:ext cx="7406640" cy="1428572"/>
            <a:chOff x="0" y="0"/>
            <a:chExt cx="9875520" cy="1904763"/>
          </a:xfrm>
        </p:grpSpPr>
        <p:sp>
          <p:nvSpPr>
            <p:cNvPr name="Freeform 69" id="69"/>
            <p:cNvSpPr/>
            <p:nvPr/>
          </p:nvSpPr>
          <p:spPr>
            <a:xfrm flipH="false" flipV="false" rot="0">
              <a:off x="0" y="0"/>
              <a:ext cx="9875520" cy="1904763"/>
            </a:xfrm>
            <a:custGeom>
              <a:avLst/>
              <a:gdLst/>
              <a:ahLst/>
              <a:cxnLst/>
              <a:rect r="r" b="b" t="t" l="l"/>
              <a:pathLst>
                <a:path h="1904763" w="9875520">
                  <a:moveTo>
                    <a:pt x="0" y="0"/>
                  </a:moveTo>
                  <a:lnTo>
                    <a:pt x="9875520" y="0"/>
                  </a:lnTo>
                  <a:lnTo>
                    <a:pt x="9875520" y="1904763"/>
                  </a:lnTo>
                  <a:lnTo>
                    <a:pt x="0" y="1904763"/>
                  </a:lnTo>
                  <a:close/>
                </a:path>
              </a:pathLst>
            </a:custGeom>
            <a:blipFill>
              <a:blip r:embed="rId4">
                <a:alphaModFix amt="0"/>
              </a:blip>
              <a:stretch>
                <a:fillRect l="0" t="-53017" r="0" b="-49029"/>
              </a:stretch>
            </a:blipFill>
          </p:spPr>
        </p:sp>
        <p:sp>
          <p:nvSpPr>
            <p:cNvPr name="TextBox 70" id="70"/>
            <p:cNvSpPr txBox="true"/>
            <p:nvPr/>
          </p:nvSpPr>
          <p:spPr>
            <a:xfrm>
              <a:off x="0" y="-161925"/>
              <a:ext cx="9875520" cy="2066688"/>
            </a:xfrm>
            <a:prstGeom prst="rect">
              <a:avLst/>
            </a:prstGeom>
          </p:spPr>
          <p:txBody>
            <a:bodyPr anchor="ctr" rtlCol="false" tIns="0" lIns="0" bIns="0" rIns="0"/>
            <a:lstStyle/>
            <a:p>
              <a:pPr algn="l">
                <a:lnSpc>
                  <a:spcPts val="4799"/>
                </a:lnSpc>
              </a:pPr>
              <a:r>
                <a:rPr lang="en-US" sz="3199">
                  <a:solidFill>
                    <a:srgbClr val="1B1F3B"/>
                  </a:solidFill>
                  <a:latin typeface="Calibri (MS)"/>
                  <a:ea typeface="Calibri (MS)"/>
                  <a:cs typeface="Calibri (MS)"/>
                  <a:sym typeface="Calibri (MS)"/>
                </a:rPr>
                <a:t>Staff training completion, awareness scores</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47625"/>
              <a:ext cx="1848158" cy="3198609"/>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498034" y="2355594"/>
            <a:ext cx="15291933" cy="5575813"/>
            <a:chOff x="0" y="0"/>
            <a:chExt cx="4027505" cy="1468527"/>
          </a:xfrm>
        </p:grpSpPr>
        <p:sp>
          <p:nvSpPr>
            <p:cNvPr name="Freeform 6" id="6"/>
            <p:cNvSpPr/>
            <p:nvPr/>
          </p:nvSpPr>
          <p:spPr>
            <a:xfrm flipH="false" flipV="false" rot="0">
              <a:off x="0" y="0"/>
              <a:ext cx="4027505" cy="1468527"/>
            </a:xfrm>
            <a:custGeom>
              <a:avLst/>
              <a:gdLst/>
              <a:ahLst/>
              <a:cxnLst/>
              <a:rect r="r" b="b" t="t" l="l"/>
              <a:pathLst>
                <a:path h="1468527" w="4027505">
                  <a:moveTo>
                    <a:pt x="0" y="0"/>
                  </a:moveTo>
                  <a:lnTo>
                    <a:pt x="4027505" y="0"/>
                  </a:lnTo>
                  <a:lnTo>
                    <a:pt x="4027505" y="1468527"/>
                  </a:lnTo>
                  <a:lnTo>
                    <a:pt x="0" y="1468527"/>
                  </a:lnTo>
                  <a:close/>
                </a:path>
              </a:pathLst>
            </a:custGeom>
            <a:solidFill>
              <a:srgbClr val="FFFFFF"/>
            </a:solidFill>
          </p:spPr>
        </p:sp>
        <p:sp>
          <p:nvSpPr>
            <p:cNvPr name="TextBox 7" id="7"/>
            <p:cNvSpPr txBox="true"/>
            <p:nvPr/>
          </p:nvSpPr>
          <p:spPr>
            <a:xfrm>
              <a:off x="0" y="-47625"/>
              <a:ext cx="4027505" cy="1516152"/>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1498034" y="2355594"/>
            <a:ext cx="956740" cy="5575813"/>
            <a:chOff x="0" y="0"/>
            <a:chExt cx="251981" cy="1468527"/>
          </a:xfrm>
        </p:grpSpPr>
        <p:sp>
          <p:nvSpPr>
            <p:cNvPr name="Freeform 9" id="9"/>
            <p:cNvSpPr/>
            <p:nvPr/>
          </p:nvSpPr>
          <p:spPr>
            <a:xfrm flipH="false" flipV="false" rot="0">
              <a:off x="0" y="0"/>
              <a:ext cx="251981" cy="1468527"/>
            </a:xfrm>
            <a:custGeom>
              <a:avLst/>
              <a:gdLst/>
              <a:ahLst/>
              <a:cxnLst/>
              <a:rect r="r" b="b" t="t" l="l"/>
              <a:pathLst>
                <a:path h="1468527" w="251981">
                  <a:moveTo>
                    <a:pt x="0" y="0"/>
                  </a:moveTo>
                  <a:lnTo>
                    <a:pt x="251981" y="0"/>
                  </a:lnTo>
                  <a:lnTo>
                    <a:pt x="251981" y="1468527"/>
                  </a:lnTo>
                  <a:lnTo>
                    <a:pt x="0" y="1468527"/>
                  </a:lnTo>
                  <a:close/>
                </a:path>
              </a:pathLst>
            </a:custGeom>
            <a:solidFill>
              <a:srgbClr val="FFD076"/>
            </a:solidFill>
          </p:spPr>
        </p:sp>
        <p:sp>
          <p:nvSpPr>
            <p:cNvPr name="TextBox 10" id="10"/>
            <p:cNvSpPr txBox="true"/>
            <p:nvPr/>
          </p:nvSpPr>
          <p:spPr>
            <a:xfrm>
              <a:off x="0" y="-47625"/>
              <a:ext cx="251981" cy="1516152"/>
            </a:xfrm>
            <a:prstGeom prst="rect">
              <a:avLst/>
            </a:prstGeom>
          </p:spPr>
          <p:txBody>
            <a:bodyPr anchor="ctr" rtlCol="false" tIns="50800" lIns="50800" bIns="50800" rIns="50800"/>
            <a:lstStyle/>
            <a:p>
              <a:pPr algn="ctr">
                <a:lnSpc>
                  <a:spcPts val="3560"/>
                </a:lnSpc>
              </a:pPr>
            </a:p>
          </p:txBody>
        </p:sp>
      </p:grpSp>
      <p:sp>
        <p:nvSpPr>
          <p:cNvPr name="Freeform 11" id="11"/>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5981039" y="9462044"/>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CORTEZ</a:t>
            </a:r>
          </a:p>
        </p:txBody>
      </p:sp>
      <p:grpSp>
        <p:nvGrpSpPr>
          <p:cNvPr name="Group 13" id="13"/>
          <p:cNvGrpSpPr/>
          <p:nvPr/>
        </p:nvGrpSpPr>
        <p:grpSpPr>
          <a:xfrm rot="0">
            <a:off x="822960" y="548640"/>
            <a:ext cx="5486400" cy="548640"/>
            <a:chOff x="0" y="0"/>
            <a:chExt cx="7315200" cy="731520"/>
          </a:xfrm>
        </p:grpSpPr>
        <p:sp>
          <p:nvSpPr>
            <p:cNvPr name="Freeform 14" id="14"/>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4">
                <a:alphaModFix amt="0"/>
              </a:blip>
              <a:stretch>
                <a:fillRect l="0" t="-144850" r="0" b="-144850"/>
              </a:stretch>
            </a:blipFill>
          </p:spPr>
        </p:sp>
        <p:sp>
          <p:nvSpPr>
            <p:cNvPr name="TextBox 15" id="15"/>
            <p:cNvSpPr txBox="true"/>
            <p:nvPr/>
          </p:nvSpPr>
          <p:spPr>
            <a:xfrm>
              <a:off x="0" y="-47625"/>
              <a:ext cx="7315200" cy="779145"/>
            </a:xfrm>
            <a:prstGeom prst="rect">
              <a:avLst/>
            </a:prstGeom>
          </p:spPr>
          <p:txBody>
            <a:bodyPr anchor="ctr" rtlCol="false" tIns="0" lIns="0" bIns="0" rIns="0"/>
            <a:lstStyle/>
            <a:p>
              <a:pPr algn="l">
                <a:lnSpc>
                  <a:spcPts val="2520"/>
                </a:lnSpc>
              </a:pPr>
              <a:r>
                <a:rPr lang="en-US" sz="2100" b="true">
                  <a:solidFill>
                    <a:srgbClr val="C9A227"/>
                  </a:solidFill>
                  <a:latin typeface="Calibri (MS) Bold"/>
                  <a:ea typeface="Calibri (MS) Bold"/>
                  <a:cs typeface="Calibri (MS) Bold"/>
                  <a:sym typeface="Calibri (MS) Bold"/>
                </a:rPr>
                <a:t>Approach 3</a:t>
              </a:r>
            </a:p>
          </p:txBody>
        </p:sp>
      </p:grpSp>
      <p:grpSp>
        <p:nvGrpSpPr>
          <p:cNvPr name="Group 16" id="16"/>
          <p:cNvGrpSpPr/>
          <p:nvPr/>
        </p:nvGrpSpPr>
        <p:grpSpPr>
          <a:xfrm rot="0">
            <a:off x="822960" y="1028700"/>
            <a:ext cx="15773400" cy="960120"/>
            <a:chOff x="0" y="0"/>
            <a:chExt cx="21031200" cy="1280160"/>
          </a:xfrm>
        </p:grpSpPr>
        <p:sp>
          <p:nvSpPr>
            <p:cNvPr name="Freeform 17" id="17"/>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4">
                <a:alphaModFix amt="0"/>
              </a:blip>
              <a:stretch>
                <a:fillRect l="0" t="-270111" r="0" b="-270111"/>
              </a:stretch>
            </a:blipFill>
          </p:spPr>
        </p:sp>
        <p:sp>
          <p:nvSpPr>
            <p:cNvPr name="TextBox 18" id="18"/>
            <p:cNvSpPr txBox="true"/>
            <p:nvPr/>
          </p:nvSpPr>
          <p:spPr>
            <a:xfrm>
              <a:off x="0" y="-9525"/>
              <a:ext cx="21031200" cy="1289685"/>
            </a:xfrm>
            <a:prstGeom prst="rect">
              <a:avLst/>
            </a:prstGeom>
          </p:spPr>
          <p:txBody>
            <a:bodyPr anchor="ctr" rtlCol="false" tIns="0" lIns="0" bIns="0" rIns="0"/>
            <a:lstStyle/>
            <a:p>
              <a:pPr algn="l">
                <a:lnSpc>
                  <a:spcPts val="5040"/>
                </a:lnSpc>
              </a:pPr>
              <a:r>
                <a:rPr lang="en-US" b="true" sz="4200">
                  <a:solidFill>
                    <a:srgbClr val="000000"/>
                  </a:solidFill>
                  <a:latin typeface="Cambria Bold"/>
                  <a:ea typeface="Cambria Bold"/>
                  <a:cs typeface="Cambria Bold"/>
                  <a:sym typeface="Cambria Bold"/>
                </a:rPr>
                <a:t>NIST SP 800-55: Three Metric Types</a:t>
              </a:r>
            </a:p>
          </p:txBody>
        </p:sp>
      </p:grpSp>
      <p:grpSp>
        <p:nvGrpSpPr>
          <p:cNvPr name="Group 19" id="19"/>
          <p:cNvGrpSpPr/>
          <p:nvPr/>
        </p:nvGrpSpPr>
        <p:grpSpPr>
          <a:xfrm rot="0">
            <a:off x="822960" y="1920240"/>
            <a:ext cx="16184880" cy="685800"/>
            <a:chOff x="0" y="0"/>
            <a:chExt cx="21579840" cy="914400"/>
          </a:xfrm>
        </p:grpSpPr>
        <p:sp>
          <p:nvSpPr>
            <p:cNvPr name="Freeform 20" id="20"/>
            <p:cNvSpPr/>
            <p:nvPr/>
          </p:nvSpPr>
          <p:spPr>
            <a:xfrm flipH="false" flipV="false" rot="0">
              <a:off x="0" y="0"/>
              <a:ext cx="21579839" cy="914400"/>
            </a:xfrm>
            <a:custGeom>
              <a:avLst/>
              <a:gdLst/>
              <a:ahLst/>
              <a:cxnLst/>
              <a:rect r="r" b="b" t="t" l="l"/>
              <a:pathLst>
                <a:path h="914400" w="21579839">
                  <a:moveTo>
                    <a:pt x="0" y="0"/>
                  </a:moveTo>
                  <a:lnTo>
                    <a:pt x="21579839" y="0"/>
                  </a:lnTo>
                  <a:lnTo>
                    <a:pt x="21579839" y="914400"/>
                  </a:lnTo>
                  <a:lnTo>
                    <a:pt x="0" y="914400"/>
                  </a:lnTo>
                  <a:close/>
                </a:path>
              </a:pathLst>
            </a:custGeom>
            <a:blipFill>
              <a:blip r:embed="rId4">
                <a:alphaModFix amt="0"/>
              </a:blip>
              <a:stretch>
                <a:fillRect l="0" t="-409846" r="0" b="-409846"/>
              </a:stretch>
            </a:blipFill>
          </p:spPr>
        </p:sp>
        <p:sp>
          <p:nvSpPr>
            <p:cNvPr name="TextBox 21" id="21"/>
            <p:cNvSpPr txBox="true"/>
            <p:nvPr/>
          </p:nvSpPr>
          <p:spPr>
            <a:xfrm>
              <a:off x="0" y="-38100"/>
              <a:ext cx="21579840" cy="952500"/>
            </a:xfrm>
            <a:prstGeom prst="rect">
              <a:avLst/>
            </a:prstGeom>
          </p:spPr>
          <p:txBody>
            <a:bodyPr anchor="ctr" rtlCol="false" tIns="0" lIns="0" bIns="0" rIns="0"/>
            <a:lstStyle/>
            <a:p>
              <a:pPr algn="l">
                <a:lnSpc>
                  <a:spcPts val="2430"/>
                </a:lnSpc>
              </a:pPr>
              <a:r>
                <a:rPr lang="en-US" sz="2025">
                  <a:solidFill>
                    <a:srgbClr val="000000"/>
                  </a:solidFill>
                  <a:latin typeface="Calibri (MS)"/>
                  <a:ea typeface="Calibri (MS)"/>
                  <a:cs typeface="Calibri (MS)"/>
                  <a:sym typeface="Calibri (MS)"/>
                </a:rPr>
                <a:t>NIST's Performance Measurement Guide for Information Security groups metrics by organizational maturity.</a:t>
              </a:r>
            </a:p>
          </p:txBody>
        </p:sp>
      </p:grpSp>
      <p:grpSp>
        <p:nvGrpSpPr>
          <p:cNvPr name="Group 22" id="22"/>
          <p:cNvGrpSpPr/>
          <p:nvPr/>
        </p:nvGrpSpPr>
        <p:grpSpPr>
          <a:xfrm rot="0">
            <a:off x="822960" y="3017520"/>
            <a:ext cx="5349240" cy="6103620"/>
            <a:chOff x="0" y="0"/>
            <a:chExt cx="7132320" cy="8138160"/>
          </a:xfrm>
        </p:grpSpPr>
        <p:sp>
          <p:nvSpPr>
            <p:cNvPr name="Freeform 23" id="23"/>
            <p:cNvSpPr/>
            <p:nvPr/>
          </p:nvSpPr>
          <p:spPr>
            <a:xfrm flipH="false" flipV="false" rot="0">
              <a:off x="0" y="0"/>
              <a:ext cx="7132320" cy="8138161"/>
            </a:xfrm>
            <a:custGeom>
              <a:avLst/>
              <a:gdLst/>
              <a:ahLst/>
              <a:cxnLst/>
              <a:rect r="r" b="b" t="t" l="l"/>
              <a:pathLst>
                <a:path h="8138161" w="7132320">
                  <a:moveTo>
                    <a:pt x="0" y="219456"/>
                  </a:moveTo>
                  <a:cubicBezTo>
                    <a:pt x="0" y="98298"/>
                    <a:pt x="98298" y="0"/>
                    <a:pt x="219456" y="0"/>
                  </a:cubicBezTo>
                  <a:lnTo>
                    <a:pt x="6912864" y="0"/>
                  </a:lnTo>
                  <a:cubicBezTo>
                    <a:pt x="7034022" y="0"/>
                    <a:pt x="7132320" y="98298"/>
                    <a:pt x="7132320" y="219456"/>
                  </a:cubicBezTo>
                  <a:lnTo>
                    <a:pt x="7132320" y="7918704"/>
                  </a:lnTo>
                  <a:cubicBezTo>
                    <a:pt x="7132320" y="8039862"/>
                    <a:pt x="7034022" y="8138161"/>
                    <a:pt x="6912864" y="8138161"/>
                  </a:cubicBezTo>
                  <a:lnTo>
                    <a:pt x="219456" y="8138161"/>
                  </a:lnTo>
                  <a:cubicBezTo>
                    <a:pt x="98298" y="8138160"/>
                    <a:pt x="0" y="8039862"/>
                    <a:pt x="0" y="7918704"/>
                  </a:cubicBezTo>
                  <a:close/>
                </a:path>
              </a:pathLst>
            </a:custGeom>
            <a:solidFill>
              <a:srgbClr val="263080"/>
            </a:solidFill>
          </p:spPr>
        </p:sp>
      </p:grpSp>
      <p:grpSp>
        <p:nvGrpSpPr>
          <p:cNvPr name="Group 24" id="24"/>
          <p:cNvGrpSpPr/>
          <p:nvPr/>
        </p:nvGrpSpPr>
        <p:grpSpPr>
          <a:xfrm rot="0">
            <a:off x="1234440" y="3360420"/>
            <a:ext cx="1097280" cy="822960"/>
            <a:chOff x="0" y="0"/>
            <a:chExt cx="1463040" cy="1097280"/>
          </a:xfrm>
        </p:grpSpPr>
        <p:sp>
          <p:nvSpPr>
            <p:cNvPr name="Freeform 25" id="25"/>
            <p:cNvSpPr/>
            <p:nvPr/>
          </p:nvSpPr>
          <p:spPr>
            <a:xfrm flipH="false" flipV="false" rot="0">
              <a:off x="0" y="0"/>
              <a:ext cx="1463040" cy="1097280"/>
            </a:xfrm>
            <a:custGeom>
              <a:avLst/>
              <a:gdLst/>
              <a:ahLst/>
              <a:cxnLst/>
              <a:rect r="r" b="b" t="t" l="l"/>
              <a:pathLst>
                <a:path h="1097280" w="1463040">
                  <a:moveTo>
                    <a:pt x="0" y="0"/>
                  </a:moveTo>
                  <a:lnTo>
                    <a:pt x="1463040" y="0"/>
                  </a:lnTo>
                  <a:lnTo>
                    <a:pt x="1463040" y="1097280"/>
                  </a:lnTo>
                  <a:lnTo>
                    <a:pt x="0" y="1097280"/>
                  </a:lnTo>
                  <a:close/>
                </a:path>
              </a:pathLst>
            </a:custGeom>
            <a:blipFill>
              <a:blip r:embed="rId4">
                <a:alphaModFix amt="0"/>
              </a:blip>
              <a:stretch>
                <a:fillRect l="-46227" t="0" r="-46227" b="0"/>
              </a:stretch>
            </a:blipFill>
          </p:spPr>
        </p:sp>
        <p:sp>
          <p:nvSpPr>
            <p:cNvPr name="TextBox 26" id="26"/>
            <p:cNvSpPr txBox="true"/>
            <p:nvPr/>
          </p:nvSpPr>
          <p:spPr>
            <a:xfrm>
              <a:off x="0" y="-19050"/>
              <a:ext cx="1463040" cy="1116330"/>
            </a:xfrm>
            <a:prstGeom prst="rect">
              <a:avLst/>
            </a:prstGeom>
          </p:spPr>
          <p:txBody>
            <a:bodyPr anchor="ctr" rtlCol="false" tIns="0" lIns="0" bIns="0" rIns="0"/>
            <a:lstStyle/>
            <a:p>
              <a:pPr algn="l">
                <a:lnSpc>
                  <a:spcPts val="5400"/>
                </a:lnSpc>
              </a:pPr>
              <a:r>
                <a:rPr lang="en-US" sz="4500" b="true">
                  <a:solidFill>
                    <a:srgbClr val="C9A227"/>
                  </a:solidFill>
                  <a:latin typeface="Cambria Bold"/>
                  <a:ea typeface="Cambria Bold"/>
                  <a:cs typeface="Cambria Bold"/>
                  <a:sym typeface="Cambria Bold"/>
                </a:rPr>
                <a:t>1</a:t>
              </a:r>
            </a:p>
          </p:txBody>
        </p:sp>
      </p:grpSp>
      <p:grpSp>
        <p:nvGrpSpPr>
          <p:cNvPr name="Group 27" id="27"/>
          <p:cNvGrpSpPr/>
          <p:nvPr/>
        </p:nvGrpSpPr>
        <p:grpSpPr>
          <a:xfrm rot="0">
            <a:off x="1234440" y="4251960"/>
            <a:ext cx="4526280" cy="1028700"/>
            <a:chOff x="0" y="0"/>
            <a:chExt cx="6035040" cy="1371600"/>
          </a:xfrm>
        </p:grpSpPr>
        <p:sp>
          <p:nvSpPr>
            <p:cNvPr name="Freeform 28" id="28"/>
            <p:cNvSpPr/>
            <p:nvPr/>
          </p:nvSpPr>
          <p:spPr>
            <a:xfrm flipH="false" flipV="false" rot="0">
              <a:off x="0" y="0"/>
              <a:ext cx="6035040" cy="1371600"/>
            </a:xfrm>
            <a:custGeom>
              <a:avLst/>
              <a:gdLst/>
              <a:ahLst/>
              <a:cxnLst/>
              <a:rect r="r" b="b" t="t" l="l"/>
              <a:pathLst>
                <a:path h="1371600" w="6035040">
                  <a:moveTo>
                    <a:pt x="0" y="0"/>
                  </a:moveTo>
                  <a:lnTo>
                    <a:pt x="6035040" y="0"/>
                  </a:lnTo>
                  <a:lnTo>
                    <a:pt x="6035040" y="1371600"/>
                  </a:lnTo>
                  <a:lnTo>
                    <a:pt x="0" y="1371600"/>
                  </a:lnTo>
                  <a:close/>
                </a:path>
              </a:pathLst>
            </a:custGeom>
            <a:blipFill>
              <a:blip r:embed="rId4">
                <a:alphaModFix amt="0"/>
              </a:blip>
              <a:stretch>
                <a:fillRect l="0" t="-35734" r="0" b="-35734"/>
              </a:stretch>
            </a:blipFill>
          </p:spPr>
        </p:sp>
        <p:sp>
          <p:nvSpPr>
            <p:cNvPr name="TextBox 29" id="29"/>
            <p:cNvSpPr txBox="true"/>
            <p:nvPr/>
          </p:nvSpPr>
          <p:spPr>
            <a:xfrm>
              <a:off x="0" y="-28575"/>
              <a:ext cx="6035040" cy="1400175"/>
            </a:xfrm>
            <a:prstGeom prst="rect">
              <a:avLst/>
            </a:prstGeom>
          </p:spPr>
          <p:txBody>
            <a:bodyPr anchor="ctr" rtlCol="false" tIns="0" lIns="0" bIns="0" rIns="0"/>
            <a:lstStyle/>
            <a:p>
              <a:pPr algn="l">
                <a:lnSpc>
                  <a:spcPts val="3024"/>
                </a:lnSpc>
              </a:pPr>
              <a:r>
                <a:rPr lang="en-US" sz="2400" b="true">
                  <a:solidFill>
                    <a:srgbClr val="FFFFFF"/>
                  </a:solidFill>
                  <a:latin typeface="Cambria Bold"/>
                  <a:ea typeface="Cambria Bold"/>
                  <a:cs typeface="Cambria Bold"/>
                  <a:sym typeface="Cambria Bold"/>
                </a:rPr>
                <a:t>Implementation</a:t>
              </a:r>
            </a:p>
          </p:txBody>
        </p:sp>
      </p:grpSp>
      <p:grpSp>
        <p:nvGrpSpPr>
          <p:cNvPr name="Group 30" id="30"/>
          <p:cNvGrpSpPr/>
          <p:nvPr/>
        </p:nvGrpSpPr>
        <p:grpSpPr>
          <a:xfrm rot="0">
            <a:off x="1234440" y="5280660"/>
            <a:ext cx="4526280" cy="617220"/>
            <a:chOff x="0" y="0"/>
            <a:chExt cx="6035040" cy="822960"/>
          </a:xfrm>
        </p:grpSpPr>
        <p:sp>
          <p:nvSpPr>
            <p:cNvPr name="Freeform 31" id="31"/>
            <p:cNvSpPr/>
            <p:nvPr/>
          </p:nvSpPr>
          <p:spPr>
            <a:xfrm flipH="false" flipV="false" rot="0">
              <a:off x="0" y="0"/>
              <a:ext cx="6035040" cy="822960"/>
            </a:xfrm>
            <a:custGeom>
              <a:avLst/>
              <a:gdLst/>
              <a:ahLst/>
              <a:cxnLst/>
              <a:rect r="r" b="b" t="t" l="l"/>
              <a:pathLst>
                <a:path h="822960" w="6035040">
                  <a:moveTo>
                    <a:pt x="0" y="0"/>
                  </a:moveTo>
                  <a:lnTo>
                    <a:pt x="6035040" y="0"/>
                  </a:lnTo>
                  <a:lnTo>
                    <a:pt x="6035040" y="822960"/>
                  </a:lnTo>
                  <a:lnTo>
                    <a:pt x="0" y="822960"/>
                  </a:lnTo>
                  <a:close/>
                </a:path>
              </a:pathLst>
            </a:custGeom>
            <a:blipFill>
              <a:blip r:embed="rId4">
                <a:alphaModFix amt="0"/>
              </a:blip>
              <a:stretch>
                <a:fillRect l="0" t="-92890" r="0" b="-92890"/>
              </a:stretch>
            </a:blipFill>
          </p:spPr>
        </p:sp>
        <p:sp>
          <p:nvSpPr>
            <p:cNvPr name="TextBox 32" id="32"/>
            <p:cNvSpPr txBox="true"/>
            <p:nvPr/>
          </p:nvSpPr>
          <p:spPr>
            <a:xfrm>
              <a:off x="0" y="-38100"/>
              <a:ext cx="6035040" cy="861060"/>
            </a:xfrm>
            <a:prstGeom prst="rect">
              <a:avLst/>
            </a:prstGeom>
          </p:spPr>
          <p:txBody>
            <a:bodyPr anchor="ctr" rtlCol="false" tIns="0" lIns="0" bIns="0" rIns="0"/>
            <a:lstStyle/>
            <a:p>
              <a:pPr algn="l">
                <a:lnSpc>
                  <a:spcPts val="2160"/>
                </a:lnSpc>
              </a:pPr>
              <a:r>
                <a:rPr lang="en-US" sz="1800" i="true">
                  <a:solidFill>
                    <a:srgbClr val="CADCFC"/>
                  </a:solidFill>
                  <a:latin typeface="Calibri (MS) Italics"/>
                  <a:ea typeface="Calibri (MS) Italics"/>
                  <a:cs typeface="Calibri (MS) Italics"/>
                  <a:sym typeface="Calibri (MS) Italics"/>
                </a:rPr>
                <a:t>Is the control in place?</a:t>
              </a:r>
            </a:p>
          </p:txBody>
        </p:sp>
      </p:grpSp>
      <p:sp>
        <p:nvSpPr>
          <p:cNvPr name="AutoShape 33" id="33"/>
          <p:cNvSpPr/>
          <p:nvPr/>
        </p:nvSpPr>
        <p:spPr>
          <a:xfrm rot="14399">
            <a:off x="1224896" y="6030278"/>
            <a:ext cx="4545368" cy="0"/>
          </a:xfrm>
          <a:prstGeom prst="line">
            <a:avLst/>
          </a:prstGeom>
          <a:ln cap="rnd" w="9525">
            <a:solidFill>
              <a:srgbClr val="3E4A9E"/>
            </a:solidFill>
            <a:prstDash val="solid"/>
            <a:headEnd type="none" len="sm" w="sm"/>
            <a:tailEnd type="none" len="sm" w="sm"/>
          </a:ln>
        </p:spPr>
      </p:sp>
      <p:grpSp>
        <p:nvGrpSpPr>
          <p:cNvPr name="Group 34" id="34"/>
          <p:cNvGrpSpPr/>
          <p:nvPr/>
        </p:nvGrpSpPr>
        <p:grpSpPr>
          <a:xfrm rot="0">
            <a:off x="1234440" y="6240780"/>
            <a:ext cx="4526280" cy="411480"/>
            <a:chOff x="0" y="0"/>
            <a:chExt cx="6035040" cy="548640"/>
          </a:xfrm>
        </p:grpSpPr>
        <p:sp>
          <p:nvSpPr>
            <p:cNvPr name="Freeform 35" id="35"/>
            <p:cNvSpPr/>
            <p:nvPr/>
          </p:nvSpPr>
          <p:spPr>
            <a:xfrm flipH="false" flipV="false" rot="0">
              <a:off x="0" y="0"/>
              <a:ext cx="6035040" cy="548640"/>
            </a:xfrm>
            <a:custGeom>
              <a:avLst/>
              <a:gdLst/>
              <a:ahLst/>
              <a:cxnLst/>
              <a:rect r="r" b="b" t="t" l="l"/>
              <a:pathLst>
                <a:path h="548640" w="6035040">
                  <a:moveTo>
                    <a:pt x="0" y="0"/>
                  </a:moveTo>
                  <a:lnTo>
                    <a:pt x="6035040" y="0"/>
                  </a:lnTo>
                  <a:lnTo>
                    <a:pt x="6035040" y="548640"/>
                  </a:lnTo>
                  <a:lnTo>
                    <a:pt x="0" y="548640"/>
                  </a:lnTo>
                  <a:close/>
                </a:path>
              </a:pathLst>
            </a:custGeom>
            <a:blipFill>
              <a:blip r:embed="rId4">
                <a:alphaModFix amt="0"/>
              </a:blip>
              <a:stretch>
                <a:fillRect l="0" t="-164335" r="0" b="-164335"/>
              </a:stretch>
            </a:blipFill>
          </p:spPr>
        </p:sp>
        <p:sp>
          <p:nvSpPr>
            <p:cNvPr name="TextBox 36" id="36"/>
            <p:cNvSpPr txBox="true"/>
            <p:nvPr/>
          </p:nvSpPr>
          <p:spPr>
            <a:xfrm>
              <a:off x="0" y="-38100"/>
              <a:ext cx="6035040" cy="586740"/>
            </a:xfrm>
            <a:prstGeom prst="rect">
              <a:avLst/>
            </a:prstGeom>
          </p:spPr>
          <p:txBody>
            <a:bodyPr anchor="ctr" rtlCol="false" tIns="0" lIns="0" bIns="0" rIns="0"/>
            <a:lstStyle/>
            <a:p>
              <a:pPr algn="l">
                <a:lnSpc>
                  <a:spcPts val="1709"/>
                </a:lnSpc>
              </a:pPr>
              <a:r>
                <a:rPr lang="en-US" b="true" sz="1425" spc="149">
                  <a:solidFill>
                    <a:srgbClr val="C9A227"/>
                  </a:solidFill>
                  <a:latin typeface="Calibri (MS) Bold"/>
                  <a:ea typeface="Calibri (MS) Bold"/>
                  <a:cs typeface="Calibri (MS) Bold"/>
                  <a:sym typeface="Calibri (MS) Bold"/>
                </a:rPr>
                <a:t>EXAMPLE METRIC</a:t>
              </a:r>
            </a:p>
          </p:txBody>
        </p:sp>
      </p:grpSp>
      <p:grpSp>
        <p:nvGrpSpPr>
          <p:cNvPr name="Group 37" id="37"/>
          <p:cNvGrpSpPr/>
          <p:nvPr/>
        </p:nvGrpSpPr>
        <p:grpSpPr>
          <a:xfrm rot="0">
            <a:off x="1234440" y="6652260"/>
            <a:ext cx="4526280" cy="1920240"/>
            <a:chOff x="0" y="0"/>
            <a:chExt cx="6035040" cy="2560320"/>
          </a:xfrm>
        </p:grpSpPr>
        <p:sp>
          <p:nvSpPr>
            <p:cNvPr name="Freeform 38" id="38"/>
            <p:cNvSpPr/>
            <p:nvPr/>
          </p:nvSpPr>
          <p:spPr>
            <a:xfrm flipH="false" flipV="false" rot="0">
              <a:off x="0" y="0"/>
              <a:ext cx="6035040" cy="2560320"/>
            </a:xfrm>
            <a:custGeom>
              <a:avLst/>
              <a:gdLst/>
              <a:ahLst/>
              <a:cxnLst/>
              <a:rect r="r" b="b" t="t" l="l"/>
              <a:pathLst>
                <a:path h="2560320" w="6035040">
                  <a:moveTo>
                    <a:pt x="0" y="0"/>
                  </a:moveTo>
                  <a:lnTo>
                    <a:pt x="6035040" y="0"/>
                  </a:lnTo>
                  <a:lnTo>
                    <a:pt x="6035040" y="2560320"/>
                  </a:lnTo>
                  <a:lnTo>
                    <a:pt x="0" y="2560320"/>
                  </a:lnTo>
                  <a:close/>
                </a:path>
              </a:pathLst>
            </a:custGeom>
            <a:blipFill>
              <a:blip r:embed="rId4">
                <a:alphaModFix amt="0"/>
              </a:blip>
              <a:stretch>
                <a:fillRect l="-4431" t="0" r="-4431" b="0"/>
              </a:stretch>
            </a:blipFill>
          </p:spPr>
        </p:sp>
        <p:sp>
          <p:nvSpPr>
            <p:cNvPr name="TextBox 39" id="39"/>
            <p:cNvSpPr txBox="true"/>
            <p:nvPr/>
          </p:nvSpPr>
          <p:spPr>
            <a:xfrm>
              <a:off x="0" y="-95250"/>
              <a:ext cx="6035040" cy="2655570"/>
            </a:xfrm>
            <a:prstGeom prst="rect">
              <a:avLst/>
            </a:prstGeom>
          </p:spPr>
          <p:txBody>
            <a:bodyPr anchor="ctr" rtlCol="false" tIns="0" lIns="0" bIns="0" rIns="0"/>
            <a:lstStyle/>
            <a:p>
              <a:pPr algn="l">
                <a:lnSpc>
                  <a:spcPts val="2700"/>
                </a:lnSpc>
              </a:pPr>
              <a:r>
                <a:rPr lang="en-US" sz="1800">
                  <a:solidFill>
                    <a:srgbClr val="FFFFFF"/>
                  </a:solidFill>
                  <a:latin typeface="Calibri (MS)"/>
                  <a:ea typeface="Calibri (MS)"/>
                  <a:cs typeface="Calibri (MS)"/>
                  <a:sym typeface="Calibri (MS)"/>
                </a:rPr>
                <a:t>% of systems with firewalls configured per policy</a:t>
              </a:r>
            </a:p>
          </p:txBody>
        </p:sp>
      </p:grpSp>
      <p:grpSp>
        <p:nvGrpSpPr>
          <p:cNvPr name="Group 40" id="40"/>
          <p:cNvGrpSpPr/>
          <p:nvPr/>
        </p:nvGrpSpPr>
        <p:grpSpPr>
          <a:xfrm rot="0">
            <a:off x="6515100" y="3017520"/>
            <a:ext cx="5349240" cy="6103620"/>
            <a:chOff x="0" y="0"/>
            <a:chExt cx="7132320" cy="8138160"/>
          </a:xfrm>
        </p:grpSpPr>
        <p:sp>
          <p:nvSpPr>
            <p:cNvPr name="Freeform 41" id="41"/>
            <p:cNvSpPr/>
            <p:nvPr/>
          </p:nvSpPr>
          <p:spPr>
            <a:xfrm flipH="false" flipV="false" rot="0">
              <a:off x="0" y="0"/>
              <a:ext cx="7132320" cy="8138161"/>
            </a:xfrm>
            <a:custGeom>
              <a:avLst/>
              <a:gdLst/>
              <a:ahLst/>
              <a:cxnLst/>
              <a:rect r="r" b="b" t="t" l="l"/>
              <a:pathLst>
                <a:path h="8138161" w="7132320">
                  <a:moveTo>
                    <a:pt x="0" y="219456"/>
                  </a:moveTo>
                  <a:cubicBezTo>
                    <a:pt x="0" y="98298"/>
                    <a:pt x="98298" y="0"/>
                    <a:pt x="219456" y="0"/>
                  </a:cubicBezTo>
                  <a:lnTo>
                    <a:pt x="6912864" y="0"/>
                  </a:lnTo>
                  <a:cubicBezTo>
                    <a:pt x="7034022" y="0"/>
                    <a:pt x="7132320" y="98298"/>
                    <a:pt x="7132320" y="219456"/>
                  </a:cubicBezTo>
                  <a:lnTo>
                    <a:pt x="7132320" y="7918704"/>
                  </a:lnTo>
                  <a:cubicBezTo>
                    <a:pt x="7132320" y="8039862"/>
                    <a:pt x="7034022" y="8138161"/>
                    <a:pt x="6912864" y="8138161"/>
                  </a:cubicBezTo>
                  <a:lnTo>
                    <a:pt x="219456" y="8138161"/>
                  </a:lnTo>
                  <a:cubicBezTo>
                    <a:pt x="98298" y="8138160"/>
                    <a:pt x="0" y="8039862"/>
                    <a:pt x="0" y="7918704"/>
                  </a:cubicBezTo>
                  <a:close/>
                </a:path>
              </a:pathLst>
            </a:custGeom>
            <a:solidFill>
              <a:srgbClr val="263080"/>
            </a:solidFill>
          </p:spPr>
        </p:sp>
      </p:grpSp>
      <p:grpSp>
        <p:nvGrpSpPr>
          <p:cNvPr name="Group 42" id="42"/>
          <p:cNvGrpSpPr/>
          <p:nvPr/>
        </p:nvGrpSpPr>
        <p:grpSpPr>
          <a:xfrm rot="0">
            <a:off x="6926580" y="3360420"/>
            <a:ext cx="1097280" cy="822960"/>
            <a:chOff x="0" y="0"/>
            <a:chExt cx="1463040" cy="1097280"/>
          </a:xfrm>
        </p:grpSpPr>
        <p:sp>
          <p:nvSpPr>
            <p:cNvPr name="Freeform 43" id="43"/>
            <p:cNvSpPr/>
            <p:nvPr/>
          </p:nvSpPr>
          <p:spPr>
            <a:xfrm flipH="false" flipV="false" rot="0">
              <a:off x="0" y="0"/>
              <a:ext cx="1463040" cy="1097280"/>
            </a:xfrm>
            <a:custGeom>
              <a:avLst/>
              <a:gdLst/>
              <a:ahLst/>
              <a:cxnLst/>
              <a:rect r="r" b="b" t="t" l="l"/>
              <a:pathLst>
                <a:path h="1097280" w="1463040">
                  <a:moveTo>
                    <a:pt x="0" y="0"/>
                  </a:moveTo>
                  <a:lnTo>
                    <a:pt x="1463040" y="0"/>
                  </a:lnTo>
                  <a:lnTo>
                    <a:pt x="1463040" y="1097280"/>
                  </a:lnTo>
                  <a:lnTo>
                    <a:pt x="0" y="1097280"/>
                  </a:lnTo>
                  <a:close/>
                </a:path>
              </a:pathLst>
            </a:custGeom>
            <a:blipFill>
              <a:blip r:embed="rId4">
                <a:alphaModFix amt="0"/>
              </a:blip>
              <a:stretch>
                <a:fillRect l="-46227" t="0" r="-46227" b="0"/>
              </a:stretch>
            </a:blipFill>
          </p:spPr>
        </p:sp>
        <p:sp>
          <p:nvSpPr>
            <p:cNvPr name="TextBox 44" id="44"/>
            <p:cNvSpPr txBox="true"/>
            <p:nvPr/>
          </p:nvSpPr>
          <p:spPr>
            <a:xfrm>
              <a:off x="0" y="-19050"/>
              <a:ext cx="1463040" cy="1116330"/>
            </a:xfrm>
            <a:prstGeom prst="rect">
              <a:avLst/>
            </a:prstGeom>
          </p:spPr>
          <p:txBody>
            <a:bodyPr anchor="ctr" rtlCol="false" tIns="0" lIns="0" bIns="0" rIns="0"/>
            <a:lstStyle/>
            <a:p>
              <a:pPr algn="l">
                <a:lnSpc>
                  <a:spcPts val="5400"/>
                </a:lnSpc>
              </a:pPr>
              <a:r>
                <a:rPr lang="en-US" sz="4500" b="true">
                  <a:solidFill>
                    <a:srgbClr val="C9A227"/>
                  </a:solidFill>
                  <a:latin typeface="Cambria Bold"/>
                  <a:ea typeface="Cambria Bold"/>
                  <a:cs typeface="Cambria Bold"/>
                  <a:sym typeface="Cambria Bold"/>
                </a:rPr>
                <a:t>2</a:t>
              </a:r>
            </a:p>
          </p:txBody>
        </p:sp>
      </p:grpSp>
      <p:grpSp>
        <p:nvGrpSpPr>
          <p:cNvPr name="Group 45" id="45"/>
          <p:cNvGrpSpPr/>
          <p:nvPr/>
        </p:nvGrpSpPr>
        <p:grpSpPr>
          <a:xfrm rot="0">
            <a:off x="6926580" y="4251960"/>
            <a:ext cx="4526280" cy="1028700"/>
            <a:chOff x="0" y="0"/>
            <a:chExt cx="6035040" cy="1371600"/>
          </a:xfrm>
        </p:grpSpPr>
        <p:sp>
          <p:nvSpPr>
            <p:cNvPr name="Freeform 46" id="46"/>
            <p:cNvSpPr/>
            <p:nvPr/>
          </p:nvSpPr>
          <p:spPr>
            <a:xfrm flipH="false" flipV="false" rot="0">
              <a:off x="0" y="0"/>
              <a:ext cx="6035040" cy="1371600"/>
            </a:xfrm>
            <a:custGeom>
              <a:avLst/>
              <a:gdLst/>
              <a:ahLst/>
              <a:cxnLst/>
              <a:rect r="r" b="b" t="t" l="l"/>
              <a:pathLst>
                <a:path h="1371600" w="6035040">
                  <a:moveTo>
                    <a:pt x="0" y="0"/>
                  </a:moveTo>
                  <a:lnTo>
                    <a:pt x="6035040" y="0"/>
                  </a:lnTo>
                  <a:lnTo>
                    <a:pt x="6035040" y="1371600"/>
                  </a:lnTo>
                  <a:lnTo>
                    <a:pt x="0" y="1371600"/>
                  </a:lnTo>
                  <a:close/>
                </a:path>
              </a:pathLst>
            </a:custGeom>
            <a:blipFill>
              <a:blip r:embed="rId4">
                <a:alphaModFix amt="0"/>
              </a:blip>
              <a:stretch>
                <a:fillRect l="0" t="-35734" r="0" b="-35734"/>
              </a:stretch>
            </a:blipFill>
          </p:spPr>
        </p:sp>
        <p:sp>
          <p:nvSpPr>
            <p:cNvPr name="TextBox 47" id="47"/>
            <p:cNvSpPr txBox="true"/>
            <p:nvPr/>
          </p:nvSpPr>
          <p:spPr>
            <a:xfrm>
              <a:off x="0" y="-28575"/>
              <a:ext cx="6035040" cy="1400175"/>
            </a:xfrm>
            <a:prstGeom prst="rect">
              <a:avLst/>
            </a:prstGeom>
          </p:spPr>
          <p:txBody>
            <a:bodyPr anchor="ctr" rtlCol="false" tIns="0" lIns="0" bIns="0" rIns="0"/>
            <a:lstStyle/>
            <a:p>
              <a:pPr algn="l">
                <a:lnSpc>
                  <a:spcPts val="3024"/>
                </a:lnSpc>
              </a:pPr>
              <a:r>
                <a:rPr lang="en-US" sz="2400" b="true">
                  <a:solidFill>
                    <a:srgbClr val="FFFFFF"/>
                  </a:solidFill>
                  <a:latin typeface="Cambria Bold"/>
                  <a:ea typeface="Cambria Bold"/>
                  <a:cs typeface="Cambria Bold"/>
                  <a:sym typeface="Cambria Bold"/>
                </a:rPr>
                <a:t>Effectiveness / Efficiency</a:t>
              </a:r>
            </a:p>
          </p:txBody>
        </p:sp>
      </p:grpSp>
      <p:grpSp>
        <p:nvGrpSpPr>
          <p:cNvPr name="Group 48" id="48"/>
          <p:cNvGrpSpPr/>
          <p:nvPr/>
        </p:nvGrpSpPr>
        <p:grpSpPr>
          <a:xfrm rot="0">
            <a:off x="6926580" y="5280660"/>
            <a:ext cx="4526280" cy="617220"/>
            <a:chOff x="0" y="0"/>
            <a:chExt cx="6035040" cy="822960"/>
          </a:xfrm>
        </p:grpSpPr>
        <p:sp>
          <p:nvSpPr>
            <p:cNvPr name="Freeform 49" id="49"/>
            <p:cNvSpPr/>
            <p:nvPr/>
          </p:nvSpPr>
          <p:spPr>
            <a:xfrm flipH="false" flipV="false" rot="0">
              <a:off x="0" y="0"/>
              <a:ext cx="6035040" cy="822960"/>
            </a:xfrm>
            <a:custGeom>
              <a:avLst/>
              <a:gdLst/>
              <a:ahLst/>
              <a:cxnLst/>
              <a:rect r="r" b="b" t="t" l="l"/>
              <a:pathLst>
                <a:path h="822960" w="6035040">
                  <a:moveTo>
                    <a:pt x="0" y="0"/>
                  </a:moveTo>
                  <a:lnTo>
                    <a:pt x="6035040" y="0"/>
                  </a:lnTo>
                  <a:lnTo>
                    <a:pt x="6035040" y="822960"/>
                  </a:lnTo>
                  <a:lnTo>
                    <a:pt x="0" y="822960"/>
                  </a:lnTo>
                  <a:close/>
                </a:path>
              </a:pathLst>
            </a:custGeom>
            <a:blipFill>
              <a:blip r:embed="rId4">
                <a:alphaModFix amt="0"/>
              </a:blip>
              <a:stretch>
                <a:fillRect l="0" t="-92890" r="0" b="-92890"/>
              </a:stretch>
            </a:blipFill>
          </p:spPr>
        </p:sp>
        <p:sp>
          <p:nvSpPr>
            <p:cNvPr name="TextBox 50" id="50"/>
            <p:cNvSpPr txBox="true"/>
            <p:nvPr/>
          </p:nvSpPr>
          <p:spPr>
            <a:xfrm>
              <a:off x="0" y="-38100"/>
              <a:ext cx="6035040" cy="861060"/>
            </a:xfrm>
            <a:prstGeom prst="rect">
              <a:avLst/>
            </a:prstGeom>
          </p:spPr>
          <p:txBody>
            <a:bodyPr anchor="ctr" rtlCol="false" tIns="0" lIns="0" bIns="0" rIns="0"/>
            <a:lstStyle/>
            <a:p>
              <a:pPr algn="l">
                <a:lnSpc>
                  <a:spcPts val="2160"/>
                </a:lnSpc>
              </a:pPr>
              <a:r>
                <a:rPr lang="en-US" sz="1800" i="true">
                  <a:solidFill>
                    <a:srgbClr val="CADCFC"/>
                  </a:solidFill>
                  <a:latin typeface="Calibri (MS) Italics"/>
                  <a:ea typeface="Calibri (MS) Italics"/>
                  <a:cs typeface="Calibri (MS) Italics"/>
                  <a:sym typeface="Calibri (MS) Italics"/>
                </a:rPr>
                <a:t>Is the control working well?</a:t>
              </a:r>
            </a:p>
          </p:txBody>
        </p:sp>
      </p:grpSp>
      <p:sp>
        <p:nvSpPr>
          <p:cNvPr name="AutoShape 51" id="51"/>
          <p:cNvSpPr/>
          <p:nvPr/>
        </p:nvSpPr>
        <p:spPr>
          <a:xfrm rot="14400">
            <a:off x="6917036" y="6030278"/>
            <a:ext cx="4545368" cy="0"/>
          </a:xfrm>
          <a:prstGeom prst="line">
            <a:avLst/>
          </a:prstGeom>
          <a:ln cap="rnd" w="9525">
            <a:solidFill>
              <a:srgbClr val="3E4A9E"/>
            </a:solidFill>
            <a:prstDash val="solid"/>
            <a:headEnd type="none" len="sm" w="sm"/>
            <a:tailEnd type="none" len="sm" w="sm"/>
          </a:ln>
        </p:spPr>
      </p:sp>
      <p:grpSp>
        <p:nvGrpSpPr>
          <p:cNvPr name="Group 52" id="52"/>
          <p:cNvGrpSpPr/>
          <p:nvPr/>
        </p:nvGrpSpPr>
        <p:grpSpPr>
          <a:xfrm rot="0">
            <a:off x="6926580" y="6240780"/>
            <a:ext cx="4526280" cy="411480"/>
            <a:chOff x="0" y="0"/>
            <a:chExt cx="6035040" cy="548640"/>
          </a:xfrm>
        </p:grpSpPr>
        <p:sp>
          <p:nvSpPr>
            <p:cNvPr name="Freeform 53" id="53"/>
            <p:cNvSpPr/>
            <p:nvPr/>
          </p:nvSpPr>
          <p:spPr>
            <a:xfrm flipH="false" flipV="false" rot="0">
              <a:off x="0" y="0"/>
              <a:ext cx="6035040" cy="548640"/>
            </a:xfrm>
            <a:custGeom>
              <a:avLst/>
              <a:gdLst/>
              <a:ahLst/>
              <a:cxnLst/>
              <a:rect r="r" b="b" t="t" l="l"/>
              <a:pathLst>
                <a:path h="548640" w="6035040">
                  <a:moveTo>
                    <a:pt x="0" y="0"/>
                  </a:moveTo>
                  <a:lnTo>
                    <a:pt x="6035040" y="0"/>
                  </a:lnTo>
                  <a:lnTo>
                    <a:pt x="6035040" y="548640"/>
                  </a:lnTo>
                  <a:lnTo>
                    <a:pt x="0" y="548640"/>
                  </a:lnTo>
                  <a:close/>
                </a:path>
              </a:pathLst>
            </a:custGeom>
            <a:blipFill>
              <a:blip r:embed="rId4">
                <a:alphaModFix amt="0"/>
              </a:blip>
              <a:stretch>
                <a:fillRect l="0" t="-164335" r="0" b="-164335"/>
              </a:stretch>
            </a:blipFill>
          </p:spPr>
        </p:sp>
        <p:sp>
          <p:nvSpPr>
            <p:cNvPr name="TextBox 54" id="54"/>
            <p:cNvSpPr txBox="true"/>
            <p:nvPr/>
          </p:nvSpPr>
          <p:spPr>
            <a:xfrm>
              <a:off x="0" y="-38100"/>
              <a:ext cx="6035040" cy="586740"/>
            </a:xfrm>
            <a:prstGeom prst="rect">
              <a:avLst/>
            </a:prstGeom>
          </p:spPr>
          <p:txBody>
            <a:bodyPr anchor="ctr" rtlCol="false" tIns="0" lIns="0" bIns="0" rIns="0"/>
            <a:lstStyle/>
            <a:p>
              <a:pPr algn="l">
                <a:lnSpc>
                  <a:spcPts val="1709"/>
                </a:lnSpc>
              </a:pPr>
              <a:r>
                <a:rPr lang="en-US" b="true" sz="1425" spc="149">
                  <a:solidFill>
                    <a:srgbClr val="C9A227"/>
                  </a:solidFill>
                  <a:latin typeface="Calibri (MS) Bold"/>
                  <a:ea typeface="Calibri (MS) Bold"/>
                  <a:cs typeface="Calibri (MS) Bold"/>
                  <a:sym typeface="Calibri (MS) Bold"/>
                </a:rPr>
                <a:t>EXAMPLE METRIC</a:t>
              </a:r>
            </a:p>
          </p:txBody>
        </p:sp>
      </p:grpSp>
      <p:grpSp>
        <p:nvGrpSpPr>
          <p:cNvPr name="Group 55" id="55"/>
          <p:cNvGrpSpPr/>
          <p:nvPr/>
        </p:nvGrpSpPr>
        <p:grpSpPr>
          <a:xfrm rot="0">
            <a:off x="6926580" y="6652260"/>
            <a:ext cx="4526280" cy="1920240"/>
            <a:chOff x="0" y="0"/>
            <a:chExt cx="6035040" cy="2560320"/>
          </a:xfrm>
        </p:grpSpPr>
        <p:sp>
          <p:nvSpPr>
            <p:cNvPr name="Freeform 56" id="56"/>
            <p:cNvSpPr/>
            <p:nvPr/>
          </p:nvSpPr>
          <p:spPr>
            <a:xfrm flipH="false" flipV="false" rot="0">
              <a:off x="0" y="0"/>
              <a:ext cx="6035040" cy="2560320"/>
            </a:xfrm>
            <a:custGeom>
              <a:avLst/>
              <a:gdLst/>
              <a:ahLst/>
              <a:cxnLst/>
              <a:rect r="r" b="b" t="t" l="l"/>
              <a:pathLst>
                <a:path h="2560320" w="6035040">
                  <a:moveTo>
                    <a:pt x="0" y="0"/>
                  </a:moveTo>
                  <a:lnTo>
                    <a:pt x="6035040" y="0"/>
                  </a:lnTo>
                  <a:lnTo>
                    <a:pt x="6035040" y="2560320"/>
                  </a:lnTo>
                  <a:lnTo>
                    <a:pt x="0" y="2560320"/>
                  </a:lnTo>
                  <a:close/>
                </a:path>
              </a:pathLst>
            </a:custGeom>
            <a:blipFill>
              <a:blip r:embed="rId4">
                <a:alphaModFix amt="0"/>
              </a:blip>
              <a:stretch>
                <a:fillRect l="-4431" t="0" r="-4431" b="0"/>
              </a:stretch>
            </a:blipFill>
          </p:spPr>
        </p:sp>
        <p:sp>
          <p:nvSpPr>
            <p:cNvPr name="TextBox 57" id="57"/>
            <p:cNvSpPr txBox="true"/>
            <p:nvPr/>
          </p:nvSpPr>
          <p:spPr>
            <a:xfrm>
              <a:off x="0" y="-95250"/>
              <a:ext cx="6035040" cy="2655570"/>
            </a:xfrm>
            <a:prstGeom prst="rect">
              <a:avLst/>
            </a:prstGeom>
          </p:spPr>
          <p:txBody>
            <a:bodyPr anchor="ctr" rtlCol="false" tIns="0" lIns="0" bIns="0" rIns="0"/>
            <a:lstStyle/>
            <a:p>
              <a:pPr algn="l">
                <a:lnSpc>
                  <a:spcPts val="2700"/>
                </a:lnSpc>
              </a:pPr>
              <a:r>
                <a:rPr lang="en-US" sz="1800">
                  <a:solidFill>
                    <a:srgbClr val="FFFFFF"/>
                  </a:solidFill>
                  <a:latin typeface="Calibri (MS)"/>
                  <a:ea typeface="Calibri (MS)"/>
                  <a:cs typeface="Calibri (MS)"/>
                  <a:sym typeface="Calibri (MS)"/>
                </a:rPr>
                <a:t>Average time to patch critical vulnerabilities</a:t>
              </a:r>
            </a:p>
          </p:txBody>
        </p:sp>
      </p:grpSp>
      <p:grpSp>
        <p:nvGrpSpPr>
          <p:cNvPr name="Group 58" id="58"/>
          <p:cNvGrpSpPr/>
          <p:nvPr/>
        </p:nvGrpSpPr>
        <p:grpSpPr>
          <a:xfrm rot="0">
            <a:off x="12207240" y="3017520"/>
            <a:ext cx="5349240" cy="6103620"/>
            <a:chOff x="0" y="0"/>
            <a:chExt cx="7132320" cy="8138160"/>
          </a:xfrm>
        </p:grpSpPr>
        <p:sp>
          <p:nvSpPr>
            <p:cNvPr name="Freeform 59" id="59"/>
            <p:cNvSpPr/>
            <p:nvPr/>
          </p:nvSpPr>
          <p:spPr>
            <a:xfrm flipH="false" flipV="false" rot="0">
              <a:off x="0" y="0"/>
              <a:ext cx="7132320" cy="8138161"/>
            </a:xfrm>
            <a:custGeom>
              <a:avLst/>
              <a:gdLst/>
              <a:ahLst/>
              <a:cxnLst/>
              <a:rect r="r" b="b" t="t" l="l"/>
              <a:pathLst>
                <a:path h="8138161" w="7132320">
                  <a:moveTo>
                    <a:pt x="0" y="219456"/>
                  </a:moveTo>
                  <a:cubicBezTo>
                    <a:pt x="0" y="98298"/>
                    <a:pt x="98298" y="0"/>
                    <a:pt x="219456" y="0"/>
                  </a:cubicBezTo>
                  <a:lnTo>
                    <a:pt x="6912864" y="0"/>
                  </a:lnTo>
                  <a:cubicBezTo>
                    <a:pt x="7034022" y="0"/>
                    <a:pt x="7132320" y="98298"/>
                    <a:pt x="7132320" y="219456"/>
                  </a:cubicBezTo>
                  <a:lnTo>
                    <a:pt x="7132320" y="7918704"/>
                  </a:lnTo>
                  <a:cubicBezTo>
                    <a:pt x="7132320" y="8039862"/>
                    <a:pt x="7034022" y="8138161"/>
                    <a:pt x="6912864" y="8138161"/>
                  </a:cubicBezTo>
                  <a:lnTo>
                    <a:pt x="219456" y="8138161"/>
                  </a:lnTo>
                  <a:cubicBezTo>
                    <a:pt x="98298" y="8138160"/>
                    <a:pt x="0" y="8039862"/>
                    <a:pt x="0" y="7918704"/>
                  </a:cubicBezTo>
                  <a:close/>
                </a:path>
              </a:pathLst>
            </a:custGeom>
            <a:solidFill>
              <a:srgbClr val="263080"/>
            </a:solidFill>
          </p:spPr>
        </p:sp>
      </p:grpSp>
      <p:grpSp>
        <p:nvGrpSpPr>
          <p:cNvPr name="Group 60" id="60"/>
          <p:cNvGrpSpPr/>
          <p:nvPr/>
        </p:nvGrpSpPr>
        <p:grpSpPr>
          <a:xfrm rot="0">
            <a:off x="12618720" y="3360420"/>
            <a:ext cx="1097280" cy="822960"/>
            <a:chOff x="0" y="0"/>
            <a:chExt cx="1463040" cy="1097280"/>
          </a:xfrm>
        </p:grpSpPr>
        <p:sp>
          <p:nvSpPr>
            <p:cNvPr name="Freeform 61" id="61"/>
            <p:cNvSpPr/>
            <p:nvPr/>
          </p:nvSpPr>
          <p:spPr>
            <a:xfrm flipH="false" flipV="false" rot="0">
              <a:off x="0" y="0"/>
              <a:ext cx="1463040" cy="1097280"/>
            </a:xfrm>
            <a:custGeom>
              <a:avLst/>
              <a:gdLst/>
              <a:ahLst/>
              <a:cxnLst/>
              <a:rect r="r" b="b" t="t" l="l"/>
              <a:pathLst>
                <a:path h="1097280" w="1463040">
                  <a:moveTo>
                    <a:pt x="0" y="0"/>
                  </a:moveTo>
                  <a:lnTo>
                    <a:pt x="1463040" y="0"/>
                  </a:lnTo>
                  <a:lnTo>
                    <a:pt x="1463040" y="1097280"/>
                  </a:lnTo>
                  <a:lnTo>
                    <a:pt x="0" y="1097280"/>
                  </a:lnTo>
                  <a:close/>
                </a:path>
              </a:pathLst>
            </a:custGeom>
            <a:blipFill>
              <a:blip r:embed="rId4">
                <a:alphaModFix amt="0"/>
              </a:blip>
              <a:stretch>
                <a:fillRect l="-46227" t="0" r="-46227" b="0"/>
              </a:stretch>
            </a:blipFill>
          </p:spPr>
        </p:sp>
        <p:sp>
          <p:nvSpPr>
            <p:cNvPr name="TextBox 62" id="62"/>
            <p:cNvSpPr txBox="true"/>
            <p:nvPr/>
          </p:nvSpPr>
          <p:spPr>
            <a:xfrm>
              <a:off x="0" y="-19050"/>
              <a:ext cx="1463040" cy="1116330"/>
            </a:xfrm>
            <a:prstGeom prst="rect">
              <a:avLst/>
            </a:prstGeom>
          </p:spPr>
          <p:txBody>
            <a:bodyPr anchor="ctr" rtlCol="false" tIns="0" lIns="0" bIns="0" rIns="0"/>
            <a:lstStyle/>
            <a:p>
              <a:pPr algn="l">
                <a:lnSpc>
                  <a:spcPts val="5400"/>
                </a:lnSpc>
              </a:pPr>
              <a:r>
                <a:rPr lang="en-US" sz="4500" b="true">
                  <a:solidFill>
                    <a:srgbClr val="C9A227"/>
                  </a:solidFill>
                  <a:latin typeface="Cambria Bold"/>
                  <a:ea typeface="Cambria Bold"/>
                  <a:cs typeface="Cambria Bold"/>
                  <a:sym typeface="Cambria Bold"/>
                </a:rPr>
                <a:t>3</a:t>
              </a:r>
            </a:p>
          </p:txBody>
        </p:sp>
      </p:grpSp>
      <p:grpSp>
        <p:nvGrpSpPr>
          <p:cNvPr name="Group 63" id="63"/>
          <p:cNvGrpSpPr/>
          <p:nvPr/>
        </p:nvGrpSpPr>
        <p:grpSpPr>
          <a:xfrm rot="0">
            <a:off x="12618720" y="4251960"/>
            <a:ext cx="4526280" cy="1028700"/>
            <a:chOff x="0" y="0"/>
            <a:chExt cx="6035040" cy="1371600"/>
          </a:xfrm>
        </p:grpSpPr>
        <p:sp>
          <p:nvSpPr>
            <p:cNvPr name="Freeform 64" id="64"/>
            <p:cNvSpPr/>
            <p:nvPr/>
          </p:nvSpPr>
          <p:spPr>
            <a:xfrm flipH="false" flipV="false" rot="0">
              <a:off x="0" y="0"/>
              <a:ext cx="6035040" cy="1371600"/>
            </a:xfrm>
            <a:custGeom>
              <a:avLst/>
              <a:gdLst/>
              <a:ahLst/>
              <a:cxnLst/>
              <a:rect r="r" b="b" t="t" l="l"/>
              <a:pathLst>
                <a:path h="1371600" w="6035040">
                  <a:moveTo>
                    <a:pt x="0" y="0"/>
                  </a:moveTo>
                  <a:lnTo>
                    <a:pt x="6035040" y="0"/>
                  </a:lnTo>
                  <a:lnTo>
                    <a:pt x="6035040" y="1371600"/>
                  </a:lnTo>
                  <a:lnTo>
                    <a:pt x="0" y="1371600"/>
                  </a:lnTo>
                  <a:close/>
                </a:path>
              </a:pathLst>
            </a:custGeom>
            <a:blipFill>
              <a:blip r:embed="rId4">
                <a:alphaModFix amt="0"/>
              </a:blip>
              <a:stretch>
                <a:fillRect l="0" t="-35734" r="0" b="-35734"/>
              </a:stretch>
            </a:blipFill>
          </p:spPr>
        </p:sp>
        <p:sp>
          <p:nvSpPr>
            <p:cNvPr name="TextBox 65" id="65"/>
            <p:cNvSpPr txBox="true"/>
            <p:nvPr/>
          </p:nvSpPr>
          <p:spPr>
            <a:xfrm>
              <a:off x="0" y="-28575"/>
              <a:ext cx="6035040" cy="1400175"/>
            </a:xfrm>
            <a:prstGeom prst="rect">
              <a:avLst/>
            </a:prstGeom>
          </p:spPr>
          <p:txBody>
            <a:bodyPr anchor="ctr" rtlCol="false" tIns="0" lIns="0" bIns="0" rIns="0"/>
            <a:lstStyle/>
            <a:p>
              <a:pPr algn="l">
                <a:lnSpc>
                  <a:spcPts val="3024"/>
                </a:lnSpc>
              </a:pPr>
              <a:r>
                <a:rPr lang="en-US" sz="2400" b="true">
                  <a:solidFill>
                    <a:srgbClr val="FFFFFF"/>
                  </a:solidFill>
                  <a:latin typeface="Cambria Bold"/>
                  <a:ea typeface="Cambria Bold"/>
                  <a:cs typeface="Cambria Bold"/>
                  <a:sym typeface="Cambria Bold"/>
                </a:rPr>
                <a:t>Impact</a:t>
              </a:r>
            </a:p>
          </p:txBody>
        </p:sp>
      </p:grpSp>
      <p:grpSp>
        <p:nvGrpSpPr>
          <p:cNvPr name="Group 66" id="66"/>
          <p:cNvGrpSpPr/>
          <p:nvPr/>
        </p:nvGrpSpPr>
        <p:grpSpPr>
          <a:xfrm rot="0">
            <a:off x="12618720" y="5280660"/>
            <a:ext cx="4526280" cy="617220"/>
            <a:chOff x="0" y="0"/>
            <a:chExt cx="6035040" cy="822960"/>
          </a:xfrm>
        </p:grpSpPr>
        <p:sp>
          <p:nvSpPr>
            <p:cNvPr name="Freeform 67" id="67"/>
            <p:cNvSpPr/>
            <p:nvPr/>
          </p:nvSpPr>
          <p:spPr>
            <a:xfrm flipH="false" flipV="false" rot="0">
              <a:off x="0" y="0"/>
              <a:ext cx="6035040" cy="822960"/>
            </a:xfrm>
            <a:custGeom>
              <a:avLst/>
              <a:gdLst/>
              <a:ahLst/>
              <a:cxnLst/>
              <a:rect r="r" b="b" t="t" l="l"/>
              <a:pathLst>
                <a:path h="822960" w="6035040">
                  <a:moveTo>
                    <a:pt x="0" y="0"/>
                  </a:moveTo>
                  <a:lnTo>
                    <a:pt x="6035040" y="0"/>
                  </a:lnTo>
                  <a:lnTo>
                    <a:pt x="6035040" y="822960"/>
                  </a:lnTo>
                  <a:lnTo>
                    <a:pt x="0" y="822960"/>
                  </a:lnTo>
                  <a:close/>
                </a:path>
              </a:pathLst>
            </a:custGeom>
            <a:blipFill>
              <a:blip r:embed="rId4">
                <a:alphaModFix amt="0"/>
              </a:blip>
              <a:stretch>
                <a:fillRect l="0" t="-92890" r="0" b="-92890"/>
              </a:stretch>
            </a:blipFill>
          </p:spPr>
        </p:sp>
        <p:sp>
          <p:nvSpPr>
            <p:cNvPr name="TextBox 68" id="68"/>
            <p:cNvSpPr txBox="true"/>
            <p:nvPr/>
          </p:nvSpPr>
          <p:spPr>
            <a:xfrm>
              <a:off x="0" y="-38100"/>
              <a:ext cx="6035040" cy="861060"/>
            </a:xfrm>
            <a:prstGeom prst="rect">
              <a:avLst/>
            </a:prstGeom>
          </p:spPr>
          <p:txBody>
            <a:bodyPr anchor="ctr" rtlCol="false" tIns="0" lIns="0" bIns="0" rIns="0"/>
            <a:lstStyle/>
            <a:p>
              <a:pPr algn="l">
                <a:lnSpc>
                  <a:spcPts val="2160"/>
                </a:lnSpc>
              </a:pPr>
              <a:r>
                <a:rPr lang="en-US" sz="1800" i="true">
                  <a:solidFill>
                    <a:srgbClr val="CADCFC"/>
                  </a:solidFill>
                  <a:latin typeface="Calibri (MS) Italics"/>
                  <a:ea typeface="Calibri (MS) Italics"/>
                  <a:cs typeface="Calibri (MS) Italics"/>
                  <a:sym typeface="Calibri (MS) Italics"/>
                </a:rPr>
                <a:t>What business result did it produce?</a:t>
              </a:r>
            </a:p>
          </p:txBody>
        </p:sp>
      </p:grpSp>
      <p:sp>
        <p:nvSpPr>
          <p:cNvPr name="AutoShape 69" id="69"/>
          <p:cNvSpPr/>
          <p:nvPr/>
        </p:nvSpPr>
        <p:spPr>
          <a:xfrm rot="14399">
            <a:off x="12609176" y="6030277"/>
            <a:ext cx="4545368" cy="0"/>
          </a:xfrm>
          <a:prstGeom prst="line">
            <a:avLst/>
          </a:prstGeom>
          <a:ln cap="rnd" w="9525">
            <a:solidFill>
              <a:srgbClr val="3E4A9E"/>
            </a:solidFill>
            <a:prstDash val="solid"/>
            <a:headEnd type="none" len="sm" w="sm"/>
            <a:tailEnd type="none" len="sm" w="sm"/>
          </a:ln>
        </p:spPr>
      </p:sp>
      <p:grpSp>
        <p:nvGrpSpPr>
          <p:cNvPr name="Group 70" id="70"/>
          <p:cNvGrpSpPr/>
          <p:nvPr/>
        </p:nvGrpSpPr>
        <p:grpSpPr>
          <a:xfrm rot="0">
            <a:off x="12618720" y="6240780"/>
            <a:ext cx="4526280" cy="411480"/>
            <a:chOff x="0" y="0"/>
            <a:chExt cx="6035040" cy="548640"/>
          </a:xfrm>
        </p:grpSpPr>
        <p:sp>
          <p:nvSpPr>
            <p:cNvPr name="Freeform 71" id="71"/>
            <p:cNvSpPr/>
            <p:nvPr/>
          </p:nvSpPr>
          <p:spPr>
            <a:xfrm flipH="false" flipV="false" rot="0">
              <a:off x="0" y="0"/>
              <a:ext cx="6035040" cy="548640"/>
            </a:xfrm>
            <a:custGeom>
              <a:avLst/>
              <a:gdLst/>
              <a:ahLst/>
              <a:cxnLst/>
              <a:rect r="r" b="b" t="t" l="l"/>
              <a:pathLst>
                <a:path h="548640" w="6035040">
                  <a:moveTo>
                    <a:pt x="0" y="0"/>
                  </a:moveTo>
                  <a:lnTo>
                    <a:pt x="6035040" y="0"/>
                  </a:lnTo>
                  <a:lnTo>
                    <a:pt x="6035040" y="548640"/>
                  </a:lnTo>
                  <a:lnTo>
                    <a:pt x="0" y="548640"/>
                  </a:lnTo>
                  <a:close/>
                </a:path>
              </a:pathLst>
            </a:custGeom>
            <a:blipFill>
              <a:blip r:embed="rId4">
                <a:alphaModFix amt="0"/>
              </a:blip>
              <a:stretch>
                <a:fillRect l="0" t="-164335" r="0" b="-164335"/>
              </a:stretch>
            </a:blipFill>
          </p:spPr>
        </p:sp>
        <p:sp>
          <p:nvSpPr>
            <p:cNvPr name="TextBox 72" id="72"/>
            <p:cNvSpPr txBox="true"/>
            <p:nvPr/>
          </p:nvSpPr>
          <p:spPr>
            <a:xfrm>
              <a:off x="0" y="-38100"/>
              <a:ext cx="6035040" cy="586740"/>
            </a:xfrm>
            <a:prstGeom prst="rect">
              <a:avLst/>
            </a:prstGeom>
          </p:spPr>
          <p:txBody>
            <a:bodyPr anchor="ctr" rtlCol="false" tIns="0" lIns="0" bIns="0" rIns="0"/>
            <a:lstStyle/>
            <a:p>
              <a:pPr algn="l">
                <a:lnSpc>
                  <a:spcPts val="1709"/>
                </a:lnSpc>
              </a:pPr>
              <a:r>
                <a:rPr lang="en-US" b="true" sz="1425" spc="149">
                  <a:solidFill>
                    <a:srgbClr val="C9A227"/>
                  </a:solidFill>
                  <a:latin typeface="Calibri (MS) Bold"/>
                  <a:ea typeface="Calibri (MS) Bold"/>
                  <a:cs typeface="Calibri (MS) Bold"/>
                  <a:sym typeface="Calibri (MS) Bold"/>
                </a:rPr>
                <a:t>EXAMPLE METRIC</a:t>
              </a:r>
            </a:p>
          </p:txBody>
        </p:sp>
      </p:grpSp>
      <p:grpSp>
        <p:nvGrpSpPr>
          <p:cNvPr name="Group 73" id="73"/>
          <p:cNvGrpSpPr/>
          <p:nvPr/>
        </p:nvGrpSpPr>
        <p:grpSpPr>
          <a:xfrm rot="0">
            <a:off x="12618720" y="6652260"/>
            <a:ext cx="4526280" cy="1920240"/>
            <a:chOff x="0" y="0"/>
            <a:chExt cx="6035040" cy="2560320"/>
          </a:xfrm>
        </p:grpSpPr>
        <p:sp>
          <p:nvSpPr>
            <p:cNvPr name="Freeform 74" id="74"/>
            <p:cNvSpPr/>
            <p:nvPr/>
          </p:nvSpPr>
          <p:spPr>
            <a:xfrm flipH="false" flipV="false" rot="0">
              <a:off x="0" y="0"/>
              <a:ext cx="6035040" cy="2560320"/>
            </a:xfrm>
            <a:custGeom>
              <a:avLst/>
              <a:gdLst/>
              <a:ahLst/>
              <a:cxnLst/>
              <a:rect r="r" b="b" t="t" l="l"/>
              <a:pathLst>
                <a:path h="2560320" w="6035040">
                  <a:moveTo>
                    <a:pt x="0" y="0"/>
                  </a:moveTo>
                  <a:lnTo>
                    <a:pt x="6035040" y="0"/>
                  </a:lnTo>
                  <a:lnTo>
                    <a:pt x="6035040" y="2560320"/>
                  </a:lnTo>
                  <a:lnTo>
                    <a:pt x="0" y="2560320"/>
                  </a:lnTo>
                  <a:close/>
                </a:path>
              </a:pathLst>
            </a:custGeom>
            <a:blipFill>
              <a:blip r:embed="rId4">
                <a:alphaModFix amt="0"/>
              </a:blip>
              <a:stretch>
                <a:fillRect l="-4431" t="0" r="-4431" b="0"/>
              </a:stretch>
            </a:blipFill>
          </p:spPr>
        </p:sp>
        <p:sp>
          <p:nvSpPr>
            <p:cNvPr name="TextBox 75" id="75"/>
            <p:cNvSpPr txBox="true"/>
            <p:nvPr/>
          </p:nvSpPr>
          <p:spPr>
            <a:xfrm>
              <a:off x="0" y="-95250"/>
              <a:ext cx="6035040" cy="2655570"/>
            </a:xfrm>
            <a:prstGeom prst="rect">
              <a:avLst/>
            </a:prstGeom>
          </p:spPr>
          <p:txBody>
            <a:bodyPr anchor="ctr" rtlCol="false" tIns="0" lIns="0" bIns="0" rIns="0"/>
            <a:lstStyle/>
            <a:p>
              <a:pPr algn="l">
                <a:lnSpc>
                  <a:spcPts val="2700"/>
                </a:lnSpc>
              </a:pPr>
              <a:r>
                <a:rPr lang="en-US" sz="1800">
                  <a:solidFill>
                    <a:srgbClr val="FFFFFF"/>
                  </a:solidFill>
                  <a:latin typeface="Calibri (MS)"/>
                  <a:ea typeface="Calibri (MS)"/>
                  <a:cs typeface="Calibri (MS)"/>
                  <a:sym typeface="Calibri (MS)"/>
                </a:rPr>
                <a:t>Estimated cost avoided from incidents prevented</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47625"/>
              <a:ext cx="1848158" cy="3198609"/>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498034" y="2355594"/>
            <a:ext cx="15291933" cy="5575813"/>
            <a:chOff x="0" y="0"/>
            <a:chExt cx="4027505" cy="1468527"/>
          </a:xfrm>
        </p:grpSpPr>
        <p:sp>
          <p:nvSpPr>
            <p:cNvPr name="Freeform 6" id="6"/>
            <p:cNvSpPr/>
            <p:nvPr/>
          </p:nvSpPr>
          <p:spPr>
            <a:xfrm flipH="false" flipV="false" rot="0">
              <a:off x="0" y="0"/>
              <a:ext cx="4027505" cy="1468527"/>
            </a:xfrm>
            <a:custGeom>
              <a:avLst/>
              <a:gdLst/>
              <a:ahLst/>
              <a:cxnLst/>
              <a:rect r="r" b="b" t="t" l="l"/>
              <a:pathLst>
                <a:path h="1468527" w="4027505">
                  <a:moveTo>
                    <a:pt x="0" y="0"/>
                  </a:moveTo>
                  <a:lnTo>
                    <a:pt x="4027505" y="0"/>
                  </a:lnTo>
                  <a:lnTo>
                    <a:pt x="4027505" y="1468527"/>
                  </a:lnTo>
                  <a:lnTo>
                    <a:pt x="0" y="1468527"/>
                  </a:lnTo>
                  <a:close/>
                </a:path>
              </a:pathLst>
            </a:custGeom>
            <a:solidFill>
              <a:srgbClr val="FFFFFF"/>
            </a:solidFill>
          </p:spPr>
        </p:sp>
        <p:sp>
          <p:nvSpPr>
            <p:cNvPr name="TextBox 7" id="7"/>
            <p:cNvSpPr txBox="true"/>
            <p:nvPr/>
          </p:nvSpPr>
          <p:spPr>
            <a:xfrm>
              <a:off x="0" y="-47625"/>
              <a:ext cx="4027505" cy="1516152"/>
            </a:xfrm>
            <a:prstGeom prst="rect">
              <a:avLst/>
            </a:prstGeom>
          </p:spPr>
          <p:txBody>
            <a:bodyPr anchor="ctr" rtlCol="false" tIns="50800" lIns="50800" bIns="50800" rIns="50800"/>
            <a:lstStyle/>
            <a:p>
              <a:pPr algn="ctr">
                <a:lnSpc>
                  <a:spcPts val="3560"/>
                </a:lnSpc>
              </a:pPr>
            </a:p>
          </p:txBody>
        </p:sp>
      </p:grpSp>
      <p:sp>
        <p:nvSpPr>
          <p:cNvPr name="Freeform 8" id="8"/>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5981039" y="9462044"/>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CORTEZ</a:t>
            </a:r>
          </a:p>
        </p:txBody>
      </p:sp>
      <p:grpSp>
        <p:nvGrpSpPr>
          <p:cNvPr name="Group 10" id="10"/>
          <p:cNvGrpSpPr/>
          <p:nvPr/>
        </p:nvGrpSpPr>
        <p:grpSpPr>
          <a:xfrm rot="0">
            <a:off x="822960" y="548640"/>
            <a:ext cx="2743200" cy="685800"/>
            <a:chOff x="0" y="0"/>
            <a:chExt cx="3657600" cy="914400"/>
          </a:xfrm>
        </p:grpSpPr>
        <p:sp>
          <p:nvSpPr>
            <p:cNvPr name="Freeform 11" id="11"/>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4">
                <a:alphaModFix amt="0"/>
              </a:blip>
              <a:stretch>
                <a:fillRect l="0" t="-27940" r="0" b="-27940"/>
              </a:stretch>
            </a:blipFill>
          </p:spPr>
        </p:sp>
        <p:sp>
          <p:nvSpPr>
            <p:cNvPr name="TextBox 12" id="12"/>
            <p:cNvSpPr txBox="true"/>
            <p:nvPr/>
          </p:nvSpPr>
          <p:spPr>
            <a:xfrm>
              <a:off x="0" y="-38100"/>
              <a:ext cx="3657600" cy="952500"/>
            </a:xfrm>
            <a:prstGeom prst="rect">
              <a:avLst/>
            </a:prstGeom>
          </p:spPr>
          <p:txBody>
            <a:bodyPr anchor="ctr" rtlCol="false" tIns="0" lIns="0" bIns="0" rIns="0"/>
            <a:lstStyle/>
            <a:p>
              <a:pPr algn="l">
                <a:lnSpc>
                  <a:spcPts val="2879"/>
                </a:lnSpc>
              </a:pPr>
              <a:r>
                <a:rPr lang="en-US" sz="2400" b="true">
                  <a:solidFill>
                    <a:srgbClr val="C9A227"/>
                  </a:solidFill>
                  <a:latin typeface="Calibri (MS) Bold"/>
                  <a:ea typeface="Calibri (MS) Bold"/>
                  <a:cs typeface="Calibri (MS) Bold"/>
                  <a:sym typeface="Calibri (MS) Bold"/>
                </a:rPr>
                <a:t>9.4</a:t>
              </a:r>
            </a:p>
          </p:txBody>
        </p:sp>
      </p:grpSp>
      <p:grpSp>
        <p:nvGrpSpPr>
          <p:cNvPr name="Group 13" id="13"/>
          <p:cNvGrpSpPr/>
          <p:nvPr/>
        </p:nvGrpSpPr>
        <p:grpSpPr>
          <a:xfrm rot="0">
            <a:off x="919100" y="-124982"/>
            <a:ext cx="15087600" cy="3738349"/>
            <a:chOff x="0" y="0"/>
            <a:chExt cx="20116800" cy="4984466"/>
          </a:xfrm>
        </p:grpSpPr>
        <p:sp>
          <p:nvSpPr>
            <p:cNvPr name="Freeform 14" id="14"/>
            <p:cNvSpPr/>
            <p:nvPr/>
          </p:nvSpPr>
          <p:spPr>
            <a:xfrm flipH="false" flipV="false" rot="0">
              <a:off x="0" y="0"/>
              <a:ext cx="20116800" cy="4984466"/>
            </a:xfrm>
            <a:custGeom>
              <a:avLst/>
              <a:gdLst/>
              <a:ahLst/>
              <a:cxnLst/>
              <a:rect r="r" b="b" t="t" l="l"/>
              <a:pathLst>
                <a:path h="4984466" w="20116800">
                  <a:moveTo>
                    <a:pt x="0" y="0"/>
                  </a:moveTo>
                  <a:lnTo>
                    <a:pt x="20116800" y="0"/>
                  </a:lnTo>
                  <a:lnTo>
                    <a:pt x="20116800" y="4984466"/>
                  </a:lnTo>
                  <a:lnTo>
                    <a:pt x="0" y="4984466"/>
                  </a:lnTo>
                  <a:close/>
                </a:path>
              </a:pathLst>
            </a:custGeom>
            <a:blipFill>
              <a:blip r:embed="rId4">
                <a:alphaModFix amt="0"/>
              </a:blip>
              <a:stretch>
                <a:fillRect l="0" t="-65798" r="0" b="8518"/>
              </a:stretch>
            </a:blipFill>
          </p:spPr>
        </p:sp>
        <p:sp>
          <p:nvSpPr>
            <p:cNvPr name="TextBox 15" id="15"/>
            <p:cNvSpPr txBox="true"/>
            <p:nvPr/>
          </p:nvSpPr>
          <p:spPr>
            <a:xfrm>
              <a:off x="0" y="-9525"/>
              <a:ext cx="20116800" cy="4993991"/>
            </a:xfrm>
            <a:prstGeom prst="rect">
              <a:avLst/>
            </a:prstGeom>
          </p:spPr>
          <p:txBody>
            <a:bodyPr anchor="ctr" rtlCol="false" tIns="0" lIns="0" bIns="0" rIns="0"/>
            <a:lstStyle/>
            <a:p>
              <a:pPr algn="l">
                <a:lnSpc>
                  <a:spcPts val="6119"/>
                </a:lnSpc>
              </a:pPr>
              <a:r>
                <a:rPr lang="en-US" sz="5099" b="true">
                  <a:solidFill>
                    <a:srgbClr val="1E2761"/>
                  </a:solidFill>
                  <a:latin typeface="Cambria Bold"/>
                  <a:ea typeface="Cambria Bold"/>
                  <a:cs typeface="Cambria Bold"/>
                  <a:sym typeface="Cambria Bold"/>
                </a:rPr>
                <a:t>Metrics and FISMA</a:t>
              </a:r>
            </a:p>
          </p:txBody>
        </p:sp>
      </p:grpSp>
      <p:grpSp>
        <p:nvGrpSpPr>
          <p:cNvPr name="Group 16" id="16"/>
          <p:cNvGrpSpPr/>
          <p:nvPr/>
        </p:nvGrpSpPr>
        <p:grpSpPr>
          <a:xfrm rot="0">
            <a:off x="1028700" y="1865376"/>
            <a:ext cx="8641080" cy="2468880"/>
            <a:chOff x="0" y="0"/>
            <a:chExt cx="11521440" cy="3291840"/>
          </a:xfrm>
        </p:grpSpPr>
        <p:sp>
          <p:nvSpPr>
            <p:cNvPr name="Freeform 17" id="17"/>
            <p:cNvSpPr/>
            <p:nvPr/>
          </p:nvSpPr>
          <p:spPr>
            <a:xfrm flipH="false" flipV="false" rot="0">
              <a:off x="0" y="0"/>
              <a:ext cx="11521440" cy="3291840"/>
            </a:xfrm>
            <a:custGeom>
              <a:avLst/>
              <a:gdLst/>
              <a:ahLst/>
              <a:cxnLst/>
              <a:rect r="r" b="b" t="t" l="l"/>
              <a:pathLst>
                <a:path h="3291840" w="11521440">
                  <a:moveTo>
                    <a:pt x="0" y="0"/>
                  </a:moveTo>
                  <a:lnTo>
                    <a:pt x="11521440" y="0"/>
                  </a:lnTo>
                  <a:lnTo>
                    <a:pt x="11521440" y="3291840"/>
                  </a:lnTo>
                  <a:lnTo>
                    <a:pt x="0" y="3291840"/>
                  </a:lnTo>
                  <a:close/>
                </a:path>
              </a:pathLst>
            </a:custGeom>
            <a:blipFill>
              <a:blip r:embed="rId4">
                <a:alphaModFix amt="0"/>
              </a:blip>
              <a:stretch>
                <a:fillRect l="0" t="-18197" r="0" b="-18197"/>
              </a:stretch>
            </a:blipFill>
          </p:spPr>
        </p:sp>
        <p:sp>
          <p:nvSpPr>
            <p:cNvPr name="TextBox 18" id="18"/>
            <p:cNvSpPr txBox="true"/>
            <p:nvPr/>
          </p:nvSpPr>
          <p:spPr>
            <a:xfrm>
              <a:off x="0" y="-114300"/>
              <a:ext cx="11521440" cy="3406140"/>
            </a:xfrm>
            <a:prstGeom prst="rect">
              <a:avLst/>
            </a:prstGeom>
          </p:spPr>
          <p:txBody>
            <a:bodyPr anchor="ctr" rtlCol="false" tIns="0" lIns="0" bIns="0" rIns="0"/>
            <a:lstStyle/>
            <a:p>
              <a:pPr algn="l">
                <a:lnSpc>
                  <a:spcPts val="3393"/>
                </a:lnSpc>
              </a:pPr>
              <a:r>
                <a:rPr lang="en-US" sz="2175">
                  <a:solidFill>
                    <a:srgbClr val="1B1F3B"/>
                  </a:solidFill>
                  <a:latin typeface="Calibri (MS)"/>
                  <a:ea typeface="Calibri (MS)"/>
                  <a:cs typeface="Calibri (MS)"/>
                  <a:sym typeface="Calibri (MS)"/>
                </a:rPr>
                <a:t>The Federal Information Security Modernization Act (FISMA) requires U.S. federal agencies to develop, document, and implement an information security program — and to report measurably on its performance.</a:t>
              </a:r>
            </a:p>
          </p:txBody>
        </p:sp>
      </p:grpSp>
      <p:grpSp>
        <p:nvGrpSpPr>
          <p:cNvPr name="Group 19" id="19"/>
          <p:cNvGrpSpPr/>
          <p:nvPr/>
        </p:nvGrpSpPr>
        <p:grpSpPr>
          <a:xfrm rot="0">
            <a:off x="1914641" y="4510791"/>
            <a:ext cx="2880360" cy="548640"/>
            <a:chOff x="0" y="0"/>
            <a:chExt cx="3840480" cy="731520"/>
          </a:xfrm>
        </p:grpSpPr>
        <p:sp>
          <p:nvSpPr>
            <p:cNvPr name="Freeform 20" id="20"/>
            <p:cNvSpPr/>
            <p:nvPr/>
          </p:nvSpPr>
          <p:spPr>
            <a:xfrm flipH="false" flipV="false" rot="0">
              <a:off x="0" y="0"/>
              <a:ext cx="3840480" cy="731520"/>
            </a:xfrm>
            <a:custGeom>
              <a:avLst/>
              <a:gdLst/>
              <a:ahLst/>
              <a:cxnLst/>
              <a:rect r="r" b="b" t="t" l="l"/>
              <a:pathLst>
                <a:path h="731520" w="3840480">
                  <a:moveTo>
                    <a:pt x="0" y="0"/>
                  </a:moveTo>
                  <a:lnTo>
                    <a:pt x="3840480" y="0"/>
                  </a:lnTo>
                  <a:lnTo>
                    <a:pt x="3840480" y="731520"/>
                  </a:lnTo>
                  <a:lnTo>
                    <a:pt x="0" y="731520"/>
                  </a:lnTo>
                  <a:close/>
                </a:path>
              </a:pathLst>
            </a:custGeom>
            <a:blipFill>
              <a:blip r:embed="rId4">
                <a:alphaModFix amt="0"/>
              </a:blip>
              <a:stretch>
                <a:fillRect l="0" t="-52296" r="0" b="-52296"/>
              </a:stretch>
            </a:blipFill>
          </p:spPr>
        </p:sp>
        <p:sp>
          <p:nvSpPr>
            <p:cNvPr name="TextBox 21" id="21"/>
            <p:cNvSpPr txBox="true"/>
            <p:nvPr/>
          </p:nvSpPr>
          <p:spPr>
            <a:xfrm>
              <a:off x="0" y="-57150"/>
              <a:ext cx="3840480" cy="788670"/>
            </a:xfrm>
            <a:prstGeom prst="rect">
              <a:avLst/>
            </a:prstGeom>
          </p:spPr>
          <p:txBody>
            <a:bodyPr anchor="ctr" rtlCol="false" tIns="0" lIns="0" bIns="0" rIns="0"/>
            <a:lstStyle/>
            <a:p>
              <a:pPr algn="l">
                <a:lnSpc>
                  <a:spcPts val="2849"/>
                </a:lnSpc>
              </a:pPr>
              <a:r>
                <a:rPr lang="en-US" b="true" sz="2374" spc="226">
                  <a:solidFill>
                    <a:srgbClr val="C9A227"/>
                  </a:solidFill>
                  <a:latin typeface="Calibri (MS) Bold"/>
                  <a:ea typeface="Calibri (MS) Bold"/>
                  <a:cs typeface="Calibri (MS) Bold"/>
                  <a:sym typeface="Calibri (MS) Bold"/>
                </a:rPr>
                <a:t>ORIGIN</a:t>
              </a:r>
            </a:p>
          </p:txBody>
        </p:sp>
      </p:grpSp>
      <p:grpSp>
        <p:nvGrpSpPr>
          <p:cNvPr name="Group 22" id="22"/>
          <p:cNvGrpSpPr/>
          <p:nvPr/>
        </p:nvGrpSpPr>
        <p:grpSpPr>
          <a:xfrm rot="0">
            <a:off x="3902179" y="4407921"/>
            <a:ext cx="5623560" cy="617220"/>
            <a:chOff x="0" y="0"/>
            <a:chExt cx="7498080" cy="822960"/>
          </a:xfrm>
        </p:grpSpPr>
        <p:sp>
          <p:nvSpPr>
            <p:cNvPr name="Freeform 23" id="23"/>
            <p:cNvSpPr/>
            <p:nvPr/>
          </p:nvSpPr>
          <p:spPr>
            <a:xfrm flipH="false" flipV="false" rot="0">
              <a:off x="0" y="0"/>
              <a:ext cx="7498080" cy="822960"/>
            </a:xfrm>
            <a:custGeom>
              <a:avLst/>
              <a:gdLst/>
              <a:ahLst/>
              <a:cxnLst/>
              <a:rect r="r" b="b" t="t" l="l"/>
              <a:pathLst>
                <a:path h="822960" w="7498080">
                  <a:moveTo>
                    <a:pt x="0" y="0"/>
                  </a:moveTo>
                  <a:lnTo>
                    <a:pt x="7498080" y="0"/>
                  </a:lnTo>
                  <a:lnTo>
                    <a:pt x="7498080" y="822960"/>
                  </a:lnTo>
                  <a:lnTo>
                    <a:pt x="0" y="822960"/>
                  </a:lnTo>
                  <a:close/>
                </a:path>
              </a:pathLst>
            </a:custGeom>
            <a:blipFill>
              <a:blip r:embed="rId4">
                <a:alphaModFix amt="0"/>
              </a:blip>
              <a:stretch>
                <a:fillRect l="0" t="-127530" r="0" b="-127530"/>
              </a:stretch>
            </a:blipFill>
          </p:spPr>
        </p:sp>
        <p:sp>
          <p:nvSpPr>
            <p:cNvPr name="TextBox 24" id="24"/>
            <p:cNvSpPr txBox="true"/>
            <p:nvPr/>
          </p:nvSpPr>
          <p:spPr>
            <a:xfrm>
              <a:off x="0" y="-57150"/>
              <a:ext cx="7498080" cy="880110"/>
            </a:xfrm>
            <a:prstGeom prst="rect">
              <a:avLst/>
            </a:prstGeom>
          </p:spPr>
          <p:txBody>
            <a:bodyPr anchor="ctr" rtlCol="false" tIns="0" lIns="0" bIns="0" rIns="0"/>
            <a:lstStyle/>
            <a:p>
              <a:pPr algn="l">
                <a:lnSpc>
                  <a:spcPts val="3119"/>
                </a:lnSpc>
              </a:pPr>
              <a:r>
                <a:rPr lang="en-US" sz="2599">
                  <a:solidFill>
                    <a:srgbClr val="1B1F3B"/>
                  </a:solidFill>
                  <a:latin typeface="Calibri (MS)"/>
                  <a:ea typeface="Calibri (MS)"/>
                  <a:cs typeface="Calibri (MS)"/>
                  <a:sym typeface="Calibri (MS)"/>
                </a:rPr>
                <a:t>Enacted 2002, modernized 2014</a:t>
              </a:r>
            </a:p>
          </p:txBody>
        </p:sp>
      </p:grpSp>
      <p:grpSp>
        <p:nvGrpSpPr>
          <p:cNvPr name="Group 25" id="25"/>
          <p:cNvGrpSpPr/>
          <p:nvPr/>
        </p:nvGrpSpPr>
        <p:grpSpPr>
          <a:xfrm rot="0">
            <a:off x="1914641" y="5265171"/>
            <a:ext cx="2880360" cy="548640"/>
            <a:chOff x="0" y="0"/>
            <a:chExt cx="3840480" cy="731520"/>
          </a:xfrm>
        </p:grpSpPr>
        <p:sp>
          <p:nvSpPr>
            <p:cNvPr name="Freeform 26" id="26"/>
            <p:cNvSpPr/>
            <p:nvPr/>
          </p:nvSpPr>
          <p:spPr>
            <a:xfrm flipH="false" flipV="false" rot="0">
              <a:off x="0" y="0"/>
              <a:ext cx="3840480" cy="731520"/>
            </a:xfrm>
            <a:custGeom>
              <a:avLst/>
              <a:gdLst/>
              <a:ahLst/>
              <a:cxnLst/>
              <a:rect r="r" b="b" t="t" l="l"/>
              <a:pathLst>
                <a:path h="731520" w="3840480">
                  <a:moveTo>
                    <a:pt x="0" y="0"/>
                  </a:moveTo>
                  <a:lnTo>
                    <a:pt x="3840480" y="0"/>
                  </a:lnTo>
                  <a:lnTo>
                    <a:pt x="3840480" y="731520"/>
                  </a:lnTo>
                  <a:lnTo>
                    <a:pt x="0" y="731520"/>
                  </a:lnTo>
                  <a:close/>
                </a:path>
              </a:pathLst>
            </a:custGeom>
            <a:blipFill>
              <a:blip r:embed="rId4">
                <a:alphaModFix amt="0"/>
              </a:blip>
              <a:stretch>
                <a:fillRect l="0" t="-52296" r="0" b="-52296"/>
              </a:stretch>
            </a:blipFill>
          </p:spPr>
        </p:sp>
        <p:sp>
          <p:nvSpPr>
            <p:cNvPr name="TextBox 27" id="27"/>
            <p:cNvSpPr txBox="true"/>
            <p:nvPr/>
          </p:nvSpPr>
          <p:spPr>
            <a:xfrm>
              <a:off x="0" y="-57150"/>
              <a:ext cx="3840480" cy="788670"/>
            </a:xfrm>
            <a:prstGeom prst="rect">
              <a:avLst/>
            </a:prstGeom>
          </p:spPr>
          <p:txBody>
            <a:bodyPr anchor="ctr" rtlCol="false" tIns="0" lIns="0" bIns="0" rIns="0"/>
            <a:lstStyle/>
            <a:p>
              <a:pPr algn="l">
                <a:lnSpc>
                  <a:spcPts val="2849"/>
                </a:lnSpc>
              </a:pPr>
              <a:r>
                <a:rPr lang="en-US" b="true" sz="2374" spc="226">
                  <a:solidFill>
                    <a:srgbClr val="C9A227"/>
                  </a:solidFill>
                  <a:latin typeface="Calibri (MS) Bold"/>
                  <a:ea typeface="Calibri (MS) Bold"/>
                  <a:cs typeface="Calibri (MS) Bold"/>
                  <a:sym typeface="Calibri (MS) Bold"/>
                </a:rPr>
                <a:t>APPLIES TO</a:t>
              </a:r>
            </a:p>
          </p:txBody>
        </p:sp>
      </p:grpSp>
      <p:grpSp>
        <p:nvGrpSpPr>
          <p:cNvPr name="Group 28" id="28"/>
          <p:cNvGrpSpPr/>
          <p:nvPr/>
        </p:nvGrpSpPr>
        <p:grpSpPr>
          <a:xfrm rot="0">
            <a:off x="3902179" y="5162301"/>
            <a:ext cx="5623560" cy="617220"/>
            <a:chOff x="0" y="0"/>
            <a:chExt cx="7498080" cy="822960"/>
          </a:xfrm>
        </p:grpSpPr>
        <p:sp>
          <p:nvSpPr>
            <p:cNvPr name="Freeform 29" id="29"/>
            <p:cNvSpPr/>
            <p:nvPr/>
          </p:nvSpPr>
          <p:spPr>
            <a:xfrm flipH="false" flipV="false" rot="0">
              <a:off x="0" y="0"/>
              <a:ext cx="7498080" cy="822960"/>
            </a:xfrm>
            <a:custGeom>
              <a:avLst/>
              <a:gdLst/>
              <a:ahLst/>
              <a:cxnLst/>
              <a:rect r="r" b="b" t="t" l="l"/>
              <a:pathLst>
                <a:path h="822960" w="7498080">
                  <a:moveTo>
                    <a:pt x="0" y="0"/>
                  </a:moveTo>
                  <a:lnTo>
                    <a:pt x="7498080" y="0"/>
                  </a:lnTo>
                  <a:lnTo>
                    <a:pt x="7498080" y="822960"/>
                  </a:lnTo>
                  <a:lnTo>
                    <a:pt x="0" y="822960"/>
                  </a:lnTo>
                  <a:close/>
                </a:path>
              </a:pathLst>
            </a:custGeom>
            <a:blipFill>
              <a:blip r:embed="rId4">
                <a:alphaModFix amt="0"/>
              </a:blip>
              <a:stretch>
                <a:fillRect l="0" t="-127530" r="0" b="-127530"/>
              </a:stretch>
            </a:blipFill>
          </p:spPr>
        </p:sp>
        <p:sp>
          <p:nvSpPr>
            <p:cNvPr name="TextBox 30" id="30"/>
            <p:cNvSpPr txBox="true"/>
            <p:nvPr/>
          </p:nvSpPr>
          <p:spPr>
            <a:xfrm>
              <a:off x="0" y="-57150"/>
              <a:ext cx="7498080" cy="880110"/>
            </a:xfrm>
            <a:prstGeom prst="rect">
              <a:avLst/>
            </a:prstGeom>
          </p:spPr>
          <p:txBody>
            <a:bodyPr anchor="ctr" rtlCol="false" tIns="0" lIns="0" bIns="0" rIns="0"/>
            <a:lstStyle/>
            <a:p>
              <a:pPr algn="l">
                <a:lnSpc>
                  <a:spcPts val="3119"/>
                </a:lnSpc>
              </a:pPr>
              <a:r>
                <a:rPr lang="en-US" sz="2599">
                  <a:solidFill>
                    <a:srgbClr val="1B1F3B"/>
                  </a:solidFill>
                  <a:latin typeface="Calibri (MS)"/>
                  <a:ea typeface="Calibri (MS)"/>
                  <a:cs typeface="Calibri (MS)"/>
                  <a:sym typeface="Calibri (MS)"/>
                </a:rPr>
                <a:t>Federal agencies &amp; their contractors</a:t>
              </a:r>
            </a:p>
          </p:txBody>
        </p:sp>
      </p:grpSp>
      <p:grpSp>
        <p:nvGrpSpPr>
          <p:cNvPr name="Group 31" id="31"/>
          <p:cNvGrpSpPr/>
          <p:nvPr/>
        </p:nvGrpSpPr>
        <p:grpSpPr>
          <a:xfrm rot="0">
            <a:off x="1914641" y="6019551"/>
            <a:ext cx="2880360" cy="548640"/>
            <a:chOff x="0" y="0"/>
            <a:chExt cx="3840480" cy="731520"/>
          </a:xfrm>
        </p:grpSpPr>
        <p:sp>
          <p:nvSpPr>
            <p:cNvPr name="Freeform 32" id="32"/>
            <p:cNvSpPr/>
            <p:nvPr/>
          </p:nvSpPr>
          <p:spPr>
            <a:xfrm flipH="false" flipV="false" rot="0">
              <a:off x="0" y="0"/>
              <a:ext cx="3840480" cy="731520"/>
            </a:xfrm>
            <a:custGeom>
              <a:avLst/>
              <a:gdLst/>
              <a:ahLst/>
              <a:cxnLst/>
              <a:rect r="r" b="b" t="t" l="l"/>
              <a:pathLst>
                <a:path h="731520" w="3840480">
                  <a:moveTo>
                    <a:pt x="0" y="0"/>
                  </a:moveTo>
                  <a:lnTo>
                    <a:pt x="3840480" y="0"/>
                  </a:lnTo>
                  <a:lnTo>
                    <a:pt x="3840480" y="731520"/>
                  </a:lnTo>
                  <a:lnTo>
                    <a:pt x="0" y="731520"/>
                  </a:lnTo>
                  <a:close/>
                </a:path>
              </a:pathLst>
            </a:custGeom>
            <a:blipFill>
              <a:blip r:embed="rId4">
                <a:alphaModFix amt="0"/>
              </a:blip>
              <a:stretch>
                <a:fillRect l="0" t="-52296" r="0" b="-52296"/>
              </a:stretch>
            </a:blipFill>
          </p:spPr>
        </p:sp>
        <p:sp>
          <p:nvSpPr>
            <p:cNvPr name="TextBox 33" id="33"/>
            <p:cNvSpPr txBox="true"/>
            <p:nvPr/>
          </p:nvSpPr>
          <p:spPr>
            <a:xfrm>
              <a:off x="0" y="-57150"/>
              <a:ext cx="3840480" cy="788670"/>
            </a:xfrm>
            <a:prstGeom prst="rect">
              <a:avLst/>
            </a:prstGeom>
          </p:spPr>
          <p:txBody>
            <a:bodyPr anchor="ctr" rtlCol="false" tIns="0" lIns="0" bIns="0" rIns="0"/>
            <a:lstStyle/>
            <a:p>
              <a:pPr algn="l">
                <a:lnSpc>
                  <a:spcPts val="2849"/>
                </a:lnSpc>
              </a:pPr>
              <a:r>
                <a:rPr lang="en-US" b="true" sz="2374" spc="226">
                  <a:solidFill>
                    <a:srgbClr val="C9A227"/>
                  </a:solidFill>
                  <a:latin typeface="Calibri (MS) Bold"/>
                  <a:ea typeface="Calibri (MS) Bold"/>
                  <a:cs typeface="Calibri (MS) Bold"/>
                  <a:sym typeface="Calibri (MS) Bold"/>
                </a:rPr>
                <a:t>OVERSIGHT</a:t>
              </a:r>
            </a:p>
          </p:txBody>
        </p:sp>
      </p:grpSp>
      <p:grpSp>
        <p:nvGrpSpPr>
          <p:cNvPr name="Group 34" id="34"/>
          <p:cNvGrpSpPr/>
          <p:nvPr/>
        </p:nvGrpSpPr>
        <p:grpSpPr>
          <a:xfrm rot="0">
            <a:off x="3902179" y="5916681"/>
            <a:ext cx="5623560" cy="909227"/>
            <a:chOff x="0" y="0"/>
            <a:chExt cx="7498080" cy="1212303"/>
          </a:xfrm>
        </p:grpSpPr>
        <p:sp>
          <p:nvSpPr>
            <p:cNvPr name="Freeform 35" id="35"/>
            <p:cNvSpPr/>
            <p:nvPr/>
          </p:nvSpPr>
          <p:spPr>
            <a:xfrm flipH="false" flipV="false" rot="0">
              <a:off x="0" y="0"/>
              <a:ext cx="7498080" cy="1212303"/>
            </a:xfrm>
            <a:custGeom>
              <a:avLst/>
              <a:gdLst/>
              <a:ahLst/>
              <a:cxnLst/>
              <a:rect r="r" b="b" t="t" l="l"/>
              <a:pathLst>
                <a:path h="1212303" w="7498080">
                  <a:moveTo>
                    <a:pt x="0" y="0"/>
                  </a:moveTo>
                  <a:lnTo>
                    <a:pt x="7498080" y="0"/>
                  </a:lnTo>
                  <a:lnTo>
                    <a:pt x="7498080" y="1212303"/>
                  </a:lnTo>
                  <a:lnTo>
                    <a:pt x="0" y="1212303"/>
                  </a:lnTo>
                  <a:close/>
                </a:path>
              </a:pathLst>
            </a:custGeom>
            <a:blipFill>
              <a:blip r:embed="rId4">
                <a:alphaModFix amt="0"/>
              </a:blip>
              <a:stretch>
                <a:fillRect l="0" t="-86572" r="0" b="-54456"/>
              </a:stretch>
            </a:blipFill>
          </p:spPr>
        </p:sp>
        <p:sp>
          <p:nvSpPr>
            <p:cNvPr name="TextBox 36" id="36"/>
            <p:cNvSpPr txBox="true"/>
            <p:nvPr/>
          </p:nvSpPr>
          <p:spPr>
            <a:xfrm>
              <a:off x="0" y="-57150"/>
              <a:ext cx="7498080" cy="1269453"/>
            </a:xfrm>
            <a:prstGeom prst="rect">
              <a:avLst/>
            </a:prstGeom>
          </p:spPr>
          <p:txBody>
            <a:bodyPr anchor="ctr" rtlCol="false" tIns="0" lIns="0" bIns="0" rIns="0"/>
            <a:lstStyle/>
            <a:p>
              <a:pPr algn="l">
                <a:lnSpc>
                  <a:spcPts val="3119"/>
                </a:lnSpc>
              </a:pPr>
              <a:r>
                <a:rPr lang="en-US" sz="2599">
                  <a:solidFill>
                    <a:srgbClr val="1B1F3B"/>
                  </a:solidFill>
                  <a:latin typeface="Calibri (MS)"/>
                  <a:ea typeface="Calibri (MS)"/>
                  <a:cs typeface="Calibri (MS)"/>
                  <a:sym typeface="Calibri (MS)"/>
                </a:rPr>
                <a:t>OMB policy — NIST standards — DHS operational support</a:t>
              </a:r>
            </a:p>
          </p:txBody>
        </p:sp>
      </p:grpSp>
      <p:grpSp>
        <p:nvGrpSpPr>
          <p:cNvPr name="Group 37" id="37"/>
          <p:cNvGrpSpPr/>
          <p:nvPr/>
        </p:nvGrpSpPr>
        <p:grpSpPr>
          <a:xfrm rot="0">
            <a:off x="1914641" y="6773931"/>
            <a:ext cx="2880360" cy="548640"/>
            <a:chOff x="0" y="0"/>
            <a:chExt cx="3840480" cy="731520"/>
          </a:xfrm>
        </p:grpSpPr>
        <p:sp>
          <p:nvSpPr>
            <p:cNvPr name="Freeform 38" id="38"/>
            <p:cNvSpPr/>
            <p:nvPr/>
          </p:nvSpPr>
          <p:spPr>
            <a:xfrm flipH="false" flipV="false" rot="0">
              <a:off x="0" y="0"/>
              <a:ext cx="3840480" cy="731520"/>
            </a:xfrm>
            <a:custGeom>
              <a:avLst/>
              <a:gdLst/>
              <a:ahLst/>
              <a:cxnLst/>
              <a:rect r="r" b="b" t="t" l="l"/>
              <a:pathLst>
                <a:path h="731520" w="3840480">
                  <a:moveTo>
                    <a:pt x="0" y="0"/>
                  </a:moveTo>
                  <a:lnTo>
                    <a:pt x="3840480" y="0"/>
                  </a:lnTo>
                  <a:lnTo>
                    <a:pt x="3840480" y="731520"/>
                  </a:lnTo>
                  <a:lnTo>
                    <a:pt x="0" y="731520"/>
                  </a:lnTo>
                  <a:close/>
                </a:path>
              </a:pathLst>
            </a:custGeom>
            <a:blipFill>
              <a:blip r:embed="rId4">
                <a:alphaModFix amt="0"/>
              </a:blip>
              <a:stretch>
                <a:fillRect l="0" t="-52296" r="0" b="-52296"/>
              </a:stretch>
            </a:blipFill>
          </p:spPr>
        </p:sp>
        <p:sp>
          <p:nvSpPr>
            <p:cNvPr name="TextBox 39" id="39"/>
            <p:cNvSpPr txBox="true"/>
            <p:nvPr/>
          </p:nvSpPr>
          <p:spPr>
            <a:xfrm>
              <a:off x="0" y="-57150"/>
              <a:ext cx="3840480" cy="788670"/>
            </a:xfrm>
            <a:prstGeom prst="rect">
              <a:avLst/>
            </a:prstGeom>
          </p:spPr>
          <p:txBody>
            <a:bodyPr anchor="ctr" rtlCol="false" tIns="0" lIns="0" bIns="0" rIns="0"/>
            <a:lstStyle/>
            <a:p>
              <a:pPr algn="l">
                <a:lnSpc>
                  <a:spcPts val="2849"/>
                </a:lnSpc>
              </a:pPr>
              <a:r>
                <a:rPr lang="en-US" b="true" sz="2374" spc="226">
                  <a:solidFill>
                    <a:srgbClr val="C9A227"/>
                  </a:solidFill>
                  <a:latin typeface="Calibri (MS) Bold"/>
                  <a:ea typeface="Calibri (MS) Bold"/>
                  <a:cs typeface="Calibri (MS) Bold"/>
                  <a:sym typeface="Calibri (MS) Bold"/>
                </a:rPr>
                <a:t>BASIS</a:t>
              </a:r>
            </a:p>
          </p:txBody>
        </p:sp>
      </p:grpSp>
      <p:grpSp>
        <p:nvGrpSpPr>
          <p:cNvPr name="Group 40" id="40"/>
          <p:cNvGrpSpPr/>
          <p:nvPr/>
        </p:nvGrpSpPr>
        <p:grpSpPr>
          <a:xfrm rot="0">
            <a:off x="3902179" y="6671061"/>
            <a:ext cx="5623560" cy="909227"/>
            <a:chOff x="0" y="0"/>
            <a:chExt cx="7498080" cy="1212303"/>
          </a:xfrm>
        </p:grpSpPr>
        <p:sp>
          <p:nvSpPr>
            <p:cNvPr name="Freeform 41" id="41"/>
            <p:cNvSpPr/>
            <p:nvPr/>
          </p:nvSpPr>
          <p:spPr>
            <a:xfrm flipH="false" flipV="false" rot="0">
              <a:off x="0" y="0"/>
              <a:ext cx="7498080" cy="1212303"/>
            </a:xfrm>
            <a:custGeom>
              <a:avLst/>
              <a:gdLst/>
              <a:ahLst/>
              <a:cxnLst/>
              <a:rect r="r" b="b" t="t" l="l"/>
              <a:pathLst>
                <a:path h="1212303" w="7498080">
                  <a:moveTo>
                    <a:pt x="0" y="0"/>
                  </a:moveTo>
                  <a:lnTo>
                    <a:pt x="7498080" y="0"/>
                  </a:lnTo>
                  <a:lnTo>
                    <a:pt x="7498080" y="1212303"/>
                  </a:lnTo>
                  <a:lnTo>
                    <a:pt x="0" y="1212303"/>
                  </a:lnTo>
                  <a:close/>
                </a:path>
              </a:pathLst>
            </a:custGeom>
            <a:blipFill>
              <a:blip r:embed="rId4">
                <a:alphaModFix amt="0"/>
              </a:blip>
              <a:stretch>
                <a:fillRect l="0" t="-86572" r="0" b="-54456"/>
              </a:stretch>
            </a:blipFill>
          </p:spPr>
        </p:sp>
        <p:sp>
          <p:nvSpPr>
            <p:cNvPr name="TextBox 42" id="42"/>
            <p:cNvSpPr txBox="true"/>
            <p:nvPr/>
          </p:nvSpPr>
          <p:spPr>
            <a:xfrm>
              <a:off x="0" y="-57150"/>
              <a:ext cx="7498080" cy="1269453"/>
            </a:xfrm>
            <a:prstGeom prst="rect">
              <a:avLst/>
            </a:prstGeom>
          </p:spPr>
          <p:txBody>
            <a:bodyPr anchor="ctr" rtlCol="false" tIns="0" lIns="0" bIns="0" rIns="0"/>
            <a:lstStyle/>
            <a:p>
              <a:pPr algn="l">
                <a:lnSpc>
                  <a:spcPts val="3119"/>
                </a:lnSpc>
              </a:pPr>
              <a:r>
                <a:rPr lang="en-US" sz="2599">
                  <a:solidFill>
                    <a:srgbClr val="1B1F3B"/>
                  </a:solidFill>
                  <a:latin typeface="Calibri (MS)"/>
                  <a:ea typeface="Calibri (MS)"/>
                  <a:cs typeface="Calibri (MS)"/>
                  <a:sym typeface="Calibri (MS)"/>
                </a:rPr>
                <a:t>NIST Risk Management Framework (SP 800-37, 800-53)</a:t>
              </a:r>
            </a:p>
          </p:txBody>
        </p:sp>
      </p:grpSp>
      <p:grpSp>
        <p:nvGrpSpPr>
          <p:cNvPr name="Group 43" id="43"/>
          <p:cNvGrpSpPr/>
          <p:nvPr/>
        </p:nvGrpSpPr>
        <p:grpSpPr>
          <a:xfrm rot="0">
            <a:off x="10081260" y="2194560"/>
            <a:ext cx="7338060" cy="7063740"/>
            <a:chOff x="0" y="0"/>
            <a:chExt cx="9784080" cy="9418320"/>
          </a:xfrm>
        </p:grpSpPr>
        <p:sp>
          <p:nvSpPr>
            <p:cNvPr name="Freeform 44" id="44"/>
            <p:cNvSpPr/>
            <p:nvPr/>
          </p:nvSpPr>
          <p:spPr>
            <a:xfrm flipH="false" flipV="false" rot="0">
              <a:off x="0" y="0"/>
              <a:ext cx="9784080" cy="9418320"/>
            </a:xfrm>
            <a:custGeom>
              <a:avLst/>
              <a:gdLst/>
              <a:ahLst/>
              <a:cxnLst/>
              <a:rect r="r" b="b" t="t" l="l"/>
              <a:pathLst>
                <a:path h="9418320" w="9784080">
                  <a:moveTo>
                    <a:pt x="0" y="219456"/>
                  </a:moveTo>
                  <a:cubicBezTo>
                    <a:pt x="0" y="98298"/>
                    <a:pt x="98298" y="0"/>
                    <a:pt x="219456" y="0"/>
                  </a:cubicBezTo>
                  <a:lnTo>
                    <a:pt x="9564624" y="0"/>
                  </a:lnTo>
                  <a:cubicBezTo>
                    <a:pt x="9685782" y="0"/>
                    <a:pt x="9784080" y="98298"/>
                    <a:pt x="9784080" y="219456"/>
                  </a:cubicBezTo>
                  <a:lnTo>
                    <a:pt x="9784080" y="9198864"/>
                  </a:lnTo>
                  <a:cubicBezTo>
                    <a:pt x="9784080" y="9320022"/>
                    <a:pt x="9685782" y="9418320"/>
                    <a:pt x="9564624" y="9418320"/>
                  </a:cubicBezTo>
                  <a:lnTo>
                    <a:pt x="219456" y="9418320"/>
                  </a:lnTo>
                  <a:cubicBezTo>
                    <a:pt x="98298" y="9418320"/>
                    <a:pt x="0" y="9320022"/>
                    <a:pt x="0" y="9198864"/>
                  </a:cubicBezTo>
                  <a:close/>
                </a:path>
              </a:pathLst>
            </a:custGeom>
            <a:solidFill>
              <a:srgbClr val="F3F5FC"/>
            </a:solidFill>
          </p:spPr>
        </p:sp>
      </p:grpSp>
      <p:grpSp>
        <p:nvGrpSpPr>
          <p:cNvPr name="Group 45" id="45"/>
          <p:cNvGrpSpPr/>
          <p:nvPr/>
        </p:nvGrpSpPr>
        <p:grpSpPr>
          <a:xfrm rot="0">
            <a:off x="10629900" y="2674620"/>
            <a:ext cx="6309360" cy="960120"/>
            <a:chOff x="0" y="0"/>
            <a:chExt cx="8412480" cy="1280160"/>
          </a:xfrm>
        </p:grpSpPr>
        <p:sp>
          <p:nvSpPr>
            <p:cNvPr name="Freeform 46" id="46"/>
            <p:cNvSpPr/>
            <p:nvPr/>
          </p:nvSpPr>
          <p:spPr>
            <a:xfrm flipH="false" flipV="false" rot="0">
              <a:off x="0" y="0"/>
              <a:ext cx="8412480" cy="1280160"/>
            </a:xfrm>
            <a:custGeom>
              <a:avLst/>
              <a:gdLst/>
              <a:ahLst/>
              <a:cxnLst/>
              <a:rect r="r" b="b" t="t" l="l"/>
              <a:pathLst>
                <a:path h="1280160" w="8412480">
                  <a:moveTo>
                    <a:pt x="0" y="0"/>
                  </a:moveTo>
                  <a:lnTo>
                    <a:pt x="8412480" y="0"/>
                  </a:lnTo>
                  <a:lnTo>
                    <a:pt x="8412480" y="1280160"/>
                  </a:lnTo>
                  <a:lnTo>
                    <a:pt x="0" y="1280160"/>
                  </a:lnTo>
                  <a:close/>
                </a:path>
              </a:pathLst>
            </a:custGeom>
            <a:blipFill>
              <a:blip r:embed="rId4">
                <a:alphaModFix amt="0"/>
              </a:blip>
              <a:stretch>
                <a:fillRect l="0" t="-78044" r="0" b="-78044"/>
              </a:stretch>
            </a:blipFill>
          </p:spPr>
        </p:sp>
        <p:sp>
          <p:nvSpPr>
            <p:cNvPr name="TextBox 47" id="47"/>
            <p:cNvSpPr txBox="true"/>
            <p:nvPr/>
          </p:nvSpPr>
          <p:spPr>
            <a:xfrm>
              <a:off x="0" y="-85725"/>
              <a:ext cx="8412480" cy="1365885"/>
            </a:xfrm>
            <a:prstGeom prst="rect">
              <a:avLst/>
            </a:prstGeom>
          </p:spPr>
          <p:txBody>
            <a:bodyPr anchor="ctr" rtlCol="false" tIns="0" lIns="0" bIns="0" rIns="0"/>
            <a:lstStyle/>
            <a:p>
              <a:pPr algn="l">
                <a:lnSpc>
                  <a:spcPts val="3497"/>
                </a:lnSpc>
              </a:pPr>
              <a:r>
                <a:rPr lang="en-US" sz="2649" b="true">
                  <a:solidFill>
                    <a:srgbClr val="1E2761"/>
                  </a:solidFill>
                  <a:latin typeface="Calibri (MS) Bold"/>
                  <a:ea typeface="Calibri (MS) Bold"/>
                  <a:cs typeface="Calibri (MS) Bold"/>
                  <a:sym typeface="Calibri (MS) Bold"/>
                </a:rPr>
                <a:t>Why Metrics Matter Under FISMA</a:t>
              </a:r>
            </a:p>
          </p:txBody>
        </p:sp>
      </p:grpSp>
      <p:sp>
        <p:nvSpPr>
          <p:cNvPr name="TextBox 48" id="48"/>
          <p:cNvSpPr txBox="true"/>
          <p:nvPr/>
        </p:nvSpPr>
        <p:spPr>
          <a:xfrm rot="0">
            <a:off x="10629900" y="3440561"/>
            <a:ext cx="6126480" cy="4938904"/>
          </a:xfrm>
          <a:prstGeom prst="rect">
            <a:avLst/>
          </a:prstGeom>
        </p:spPr>
        <p:txBody>
          <a:bodyPr anchor="t" rtlCol="false" tIns="0" lIns="0" bIns="0" rIns="0">
            <a:spAutoFit/>
          </a:bodyPr>
          <a:lstStyle/>
          <a:p>
            <a:pPr algn="l" marL="461484" indent="-230742" lvl="1">
              <a:lnSpc>
                <a:spcPts val="4895"/>
              </a:lnSpc>
              <a:buFont typeface="Arial"/>
              <a:buChar char="•"/>
            </a:pPr>
            <a:r>
              <a:rPr lang="en-US" sz="2549">
                <a:solidFill>
                  <a:srgbClr val="1B1F3B"/>
                </a:solidFill>
                <a:latin typeface="Calibri (MS)"/>
                <a:ea typeface="Calibri (MS)"/>
                <a:cs typeface="Calibri (MS)"/>
                <a:sym typeface="Calibri (MS)"/>
              </a:rPr>
              <a:t>Turns compliance from a one-time checklist into continuous monitoring</a:t>
            </a:r>
          </a:p>
          <a:p>
            <a:pPr algn="l" marL="461484" indent="-230742" lvl="1">
              <a:lnSpc>
                <a:spcPts val="4895"/>
              </a:lnSpc>
              <a:buFont typeface="Arial"/>
              <a:buChar char="•"/>
            </a:pPr>
            <a:r>
              <a:rPr lang="en-US" sz="2549">
                <a:solidFill>
                  <a:srgbClr val="1B1F3B"/>
                </a:solidFill>
                <a:latin typeface="Calibri (MS)"/>
                <a:ea typeface="Calibri (MS)"/>
                <a:cs typeface="Calibri (MS)"/>
                <a:sym typeface="Calibri (MS)"/>
              </a:rPr>
              <a:t>Gives OMB &amp; Congress visibility into agency cyber posture</a:t>
            </a:r>
          </a:p>
          <a:p>
            <a:pPr algn="l" marL="461484" indent="-230742" lvl="1">
              <a:lnSpc>
                <a:spcPts val="4895"/>
              </a:lnSpc>
              <a:buFont typeface="Arial"/>
              <a:buChar char="•"/>
            </a:pPr>
            <a:r>
              <a:rPr lang="en-US" sz="2549">
                <a:solidFill>
                  <a:srgbClr val="1B1F3B"/>
                </a:solidFill>
                <a:latin typeface="Calibri (MS)"/>
                <a:ea typeface="Calibri (MS)"/>
                <a:cs typeface="Calibri (MS)"/>
                <a:sym typeface="Calibri (MS)"/>
              </a:rPr>
              <a:t>Identifies systemic weaknesses across government</a:t>
            </a:r>
          </a:p>
          <a:p>
            <a:pPr algn="l" marL="461484" indent="-230742" lvl="1">
              <a:lnSpc>
                <a:spcPts val="4895"/>
              </a:lnSpc>
              <a:buFont typeface="Arial"/>
              <a:buChar char="•"/>
            </a:pPr>
            <a:r>
              <a:rPr lang="en-US" sz="2549">
                <a:solidFill>
                  <a:srgbClr val="1B1F3B"/>
                </a:solidFill>
                <a:latin typeface="Calibri (MS)"/>
                <a:ea typeface="Calibri (MS)"/>
                <a:cs typeface="Calibri (MS)"/>
                <a:sym typeface="Calibri (MS)"/>
              </a:rPr>
              <a:t>Supports risk-based budget and resource decisions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47625"/>
              <a:ext cx="1848158" cy="3198609"/>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498034" y="2355594"/>
            <a:ext cx="15291933" cy="5575813"/>
            <a:chOff x="0" y="0"/>
            <a:chExt cx="4027505" cy="1468527"/>
          </a:xfrm>
        </p:grpSpPr>
        <p:sp>
          <p:nvSpPr>
            <p:cNvPr name="Freeform 6" id="6"/>
            <p:cNvSpPr/>
            <p:nvPr/>
          </p:nvSpPr>
          <p:spPr>
            <a:xfrm flipH="false" flipV="false" rot="0">
              <a:off x="0" y="0"/>
              <a:ext cx="4027505" cy="1468527"/>
            </a:xfrm>
            <a:custGeom>
              <a:avLst/>
              <a:gdLst/>
              <a:ahLst/>
              <a:cxnLst/>
              <a:rect r="r" b="b" t="t" l="l"/>
              <a:pathLst>
                <a:path h="1468527" w="4027505">
                  <a:moveTo>
                    <a:pt x="0" y="0"/>
                  </a:moveTo>
                  <a:lnTo>
                    <a:pt x="4027505" y="0"/>
                  </a:lnTo>
                  <a:lnTo>
                    <a:pt x="4027505" y="1468527"/>
                  </a:lnTo>
                  <a:lnTo>
                    <a:pt x="0" y="1468527"/>
                  </a:lnTo>
                  <a:close/>
                </a:path>
              </a:pathLst>
            </a:custGeom>
            <a:solidFill>
              <a:srgbClr val="FFFFFF"/>
            </a:solidFill>
          </p:spPr>
        </p:sp>
        <p:sp>
          <p:nvSpPr>
            <p:cNvPr name="TextBox 7" id="7"/>
            <p:cNvSpPr txBox="true"/>
            <p:nvPr/>
          </p:nvSpPr>
          <p:spPr>
            <a:xfrm>
              <a:off x="0" y="-47625"/>
              <a:ext cx="4027505" cy="1516152"/>
            </a:xfrm>
            <a:prstGeom prst="rect">
              <a:avLst/>
            </a:prstGeom>
          </p:spPr>
          <p:txBody>
            <a:bodyPr anchor="ctr" rtlCol="false" tIns="50800" lIns="50800" bIns="50800" rIns="50800"/>
            <a:lstStyle/>
            <a:p>
              <a:pPr algn="ctr">
                <a:lnSpc>
                  <a:spcPts val="3560"/>
                </a:lnSpc>
              </a:pPr>
            </a:p>
          </p:txBody>
        </p:sp>
      </p:grpSp>
      <p:sp>
        <p:nvSpPr>
          <p:cNvPr name="Freeform 8" id="8"/>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5981039" y="9462044"/>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CORTEZ</a:t>
            </a:r>
          </a:p>
        </p:txBody>
      </p:sp>
      <p:grpSp>
        <p:nvGrpSpPr>
          <p:cNvPr name="Group 10" id="10"/>
          <p:cNvGrpSpPr/>
          <p:nvPr/>
        </p:nvGrpSpPr>
        <p:grpSpPr>
          <a:xfrm rot="0">
            <a:off x="2025298" y="-584484"/>
            <a:ext cx="15773400" cy="3226368"/>
            <a:chOff x="0" y="0"/>
            <a:chExt cx="21031200" cy="4301823"/>
          </a:xfrm>
        </p:grpSpPr>
        <p:sp>
          <p:nvSpPr>
            <p:cNvPr name="Freeform 11" id="11"/>
            <p:cNvSpPr/>
            <p:nvPr/>
          </p:nvSpPr>
          <p:spPr>
            <a:xfrm flipH="false" flipV="false" rot="0">
              <a:off x="0" y="0"/>
              <a:ext cx="21031200" cy="4301823"/>
            </a:xfrm>
            <a:custGeom>
              <a:avLst/>
              <a:gdLst/>
              <a:ahLst/>
              <a:cxnLst/>
              <a:rect r="r" b="b" t="t" l="l"/>
              <a:pathLst>
                <a:path h="4301823" w="21031200">
                  <a:moveTo>
                    <a:pt x="0" y="0"/>
                  </a:moveTo>
                  <a:lnTo>
                    <a:pt x="21031200" y="0"/>
                  </a:lnTo>
                  <a:lnTo>
                    <a:pt x="21031200" y="4301823"/>
                  </a:lnTo>
                  <a:lnTo>
                    <a:pt x="0" y="4301823"/>
                  </a:lnTo>
                  <a:close/>
                </a:path>
              </a:pathLst>
            </a:custGeom>
            <a:blipFill>
              <a:blip r:embed="rId4">
                <a:alphaModFix amt="0"/>
              </a:blip>
              <a:stretch>
                <a:fillRect l="0" t="-80381" r="0" b="-10139"/>
              </a:stretch>
            </a:blipFill>
          </p:spPr>
        </p:sp>
        <p:sp>
          <p:nvSpPr>
            <p:cNvPr name="TextBox 12" id="12"/>
            <p:cNvSpPr txBox="true"/>
            <p:nvPr/>
          </p:nvSpPr>
          <p:spPr>
            <a:xfrm>
              <a:off x="0" y="-9525"/>
              <a:ext cx="21031200" cy="4311348"/>
            </a:xfrm>
            <a:prstGeom prst="rect">
              <a:avLst/>
            </a:prstGeom>
          </p:spPr>
          <p:txBody>
            <a:bodyPr anchor="ctr" rtlCol="false" tIns="0" lIns="0" bIns="0" rIns="0"/>
            <a:lstStyle/>
            <a:p>
              <a:pPr algn="l">
                <a:lnSpc>
                  <a:spcPts val="5279"/>
                </a:lnSpc>
              </a:pPr>
              <a:r>
                <a:rPr lang="en-US" sz="4399" b="true">
                  <a:solidFill>
                    <a:srgbClr val="1E2761"/>
                  </a:solidFill>
                  <a:latin typeface="Cambria Bold"/>
                  <a:ea typeface="Cambria Bold"/>
                  <a:cs typeface="Cambria Bold"/>
                  <a:sym typeface="Cambria Bold"/>
                </a:rPr>
                <a:t>FISMA Reporting Metric Categories</a:t>
              </a:r>
            </a:p>
          </p:txBody>
        </p:sp>
      </p:grpSp>
      <p:grpSp>
        <p:nvGrpSpPr>
          <p:cNvPr name="Group 13" id="13"/>
          <p:cNvGrpSpPr/>
          <p:nvPr/>
        </p:nvGrpSpPr>
        <p:grpSpPr>
          <a:xfrm rot="0">
            <a:off x="800100" y="1460244"/>
            <a:ext cx="16459200" cy="685800"/>
            <a:chOff x="0" y="0"/>
            <a:chExt cx="21945600" cy="914400"/>
          </a:xfrm>
        </p:grpSpPr>
        <p:sp>
          <p:nvSpPr>
            <p:cNvPr name="Freeform 14" id="14"/>
            <p:cNvSpPr/>
            <p:nvPr/>
          </p:nvSpPr>
          <p:spPr>
            <a:xfrm flipH="false" flipV="false" rot="0">
              <a:off x="0" y="0"/>
              <a:ext cx="21945600" cy="914400"/>
            </a:xfrm>
            <a:custGeom>
              <a:avLst/>
              <a:gdLst/>
              <a:ahLst/>
              <a:cxnLst/>
              <a:rect r="r" b="b" t="t" l="l"/>
              <a:pathLst>
                <a:path h="914400" w="21945600">
                  <a:moveTo>
                    <a:pt x="0" y="0"/>
                  </a:moveTo>
                  <a:lnTo>
                    <a:pt x="21945600" y="0"/>
                  </a:lnTo>
                  <a:lnTo>
                    <a:pt x="21945600" y="914400"/>
                  </a:lnTo>
                  <a:lnTo>
                    <a:pt x="0" y="914400"/>
                  </a:lnTo>
                  <a:close/>
                </a:path>
              </a:pathLst>
            </a:custGeom>
            <a:blipFill>
              <a:blip r:embed="rId4">
                <a:alphaModFix amt="0"/>
              </a:blip>
              <a:stretch>
                <a:fillRect l="0" t="-417640" r="0" b="-417640"/>
              </a:stretch>
            </a:blipFill>
          </p:spPr>
        </p:sp>
        <p:sp>
          <p:nvSpPr>
            <p:cNvPr name="TextBox 15" id="15"/>
            <p:cNvSpPr txBox="true"/>
            <p:nvPr/>
          </p:nvSpPr>
          <p:spPr>
            <a:xfrm>
              <a:off x="0" y="-104775"/>
              <a:ext cx="21945600" cy="1019175"/>
            </a:xfrm>
            <a:prstGeom prst="rect">
              <a:avLst/>
            </a:prstGeom>
          </p:spPr>
          <p:txBody>
            <a:bodyPr anchor="ctr" rtlCol="false" tIns="0" lIns="0" bIns="0" rIns="0"/>
            <a:lstStyle/>
            <a:p>
              <a:pPr algn="l">
                <a:lnSpc>
                  <a:spcPts val="3383"/>
                </a:lnSpc>
              </a:pPr>
              <a:r>
                <a:rPr lang="en-US" sz="2349">
                  <a:solidFill>
                    <a:srgbClr val="5A6494"/>
                  </a:solidFill>
                  <a:latin typeface="Calibri (MS)"/>
                  <a:ea typeface="Calibri (MS)"/>
                  <a:cs typeface="Calibri (MS)"/>
                  <a:sym typeface="Calibri (MS)"/>
                </a:rPr>
                <a:t>Annual FISMA metrics (developed with OMB, DHS, and the CIGIE) are organized around the NIST Cybersecurity Framework functions.</a:t>
              </a:r>
            </a:p>
          </p:txBody>
        </p:sp>
      </p:grpSp>
      <p:grpSp>
        <p:nvGrpSpPr>
          <p:cNvPr name="Group 16" id="16"/>
          <p:cNvGrpSpPr/>
          <p:nvPr/>
        </p:nvGrpSpPr>
        <p:grpSpPr>
          <a:xfrm rot="0">
            <a:off x="662940" y="2355594"/>
            <a:ext cx="16596360" cy="1165860"/>
            <a:chOff x="0" y="0"/>
            <a:chExt cx="22128480" cy="1554480"/>
          </a:xfrm>
        </p:grpSpPr>
        <p:sp>
          <p:nvSpPr>
            <p:cNvPr name="Freeform 17" id="17"/>
            <p:cNvSpPr/>
            <p:nvPr/>
          </p:nvSpPr>
          <p:spPr>
            <a:xfrm flipH="false" flipV="false" rot="0">
              <a:off x="0" y="0"/>
              <a:ext cx="22128480" cy="1554480"/>
            </a:xfrm>
            <a:custGeom>
              <a:avLst/>
              <a:gdLst/>
              <a:ahLst/>
              <a:cxnLst/>
              <a:rect r="r" b="b" t="t" l="l"/>
              <a:pathLst>
                <a:path h="1554480" w="22128480">
                  <a:moveTo>
                    <a:pt x="0" y="146304"/>
                  </a:moveTo>
                  <a:cubicBezTo>
                    <a:pt x="0" y="65532"/>
                    <a:pt x="65532" y="0"/>
                    <a:pt x="146304" y="0"/>
                  </a:cubicBezTo>
                  <a:lnTo>
                    <a:pt x="21982176" y="0"/>
                  </a:lnTo>
                  <a:cubicBezTo>
                    <a:pt x="22062948" y="0"/>
                    <a:pt x="22128480" y="65532"/>
                    <a:pt x="22128480" y="146304"/>
                  </a:cubicBezTo>
                  <a:lnTo>
                    <a:pt x="22128480" y="1408176"/>
                  </a:lnTo>
                  <a:cubicBezTo>
                    <a:pt x="22128480" y="1488948"/>
                    <a:pt x="22062948" y="1554480"/>
                    <a:pt x="21982176" y="1554480"/>
                  </a:cubicBezTo>
                  <a:lnTo>
                    <a:pt x="146304" y="1554480"/>
                  </a:lnTo>
                  <a:cubicBezTo>
                    <a:pt x="65532" y="1554480"/>
                    <a:pt x="0" y="1488948"/>
                    <a:pt x="0" y="1408176"/>
                  </a:cubicBezTo>
                  <a:close/>
                </a:path>
              </a:pathLst>
            </a:custGeom>
            <a:solidFill>
              <a:srgbClr val="F3F5FC"/>
            </a:solidFill>
          </p:spPr>
        </p:sp>
      </p:grpSp>
      <p:grpSp>
        <p:nvGrpSpPr>
          <p:cNvPr name="Group 18" id="18"/>
          <p:cNvGrpSpPr/>
          <p:nvPr/>
        </p:nvGrpSpPr>
        <p:grpSpPr>
          <a:xfrm rot="0">
            <a:off x="662940" y="2355594"/>
            <a:ext cx="2948940" cy="1165860"/>
            <a:chOff x="0" y="0"/>
            <a:chExt cx="3931920" cy="1554480"/>
          </a:xfrm>
        </p:grpSpPr>
        <p:sp>
          <p:nvSpPr>
            <p:cNvPr name="Freeform 19" id="19"/>
            <p:cNvSpPr/>
            <p:nvPr/>
          </p:nvSpPr>
          <p:spPr>
            <a:xfrm flipH="false" flipV="false" rot="0">
              <a:off x="0" y="0"/>
              <a:ext cx="3931920" cy="1554480"/>
            </a:xfrm>
            <a:custGeom>
              <a:avLst/>
              <a:gdLst/>
              <a:ahLst/>
              <a:cxnLst/>
              <a:rect r="r" b="b" t="t" l="l"/>
              <a:pathLst>
                <a:path h="1554480" w="3931920">
                  <a:moveTo>
                    <a:pt x="0" y="146304"/>
                  </a:moveTo>
                  <a:cubicBezTo>
                    <a:pt x="0" y="65532"/>
                    <a:pt x="65532" y="0"/>
                    <a:pt x="146304" y="0"/>
                  </a:cubicBezTo>
                  <a:lnTo>
                    <a:pt x="3785616" y="0"/>
                  </a:lnTo>
                  <a:cubicBezTo>
                    <a:pt x="3866388" y="0"/>
                    <a:pt x="3931920" y="65532"/>
                    <a:pt x="3931920" y="146304"/>
                  </a:cubicBezTo>
                  <a:lnTo>
                    <a:pt x="3931920" y="1408176"/>
                  </a:lnTo>
                  <a:cubicBezTo>
                    <a:pt x="3931920" y="1488948"/>
                    <a:pt x="3866388" y="1554480"/>
                    <a:pt x="3785616" y="1554480"/>
                  </a:cubicBezTo>
                  <a:lnTo>
                    <a:pt x="146304" y="1554480"/>
                  </a:lnTo>
                  <a:cubicBezTo>
                    <a:pt x="65532" y="1554480"/>
                    <a:pt x="0" y="1488948"/>
                    <a:pt x="0" y="1408176"/>
                  </a:cubicBezTo>
                  <a:close/>
                </a:path>
              </a:pathLst>
            </a:custGeom>
            <a:solidFill>
              <a:srgbClr val="1E2761"/>
            </a:solidFill>
          </p:spPr>
        </p:sp>
      </p:grpSp>
      <p:grpSp>
        <p:nvGrpSpPr>
          <p:cNvPr name="Group 20" id="20"/>
          <p:cNvGrpSpPr/>
          <p:nvPr/>
        </p:nvGrpSpPr>
        <p:grpSpPr>
          <a:xfrm rot="0">
            <a:off x="662940" y="2355594"/>
            <a:ext cx="2948940" cy="1165860"/>
            <a:chOff x="0" y="0"/>
            <a:chExt cx="3931920" cy="1554480"/>
          </a:xfrm>
        </p:grpSpPr>
        <p:sp>
          <p:nvSpPr>
            <p:cNvPr name="Freeform 21" id="21"/>
            <p:cNvSpPr/>
            <p:nvPr/>
          </p:nvSpPr>
          <p:spPr>
            <a:xfrm flipH="false" flipV="false" rot="0">
              <a:off x="0" y="0"/>
              <a:ext cx="3931920" cy="1554480"/>
            </a:xfrm>
            <a:custGeom>
              <a:avLst/>
              <a:gdLst/>
              <a:ahLst/>
              <a:cxnLst/>
              <a:rect r="r" b="b" t="t" l="l"/>
              <a:pathLst>
                <a:path h="1554480" w="3931920">
                  <a:moveTo>
                    <a:pt x="0" y="0"/>
                  </a:moveTo>
                  <a:lnTo>
                    <a:pt x="3931920" y="0"/>
                  </a:lnTo>
                  <a:lnTo>
                    <a:pt x="3931920" y="1554480"/>
                  </a:lnTo>
                  <a:lnTo>
                    <a:pt x="0" y="1554480"/>
                  </a:lnTo>
                  <a:close/>
                </a:path>
              </a:pathLst>
            </a:custGeom>
            <a:blipFill>
              <a:blip r:embed="rId4">
                <a:alphaModFix amt="0"/>
              </a:blip>
              <a:stretch>
                <a:fillRect l="-724" t="0" r="-724" b="0"/>
              </a:stretch>
            </a:blipFill>
          </p:spPr>
        </p:sp>
        <p:sp>
          <p:nvSpPr>
            <p:cNvPr name="TextBox 22" id="22"/>
            <p:cNvSpPr txBox="true"/>
            <p:nvPr/>
          </p:nvSpPr>
          <p:spPr>
            <a:xfrm>
              <a:off x="0" y="-85725"/>
              <a:ext cx="3931920" cy="1640205"/>
            </a:xfrm>
            <a:prstGeom prst="rect">
              <a:avLst/>
            </a:prstGeom>
          </p:spPr>
          <p:txBody>
            <a:bodyPr anchor="ctr" rtlCol="false" tIns="0" lIns="0" bIns="0" rIns="0"/>
            <a:lstStyle/>
            <a:p>
              <a:pPr algn="ctr">
                <a:lnSpc>
                  <a:spcPts val="4619"/>
                </a:lnSpc>
              </a:pPr>
              <a:r>
                <a:rPr lang="en-US" sz="3849" b="true">
                  <a:solidFill>
                    <a:srgbClr val="FFFFFF"/>
                  </a:solidFill>
                  <a:latin typeface="Calibri (MS) Bold"/>
                  <a:ea typeface="Calibri (MS) Bold"/>
                  <a:cs typeface="Calibri (MS) Bold"/>
                  <a:sym typeface="Calibri (MS) Bold"/>
                </a:rPr>
                <a:t>IDENTIFY</a:t>
              </a:r>
            </a:p>
          </p:txBody>
        </p:sp>
      </p:grpSp>
      <p:grpSp>
        <p:nvGrpSpPr>
          <p:cNvPr name="Group 23" id="23"/>
          <p:cNvGrpSpPr/>
          <p:nvPr/>
        </p:nvGrpSpPr>
        <p:grpSpPr>
          <a:xfrm rot="0">
            <a:off x="3954780" y="2355594"/>
            <a:ext cx="13030200" cy="1165860"/>
            <a:chOff x="0" y="0"/>
            <a:chExt cx="17373600" cy="1554480"/>
          </a:xfrm>
        </p:grpSpPr>
        <p:sp>
          <p:nvSpPr>
            <p:cNvPr name="Freeform 24" id="24"/>
            <p:cNvSpPr/>
            <p:nvPr/>
          </p:nvSpPr>
          <p:spPr>
            <a:xfrm flipH="false" flipV="false" rot="0">
              <a:off x="0" y="0"/>
              <a:ext cx="17373600" cy="1554480"/>
            </a:xfrm>
            <a:custGeom>
              <a:avLst/>
              <a:gdLst/>
              <a:ahLst/>
              <a:cxnLst/>
              <a:rect r="r" b="b" t="t" l="l"/>
              <a:pathLst>
                <a:path h="1554480" w="17373600">
                  <a:moveTo>
                    <a:pt x="0" y="0"/>
                  </a:moveTo>
                  <a:lnTo>
                    <a:pt x="17373600" y="0"/>
                  </a:lnTo>
                  <a:lnTo>
                    <a:pt x="17373600" y="1554480"/>
                  </a:lnTo>
                  <a:lnTo>
                    <a:pt x="0" y="1554480"/>
                  </a:lnTo>
                  <a:close/>
                </a:path>
              </a:pathLst>
            </a:custGeom>
            <a:blipFill>
              <a:blip r:embed="rId4">
                <a:alphaModFix amt="0"/>
              </a:blip>
              <a:stretch>
                <a:fillRect l="0" t="-167773" r="0" b="-167773"/>
              </a:stretch>
            </a:blipFill>
          </p:spPr>
        </p:sp>
        <p:sp>
          <p:nvSpPr>
            <p:cNvPr name="TextBox 25" id="25"/>
            <p:cNvSpPr txBox="true"/>
            <p:nvPr/>
          </p:nvSpPr>
          <p:spPr>
            <a:xfrm>
              <a:off x="0" y="-85725"/>
              <a:ext cx="17373600" cy="1640205"/>
            </a:xfrm>
            <a:prstGeom prst="rect">
              <a:avLst/>
            </a:prstGeom>
          </p:spPr>
          <p:txBody>
            <a:bodyPr anchor="ctr" rtlCol="false" tIns="0" lIns="0" bIns="0" rIns="0"/>
            <a:lstStyle/>
            <a:p>
              <a:pPr algn="l">
                <a:lnSpc>
                  <a:spcPts val="4619"/>
                </a:lnSpc>
              </a:pPr>
              <a:r>
                <a:rPr lang="en-US" sz="3849">
                  <a:solidFill>
                    <a:srgbClr val="1B1F3B"/>
                  </a:solidFill>
                  <a:latin typeface="Calibri (MS)"/>
                  <a:ea typeface="Calibri (MS)"/>
                  <a:cs typeface="Calibri (MS)"/>
                  <a:sym typeface="Calibri (MS)"/>
                </a:rPr>
                <a:t>Risk management, asset &amp; system inventory maturity</a:t>
              </a:r>
            </a:p>
          </p:txBody>
        </p:sp>
      </p:grpSp>
      <p:grpSp>
        <p:nvGrpSpPr>
          <p:cNvPr name="Group 26" id="26"/>
          <p:cNvGrpSpPr/>
          <p:nvPr/>
        </p:nvGrpSpPr>
        <p:grpSpPr>
          <a:xfrm rot="0">
            <a:off x="662940" y="3727194"/>
            <a:ext cx="16596360" cy="1165860"/>
            <a:chOff x="0" y="0"/>
            <a:chExt cx="22128480" cy="1554480"/>
          </a:xfrm>
        </p:grpSpPr>
        <p:sp>
          <p:nvSpPr>
            <p:cNvPr name="Freeform 27" id="27"/>
            <p:cNvSpPr/>
            <p:nvPr/>
          </p:nvSpPr>
          <p:spPr>
            <a:xfrm flipH="false" flipV="false" rot="0">
              <a:off x="0" y="0"/>
              <a:ext cx="22128480" cy="1554480"/>
            </a:xfrm>
            <a:custGeom>
              <a:avLst/>
              <a:gdLst/>
              <a:ahLst/>
              <a:cxnLst/>
              <a:rect r="r" b="b" t="t" l="l"/>
              <a:pathLst>
                <a:path h="1554480" w="22128480">
                  <a:moveTo>
                    <a:pt x="0" y="146304"/>
                  </a:moveTo>
                  <a:cubicBezTo>
                    <a:pt x="0" y="65532"/>
                    <a:pt x="65532" y="0"/>
                    <a:pt x="146304" y="0"/>
                  </a:cubicBezTo>
                  <a:lnTo>
                    <a:pt x="21982176" y="0"/>
                  </a:lnTo>
                  <a:cubicBezTo>
                    <a:pt x="22062948" y="0"/>
                    <a:pt x="22128480" y="65532"/>
                    <a:pt x="22128480" y="146304"/>
                  </a:cubicBezTo>
                  <a:lnTo>
                    <a:pt x="22128480" y="1408176"/>
                  </a:lnTo>
                  <a:cubicBezTo>
                    <a:pt x="22128480" y="1488948"/>
                    <a:pt x="22062948" y="1554480"/>
                    <a:pt x="21982176" y="1554480"/>
                  </a:cubicBezTo>
                  <a:lnTo>
                    <a:pt x="146304" y="1554480"/>
                  </a:lnTo>
                  <a:cubicBezTo>
                    <a:pt x="65532" y="1554480"/>
                    <a:pt x="0" y="1488948"/>
                    <a:pt x="0" y="1408176"/>
                  </a:cubicBezTo>
                  <a:close/>
                </a:path>
              </a:pathLst>
            </a:custGeom>
            <a:solidFill>
              <a:srgbClr val="FFFFFF"/>
            </a:solidFill>
          </p:spPr>
        </p:sp>
      </p:grpSp>
      <p:grpSp>
        <p:nvGrpSpPr>
          <p:cNvPr name="Group 28" id="28"/>
          <p:cNvGrpSpPr/>
          <p:nvPr/>
        </p:nvGrpSpPr>
        <p:grpSpPr>
          <a:xfrm rot="0">
            <a:off x="662940" y="3727194"/>
            <a:ext cx="2948940" cy="1165860"/>
            <a:chOff x="0" y="0"/>
            <a:chExt cx="3931920" cy="1554480"/>
          </a:xfrm>
        </p:grpSpPr>
        <p:sp>
          <p:nvSpPr>
            <p:cNvPr name="Freeform 29" id="29"/>
            <p:cNvSpPr/>
            <p:nvPr/>
          </p:nvSpPr>
          <p:spPr>
            <a:xfrm flipH="false" flipV="false" rot="0">
              <a:off x="0" y="0"/>
              <a:ext cx="3931920" cy="1554480"/>
            </a:xfrm>
            <a:custGeom>
              <a:avLst/>
              <a:gdLst/>
              <a:ahLst/>
              <a:cxnLst/>
              <a:rect r="r" b="b" t="t" l="l"/>
              <a:pathLst>
                <a:path h="1554480" w="3931920">
                  <a:moveTo>
                    <a:pt x="0" y="146304"/>
                  </a:moveTo>
                  <a:cubicBezTo>
                    <a:pt x="0" y="65532"/>
                    <a:pt x="65532" y="0"/>
                    <a:pt x="146304" y="0"/>
                  </a:cubicBezTo>
                  <a:lnTo>
                    <a:pt x="3785616" y="0"/>
                  </a:lnTo>
                  <a:cubicBezTo>
                    <a:pt x="3866388" y="0"/>
                    <a:pt x="3931920" y="65532"/>
                    <a:pt x="3931920" y="146304"/>
                  </a:cubicBezTo>
                  <a:lnTo>
                    <a:pt x="3931920" y="1408176"/>
                  </a:lnTo>
                  <a:cubicBezTo>
                    <a:pt x="3931920" y="1488948"/>
                    <a:pt x="3866388" y="1554480"/>
                    <a:pt x="3785616" y="1554480"/>
                  </a:cubicBezTo>
                  <a:lnTo>
                    <a:pt x="146304" y="1554480"/>
                  </a:lnTo>
                  <a:cubicBezTo>
                    <a:pt x="65532" y="1554480"/>
                    <a:pt x="0" y="1488948"/>
                    <a:pt x="0" y="1408176"/>
                  </a:cubicBezTo>
                  <a:close/>
                </a:path>
              </a:pathLst>
            </a:custGeom>
            <a:solidFill>
              <a:srgbClr val="263080"/>
            </a:solidFill>
          </p:spPr>
        </p:sp>
      </p:grpSp>
      <p:grpSp>
        <p:nvGrpSpPr>
          <p:cNvPr name="Group 30" id="30"/>
          <p:cNvGrpSpPr/>
          <p:nvPr/>
        </p:nvGrpSpPr>
        <p:grpSpPr>
          <a:xfrm rot="0">
            <a:off x="662940" y="3727194"/>
            <a:ext cx="2948940" cy="1165860"/>
            <a:chOff x="0" y="0"/>
            <a:chExt cx="3931920" cy="1554480"/>
          </a:xfrm>
        </p:grpSpPr>
        <p:sp>
          <p:nvSpPr>
            <p:cNvPr name="Freeform 31" id="31"/>
            <p:cNvSpPr/>
            <p:nvPr/>
          </p:nvSpPr>
          <p:spPr>
            <a:xfrm flipH="false" flipV="false" rot="0">
              <a:off x="0" y="0"/>
              <a:ext cx="3931920" cy="1554480"/>
            </a:xfrm>
            <a:custGeom>
              <a:avLst/>
              <a:gdLst/>
              <a:ahLst/>
              <a:cxnLst/>
              <a:rect r="r" b="b" t="t" l="l"/>
              <a:pathLst>
                <a:path h="1554480" w="3931920">
                  <a:moveTo>
                    <a:pt x="0" y="0"/>
                  </a:moveTo>
                  <a:lnTo>
                    <a:pt x="3931920" y="0"/>
                  </a:lnTo>
                  <a:lnTo>
                    <a:pt x="3931920" y="1554480"/>
                  </a:lnTo>
                  <a:lnTo>
                    <a:pt x="0" y="1554480"/>
                  </a:lnTo>
                  <a:close/>
                </a:path>
              </a:pathLst>
            </a:custGeom>
            <a:blipFill>
              <a:blip r:embed="rId4">
                <a:alphaModFix amt="0"/>
              </a:blip>
              <a:stretch>
                <a:fillRect l="-724" t="0" r="-724" b="0"/>
              </a:stretch>
            </a:blipFill>
          </p:spPr>
        </p:sp>
        <p:sp>
          <p:nvSpPr>
            <p:cNvPr name="TextBox 32" id="32"/>
            <p:cNvSpPr txBox="true"/>
            <p:nvPr/>
          </p:nvSpPr>
          <p:spPr>
            <a:xfrm>
              <a:off x="0" y="-85725"/>
              <a:ext cx="3931920" cy="1640205"/>
            </a:xfrm>
            <a:prstGeom prst="rect">
              <a:avLst/>
            </a:prstGeom>
          </p:spPr>
          <p:txBody>
            <a:bodyPr anchor="ctr" rtlCol="false" tIns="0" lIns="0" bIns="0" rIns="0"/>
            <a:lstStyle/>
            <a:p>
              <a:pPr algn="ctr">
                <a:lnSpc>
                  <a:spcPts val="4619"/>
                </a:lnSpc>
              </a:pPr>
              <a:r>
                <a:rPr lang="en-US" sz="3849" b="true">
                  <a:solidFill>
                    <a:srgbClr val="FFFFFF"/>
                  </a:solidFill>
                  <a:latin typeface="Calibri (MS) Bold"/>
                  <a:ea typeface="Calibri (MS) Bold"/>
                  <a:cs typeface="Calibri (MS) Bold"/>
                  <a:sym typeface="Calibri (MS) Bold"/>
                </a:rPr>
                <a:t>PROTECT</a:t>
              </a:r>
            </a:p>
          </p:txBody>
        </p:sp>
      </p:grpSp>
      <p:grpSp>
        <p:nvGrpSpPr>
          <p:cNvPr name="Group 33" id="33"/>
          <p:cNvGrpSpPr/>
          <p:nvPr/>
        </p:nvGrpSpPr>
        <p:grpSpPr>
          <a:xfrm rot="0">
            <a:off x="3954780" y="3727194"/>
            <a:ext cx="13030200" cy="1165860"/>
            <a:chOff x="0" y="0"/>
            <a:chExt cx="17373600" cy="1554480"/>
          </a:xfrm>
        </p:grpSpPr>
        <p:sp>
          <p:nvSpPr>
            <p:cNvPr name="Freeform 34" id="34"/>
            <p:cNvSpPr/>
            <p:nvPr/>
          </p:nvSpPr>
          <p:spPr>
            <a:xfrm flipH="false" flipV="false" rot="0">
              <a:off x="0" y="0"/>
              <a:ext cx="17373600" cy="1554480"/>
            </a:xfrm>
            <a:custGeom>
              <a:avLst/>
              <a:gdLst/>
              <a:ahLst/>
              <a:cxnLst/>
              <a:rect r="r" b="b" t="t" l="l"/>
              <a:pathLst>
                <a:path h="1554480" w="17373600">
                  <a:moveTo>
                    <a:pt x="0" y="0"/>
                  </a:moveTo>
                  <a:lnTo>
                    <a:pt x="17373600" y="0"/>
                  </a:lnTo>
                  <a:lnTo>
                    <a:pt x="17373600" y="1554480"/>
                  </a:lnTo>
                  <a:lnTo>
                    <a:pt x="0" y="1554480"/>
                  </a:lnTo>
                  <a:close/>
                </a:path>
              </a:pathLst>
            </a:custGeom>
            <a:blipFill>
              <a:blip r:embed="rId4">
                <a:alphaModFix amt="0"/>
              </a:blip>
              <a:stretch>
                <a:fillRect l="0" t="-167773" r="0" b="-167773"/>
              </a:stretch>
            </a:blipFill>
          </p:spPr>
        </p:sp>
        <p:sp>
          <p:nvSpPr>
            <p:cNvPr name="TextBox 35" id="35"/>
            <p:cNvSpPr txBox="true"/>
            <p:nvPr/>
          </p:nvSpPr>
          <p:spPr>
            <a:xfrm>
              <a:off x="0" y="-85725"/>
              <a:ext cx="17373600" cy="1640205"/>
            </a:xfrm>
            <a:prstGeom prst="rect">
              <a:avLst/>
            </a:prstGeom>
          </p:spPr>
          <p:txBody>
            <a:bodyPr anchor="ctr" rtlCol="false" tIns="0" lIns="0" bIns="0" rIns="0"/>
            <a:lstStyle/>
            <a:p>
              <a:pPr algn="l">
                <a:lnSpc>
                  <a:spcPts val="4619"/>
                </a:lnSpc>
              </a:pPr>
              <a:r>
                <a:rPr lang="en-US" sz="3849">
                  <a:solidFill>
                    <a:srgbClr val="1B1F3B"/>
                  </a:solidFill>
                  <a:latin typeface="Calibri (MS)"/>
                  <a:ea typeface="Calibri (MS)"/>
                  <a:cs typeface="Calibri (MS)"/>
                  <a:sym typeface="Calibri (MS)"/>
                </a:rPr>
                <a:t>Access control, security training, configuration management</a:t>
              </a:r>
            </a:p>
          </p:txBody>
        </p:sp>
      </p:grpSp>
      <p:grpSp>
        <p:nvGrpSpPr>
          <p:cNvPr name="Group 36" id="36"/>
          <p:cNvGrpSpPr/>
          <p:nvPr/>
        </p:nvGrpSpPr>
        <p:grpSpPr>
          <a:xfrm rot="0">
            <a:off x="662940" y="5098794"/>
            <a:ext cx="16596360" cy="1165860"/>
            <a:chOff x="0" y="0"/>
            <a:chExt cx="22128480" cy="1554480"/>
          </a:xfrm>
        </p:grpSpPr>
        <p:sp>
          <p:nvSpPr>
            <p:cNvPr name="Freeform 37" id="37"/>
            <p:cNvSpPr/>
            <p:nvPr/>
          </p:nvSpPr>
          <p:spPr>
            <a:xfrm flipH="false" flipV="false" rot="0">
              <a:off x="0" y="0"/>
              <a:ext cx="22128480" cy="1554480"/>
            </a:xfrm>
            <a:custGeom>
              <a:avLst/>
              <a:gdLst/>
              <a:ahLst/>
              <a:cxnLst/>
              <a:rect r="r" b="b" t="t" l="l"/>
              <a:pathLst>
                <a:path h="1554480" w="22128480">
                  <a:moveTo>
                    <a:pt x="0" y="146304"/>
                  </a:moveTo>
                  <a:cubicBezTo>
                    <a:pt x="0" y="65532"/>
                    <a:pt x="65532" y="0"/>
                    <a:pt x="146304" y="0"/>
                  </a:cubicBezTo>
                  <a:lnTo>
                    <a:pt x="21982176" y="0"/>
                  </a:lnTo>
                  <a:cubicBezTo>
                    <a:pt x="22062948" y="0"/>
                    <a:pt x="22128480" y="65532"/>
                    <a:pt x="22128480" y="146304"/>
                  </a:cubicBezTo>
                  <a:lnTo>
                    <a:pt x="22128480" y="1408176"/>
                  </a:lnTo>
                  <a:cubicBezTo>
                    <a:pt x="22128480" y="1488948"/>
                    <a:pt x="22062948" y="1554480"/>
                    <a:pt x="21982176" y="1554480"/>
                  </a:cubicBezTo>
                  <a:lnTo>
                    <a:pt x="146304" y="1554480"/>
                  </a:lnTo>
                  <a:cubicBezTo>
                    <a:pt x="65532" y="1554480"/>
                    <a:pt x="0" y="1488948"/>
                    <a:pt x="0" y="1408176"/>
                  </a:cubicBezTo>
                  <a:close/>
                </a:path>
              </a:pathLst>
            </a:custGeom>
            <a:solidFill>
              <a:srgbClr val="F3F5FC"/>
            </a:solidFill>
          </p:spPr>
        </p:sp>
      </p:grpSp>
      <p:grpSp>
        <p:nvGrpSpPr>
          <p:cNvPr name="Group 38" id="38"/>
          <p:cNvGrpSpPr/>
          <p:nvPr/>
        </p:nvGrpSpPr>
        <p:grpSpPr>
          <a:xfrm rot="0">
            <a:off x="662940" y="5098794"/>
            <a:ext cx="2948940" cy="1165860"/>
            <a:chOff x="0" y="0"/>
            <a:chExt cx="3931920" cy="1554480"/>
          </a:xfrm>
        </p:grpSpPr>
        <p:sp>
          <p:nvSpPr>
            <p:cNvPr name="Freeform 39" id="39"/>
            <p:cNvSpPr/>
            <p:nvPr/>
          </p:nvSpPr>
          <p:spPr>
            <a:xfrm flipH="false" flipV="false" rot="0">
              <a:off x="0" y="0"/>
              <a:ext cx="3931920" cy="1554480"/>
            </a:xfrm>
            <a:custGeom>
              <a:avLst/>
              <a:gdLst/>
              <a:ahLst/>
              <a:cxnLst/>
              <a:rect r="r" b="b" t="t" l="l"/>
              <a:pathLst>
                <a:path h="1554480" w="3931920">
                  <a:moveTo>
                    <a:pt x="0" y="146304"/>
                  </a:moveTo>
                  <a:cubicBezTo>
                    <a:pt x="0" y="65532"/>
                    <a:pt x="65532" y="0"/>
                    <a:pt x="146304" y="0"/>
                  </a:cubicBezTo>
                  <a:lnTo>
                    <a:pt x="3785616" y="0"/>
                  </a:lnTo>
                  <a:cubicBezTo>
                    <a:pt x="3866388" y="0"/>
                    <a:pt x="3931920" y="65532"/>
                    <a:pt x="3931920" y="146304"/>
                  </a:cubicBezTo>
                  <a:lnTo>
                    <a:pt x="3931920" y="1408176"/>
                  </a:lnTo>
                  <a:cubicBezTo>
                    <a:pt x="3931920" y="1488948"/>
                    <a:pt x="3866388" y="1554480"/>
                    <a:pt x="3785616" y="1554480"/>
                  </a:cubicBezTo>
                  <a:lnTo>
                    <a:pt x="146304" y="1554480"/>
                  </a:lnTo>
                  <a:cubicBezTo>
                    <a:pt x="65532" y="1554480"/>
                    <a:pt x="0" y="1488948"/>
                    <a:pt x="0" y="1408176"/>
                  </a:cubicBezTo>
                  <a:close/>
                </a:path>
              </a:pathLst>
            </a:custGeom>
            <a:solidFill>
              <a:srgbClr val="2D3A9A"/>
            </a:solidFill>
          </p:spPr>
        </p:sp>
      </p:grpSp>
      <p:grpSp>
        <p:nvGrpSpPr>
          <p:cNvPr name="Group 40" id="40"/>
          <p:cNvGrpSpPr/>
          <p:nvPr/>
        </p:nvGrpSpPr>
        <p:grpSpPr>
          <a:xfrm rot="0">
            <a:off x="662940" y="5098794"/>
            <a:ext cx="2948940" cy="1165860"/>
            <a:chOff x="0" y="0"/>
            <a:chExt cx="3931920" cy="1554480"/>
          </a:xfrm>
        </p:grpSpPr>
        <p:sp>
          <p:nvSpPr>
            <p:cNvPr name="Freeform 41" id="41"/>
            <p:cNvSpPr/>
            <p:nvPr/>
          </p:nvSpPr>
          <p:spPr>
            <a:xfrm flipH="false" flipV="false" rot="0">
              <a:off x="0" y="0"/>
              <a:ext cx="3931920" cy="1554480"/>
            </a:xfrm>
            <a:custGeom>
              <a:avLst/>
              <a:gdLst/>
              <a:ahLst/>
              <a:cxnLst/>
              <a:rect r="r" b="b" t="t" l="l"/>
              <a:pathLst>
                <a:path h="1554480" w="3931920">
                  <a:moveTo>
                    <a:pt x="0" y="0"/>
                  </a:moveTo>
                  <a:lnTo>
                    <a:pt x="3931920" y="0"/>
                  </a:lnTo>
                  <a:lnTo>
                    <a:pt x="3931920" y="1554480"/>
                  </a:lnTo>
                  <a:lnTo>
                    <a:pt x="0" y="1554480"/>
                  </a:lnTo>
                  <a:close/>
                </a:path>
              </a:pathLst>
            </a:custGeom>
            <a:blipFill>
              <a:blip r:embed="rId4">
                <a:alphaModFix amt="0"/>
              </a:blip>
              <a:stretch>
                <a:fillRect l="-724" t="0" r="-724" b="0"/>
              </a:stretch>
            </a:blipFill>
          </p:spPr>
        </p:sp>
        <p:sp>
          <p:nvSpPr>
            <p:cNvPr name="TextBox 42" id="42"/>
            <p:cNvSpPr txBox="true"/>
            <p:nvPr/>
          </p:nvSpPr>
          <p:spPr>
            <a:xfrm>
              <a:off x="0" y="-85725"/>
              <a:ext cx="3931920" cy="1640205"/>
            </a:xfrm>
            <a:prstGeom prst="rect">
              <a:avLst/>
            </a:prstGeom>
          </p:spPr>
          <p:txBody>
            <a:bodyPr anchor="ctr" rtlCol="false" tIns="0" lIns="0" bIns="0" rIns="0"/>
            <a:lstStyle/>
            <a:p>
              <a:pPr algn="ctr">
                <a:lnSpc>
                  <a:spcPts val="4619"/>
                </a:lnSpc>
              </a:pPr>
              <a:r>
                <a:rPr lang="en-US" sz="3849" b="true">
                  <a:solidFill>
                    <a:srgbClr val="FFFFFF"/>
                  </a:solidFill>
                  <a:latin typeface="Calibri (MS) Bold"/>
                  <a:ea typeface="Calibri (MS) Bold"/>
                  <a:cs typeface="Calibri (MS) Bold"/>
                  <a:sym typeface="Calibri (MS) Bold"/>
                </a:rPr>
                <a:t>DETECT</a:t>
              </a:r>
            </a:p>
          </p:txBody>
        </p:sp>
      </p:grpSp>
      <p:grpSp>
        <p:nvGrpSpPr>
          <p:cNvPr name="Group 43" id="43"/>
          <p:cNvGrpSpPr/>
          <p:nvPr/>
        </p:nvGrpSpPr>
        <p:grpSpPr>
          <a:xfrm rot="0">
            <a:off x="3954780" y="5098794"/>
            <a:ext cx="13030200" cy="1165860"/>
            <a:chOff x="0" y="0"/>
            <a:chExt cx="17373600" cy="1554480"/>
          </a:xfrm>
        </p:grpSpPr>
        <p:sp>
          <p:nvSpPr>
            <p:cNvPr name="Freeform 44" id="44"/>
            <p:cNvSpPr/>
            <p:nvPr/>
          </p:nvSpPr>
          <p:spPr>
            <a:xfrm flipH="false" flipV="false" rot="0">
              <a:off x="0" y="0"/>
              <a:ext cx="17373600" cy="1554480"/>
            </a:xfrm>
            <a:custGeom>
              <a:avLst/>
              <a:gdLst/>
              <a:ahLst/>
              <a:cxnLst/>
              <a:rect r="r" b="b" t="t" l="l"/>
              <a:pathLst>
                <a:path h="1554480" w="17373600">
                  <a:moveTo>
                    <a:pt x="0" y="0"/>
                  </a:moveTo>
                  <a:lnTo>
                    <a:pt x="17373600" y="0"/>
                  </a:lnTo>
                  <a:lnTo>
                    <a:pt x="17373600" y="1554480"/>
                  </a:lnTo>
                  <a:lnTo>
                    <a:pt x="0" y="1554480"/>
                  </a:lnTo>
                  <a:close/>
                </a:path>
              </a:pathLst>
            </a:custGeom>
            <a:blipFill>
              <a:blip r:embed="rId4">
                <a:alphaModFix amt="0"/>
              </a:blip>
              <a:stretch>
                <a:fillRect l="0" t="-167773" r="0" b="-167773"/>
              </a:stretch>
            </a:blipFill>
          </p:spPr>
        </p:sp>
        <p:sp>
          <p:nvSpPr>
            <p:cNvPr name="TextBox 45" id="45"/>
            <p:cNvSpPr txBox="true"/>
            <p:nvPr/>
          </p:nvSpPr>
          <p:spPr>
            <a:xfrm>
              <a:off x="0" y="-85725"/>
              <a:ext cx="17373600" cy="1640205"/>
            </a:xfrm>
            <a:prstGeom prst="rect">
              <a:avLst/>
            </a:prstGeom>
          </p:spPr>
          <p:txBody>
            <a:bodyPr anchor="ctr" rtlCol="false" tIns="0" lIns="0" bIns="0" rIns="0"/>
            <a:lstStyle/>
            <a:p>
              <a:pPr algn="l">
                <a:lnSpc>
                  <a:spcPts val="4619"/>
                </a:lnSpc>
              </a:pPr>
              <a:r>
                <a:rPr lang="en-US" sz="3849">
                  <a:solidFill>
                    <a:srgbClr val="1B1F3B"/>
                  </a:solidFill>
                  <a:latin typeface="Calibri (MS)"/>
                  <a:ea typeface="Calibri (MS)"/>
                  <a:cs typeface="Calibri (MS)"/>
                  <a:sym typeface="Calibri (MS)"/>
                </a:rPr>
                <a:t>Continuous monitoring, anomaly &amp; event detection capability</a:t>
              </a:r>
            </a:p>
          </p:txBody>
        </p:sp>
      </p:grpSp>
      <p:grpSp>
        <p:nvGrpSpPr>
          <p:cNvPr name="Group 46" id="46"/>
          <p:cNvGrpSpPr/>
          <p:nvPr/>
        </p:nvGrpSpPr>
        <p:grpSpPr>
          <a:xfrm rot="0">
            <a:off x="662940" y="6470394"/>
            <a:ext cx="16596360" cy="1165860"/>
            <a:chOff x="0" y="0"/>
            <a:chExt cx="22128480" cy="1554480"/>
          </a:xfrm>
        </p:grpSpPr>
        <p:sp>
          <p:nvSpPr>
            <p:cNvPr name="Freeform 47" id="47"/>
            <p:cNvSpPr/>
            <p:nvPr/>
          </p:nvSpPr>
          <p:spPr>
            <a:xfrm flipH="false" flipV="false" rot="0">
              <a:off x="0" y="0"/>
              <a:ext cx="22128480" cy="1554480"/>
            </a:xfrm>
            <a:custGeom>
              <a:avLst/>
              <a:gdLst/>
              <a:ahLst/>
              <a:cxnLst/>
              <a:rect r="r" b="b" t="t" l="l"/>
              <a:pathLst>
                <a:path h="1554480" w="22128480">
                  <a:moveTo>
                    <a:pt x="0" y="146304"/>
                  </a:moveTo>
                  <a:cubicBezTo>
                    <a:pt x="0" y="65532"/>
                    <a:pt x="65532" y="0"/>
                    <a:pt x="146304" y="0"/>
                  </a:cubicBezTo>
                  <a:lnTo>
                    <a:pt x="21982176" y="0"/>
                  </a:lnTo>
                  <a:cubicBezTo>
                    <a:pt x="22062948" y="0"/>
                    <a:pt x="22128480" y="65532"/>
                    <a:pt x="22128480" y="146304"/>
                  </a:cubicBezTo>
                  <a:lnTo>
                    <a:pt x="22128480" y="1408176"/>
                  </a:lnTo>
                  <a:cubicBezTo>
                    <a:pt x="22128480" y="1488948"/>
                    <a:pt x="22062948" y="1554480"/>
                    <a:pt x="21982176" y="1554480"/>
                  </a:cubicBezTo>
                  <a:lnTo>
                    <a:pt x="146304" y="1554480"/>
                  </a:lnTo>
                  <a:cubicBezTo>
                    <a:pt x="65532" y="1554480"/>
                    <a:pt x="0" y="1488948"/>
                    <a:pt x="0" y="1408176"/>
                  </a:cubicBezTo>
                  <a:close/>
                </a:path>
              </a:pathLst>
            </a:custGeom>
            <a:solidFill>
              <a:srgbClr val="FFFFFF"/>
            </a:solidFill>
          </p:spPr>
        </p:sp>
      </p:grpSp>
      <p:grpSp>
        <p:nvGrpSpPr>
          <p:cNvPr name="Group 48" id="48"/>
          <p:cNvGrpSpPr/>
          <p:nvPr/>
        </p:nvGrpSpPr>
        <p:grpSpPr>
          <a:xfrm rot="0">
            <a:off x="662940" y="6470394"/>
            <a:ext cx="2948940" cy="1165860"/>
            <a:chOff x="0" y="0"/>
            <a:chExt cx="3931920" cy="1554480"/>
          </a:xfrm>
        </p:grpSpPr>
        <p:sp>
          <p:nvSpPr>
            <p:cNvPr name="Freeform 49" id="49"/>
            <p:cNvSpPr/>
            <p:nvPr/>
          </p:nvSpPr>
          <p:spPr>
            <a:xfrm flipH="false" flipV="false" rot="0">
              <a:off x="0" y="0"/>
              <a:ext cx="3931920" cy="1554480"/>
            </a:xfrm>
            <a:custGeom>
              <a:avLst/>
              <a:gdLst/>
              <a:ahLst/>
              <a:cxnLst/>
              <a:rect r="r" b="b" t="t" l="l"/>
              <a:pathLst>
                <a:path h="1554480" w="3931920">
                  <a:moveTo>
                    <a:pt x="0" y="146304"/>
                  </a:moveTo>
                  <a:cubicBezTo>
                    <a:pt x="0" y="65532"/>
                    <a:pt x="65532" y="0"/>
                    <a:pt x="146304" y="0"/>
                  </a:cubicBezTo>
                  <a:lnTo>
                    <a:pt x="3785616" y="0"/>
                  </a:lnTo>
                  <a:cubicBezTo>
                    <a:pt x="3866388" y="0"/>
                    <a:pt x="3931920" y="65532"/>
                    <a:pt x="3931920" y="146304"/>
                  </a:cubicBezTo>
                  <a:lnTo>
                    <a:pt x="3931920" y="1408176"/>
                  </a:lnTo>
                  <a:cubicBezTo>
                    <a:pt x="3931920" y="1488948"/>
                    <a:pt x="3866388" y="1554480"/>
                    <a:pt x="3785616" y="1554480"/>
                  </a:cubicBezTo>
                  <a:lnTo>
                    <a:pt x="146304" y="1554480"/>
                  </a:lnTo>
                  <a:cubicBezTo>
                    <a:pt x="65532" y="1554480"/>
                    <a:pt x="0" y="1488948"/>
                    <a:pt x="0" y="1408176"/>
                  </a:cubicBezTo>
                  <a:close/>
                </a:path>
              </a:pathLst>
            </a:custGeom>
            <a:solidFill>
              <a:srgbClr val="3644A8"/>
            </a:solidFill>
          </p:spPr>
        </p:sp>
      </p:grpSp>
      <p:grpSp>
        <p:nvGrpSpPr>
          <p:cNvPr name="Group 50" id="50"/>
          <p:cNvGrpSpPr/>
          <p:nvPr/>
        </p:nvGrpSpPr>
        <p:grpSpPr>
          <a:xfrm rot="0">
            <a:off x="662940" y="6470394"/>
            <a:ext cx="2948940" cy="1165860"/>
            <a:chOff x="0" y="0"/>
            <a:chExt cx="3931920" cy="1554480"/>
          </a:xfrm>
        </p:grpSpPr>
        <p:sp>
          <p:nvSpPr>
            <p:cNvPr name="Freeform 51" id="51"/>
            <p:cNvSpPr/>
            <p:nvPr/>
          </p:nvSpPr>
          <p:spPr>
            <a:xfrm flipH="false" flipV="false" rot="0">
              <a:off x="0" y="0"/>
              <a:ext cx="3931920" cy="1554480"/>
            </a:xfrm>
            <a:custGeom>
              <a:avLst/>
              <a:gdLst/>
              <a:ahLst/>
              <a:cxnLst/>
              <a:rect r="r" b="b" t="t" l="l"/>
              <a:pathLst>
                <a:path h="1554480" w="3931920">
                  <a:moveTo>
                    <a:pt x="0" y="0"/>
                  </a:moveTo>
                  <a:lnTo>
                    <a:pt x="3931920" y="0"/>
                  </a:lnTo>
                  <a:lnTo>
                    <a:pt x="3931920" y="1554480"/>
                  </a:lnTo>
                  <a:lnTo>
                    <a:pt x="0" y="1554480"/>
                  </a:lnTo>
                  <a:close/>
                </a:path>
              </a:pathLst>
            </a:custGeom>
            <a:blipFill>
              <a:blip r:embed="rId4">
                <a:alphaModFix amt="0"/>
              </a:blip>
              <a:stretch>
                <a:fillRect l="-724" t="0" r="-724" b="0"/>
              </a:stretch>
            </a:blipFill>
          </p:spPr>
        </p:sp>
        <p:sp>
          <p:nvSpPr>
            <p:cNvPr name="TextBox 52" id="52"/>
            <p:cNvSpPr txBox="true"/>
            <p:nvPr/>
          </p:nvSpPr>
          <p:spPr>
            <a:xfrm>
              <a:off x="0" y="-85725"/>
              <a:ext cx="3931920" cy="1640205"/>
            </a:xfrm>
            <a:prstGeom prst="rect">
              <a:avLst/>
            </a:prstGeom>
          </p:spPr>
          <p:txBody>
            <a:bodyPr anchor="ctr" rtlCol="false" tIns="0" lIns="0" bIns="0" rIns="0"/>
            <a:lstStyle/>
            <a:p>
              <a:pPr algn="ctr">
                <a:lnSpc>
                  <a:spcPts val="4619"/>
                </a:lnSpc>
              </a:pPr>
              <a:r>
                <a:rPr lang="en-US" sz="3849" b="true">
                  <a:solidFill>
                    <a:srgbClr val="FFFFFF"/>
                  </a:solidFill>
                  <a:latin typeface="Calibri (MS) Bold"/>
                  <a:ea typeface="Calibri (MS) Bold"/>
                  <a:cs typeface="Calibri (MS) Bold"/>
                  <a:sym typeface="Calibri (MS) Bold"/>
                </a:rPr>
                <a:t>RESPOND</a:t>
              </a:r>
            </a:p>
          </p:txBody>
        </p:sp>
      </p:grpSp>
      <p:grpSp>
        <p:nvGrpSpPr>
          <p:cNvPr name="Group 53" id="53"/>
          <p:cNvGrpSpPr/>
          <p:nvPr/>
        </p:nvGrpSpPr>
        <p:grpSpPr>
          <a:xfrm rot="0">
            <a:off x="3954780" y="6470394"/>
            <a:ext cx="13030200" cy="1165860"/>
            <a:chOff x="0" y="0"/>
            <a:chExt cx="17373600" cy="1554480"/>
          </a:xfrm>
        </p:grpSpPr>
        <p:sp>
          <p:nvSpPr>
            <p:cNvPr name="Freeform 54" id="54"/>
            <p:cNvSpPr/>
            <p:nvPr/>
          </p:nvSpPr>
          <p:spPr>
            <a:xfrm flipH="false" flipV="false" rot="0">
              <a:off x="0" y="0"/>
              <a:ext cx="17373600" cy="1554480"/>
            </a:xfrm>
            <a:custGeom>
              <a:avLst/>
              <a:gdLst/>
              <a:ahLst/>
              <a:cxnLst/>
              <a:rect r="r" b="b" t="t" l="l"/>
              <a:pathLst>
                <a:path h="1554480" w="17373600">
                  <a:moveTo>
                    <a:pt x="0" y="0"/>
                  </a:moveTo>
                  <a:lnTo>
                    <a:pt x="17373600" y="0"/>
                  </a:lnTo>
                  <a:lnTo>
                    <a:pt x="17373600" y="1554480"/>
                  </a:lnTo>
                  <a:lnTo>
                    <a:pt x="0" y="1554480"/>
                  </a:lnTo>
                  <a:close/>
                </a:path>
              </a:pathLst>
            </a:custGeom>
            <a:blipFill>
              <a:blip r:embed="rId4">
                <a:alphaModFix amt="0"/>
              </a:blip>
              <a:stretch>
                <a:fillRect l="0" t="-167773" r="0" b="-167773"/>
              </a:stretch>
            </a:blipFill>
          </p:spPr>
        </p:sp>
        <p:sp>
          <p:nvSpPr>
            <p:cNvPr name="TextBox 55" id="55"/>
            <p:cNvSpPr txBox="true"/>
            <p:nvPr/>
          </p:nvSpPr>
          <p:spPr>
            <a:xfrm>
              <a:off x="0" y="-85725"/>
              <a:ext cx="17373600" cy="1640205"/>
            </a:xfrm>
            <a:prstGeom prst="rect">
              <a:avLst/>
            </a:prstGeom>
          </p:spPr>
          <p:txBody>
            <a:bodyPr anchor="ctr" rtlCol="false" tIns="0" lIns="0" bIns="0" rIns="0"/>
            <a:lstStyle/>
            <a:p>
              <a:pPr algn="l">
                <a:lnSpc>
                  <a:spcPts val="4619"/>
                </a:lnSpc>
              </a:pPr>
              <a:r>
                <a:rPr lang="en-US" sz="3849">
                  <a:solidFill>
                    <a:srgbClr val="1B1F3B"/>
                  </a:solidFill>
                  <a:latin typeface="Calibri (MS)"/>
                  <a:ea typeface="Calibri (MS)"/>
                  <a:cs typeface="Calibri (MS)"/>
                  <a:sym typeface="Calibri (MS)"/>
                </a:rPr>
                <a:t>Incident response planning, communications, mitigation</a:t>
              </a:r>
            </a:p>
          </p:txBody>
        </p:sp>
      </p:grpSp>
      <p:grpSp>
        <p:nvGrpSpPr>
          <p:cNvPr name="Group 56" id="56"/>
          <p:cNvGrpSpPr/>
          <p:nvPr/>
        </p:nvGrpSpPr>
        <p:grpSpPr>
          <a:xfrm rot="0">
            <a:off x="662940" y="7841994"/>
            <a:ext cx="16596360" cy="1165860"/>
            <a:chOff x="0" y="0"/>
            <a:chExt cx="22128480" cy="1554480"/>
          </a:xfrm>
        </p:grpSpPr>
        <p:sp>
          <p:nvSpPr>
            <p:cNvPr name="Freeform 57" id="57"/>
            <p:cNvSpPr/>
            <p:nvPr/>
          </p:nvSpPr>
          <p:spPr>
            <a:xfrm flipH="false" flipV="false" rot="0">
              <a:off x="0" y="0"/>
              <a:ext cx="22128480" cy="1554480"/>
            </a:xfrm>
            <a:custGeom>
              <a:avLst/>
              <a:gdLst/>
              <a:ahLst/>
              <a:cxnLst/>
              <a:rect r="r" b="b" t="t" l="l"/>
              <a:pathLst>
                <a:path h="1554480" w="22128480">
                  <a:moveTo>
                    <a:pt x="0" y="146304"/>
                  </a:moveTo>
                  <a:cubicBezTo>
                    <a:pt x="0" y="65532"/>
                    <a:pt x="65532" y="0"/>
                    <a:pt x="146304" y="0"/>
                  </a:cubicBezTo>
                  <a:lnTo>
                    <a:pt x="21982176" y="0"/>
                  </a:lnTo>
                  <a:cubicBezTo>
                    <a:pt x="22062948" y="0"/>
                    <a:pt x="22128480" y="65532"/>
                    <a:pt x="22128480" y="146304"/>
                  </a:cubicBezTo>
                  <a:lnTo>
                    <a:pt x="22128480" y="1408176"/>
                  </a:lnTo>
                  <a:cubicBezTo>
                    <a:pt x="22128480" y="1488948"/>
                    <a:pt x="22062948" y="1554480"/>
                    <a:pt x="21982176" y="1554480"/>
                  </a:cubicBezTo>
                  <a:lnTo>
                    <a:pt x="146304" y="1554480"/>
                  </a:lnTo>
                  <a:cubicBezTo>
                    <a:pt x="65532" y="1554480"/>
                    <a:pt x="0" y="1488948"/>
                    <a:pt x="0" y="1408176"/>
                  </a:cubicBezTo>
                  <a:close/>
                </a:path>
              </a:pathLst>
            </a:custGeom>
            <a:solidFill>
              <a:srgbClr val="F3F5FC"/>
            </a:solidFill>
          </p:spPr>
        </p:sp>
      </p:grpSp>
      <p:grpSp>
        <p:nvGrpSpPr>
          <p:cNvPr name="Group 58" id="58"/>
          <p:cNvGrpSpPr/>
          <p:nvPr/>
        </p:nvGrpSpPr>
        <p:grpSpPr>
          <a:xfrm rot="0">
            <a:off x="662940" y="7841994"/>
            <a:ext cx="2948940" cy="1165860"/>
            <a:chOff x="0" y="0"/>
            <a:chExt cx="3931920" cy="1554480"/>
          </a:xfrm>
        </p:grpSpPr>
        <p:sp>
          <p:nvSpPr>
            <p:cNvPr name="Freeform 59" id="59"/>
            <p:cNvSpPr/>
            <p:nvPr/>
          </p:nvSpPr>
          <p:spPr>
            <a:xfrm flipH="false" flipV="false" rot="0">
              <a:off x="0" y="0"/>
              <a:ext cx="3931920" cy="1554480"/>
            </a:xfrm>
            <a:custGeom>
              <a:avLst/>
              <a:gdLst/>
              <a:ahLst/>
              <a:cxnLst/>
              <a:rect r="r" b="b" t="t" l="l"/>
              <a:pathLst>
                <a:path h="1554480" w="3931920">
                  <a:moveTo>
                    <a:pt x="0" y="146304"/>
                  </a:moveTo>
                  <a:cubicBezTo>
                    <a:pt x="0" y="65532"/>
                    <a:pt x="65532" y="0"/>
                    <a:pt x="146304" y="0"/>
                  </a:cubicBezTo>
                  <a:lnTo>
                    <a:pt x="3785616" y="0"/>
                  </a:lnTo>
                  <a:cubicBezTo>
                    <a:pt x="3866388" y="0"/>
                    <a:pt x="3931920" y="65532"/>
                    <a:pt x="3931920" y="146304"/>
                  </a:cubicBezTo>
                  <a:lnTo>
                    <a:pt x="3931920" y="1408176"/>
                  </a:lnTo>
                  <a:cubicBezTo>
                    <a:pt x="3931920" y="1488948"/>
                    <a:pt x="3866388" y="1554480"/>
                    <a:pt x="3785616" y="1554480"/>
                  </a:cubicBezTo>
                  <a:lnTo>
                    <a:pt x="146304" y="1554480"/>
                  </a:lnTo>
                  <a:cubicBezTo>
                    <a:pt x="65532" y="1554480"/>
                    <a:pt x="0" y="1488948"/>
                    <a:pt x="0" y="1408176"/>
                  </a:cubicBezTo>
                  <a:close/>
                </a:path>
              </a:pathLst>
            </a:custGeom>
            <a:solidFill>
              <a:srgbClr val="3F4EB8"/>
            </a:solidFill>
          </p:spPr>
        </p:sp>
      </p:grpSp>
      <p:grpSp>
        <p:nvGrpSpPr>
          <p:cNvPr name="Group 60" id="60"/>
          <p:cNvGrpSpPr/>
          <p:nvPr/>
        </p:nvGrpSpPr>
        <p:grpSpPr>
          <a:xfrm rot="0">
            <a:off x="662940" y="7841994"/>
            <a:ext cx="2948940" cy="1165860"/>
            <a:chOff x="0" y="0"/>
            <a:chExt cx="3931920" cy="1554480"/>
          </a:xfrm>
        </p:grpSpPr>
        <p:sp>
          <p:nvSpPr>
            <p:cNvPr name="Freeform 61" id="61"/>
            <p:cNvSpPr/>
            <p:nvPr/>
          </p:nvSpPr>
          <p:spPr>
            <a:xfrm flipH="false" flipV="false" rot="0">
              <a:off x="0" y="0"/>
              <a:ext cx="3931920" cy="1554480"/>
            </a:xfrm>
            <a:custGeom>
              <a:avLst/>
              <a:gdLst/>
              <a:ahLst/>
              <a:cxnLst/>
              <a:rect r="r" b="b" t="t" l="l"/>
              <a:pathLst>
                <a:path h="1554480" w="3931920">
                  <a:moveTo>
                    <a:pt x="0" y="0"/>
                  </a:moveTo>
                  <a:lnTo>
                    <a:pt x="3931920" y="0"/>
                  </a:lnTo>
                  <a:lnTo>
                    <a:pt x="3931920" y="1554480"/>
                  </a:lnTo>
                  <a:lnTo>
                    <a:pt x="0" y="1554480"/>
                  </a:lnTo>
                  <a:close/>
                </a:path>
              </a:pathLst>
            </a:custGeom>
            <a:blipFill>
              <a:blip r:embed="rId4">
                <a:alphaModFix amt="0"/>
              </a:blip>
              <a:stretch>
                <a:fillRect l="-724" t="0" r="-724" b="0"/>
              </a:stretch>
            </a:blipFill>
          </p:spPr>
        </p:sp>
        <p:sp>
          <p:nvSpPr>
            <p:cNvPr name="TextBox 62" id="62"/>
            <p:cNvSpPr txBox="true"/>
            <p:nvPr/>
          </p:nvSpPr>
          <p:spPr>
            <a:xfrm>
              <a:off x="0" y="-85725"/>
              <a:ext cx="3931920" cy="1640205"/>
            </a:xfrm>
            <a:prstGeom prst="rect">
              <a:avLst/>
            </a:prstGeom>
          </p:spPr>
          <p:txBody>
            <a:bodyPr anchor="ctr" rtlCol="false" tIns="0" lIns="0" bIns="0" rIns="0"/>
            <a:lstStyle/>
            <a:p>
              <a:pPr algn="ctr">
                <a:lnSpc>
                  <a:spcPts val="4619"/>
                </a:lnSpc>
              </a:pPr>
              <a:r>
                <a:rPr lang="en-US" sz="3849" b="true">
                  <a:solidFill>
                    <a:srgbClr val="FFFFFF"/>
                  </a:solidFill>
                  <a:latin typeface="Calibri (MS) Bold"/>
                  <a:ea typeface="Calibri (MS) Bold"/>
                  <a:cs typeface="Calibri (MS) Bold"/>
                  <a:sym typeface="Calibri (MS) Bold"/>
                </a:rPr>
                <a:t>RECOVER</a:t>
              </a:r>
            </a:p>
          </p:txBody>
        </p:sp>
      </p:grpSp>
      <p:grpSp>
        <p:nvGrpSpPr>
          <p:cNvPr name="Group 63" id="63"/>
          <p:cNvGrpSpPr/>
          <p:nvPr/>
        </p:nvGrpSpPr>
        <p:grpSpPr>
          <a:xfrm rot="0">
            <a:off x="3954780" y="7841994"/>
            <a:ext cx="13030200" cy="1165860"/>
            <a:chOff x="0" y="0"/>
            <a:chExt cx="17373600" cy="1554480"/>
          </a:xfrm>
        </p:grpSpPr>
        <p:sp>
          <p:nvSpPr>
            <p:cNvPr name="Freeform 64" id="64"/>
            <p:cNvSpPr/>
            <p:nvPr/>
          </p:nvSpPr>
          <p:spPr>
            <a:xfrm flipH="false" flipV="false" rot="0">
              <a:off x="0" y="0"/>
              <a:ext cx="17373600" cy="1554480"/>
            </a:xfrm>
            <a:custGeom>
              <a:avLst/>
              <a:gdLst/>
              <a:ahLst/>
              <a:cxnLst/>
              <a:rect r="r" b="b" t="t" l="l"/>
              <a:pathLst>
                <a:path h="1554480" w="17373600">
                  <a:moveTo>
                    <a:pt x="0" y="0"/>
                  </a:moveTo>
                  <a:lnTo>
                    <a:pt x="17373600" y="0"/>
                  </a:lnTo>
                  <a:lnTo>
                    <a:pt x="17373600" y="1554480"/>
                  </a:lnTo>
                  <a:lnTo>
                    <a:pt x="0" y="1554480"/>
                  </a:lnTo>
                  <a:close/>
                </a:path>
              </a:pathLst>
            </a:custGeom>
            <a:blipFill>
              <a:blip r:embed="rId4">
                <a:alphaModFix amt="0"/>
              </a:blip>
              <a:stretch>
                <a:fillRect l="0" t="-167773" r="0" b="-167773"/>
              </a:stretch>
            </a:blipFill>
          </p:spPr>
        </p:sp>
        <p:sp>
          <p:nvSpPr>
            <p:cNvPr name="TextBox 65" id="65"/>
            <p:cNvSpPr txBox="true"/>
            <p:nvPr/>
          </p:nvSpPr>
          <p:spPr>
            <a:xfrm>
              <a:off x="0" y="-85725"/>
              <a:ext cx="17373600" cy="1640205"/>
            </a:xfrm>
            <a:prstGeom prst="rect">
              <a:avLst/>
            </a:prstGeom>
          </p:spPr>
          <p:txBody>
            <a:bodyPr anchor="ctr" rtlCol="false" tIns="0" lIns="0" bIns="0" rIns="0"/>
            <a:lstStyle/>
            <a:p>
              <a:pPr algn="l">
                <a:lnSpc>
                  <a:spcPts val="4619"/>
                </a:lnSpc>
              </a:pPr>
              <a:r>
                <a:rPr lang="en-US" sz="3849">
                  <a:solidFill>
                    <a:srgbClr val="1B1F3B"/>
                  </a:solidFill>
                  <a:latin typeface="Calibri (MS)"/>
                  <a:ea typeface="Calibri (MS)"/>
                  <a:cs typeface="Calibri (MS)"/>
                  <a:sym typeface="Calibri (MS)"/>
                </a:rPr>
                <a:t>Recovery planning, improvements, contingency testing</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47625"/>
              <a:ext cx="1848158" cy="3198609"/>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498034" y="2355594"/>
            <a:ext cx="15291933" cy="5575813"/>
            <a:chOff x="0" y="0"/>
            <a:chExt cx="4027505" cy="1468527"/>
          </a:xfrm>
        </p:grpSpPr>
        <p:sp>
          <p:nvSpPr>
            <p:cNvPr name="Freeform 6" id="6"/>
            <p:cNvSpPr/>
            <p:nvPr/>
          </p:nvSpPr>
          <p:spPr>
            <a:xfrm flipH="false" flipV="false" rot="0">
              <a:off x="0" y="0"/>
              <a:ext cx="4027505" cy="1468527"/>
            </a:xfrm>
            <a:custGeom>
              <a:avLst/>
              <a:gdLst/>
              <a:ahLst/>
              <a:cxnLst/>
              <a:rect r="r" b="b" t="t" l="l"/>
              <a:pathLst>
                <a:path h="1468527" w="4027505">
                  <a:moveTo>
                    <a:pt x="0" y="0"/>
                  </a:moveTo>
                  <a:lnTo>
                    <a:pt x="4027505" y="0"/>
                  </a:lnTo>
                  <a:lnTo>
                    <a:pt x="4027505" y="1468527"/>
                  </a:lnTo>
                  <a:lnTo>
                    <a:pt x="0" y="1468527"/>
                  </a:lnTo>
                  <a:close/>
                </a:path>
              </a:pathLst>
            </a:custGeom>
            <a:solidFill>
              <a:srgbClr val="FFFFFF"/>
            </a:solidFill>
          </p:spPr>
        </p:sp>
        <p:sp>
          <p:nvSpPr>
            <p:cNvPr name="TextBox 7" id="7"/>
            <p:cNvSpPr txBox="true"/>
            <p:nvPr/>
          </p:nvSpPr>
          <p:spPr>
            <a:xfrm>
              <a:off x="0" y="-47625"/>
              <a:ext cx="4027505" cy="1516152"/>
            </a:xfrm>
            <a:prstGeom prst="rect">
              <a:avLst/>
            </a:prstGeom>
          </p:spPr>
          <p:txBody>
            <a:bodyPr anchor="ctr" rtlCol="false" tIns="50800" lIns="50800" bIns="50800" rIns="50800"/>
            <a:lstStyle/>
            <a:p>
              <a:pPr algn="ctr">
                <a:lnSpc>
                  <a:spcPts val="3560"/>
                </a:lnSpc>
              </a:pPr>
            </a:p>
          </p:txBody>
        </p:sp>
      </p:grpSp>
      <p:sp>
        <p:nvSpPr>
          <p:cNvPr name="Freeform 8" id="8"/>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5981039" y="9462044"/>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CORTEZ</a:t>
            </a:r>
          </a:p>
        </p:txBody>
      </p:sp>
      <p:grpSp>
        <p:nvGrpSpPr>
          <p:cNvPr name="Group 10" id="10"/>
          <p:cNvGrpSpPr/>
          <p:nvPr/>
        </p:nvGrpSpPr>
        <p:grpSpPr>
          <a:xfrm rot="0">
            <a:off x="822960" y="617220"/>
            <a:ext cx="15773400" cy="960120"/>
            <a:chOff x="0" y="0"/>
            <a:chExt cx="21031200" cy="1280160"/>
          </a:xfrm>
        </p:grpSpPr>
        <p:sp>
          <p:nvSpPr>
            <p:cNvPr name="Freeform 11" id="11"/>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4">
                <a:alphaModFix amt="0"/>
              </a:blip>
              <a:stretch>
                <a:fillRect l="0" t="-270111" r="0" b="-270111"/>
              </a:stretch>
            </a:blipFill>
          </p:spPr>
        </p:sp>
        <p:sp>
          <p:nvSpPr>
            <p:cNvPr name="TextBox 12" id="12"/>
            <p:cNvSpPr txBox="true"/>
            <p:nvPr/>
          </p:nvSpPr>
          <p:spPr>
            <a:xfrm>
              <a:off x="0" y="-9525"/>
              <a:ext cx="21031200" cy="1289685"/>
            </a:xfrm>
            <a:prstGeom prst="rect">
              <a:avLst/>
            </a:prstGeom>
          </p:spPr>
          <p:txBody>
            <a:bodyPr anchor="ctr" rtlCol="false" tIns="0" lIns="0" bIns="0" rIns="0"/>
            <a:lstStyle/>
            <a:p>
              <a:pPr algn="l">
                <a:lnSpc>
                  <a:spcPts val="5040"/>
                </a:lnSpc>
              </a:pPr>
              <a:r>
                <a:rPr lang="en-US" b="true" sz="4200">
                  <a:solidFill>
                    <a:srgbClr val="000000"/>
                  </a:solidFill>
                  <a:latin typeface="Cambria Bold"/>
                  <a:ea typeface="Cambria Bold"/>
                  <a:cs typeface="Cambria Bold"/>
                  <a:sym typeface="Cambria Bold"/>
                </a:rPr>
                <a:t>FISMA Metrics in Practice</a:t>
              </a:r>
            </a:p>
          </p:txBody>
        </p:sp>
      </p:grpSp>
      <p:grpSp>
        <p:nvGrpSpPr>
          <p:cNvPr name="Group 13" id="13"/>
          <p:cNvGrpSpPr/>
          <p:nvPr/>
        </p:nvGrpSpPr>
        <p:grpSpPr>
          <a:xfrm rot="0">
            <a:off x="822960" y="1577340"/>
            <a:ext cx="15087600" cy="548640"/>
            <a:chOff x="0" y="0"/>
            <a:chExt cx="20116800" cy="731520"/>
          </a:xfrm>
        </p:grpSpPr>
        <p:sp>
          <p:nvSpPr>
            <p:cNvPr name="Freeform 14" id="14"/>
            <p:cNvSpPr/>
            <p:nvPr/>
          </p:nvSpPr>
          <p:spPr>
            <a:xfrm flipH="false" flipV="false" rot="0">
              <a:off x="0" y="0"/>
              <a:ext cx="20116800" cy="731520"/>
            </a:xfrm>
            <a:custGeom>
              <a:avLst/>
              <a:gdLst/>
              <a:ahLst/>
              <a:cxnLst/>
              <a:rect r="r" b="b" t="t" l="l"/>
              <a:pathLst>
                <a:path h="731520" w="20116800">
                  <a:moveTo>
                    <a:pt x="0" y="0"/>
                  </a:moveTo>
                  <a:lnTo>
                    <a:pt x="20116800" y="0"/>
                  </a:lnTo>
                  <a:lnTo>
                    <a:pt x="20116800" y="731520"/>
                  </a:lnTo>
                  <a:lnTo>
                    <a:pt x="0" y="731520"/>
                  </a:lnTo>
                  <a:close/>
                </a:path>
              </a:pathLst>
            </a:custGeom>
            <a:blipFill>
              <a:blip r:embed="rId4">
                <a:alphaModFix amt="0"/>
              </a:blip>
              <a:stretch>
                <a:fillRect l="0" t="-485838" r="0" b="-485838"/>
              </a:stretch>
            </a:blipFill>
          </p:spPr>
        </p:sp>
        <p:sp>
          <p:nvSpPr>
            <p:cNvPr name="TextBox 15" id="15"/>
            <p:cNvSpPr txBox="true"/>
            <p:nvPr/>
          </p:nvSpPr>
          <p:spPr>
            <a:xfrm>
              <a:off x="0" y="-38100"/>
              <a:ext cx="20116800" cy="769620"/>
            </a:xfrm>
            <a:prstGeom prst="rect">
              <a:avLst/>
            </a:prstGeom>
          </p:spPr>
          <p:txBody>
            <a:bodyPr anchor="ctr" rtlCol="false" tIns="0" lIns="0" bIns="0" rIns="0"/>
            <a:lstStyle/>
            <a:p>
              <a:pPr algn="l">
                <a:lnSpc>
                  <a:spcPts val="2430"/>
                </a:lnSpc>
              </a:pPr>
              <a:r>
                <a:rPr lang="en-US" sz="2025" i="true">
                  <a:solidFill>
                    <a:srgbClr val="000000"/>
                  </a:solidFill>
                  <a:latin typeface="Calibri (MS) Italics"/>
                  <a:ea typeface="Calibri (MS) Italics"/>
                  <a:cs typeface="Calibri (MS) Italics"/>
                  <a:sym typeface="Calibri (MS) Italics"/>
                </a:rPr>
                <a:t>How the reporting cycle actually runs, year over year.</a:t>
              </a:r>
            </a:p>
          </p:txBody>
        </p:sp>
      </p:grpSp>
      <p:grpSp>
        <p:nvGrpSpPr>
          <p:cNvPr name="Group 16" id="16"/>
          <p:cNvGrpSpPr/>
          <p:nvPr/>
        </p:nvGrpSpPr>
        <p:grpSpPr>
          <a:xfrm rot="0">
            <a:off x="1623060" y="2379634"/>
            <a:ext cx="754380" cy="754380"/>
            <a:chOff x="0" y="0"/>
            <a:chExt cx="1005840" cy="1005840"/>
          </a:xfrm>
        </p:grpSpPr>
        <p:sp>
          <p:nvSpPr>
            <p:cNvPr name="Freeform 17" id="17"/>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C9A227"/>
            </a:solidFill>
          </p:spPr>
        </p:sp>
      </p:grpSp>
      <p:grpSp>
        <p:nvGrpSpPr>
          <p:cNvPr name="Group 18" id="18"/>
          <p:cNvGrpSpPr/>
          <p:nvPr/>
        </p:nvGrpSpPr>
        <p:grpSpPr>
          <a:xfrm rot="0">
            <a:off x="1623060" y="2379634"/>
            <a:ext cx="754380" cy="754380"/>
            <a:chOff x="0" y="0"/>
            <a:chExt cx="1005840" cy="1005840"/>
          </a:xfrm>
        </p:grpSpPr>
        <p:sp>
          <p:nvSpPr>
            <p:cNvPr name="Freeform 19" id="19"/>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4">
                <a:alphaModFix amt="0"/>
              </a:blip>
              <a:stretch>
                <a:fillRect l="-78303" t="0" r="-78303" b="0"/>
              </a:stretch>
            </a:blipFill>
          </p:spPr>
        </p:sp>
        <p:sp>
          <p:nvSpPr>
            <p:cNvPr name="TextBox 20" id="20"/>
            <p:cNvSpPr txBox="true"/>
            <p:nvPr/>
          </p:nvSpPr>
          <p:spPr>
            <a:xfrm>
              <a:off x="0" y="-66675"/>
              <a:ext cx="1005840" cy="1072515"/>
            </a:xfrm>
            <a:prstGeom prst="rect">
              <a:avLst/>
            </a:prstGeom>
          </p:spPr>
          <p:txBody>
            <a:bodyPr anchor="ctr" rtlCol="false" tIns="0" lIns="0" bIns="0" rIns="0"/>
            <a:lstStyle/>
            <a:p>
              <a:pPr algn="ctr">
                <a:lnSpc>
                  <a:spcPts val="3959"/>
                </a:lnSpc>
              </a:pPr>
              <a:r>
                <a:rPr lang="en-US" b="true" sz="3299">
                  <a:solidFill>
                    <a:srgbClr val="000000"/>
                  </a:solidFill>
                  <a:latin typeface="Calibri (MS) Bold"/>
                  <a:ea typeface="Calibri (MS) Bold"/>
                  <a:cs typeface="Calibri (MS) Bold"/>
                  <a:sym typeface="Calibri (MS) Bold"/>
                </a:rPr>
                <a:t>1</a:t>
              </a:r>
            </a:p>
          </p:txBody>
        </p:sp>
      </p:grpSp>
      <p:grpSp>
        <p:nvGrpSpPr>
          <p:cNvPr name="Group 21" id="21"/>
          <p:cNvGrpSpPr/>
          <p:nvPr/>
        </p:nvGrpSpPr>
        <p:grpSpPr>
          <a:xfrm rot="0">
            <a:off x="1623060" y="3339754"/>
            <a:ext cx="3703320" cy="960120"/>
            <a:chOff x="0" y="0"/>
            <a:chExt cx="4937760" cy="1280160"/>
          </a:xfrm>
        </p:grpSpPr>
        <p:sp>
          <p:nvSpPr>
            <p:cNvPr name="Freeform 22" id="22"/>
            <p:cNvSpPr/>
            <p:nvPr/>
          </p:nvSpPr>
          <p:spPr>
            <a:xfrm flipH="false" flipV="false" rot="0">
              <a:off x="0" y="0"/>
              <a:ext cx="4937760" cy="1280160"/>
            </a:xfrm>
            <a:custGeom>
              <a:avLst/>
              <a:gdLst/>
              <a:ahLst/>
              <a:cxnLst/>
              <a:rect r="r" b="b" t="t" l="l"/>
              <a:pathLst>
                <a:path h="1280160" w="4937760">
                  <a:moveTo>
                    <a:pt x="0" y="0"/>
                  </a:moveTo>
                  <a:lnTo>
                    <a:pt x="4937760" y="0"/>
                  </a:lnTo>
                  <a:lnTo>
                    <a:pt x="4937760" y="1280160"/>
                  </a:lnTo>
                  <a:lnTo>
                    <a:pt x="0" y="1280160"/>
                  </a:lnTo>
                  <a:close/>
                </a:path>
              </a:pathLst>
            </a:custGeom>
            <a:blipFill>
              <a:blip r:embed="rId4">
                <a:alphaModFix amt="0"/>
              </a:blip>
              <a:stretch>
                <a:fillRect l="0" t="-25156" r="0" b="-25156"/>
              </a:stretch>
            </a:blipFill>
          </p:spPr>
        </p:sp>
        <p:sp>
          <p:nvSpPr>
            <p:cNvPr name="TextBox 23" id="23"/>
            <p:cNvSpPr txBox="true"/>
            <p:nvPr/>
          </p:nvSpPr>
          <p:spPr>
            <a:xfrm>
              <a:off x="0" y="-85725"/>
              <a:ext cx="4937760" cy="1365885"/>
            </a:xfrm>
            <a:prstGeom prst="rect">
              <a:avLst/>
            </a:prstGeom>
          </p:spPr>
          <p:txBody>
            <a:bodyPr anchor="ctr" rtlCol="false" tIns="0" lIns="0" bIns="0" rIns="0"/>
            <a:lstStyle/>
            <a:p>
              <a:pPr algn="l">
                <a:lnSpc>
                  <a:spcPts val="3563"/>
                </a:lnSpc>
              </a:pPr>
              <a:r>
                <a:rPr lang="en-US" b="true" sz="2699">
                  <a:solidFill>
                    <a:srgbClr val="000000"/>
                  </a:solidFill>
                  <a:latin typeface="Calibri (MS) Bold"/>
                  <a:ea typeface="Calibri (MS) Bold"/>
                  <a:cs typeface="Calibri (MS) Bold"/>
                  <a:sym typeface="Calibri (MS) Bold"/>
                </a:rPr>
                <a:t>Agencies collect data</a:t>
              </a:r>
            </a:p>
          </p:txBody>
        </p:sp>
      </p:grpSp>
      <p:grpSp>
        <p:nvGrpSpPr>
          <p:cNvPr name="Group 24" id="24"/>
          <p:cNvGrpSpPr/>
          <p:nvPr/>
        </p:nvGrpSpPr>
        <p:grpSpPr>
          <a:xfrm rot="0">
            <a:off x="1623060" y="4231294"/>
            <a:ext cx="3703320" cy="2194560"/>
            <a:chOff x="0" y="0"/>
            <a:chExt cx="4937760" cy="2926080"/>
          </a:xfrm>
        </p:grpSpPr>
        <p:sp>
          <p:nvSpPr>
            <p:cNvPr name="Freeform 25" id="25"/>
            <p:cNvSpPr/>
            <p:nvPr/>
          </p:nvSpPr>
          <p:spPr>
            <a:xfrm flipH="false" flipV="false" rot="0">
              <a:off x="0" y="0"/>
              <a:ext cx="4937760" cy="2926080"/>
            </a:xfrm>
            <a:custGeom>
              <a:avLst/>
              <a:gdLst/>
              <a:ahLst/>
              <a:cxnLst/>
              <a:rect r="r" b="b" t="t" l="l"/>
              <a:pathLst>
                <a:path h="2926080" w="4937760">
                  <a:moveTo>
                    <a:pt x="0" y="0"/>
                  </a:moveTo>
                  <a:lnTo>
                    <a:pt x="4937760" y="0"/>
                  </a:lnTo>
                  <a:lnTo>
                    <a:pt x="4937760" y="2926080"/>
                  </a:lnTo>
                  <a:lnTo>
                    <a:pt x="0" y="2926080"/>
                  </a:lnTo>
                  <a:close/>
                </a:path>
              </a:pathLst>
            </a:custGeom>
            <a:blipFill>
              <a:blip r:embed="rId4">
                <a:alphaModFix amt="0"/>
              </a:blip>
              <a:stretch>
                <a:fillRect l="-26031" t="0" r="-26031" b="0"/>
              </a:stretch>
            </a:blipFill>
          </p:spPr>
        </p:sp>
        <p:sp>
          <p:nvSpPr>
            <p:cNvPr name="TextBox 26" id="26"/>
            <p:cNvSpPr txBox="true"/>
            <p:nvPr/>
          </p:nvSpPr>
          <p:spPr>
            <a:xfrm>
              <a:off x="0" y="-133350"/>
              <a:ext cx="4937760" cy="3059430"/>
            </a:xfrm>
            <a:prstGeom prst="rect">
              <a:avLst/>
            </a:prstGeom>
          </p:spPr>
          <p:txBody>
            <a:bodyPr anchor="ctr" rtlCol="false" tIns="0" lIns="0" bIns="0" rIns="0"/>
            <a:lstStyle/>
            <a:p>
              <a:pPr algn="l">
                <a:lnSpc>
                  <a:spcPts val="3626"/>
                </a:lnSpc>
              </a:pPr>
              <a:r>
                <a:rPr lang="en-US" sz="2324">
                  <a:solidFill>
                    <a:srgbClr val="000000"/>
                  </a:solidFill>
                  <a:latin typeface="Calibri (MS)"/>
                  <a:ea typeface="Calibri (MS)"/>
                  <a:cs typeface="Calibri (MS)"/>
                  <a:sym typeface="Calibri (MS)"/>
                </a:rPr>
                <a:t>CIOs &amp; CISOs gather metrics from security tools and processes</a:t>
              </a:r>
            </a:p>
          </p:txBody>
        </p:sp>
      </p:grpSp>
      <p:sp>
        <p:nvSpPr>
          <p:cNvPr name="AutoShape 27" id="27"/>
          <p:cNvSpPr/>
          <p:nvPr/>
        </p:nvSpPr>
        <p:spPr>
          <a:xfrm>
            <a:off x="5389630" y="2730917"/>
            <a:ext cx="353569" cy="38098"/>
          </a:xfrm>
          <a:prstGeom prst="line">
            <a:avLst/>
          </a:prstGeom>
          <a:ln cap="rnd" w="19050">
            <a:solidFill>
              <a:srgbClr val="C9A227"/>
            </a:solidFill>
            <a:prstDash val="solid"/>
            <a:headEnd type="none" len="sm" w="sm"/>
            <a:tailEnd type="none" len="sm" w="sm"/>
          </a:ln>
        </p:spPr>
      </p:sp>
      <p:grpSp>
        <p:nvGrpSpPr>
          <p:cNvPr name="Group 28" id="28"/>
          <p:cNvGrpSpPr/>
          <p:nvPr/>
        </p:nvGrpSpPr>
        <p:grpSpPr>
          <a:xfrm rot="0">
            <a:off x="5806440" y="2379634"/>
            <a:ext cx="754380" cy="754380"/>
            <a:chOff x="0" y="0"/>
            <a:chExt cx="1005840" cy="1005840"/>
          </a:xfrm>
        </p:grpSpPr>
        <p:sp>
          <p:nvSpPr>
            <p:cNvPr name="Freeform 29" id="29"/>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C9A227"/>
            </a:solidFill>
          </p:spPr>
        </p:sp>
      </p:grpSp>
      <p:grpSp>
        <p:nvGrpSpPr>
          <p:cNvPr name="Group 30" id="30"/>
          <p:cNvGrpSpPr/>
          <p:nvPr/>
        </p:nvGrpSpPr>
        <p:grpSpPr>
          <a:xfrm rot="0">
            <a:off x="5806440" y="2379634"/>
            <a:ext cx="754380" cy="754380"/>
            <a:chOff x="0" y="0"/>
            <a:chExt cx="1005840" cy="1005840"/>
          </a:xfrm>
        </p:grpSpPr>
        <p:sp>
          <p:nvSpPr>
            <p:cNvPr name="Freeform 31" id="31"/>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4">
                <a:alphaModFix amt="0"/>
              </a:blip>
              <a:stretch>
                <a:fillRect l="-78303" t="0" r="-78303" b="0"/>
              </a:stretch>
            </a:blipFill>
          </p:spPr>
        </p:sp>
        <p:sp>
          <p:nvSpPr>
            <p:cNvPr name="TextBox 32" id="32"/>
            <p:cNvSpPr txBox="true"/>
            <p:nvPr/>
          </p:nvSpPr>
          <p:spPr>
            <a:xfrm>
              <a:off x="0" y="-66675"/>
              <a:ext cx="1005840" cy="1072515"/>
            </a:xfrm>
            <a:prstGeom prst="rect">
              <a:avLst/>
            </a:prstGeom>
          </p:spPr>
          <p:txBody>
            <a:bodyPr anchor="ctr" rtlCol="false" tIns="0" lIns="0" bIns="0" rIns="0"/>
            <a:lstStyle/>
            <a:p>
              <a:pPr algn="ctr">
                <a:lnSpc>
                  <a:spcPts val="3959"/>
                </a:lnSpc>
              </a:pPr>
              <a:r>
                <a:rPr lang="en-US" b="true" sz="3299">
                  <a:solidFill>
                    <a:srgbClr val="000000"/>
                  </a:solidFill>
                  <a:latin typeface="Calibri (MS) Bold"/>
                  <a:ea typeface="Calibri (MS) Bold"/>
                  <a:cs typeface="Calibri (MS) Bold"/>
                  <a:sym typeface="Calibri (MS) Bold"/>
                </a:rPr>
                <a:t>2</a:t>
              </a:r>
            </a:p>
          </p:txBody>
        </p:sp>
      </p:grpSp>
      <p:grpSp>
        <p:nvGrpSpPr>
          <p:cNvPr name="Group 33" id="33"/>
          <p:cNvGrpSpPr/>
          <p:nvPr/>
        </p:nvGrpSpPr>
        <p:grpSpPr>
          <a:xfrm rot="0">
            <a:off x="5806440" y="3339754"/>
            <a:ext cx="3703320" cy="960120"/>
            <a:chOff x="0" y="0"/>
            <a:chExt cx="4937760" cy="1280160"/>
          </a:xfrm>
        </p:grpSpPr>
        <p:sp>
          <p:nvSpPr>
            <p:cNvPr name="Freeform 34" id="34"/>
            <p:cNvSpPr/>
            <p:nvPr/>
          </p:nvSpPr>
          <p:spPr>
            <a:xfrm flipH="false" flipV="false" rot="0">
              <a:off x="0" y="0"/>
              <a:ext cx="4937760" cy="1280160"/>
            </a:xfrm>
            <a:custGeom>
              <a:avLst/>
              <a:gdLst/>
              <a:ahLst/>
              <a:cxnLst/>
              <a:rect r="r" b="b" t="t" l="l"/>
              <a:pathLst>
                <a:path h="1280160" w="4937760">
                  <a:moveTo>
                    <a:pt x="0" y="0"/>
                  </a:moveTo>
                  <a:lnTo>
                    <a:pt x="4937760" y="0"/>
                  </a:lnTo>
                  <a:lnTo>
                    <a:pt x="4937760" y="1280160"/>
                  </a:lnTo>
                  <a:lnTo>
                    <a:pt x="0" y="1280160"/>
                  </a:lnTo>
                  <a:close/>
                </a:path>
              </a:pathLst>
            </a:custGeom>
            <a:blipFill>
              <a:blip r:embed="rId4">
                <a:alphaModFix amt="0"/>
              </a:blip>
              <a:stretch>
                <a:fillRect l="0" t="-25156" r="0" b="-25156"/>
              </a:stretch>
            </a:blipFill>
          </p:spPr>
        </p:sp>
        <p:sp>
          <p:nvSpPr>
            <p:cNvPr name="TextBox 35" id="35"/>
            <p:cNvSpPr txBox="true"/>
            <p:nvPr/>
          </p:nvSpPr>
          <p:spPr>
            <a:xfrm>
              <a:off x="0" y="-85725"/>
              <a:ext cx="4937760" cy="1365885"/>
            </a:xfrm>
            <a:prstGeom prst="rect">
              <a:avLst/>
            </a:prstGeom>
          </p:spPr>
          <p:txBody>
            <a:bodyPr anchor="ctr" rtlCol="false" tIns="0" lIns="0" bIns="0" rIns="0"/>
            <a:lstStyle/>
            <a:p>
              <a:pPr algn="l">
                <a:lnSpc>
                  <a:spcPts val="3563"/>
                </a:lnSpc>
              </a:pPr>
              <a:r>
                <a:rPr lang="en-US" b="true" sz="2699">
                  <a:solidFill>
                    <a:srgbClr val="000000"/>
                  </a:solidFill>
                  <a:latin typeface="Calibri (MS) Bold"/>
                  <a:ea typeface="Calibri (MS) Bold"/>
                  <a:cs typeface="Calibri (MS) Bold"/>
                  <a:sym typeface="Calibri (MS) Bold"/>
                </a:rPr>
                <a:t>Submit via CyberScope</a:t>
              </a:r>
            </a:p>
          </p:txBody>
        </p:sp>
      </p:grpSp>
      <p:grpSp>
        <p:nvGrpSpPr>
          <p:cNvPr name="Group 36" id="36"/>
          <p:cNvGrpSpPr/>
          <p:nvPr/>
        </p:nvGrpSpPr>
        <p:grpSpPr>
          <a:xfrm rot="0">
            <a:off x="5806440" y="4231294"/>
            <a:ext cx="3703320" cy="2194560"/>
            <a:chOff x="0" y="0"/>
            <a:chExt cx="4937760" cy="2926080"/>
          </a:xfrm>
        </p:grpSpPr>
        <p:sp>
          <p:nvSpPr>
            <p:cNvPr name="Freeform 37" id="37"/>
            <p:cNvSpPr/>
            <p:nvPr/>
          </p:nvSpPr>
          <p:spPr>
            <a:xfrm flipH="false" flipV="false" rot="0">
              <a:off x="0" y="0"/>
              <a:ext cx="4937760" cy="2926080"/>
            </a:xfrm>
            <a:custGeom>
              <a:avLst/>
              <a:gdLst/>
              <a:ahLst/>
              <a:cxnLst/>
              <a:rect r="r" b="b" t="t" l="l"/>
              <a:pathLst>
                <a:path h="2926080" w="4937760">
                  <a:moveTo>
                    <a:pt x="0" y="0"/>
                  </a:moveTo>
                  <a:lnTo>
                    <a:pt x="4937760" y="0"/>
                  </a:lnTo>
                  <a:lnTo>
                    <a:pt x="4937760" y="2926080"/>
                  </a:lnTo>
                  <a:lnTo>
                    <a:pt x="0" y="2926080"/>
                  </a:lnTo>
                  <a:close/>
                </a:path>
              </a:pathLst>
            </a:custGeom>
            <a:blipFill>
              <a:blip r:embed="rId4">
                <a:alphaModFix amt="0"/>
              </a:blip>
              <a:stretch>
                <a:fillRect l="-26031" t="0" r="-26031" b="0"/>
              </a:stretch>
            </a:blipFill>
          </p:spPr>
        </p:sp>
        <p:sp>
          <p:nvSpPr>
            <p:cNvPr name="TextBox 38" id="38"/>
            <p:cNvSpPr txBox="true"/>
            <p:nvPr/>
          </p:nvSpPr>
          <p:spPr>
            <a:xfrm>
              <a:off x="0" y="-133350"/>
              <a:ext cx="4937760" cy="3059430"/>
            </a:xfrm>
            <a:prstGeom prst="rect">
              <a:avLst/>
            </a:prstGeom>
          </p:spPr>
          <p:txBody>
            <a:bodyPr anchor="ctr" rtlCol="false" tIns="0" lIns="0" bIns="0" rIns="0"/>
            <a:lstStyle/>
            <a:p>
              <a:pPr algn="l">
                <a:lnSpc>
                  <a:spcPts val="3626"/>
                </a:lnSpc>
              </a:pPr>
              <a:r>
                <a:rPr lang="en-US" sz="2324">
                  <a:solidFill>
                    <a:srgbClr val="000000"/>
                  </a:solidFill>
                  <a:latin typeface="Calibri (MS)"/>
                  <a:ea typeface="Calibri (MS)"/>
                  <a:cs typeface="Calibri (MS)"/>
                  <a:sym typeface="Calibri (MS)"/>
                </a:rPr>
                <a:t>Data reported to OMB/DHS through the CyberScope reporting portal</a:t>
              </a:r>
            </a:p>
          </p:txBody>
        </p:sp>
      </p:grpSp>
      <p:sp>
        <p:nvSpPr>
          <p:cNvPr name="AutoShape 39" id="39"/>
          <p:cNvSpPr/>
          <p:nvPr/>
        </p:nvSpPr>
        <p:spPr>
          <a:xfrm>
            <a:off x="9573010" y="2730917"/>
            <a:ext cx="353569" cy="38098"/>
          </a:xfrm>
          <a:prstGeom prst="line">
            <a:avLst/>
          </a:prstGeom>
          <a:ln cap="rnd" w="19050">
            <a:solidFill>
              <a:srgbClr val="C9A227"/>
            </a:solidFill>
            <a:prstDash val="solid"/>
            <a:headEnd type="none" len="sm" w="sm"/>
            <a:tailEnd type="none" len="sm" w="sm"/>
          </a:ln>
        </p:spPr>
      </p:sp>
      <p:grpSp>
        <p:nvGrpSpPr>
          <p:cNvPr name="Group 40" id="40"/>
          <p:cNvGrpSpPr/>
          <p:nvPr/>
        </p:nvGrpSpPr>
        <p:grpSpPr>
          <a:xfrm rot="0">
            <a:off x="9989820" y="2379634"/>
            <a:ext cx="754380" cy="754380"/>
            <a:chOff x="0" y="0"/>
            <a:chExt cx="1005840" cy="1005840"/>
          </a:xfrm>
        </p:grpSpPr>
        <p:sp>
          <p:nvSpPr>
            <p:cNvPr name="Freeform 41" id="4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C9A227"/>
            </a:solidFill>
          </p:spPr>
        </p:sp>
      </p:grpSp>
      <p:grpSp>
        <p:nvGrpSpPr>
          <p:cNvPr name="Group 42" id="42"/>
          <p:cNvGrpSpPr/>
          <p:nvPr/>
        </p:nvGrpSpPr>
        <p:grpSpPr>
          <a:xfrm rot="0">
            <a:off x="9989820" y="2379634"/>
            <a:ext cx="754380" cy="754380"/>
            <a:chOff x="0" y="0"/>
            <a:chExt cx="1005840" cy="1005840"/>
          </a:xfrm>
        </p:grpSpPr>
        <p:sp>
          <p:nvSpPr>
            <p:cNvPr name="Freeform 43" id="43"/>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4">
                <a:alphaModFix amt="0"/>
              </a:blip>
              <a:stretch>
                <a:fillRect l="-78303" t="0" r="-78303" b="0"/>
              </a:stretch>
            </a:blipFill>
          </p:spPr>
        </p:sp>
        <p:sp>
          <p:nvSpPr>
            <p:cNvPr name="TextBox 44" id="44"/>
            <p:cNvSpPr txBox="true"/>
            <p:nvPr/>
          </p:nvSpPr>
          <p:spPr>
            <a:xfrm>
              <a:off x="0" y="-66675"/>
              <a:ext cx="1005840" cy="1072515"/>
            </a:xfrm>
            <a:prstGeom prst="rect">
              <a:avLst/>
            </a:prstGeom>
          </p:spPr>
          <p:txBody>
            <a:bodyPr anchor="ctr" rtlCol="false" tIns="0" lIns="0" bIns="0" rIns="0"/>
            <a:lstStyle/>
            <a:p>
              <a:pPr algn="ctr">
                <a:lnSpc>
                  <a:spcPts val="3959"/>
                </a:lnSpc>
              </a:pPr>
              <a:r>
                <a:rPr lang="en-US" b="true" sz="3299">
                  <a:solidFill>
                    <a:srgbClr val="000000"/>
                  </a:solidFill>
                  <a:latin typeface="Calibri (MS) Bold"/>
                  <a:ea typeface="Calibri (MS) Bold"/>
                  <a:cs typeface="Calibri (MS) Bold"/>
                  <a:sym typeface="Calibri (MS) Bold"/>
                </a:rPr>
                <a:t>3</a:t>
              </a:r>
            </a:p>
          </p:txBody>
        </p:sp>
      </p:grpSp>
      <p:grpSp>
        <p:nvGrpSpPr>
          <p:cNvPr name="Group 45" id="45"/>
          <p:cNvGrpSpPr/>
          <p:nvPr/>
        </p:nvGrpSpPr>
        <p:grpSpPr>
          <a:xfrm rot="0">
            <a:off x="9989820" y="3339754"/>
            <a:ext cx="3703320" cy="960120"/>
            <a:chOff x="0" y="0"/>
            <a:chExt cx="4937760" cy="1280160"/>
          </a:xfrm>
        </p:grpSpPr>
        <p:sp>
          <p:nvSpPr>
            <p:cNvPr name="Freeform 46" id="46"/>
            <p:cNvSpPr/>
            <p:nvPr/>
          </p:nvSpPr>
          <p:spPr>
            <a:xfrm flipH="false" flipV="false" rot="0">
              <a:off x="0" y="0"/>
              <a:ext cx="4937760" cy="1280160"/>
            </a:xfrm>
            <a:custGeom>
              <a:avLst/>
              <a:gdLst/>
              <a:ahLst/>
              <a:cxnLst/>
              <a:rect r="r" b="b" t="t" l="l"/>
              <a:pathLst>
                <a:path h="1280160" w="4937760">
                  <a:moveTo>
                    <a:pt x="0" y="0"/>
                  </a:moveTo>
                  <a:lnTo>
                    <a:pt x="4937760" y="0"/>
                  </a:lnTo>
                  <a:lnTo>
                    <a:pt x="4937760" y="1280160"/>
                  </a:lnTo>
                  <a:lnTo>
                    <a:pt x="0" y="1280160"/>
                  </a:lnTo>
                  <a:close/>
                </a:path>
              </a:pathLst>
            </a:custGeom>
            <a:blipFill>
              <a:blip r:embed="rId4">
                <a:alphaModFix amt="0"/>
              </a:blip>
              <a:stretch>
                <a:fillRect l="0" t="-25156" r="0" b="-25156"/>
              </a:stretch>
            </a:blipFill>
          </p:spPr>
        </p:sp>
        <p:sp>
          <p:nvSpPr>
            <p:cNvPr name="TextBox 47" id="47"/>
            <p:cNvSpPr txBox="true"/>
            <p:nvPr/>
          </p:nvSpPr>
          <p:spPr>
            <a:xfrm>
              <a:off x="0" y="-85725"/>
              <a:ext cx="4937760" cy="1365885"/>
            </a:xfrm>
            <a:prstGeom prst="rect">
              <a:avLst/>
            </a:prstGeom>
          </p:spPr>
          <p:txBody>
            <a:bodyPr anchor="ctr" rtlCol="false" tIns="0" lIns="0" bIns="0" rIns="0"/>
            <a:lstStyle/>
            <a:p>
              <a:pPr algn="l">
                <a:lnSpc>
                  <a:spcPts val="3563"/>
                </a:lnSpc>
              </a:pPr>
              <a:r>
                <a:rPr lang="en-US" b="true" sz="2699">
                  <a:solidFill>
                    <a:srgbClr val="000000"/>
                  </a:solidFill>
                  <a:latin typeface="Calibri (MS) Bold"/>
                  <a:ea typeface="Calibri (MS) Bold"/>
                  <a:cs typeface="Calibri (MS) Bold"/>
                  <a:sym typeface="Calibri (MS) Bold"/>
                </a:rPr>
                <a:t>Independent audit</a:t>
              </a:r>
            </a:p>
          </p:txBody>
        </p:sp>
      </p:grpSp>
      <p:grpSp>
        <p:nvGrpSpPr>
          <p:cNvPr name="Group 48" id="48"/>
          <p:cNvGrpSpPr/>
          <p:nvPr/>
        </p:nvGrpSpPr>
        <p:grpSpPr>
          <a:xfrm rot="0">
            <a:off x="9989820" y="4231294"/>
            <a:ext cx="3703320" cy="2194560"/>
            <a:chOff x="0" y="0"/>
            <a:chExt cx="4937760" cy="2926080"/>
          </a:xfrm>
        </p:grpSpPr>
        <p:sp>
          <p:nvSpPr>
            <p:cNvPr name="Freeform 49" id="49"/>
            <p:cNvSpPr/>
            <p:nvPr/>
          </p:nvSpPr>
          <p:spPr>
            <a:xfrm flipH="false" flipV="false" rot="0">
              <a:off x="0" y="0"/>
              <a:ext cx="4937760" cy="2926080"/>
            </a:xfrm>
            <a:custGeom>
              <a:avLst/>
              <a:gdLst/>
              <a:ahLst/>
              <a:cxnLst/>
              <a:rect r="r" b="b" t="t" l="l"/>
              <a:pathLst>
                <a:path h="2926080" w="4937760">
                  <a:moveTo>
                    <a:pt x="0" y="0"/>
                  </a:moveTo>
                  <a:lnTo>
                    <a:pt x="4937760" y="0"/>
                  </a:lnTo>
                  <a:lnTo>
                    <a:pt x="4937760" y="2926080"/>
                  </a:lnTo>
                  <a:lnTo>
                    <a:pt x="0" y="2926080"/>
                  </a:lnTo>
                  <a:close/>
                </a:path>
              </a:pathLst>
            </a:custGeom>
            <a:blipFill>
              <a:blip r:embed="rId4">
                <a:alphaModFix amt="0"/>
              </a:blip>
              <a:stretch>
                <a:fillRect l="-26031" t="0" r="-26031" b="0"/>
              </a:stretch>
            </a:blipFill>
          </p:spPr>
        </p:sp>
        <p:sp>
          <p:nvSpPr>
            <p:cNvPr name="TextBox 50" id="50"/>
            <p:cNvSpPr txBox="true"/>
            <p:nvPr/>
          </p:nvSpPr>
          <p:spPr>
            <a:xfrm>
              <a:off x="0" y="-133350"/>
              <a:ext cx="4937760" cy="3059430"/>
            </a:xfrm>
            <a:prstGeom prst="rect">
              <a:avLst/>
            </a:prstGeom>
          </p:spPr>
          <p:txBody>
            <a:bodyPr anchor="ctr" rtlCol="false" tIns="0" lIns="0" bIns="0" rIns="0"/>
            <a:lstStyle/>
            <a:p>
              <a:pPr algn="l">
                <a:lnSpc>
                  <a:spcPts val="3626"/>
                </a:lnSpc>
              </a:pPr>
              <a:r>
                <a:rPr lang="en-US" sz="2324">
                  <a:solidFill>
                    <a:srgbClr val="000000"/>
                  </a:solidFill>
                  <a:latin typeface="Calibri (MS)"/>
                  <a:ea typeface="Calibri (MS)"/>
                  <a:cs typeface="Calibri (MS)"/>
                  <a:sym typeface="Calibri (MS)"/>
                </a:rPr>
                <a:t>Inspectors General (IG) independently assess agency maturity</a:t>
              </a:r>
            </a:p>
          </p:txBody>
        </p:sp>
      </p:grpSp>
      <p:sp>
        <p:nvSpPr>
          <p:cNvPr name="AutoShape 51" id="51"/>
          <p:cNvSpPr/>
          <p:nvPr/>
        </p:nvSpPr>
        <p:spPr>
          <a:xfrm>
            <a:off x="13756390" y="2730917"/>
            <a:ext cx="353569" cy="38098"/>
          </a:xfrm>
          <a:prstGeom prst="line">
            <a:avLst/>
          </a:prstGeom>
          <a:ln cap="rnd" w="19050">
            <a:solidFill>
              <a:srgbClr val="C9A227"/>
            </a:solidFill>
            <a:prstDash val="solid"/>
            <a:headEnd type="none" len="sm" w="sm"/>
            <a:tailEnd type="none" len="sm" w="sm"/>
          </a:ln>
        </p:spPr>
      </p:sp>
      <p:grpSp>
        <p:nvGrpSpPr>
          <p:cNvPr name="Group 52" id="52"/>
          <p:cNvGrpSpPr/>
          <p:nvPr/>
        </p:nvGrpSpPr>
        <p:grpSpPr>
          <a:xfrm rot="0">
            <a:off x="14173200" y="2379634"/>
            <a:ext cx="754380" cy="754380"/>
            <a:chOff x="0" y="0"/>
            <a:chExt cx="1005840" cy="1005840"/>
          </a:xfrm>
        </p:grpSpPr>
        <p:sp>
          <p:nvSpPr>
            <p:cNvPr name="Freeform 53" id="5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C9A227"/>
            </a:solidFill>
          </p:spPr>
        </p:sp>
      </p:grpSp>
      <p:grpSp>
        <p:nvGrpSpPr>
          <p:cNvPr name="Group 54" id="54"/>
          <p:cNvGrpSpPr/>
          <p:nvPr/>
        </p:nvGrpSpPr>
        <p:grpSpPr>
          <a:xfrm rot="0">
            <a:off x="14173200" y="2379634"/>
            <a:ext cx="754380" cy="754380"/>
            <a:chOff x="0" y="0"/>
            <a:chExt cx="1005840" cy="1005840"/>
          </a:xfrm>
        </p:grpSpPr>
        <p:sp>
          <p:nvSpPr>
            <p:cNvPr name="Freeform 55" id="5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4">
                <a:alphaModFix amt="0"/>
              </a:blip>
              <a:stretch>
                <a:fillRect l="-78303" t="0" r="-78303" b="0"/>
              </a:stretch>
            </a:blipFill>
          </p:spPr>
        </p:sp>
        <p:sp>
          <p:nvSpPr>
            <p:cNvPr name="TextBox 56" id="56"/>
            <p:cNvSpPr txBox="true"/>
            <p:nvPr/>
          </p:nvSpPr>
          <p:spPr>
            <a:xfrm>
              <a:off x="0" y="-66675"/>
              <a:ext cx="1005840" cy="1072515"/>
            </a:xfrm>
            <a:prstGeom prst="rect">
              <a:avLst/>
            </a:prstGeom>
          </p:spPr>
          <p:txBody>
            <a:bodyPr anchor="ctr" rtlCol="false" tIns="0" lIns="0" bIns="0" rIns="0"/>
            <a:lstStyle/>
            <a:p>
              <a:pPr algn="ctr">
                <a:lnSpc>
                  <a:spcPts val="3959"/>
                </a:lnSpc>
              </a:pPr>
              <a:r>
                <a:rPr lang="en-US" b="true" sz="3299">
                  <a:solidFill>
                    <a:srgbClr val="000000"/>
                  </a:solidFill>
                  <a:latin typeface="Calibri (MS) Bold"/>
                  <a:ea typeface="Calibri (MS) Bold"/>
                  <a:cs typeface="Calibri (MS) Bold"/>
                  <a:sym typeface="Calibri (MS) Bold"/>
                </a:rPr>
                <a:t>4</a:t>
              </a:r>
            </a:p>
          </p:txBody>
        </p:sp>
      </p:grpSp>
      <p:grpSp>
        <p:nvGrpSpPr>
          <p:cNvPr name="Group 57" id="57"/>
          <p:cNvGrpSpPr/>
          <p:nvPr/>
        </p:nvGrpSpPr>
        <p:grpSpPr>
          <a:xfrm rot="0">
            <a:off x="14173200" y="3339754"/>
            <a:ext cx="3703320" cy="960120"/>
            <a:chOff x="0" y="0"/>
            <a:chExt cx="4937760" cy="1280160"/>
          </a:xfrm>
        </p:grpSpPr>
        <p:sp>
          <p:nvSpPr>
            <p:cNvPr name="Freeform 58" id="58"/>
            <p:cNvSpPr/>
            <p:nvPr/>
          </p:nvSpPr>
          <p:spPr>
            <a:xfrm flipH="false" flipV="false" rot="0">
              <a:off x="0" y="0"/>
              <a:ext cx="4937760" cy="1280160"/>
            </a:xfrm>
            <a:custGeom>
              <a:avLst/>
              <a:gdLst/>
              <a:ahLst/>
              <a:cxnLst/>
              <a:rect r="r" b="b" t="t" l="l"/>
              <a:pathLst>
                <a:path h="1280160" w="4937760">
                  <a:moveTo>
                    <a:pt x="0" y="0"/>
                  </a:moveTo>
                  <a:lnTo>
                    <a:pt x="4937760" y="0"/>
                  </a:lnTo>
                  <a:lnTo>
                    <a:pt x="4937760" y="1280160"/>
                  </a:lnTo>
                  <a:lnTo>
                    <a:pt x="0" y="1280160"/>
                  </a:lnTo>
                  <a:close/>
                </a:path>
              </a:pathLst>
            </a:custGeom>
            <a:blipFill>
              <a:blip r:embed="rId4">
                <a:alphaModFix amt="0"/>
              </a:blip>
              <a:stretch>
                <a:fillRect l="0" t="-25156" r="0" b="-25156"/>
              </a:stretch>
            </a:blipFill>
          </p:spPr>
        </p:sp>
        <p:sp>
          <p:nvSpPr>
            <p:cNvPr name="TextBox 59" id="59"/>
            <p:cNvSpPr txBox="true"/>
            <p:nvPr/>
          </p:nvSpPr>
          <p:spPr>
            <a:xfrm>
              <a:off x="0" y="-85725"/>
              <a:ext cx="4937760" cy="1365885"/>
            </a:xfrm>
            <a:prstGeom prst="rect">
              <a:avLst/>
            </a:prstGeom>
          </p:spPr>
          <p:txBody>
            <a:bodyPr anchor="ctr" rtlCol="false" tIns="0" lIns="0" bIns="0" rIns="0"/>
            <a:lstStyle/>
            <a:p>
              <a:pPr algn="l">
                <a:lnSpc>
                  <a:spcPts val="3563"/>
                </a:lnSpc>
              </a:pPr>
              <a:r>
                <a:rPr lang="en-US" b="true" sz="2699">
                  <a:solidFill>
                    <a:srgbClr val="000000"/>
                  </a:solidFill>
                  <a:latin typeface="Calibri (MS) Bold"/>
                  <a:ea typeface="Calibri (MS) Bold"/>
                  <a:cs typeface="Calibri (MS) Bold"/>
                  <a:sym typeface="Calibri (MS) Bold"/>
                </a:rPr>
                <a:t>Public accountability</a:t>
              </a:r>
            </a:p>
          </p:txBody>
        </p:sp>
      </p:grpSp>
      <p:grpSp>
        <p:nvGrpSpPr>
          <p:cNvPr name="Group 60" id="60"/>
          <p:cNvGrpSpPr/>
          <p:nvPr/>
        </p:nvGrpSpPr>
        <p:grpSpPr>
          <a:xfrm rot="0">
            <a:off x="14173200" y="4231294"/>
            <a:ext cx="3703320" cy="2194560"/>
            <a:chOff x="0" y="0"/>
            <a:chExt cx="4937760" cy="2926080"/>
          </a:xfrm>
        </p:grpSpPr>
        <p:sp>
          <p:nvSpPr>
            <p:cNvPr name="Freeform 61" id="61"/>
            <p:cNvSpPr/>
            <p:nvPr/>
          </p:nvSpPr>
          <p:spPr>
            <a:xfrm flipH="false" flipV="false" rot="0">
              <a:off x="0" y="0"/>
              <a:ext cx="4937760" cy="2926080"/>
            </a:xfrm>
            <a:custGeom>
              <a:avLst/>
              <a:gdLst/>
              <a:ahLst/>
              <a:cxnLst/>
              <a:rect r="r" b="b" t="t" l="l"/>
              <a:pathLst>
                <a:path h="2926080" w="4937760">
                  <a:moveTo>
                    <a:pt x="0" y="0"/>
                  </a:moveTo>
                  <a:lnTo>
                    <a:pt x="4937760" y="0"/>
                  </a:lnTo>
                  <a:lnTo>
                    <a:pt x="4937760" y="2926080"/>
                  </a:lnTo>
                  <a:lnTo>
                    <a:pt x="0" y="2926080"/>
                  </a:lnTo>
                  <a:close/>
                </a:path>
              </a:pathLst>
            </a:custGeom>
            <a:blipFill>
              <a:blip r:embed="rId4">
                <a:alphaModFix amt="0"/>
              </a:blip>
              <a:stretch>
                <a:fillRect l="-26031" t="0" r="-26031" b="0"/>
              </a:stretch>
            </a:blipFill>
          </p:spPr>
        </p:sp>
        <p:sp>
          <p:nvSpPr>
            <p:cNvPr name="TextBox 62" id="62"/>
            <p:cNvSpPr txBox="true"/>
            <p:nvPr/>
          </p:nvSpPr>
          <p:spPr>
            <a:xfrm>
              <a:off x="0" y="-133350"/>
              <a:ext cx="4937760" cy="3059430"/>
            </a:xfrm>
            <a:prstGeom prst="rect">
              <a:avLst/>
            </a:prstGeom>
          </p:spPr>
          <p:txBody>
            <a:bodyPr anchor="ctr" rtlCol="false" tIns="0" lIns="0" bIns="0" rIns="0"/>
            <a:lstStyle/>
            <a:p>
              <a:pPr algn="l">
                <a:lnSpc>
                  <a:spcPts val="3626"/>
                </a:lnSpc>
              </a:pPr>
              <a:r>
                <a:rPr lang="en-US" sz="2324">
                  <a:solidFill>
                    <a:srgbClr val="000000"/>
                  </a:solidFill>
                  <a:latin typeface="Calibri (MS)"/>
                  <a:ea typeface="Calibri (MS)"/>
                  <a:cs typeface="Calibri (MS)"/>
                  <a:sym typeface="Calibri (MS)"/>
                </a:rPr>
                <a:t>OMB publishes an annual report to Congress</a:t>
              </a:r>
            </a:p>
          </p:txBody>
        </p:sp>
      </p:grpSp>
      <p:grpSp>
        <p:nvGrpSpPr>
          <p:cNvPr name="Group 63" id="63"/>
          <p:cNvGrpSpPr/>
          <p:nvPr/>
        </p:nvGrpSpPr>
        <p:grpSpPr>
          <a:xfrm rot="0">
            <a:off x="1623060" y="6425854"/>
            <a:ext cx="15636240" cy="1851660"/>
            <a:chOff x="0" y="0"/>
            <a:chExt cx="20848320" cy="2468880"/>
          </a:xfrm>
        </p:grpSpPr>
        <p:sp>
          <p:nvSpPr>
            <p:cNvPr name="Freeform 64" id="64"/>
            <p:cNvSpPr/>
            <p:nvPr/>
          </p:nvSpPr>
          <p:spPr>
            <a:xfrm flipH="false" flipV="false" rot="0">
              <a:off x="0" y="0"/>
              <a:ext cx="20848320" cy="2468880"/>
            </a:xfrm>
            <a:custGeom>
              <a:avLst/>
              <a:gdLst/>
              <a:ahLst/>
              <a:cxnLst/>
              <a:rect r="r" b="b" t="t" l="l"/>
              <a:pathLst>
                <a:path h="2468880" w="20848320">
                  <a:moveTo>
                    <a:pt x="0" y="0"/>
                  </a:moveTo>
                  <a:lnTo>
                    <a:pt x="20848320" y="0"/>
                  </a:lnTo>
                  <a:lnTo>
                    <a:pt x="20848320" y="2468880"/>
                  </a:lnTo>
                  <a:lnTo>
                    <a:pt x="0" y="2468880"/>
                  </a:lnTo>
                  <a:close/>
                </a:path>
              </a:pathLst>
            </a:custGeom>
            <a:blipFill>
              <a:blip r:embed="rId4">
                <a:alphaModFix amt="0"/>
              </a:blip>
              <a:stretch>
                <a:fillRect l="0" t="-114540" r="0" b="-114540"/>
              </a:stretch>
            </a:blipFill>
          </p:spPr>
        </p:sp>
        <p:sp>
          <p:nvSpPr>
            <p:cNvPr name="TextBox 65" id="65"/>
            <p:cNvSpPr txBox="true"/>
            <p:nvPr/>
          </p:nvSpPr>
          <p:spPr>
            <a:xfrm>
              <a:off x="0" y="-133350"/>
              <a:ext cx="20848320" cy="2602230"/>
            </a:xfrm>
            <a:prstGeom prst="rect">
              <a:avLst/>
            </a:prstGeom>
          </p:spPr>
          <p:txBody>
            <a:bodyPr anchor="ctr" rtlCol="false" tIns="0" lIns="0" bIns="0" rIns="0"/>
            <a:lstStyle/>
            <a:p>
              <a:pPr algn="l">
                <a:lnSpc>
                  <a:spcPts val="3821"/>
                </a:lnSpc>
              </a:pPr>
              <a:r>
                <a:rPr lang="en-US" sz="2449">
                  <a:solidFill>
                    <a:srgbClr val="000000"/>
                  </a:solidFill>
                  <a:latin typeface="Calibri (MS)"/>
                  <a:ea typeface="Calibri (MS)"/>
                  <a:cs typeface="Calibri (MS)"/>
                  <a:sym typeface="Calibri (MS)"/>
                </a:rPr>
                <a:t>Agencies receive a maturity rating on a 5-level scale — Ad Hoc, Defined, Consistently Implemented, Managed &amp; Measurable, and Optimized — mirroring how program maturity models score capability.</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47625"/>
              <a:ext cx="1848158" cy="3198609"/>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498034" y="2355594"/>
            <a:ext cx="15291933" cy="5575813"/>
            <a:chOff x="0" y="0"/>
            <a:chExt cx="4027505" cy="1468527"/>
          </a:xfrm>
        </p:grpSpPr>
        <p:sp>
          <p:nvSpPr>
            <p:cNvPr name="Freeform 6" id="6"/>
            <p:cNvSpPr/>
            <p:nvPr/>
          </p:nvSpPr>
          <p:spPr>
            <a:xfrm flipH="false" flipV="false" rot="0">
              <a:off x="0" y="0"/>
              <a:ext cx="4027505" cy="1468527"/>
            </a:xfrm>
            <a:custGeom>
              <a:avLst/>
              <a:gdLst/>
              <a:ahLst/>
              <a:cxnLst/>
              <a:rect r="r" b="b" t="t" l="l"/>
              <a:pathLst>
                <a:path h="1468527" w="4027505">
                  <a:moveTo>
                    <a:pt x="0" y="0"/>
                  </a:moveTo>
                  <a:lnTo>
                    <a:pt x="4027505" y="0"/>
                  </a:lnTo>
                  <a:lnTo>
                    <a:pt x="4027505" y="1468527"/>
                  </a:lnTo>
                  <a:lnTo>
                    <a:pt x="0" y="1468527"/>
                  </a:lnTo>
                  <a:close/>
                </a:path>
              </a:pathLst>
            </a:custGeom>
            <a:solidFill>
              <a:srgbClr val="FFFFFF"/>
            </a:solidFill>
          </p:spPr>
        </p:sp>
        <p:sp>
          <p:nvSpPr>
            <p:cNvPr name="TextBox 7" id="7"/>
            <p:cNvSpPr txBox="true"/>
            <p:nvPr/>
          </p:nvSpPr>
          <p:spPr>
            <a:xfrm>
              <a:off x="0" y="-47625"/>
              <a:ext cx="4027505" cy="1516152"/>
            </a:xfrm>
            <a:prstGeom prst="rect">
              <a:avLst/>
            </a:prstGeom>
          </p:spPr>
          <p:txBody>
            <a:bodyPr anchor="ctr" rtlCol="false" tIns="50800" lIns="50800" bIns="50800" rIns="50800"/>
            <a:lstStyle/>
            <a:p>
              <a:pPr algn="ctr">
                <a:lnSpc>
                  <a:spcPts val="3560"/>
                </a:lnSpc>
              </a:pPr>
            </a:p>
          </p:txBody>
        </p:sp>
      </p:grpSp>
      <p:sp>
        <p:nvSpPr>
          <p:cNvPr name="Freeform 8" id="8"/>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5981039" y="9462044"/>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CORTEZ</a:t>
            </a:r>
          </a:p>
        </p:txBody>
      </p:sp>
      <p:grpSp>
        <p:nvGrpSpPr>
          <p:cNvPr name="Group 10" id="10"/>
          <p:cNvGrpSpPr/>
          <p:nvPr/>
        </p:nvGrpSpPr>
        <p:grpSpPr>
          <a:xfrm rot="0">
            <a:off x="822960" y="685800"/>
            <a:ext cx="15087600" cy="960120"/>
            <a:chOff x="0" y="0"/>
            <a:chExt cx="20116800" cy="1280160"/>
          </a:xfrm>
        </p:grpSpPr>
        <p:sp>
          <p:nvSpPr>
            <p:cNvPr name="Freeform 11" id="11"/>
            <p:cNvSpPr/>
            <p:nvPr/>
          </p:nvSpPr>
          <p:spPr>
            <a:xfrm flipH="false" flipV="false" rot="0">
              <a:off x="0" y="0"/>
              <a:ext cx="20116800" cy="1280160"/>
            </a:xfrm>
            <a:custGeom>
              <a:avLst/>
              <a:gdLst/>
              <a:ahLst/>
              <a:cxnLst/>
              <a:rect r="r" b="b" t="t" l="l"/>
              <a:pathLst>
                <a:path h="1280160" w="20116800">
                  <a:moveTo>
                    <a:pt x="0" y="0"/>
                  </a:moveTo>
                  <a:lnTo>
                    <a:pt x="20116800" y="0"/>
                  </a:lnTo>
                  <a:lnTo>
                    <a:pt x="20116800" y="1280160"/>
                  </a:lnTo>
                  <a:lnTo>
                    <a:pt x="0" y="1280160"/>
                  </a:lnTo>
                  <a:close/>
                </a:path>
              </a:pathLst>
            </a:custGeom>
            <a:blipFill>
              <a:blip r:embed="rId4">
                <a:alphaModFix amt="0"/>
              </a:blip>
              <a:stretch>
                <a:fillRect l="0" t="-256193" r="0" b="-256193"/>
              </a:stretch>
            </a:blipFill>
          </p:spPr>
        </p:sp>
        <p:sp>
          <p:nvSpPr>
            <p:cNvPr name="TextBox 12" id="12"/>
            <p:cNvSpPr txBox="true"/>
            <p:nvPr/>
          </p:nvSpPr>
          <p:spPr>
            <a:xfrm>
              <a:off x="0" y="-9525"/>
              <a:ext cx="20116800" cy="1289685"/>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Key Takeaways</a:t>
              </a:r>
            </a:p>
          </p:txBody>
        </p:sp>
      </p:grpSp>
      <p:grpSp>
        <p:nvGrpSpPr>
          <p:cNvPr name="Group 13" id="13"/>
          <p:cNvGrpSpPr/>
          <p:nvPr/>
        </p:nvGrpSpPr>
        <p:grpSpPr>
          <a:xfrm rot="0">
            <a:off x="822960" y="2057400"/>
            <a:ext cx="8161020" cy="3223260"/>
            <a:chOff x="0" y="0"/>
            <a:chExt cx="10881360" cy="4297680"/>
          </a:xfrm>
        </p:grpSpPr>
        <p:sp>
          <p:nvSpPr>
            <p:cNvPr name="Freeform 14" id="14"/>
            <p:cNvSpPr/>
            <p:nvPr/>
          </p:nvSpPr>
          <p:spPr>
            <a:xfrm flipH="false" flipV="false" rot="0">
              <a:off x="0" y="0"/>
              <a:ext cx="10881361" cy="4297680"/>
            </a:xfrm>
            <a:custGeom>
              <a:avLst/>
              <a:gdLst/>
              <a:ahLst/>
              <a:cxnLst/>
              <a:rect r="r" b="b" t="t" l="l"/>
              <a:pathLst>
                <a:path h="4297680" w="10881361">
                  <a:moveTo>
                    <a:pt x="0" y="219456"/>
                  </a:moveTo>
                  <a:cubicBezTo>
                    <a:pt x="0" y="98298"/>
                    <a:pt x="98298" y="0"/>
                    <a:pt x="219456" y="0"/>
                  </a:cubicBezTo>
                  <a:lnTo>
                    <a:pt x="10661904" y="0"/>
                  </a:lnTo>
                  <a:cubicBezTo>
                    <a:pt x="10783062" y="0"/>
                    <a:pt x="10881361" y="98298"/>
                    <a:pt x="10881361" y="219456"/>
                  </a:cubicBezTo>
                  <a:lnTo>
                    <a:pt x="10881361" y="4078224"/>
                  </a:lnTo>
                  <a:cubicBezTo>
                    <a:pt x="10881361" y="4199382"/>
                    <a:pt x="10783062" y="4297680"/>
                    <a:pt x="10661904" y="4297680"/>
                  </a:cubicBezTo>
                  <a:lnTo>
                    <a:pt x="219456" y="4297680"/>
                  </a:lnTo>
                  <a:cubicBezTo>
                    <a:pt x="98298" y="4297680"/>
                    <a:pt x="0" y="4199382"/>
                    <a:pt x="0" y="4078224"/>
                  </a:cubicBezTo>
                  <a:close/>
                </a:path>
              </a:pathLst>
            </a:custGeom>
            <a:solidFill>
              <a:srgbClr val="F3F5FC"/>
            </a:solidFill>
          </p:spPr>
        </p:sp>
      </p:grpSp>
      <p:grpSp>
        <p:nvGrpSpPr>
          <p:cNvPr name="Group 15" id="15"/>
          <p:cNvGrpSpPr/>
          <p:nvPr/>
        </p:nvGrpSpPr>
        <p:grpSpPr>
          <a:xfrm rot="0">
            <a:off x="1234440" y="2468880"/>
            <a:ext cx="685800" cy="685800"/>
            <a:chOff x="0" y="0"/>
            <a:chExt cx="914400" cy="914400"/>
          </a:xfrm>
        </p:grpSpPr>
        <p:sp>
          <p:nvSpPr>
            <p:cNvPr name="Freeform 16" id="1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17" id="17"/>
          <p:cNvGrpSpPr/>
          <p:nvPr/>
        </p:nvGrpSpPr>
        <p:grpSpPr>
          <a:xfrm rot="0">
            <a:off x="1234440" y="2468880"/>
            <a:ext cx="685800" cy="696421"/>
            <a:chOff x="0" y="0"/>
            <a:chExt cx="914400" cy="928562"/>
          </a:xfrm>
        </p:grpSpPr>
        <p:sp>
          <p:nvSpPr>
            <p:cNvPr name="Freeform 18" id="18"/>
            <p:cNvSpPr/>
            <p:nvPr/>
          </p:nvSpPr>
          <p:spPr>
            <a:xfrm flipH="false" flipV="false" rot="0">
              <a:off x="0" y="0"/>
              <a:ext cx="914400" cy="928562"/>
            </a:xfrm>
            <a:custGeom>
              <a:avLst/>
              <a:gdLst/>
              <a:ahLst/>
              <a:cxnLst/>
              <a:rect r="r" b="b" t="t" l="l"/>
              <a:pathLst>
                <a:path h="928562" w="914400">
                  <a:moveTo>
                    <a:pt x="0" y="0"/>
                  </a:moveTo>
                  <a:lnTo>
                    <a:pt x="914400" y="0"/>
                  </a:lnTo>
                  <a:lnTo>
                    <a:pt x="914400" y="928562"/>
                  </a:lnTo>
                  <a:lnTo>
                    <a:pt x="0" y="928562"/>
                  </a:lnTo>
                  <a:close/>
                </a:path>
              </a:pathLst>
            </a:custGeom>
            <a:blipFill>
              <a:blip r:embed="rId4">
                <a:alphaModFix amt="0"/>
              </a:blip>
              <a:stretch>
                <a:fillRect l="-78303" t="0" r="-78303" b="1525"/>
              </a:stretch>
            </a:blipFill>
          </p:spPr>
        </p:sp>
        <p:sp>
          <p:nvSpPr>
            <p:cNvPr name="TextBox 19" id="19"/>
            <p:cNvSpPr txBox="true"/>
            <p:nvPr/>
          </p:nvSpPr>
          <p:spPr>
            <a:xfrm>
              <a:off x="0" y="-66675"/>
              <a:ext cx="914400" cy="995237"/>
            </a:xfrm>
            <a:prstGeom prst="rect">
              <a:avLst/>
            </a:prstGeom>
          </p:spPr>
          <p:txBody>
            <a:bodyPr anchor="ctr" rtlCol="false" tIns="0" lIns="0" bIns="0" rIns="0"/>
            <a:lstStyle/>
            <a:p>
              <a:pPr algn="ctr">
                <a:lnSpc>
                  <a:spcPts val="4199"/>
                </a:lnSpc>
              </a:pPr>
              <a:r>
                <a:rPr lang="en-US" sz="3499" b="true">
                  <a:solidFill>
                    <a:srgbClr val="FFFFFF"/>
                  </a:solidFill>
                  <a:latin typeface="Calibri (MS) Bold"/>
                  <a:ea typeface="Calibri (MS) Bold"/>
                  <a:cs typeface="Calibri (MS) Bold"/>
                  <a:sym typeface="Calibri (MS) Bold"/>
                </a:rPr>
                <a:t>1</a:t>
              </a:r>
            </a:p>
          </p:txBody>
        </p:sp>
      </p:grpSp>
      <p:grpSp>
        <p:nvGrpSpPr>
          <p:cNvPr name="Group 20" id="20"/>
          <p:cNvGrpSpPr/>
          <p:nvPr/>
        </p:nvGrpSpPr>
        <p:grpSpPr>
          <a:xfrm rot="0">
            <a:off x="2194560" y="2400300"/>
            <a:ext cx="6446520" cy="822960"/>
            <a:chOff x="0" y="0"/>
            <a:chExt cx="8595360" cy="1097280"/>
          </a:xfrm>
        </p:grpSpPr>
        <p:sp>
          <p:nvSpPr>
            <p:cNvPr name="Freeform 21" id="21"/>
            <p:cNvSpPr/>
            <p:nvPr/>
          </p:nvSpPr>
          <p:spPr>
            <a:xfrm flipH="false" flipV="false" rot="0">
              <a:off x="0" y="0"/>
              <a:ext cx="8595360" cy="1097280"/>
            </a:xfrm>
            <a:custGeom>
              <a:avLst/>
              <a:gdLst/>
              <a:ahLst/>
              <a:cxnLst/>
              <a:rect r="r" b="b" t="t" l="l"/>
              <a:pathLst>
                <a:path h="1097280" w="8595360">
                  <a:moveTo>
                    <a:pt x="0" y="0"/>
                  </a:moveTo>
                  <a:lnTo>
                    <a:pt x="8595360" y="0"/>
                  </a:lnTo>
                  <a:lnTo>
                    <a:pt x="8595360" y="1097280"/>
                  </a:lnTo>
                  <a:lnTo>
                    <a:pt x="0" y="1097280"/>
                  </a:lnTo>
                  <a:close/>
                </a:path>
              </a:pathLst>
            </a:custGeom>
            <a:blipFill>
              <a:blip r:embed="rId4">
                <a:alphaModFix amt="0"/>
              </a:blip>
              <a:stretch>
                <a:fillRect l="0" t="-102632" r="0" b="-102632"/>
              </a:stretch>
            </a:blipFill>
          </p:spPr>
        </p:sp>
        <p:sp>
          <p:nvSpPr>
            <p:cNvPr name="TextBox 22" id="22"/>
            <p:cNvSpPr txBox="true"/>
            <p:nvPr/>
          </p:nvSpPr>
          <p:spPr>
            <a:xfrm>
              <a:off x="0" y="-66675"/>
              <a:ext cx="8595360" cy="1163955"/>
            </a:xfrm>
            <a:prstGeom prst="rect">
              <a:avLst/>
            </a:prstGeom>
          </p:spPr>
          <p:txBody>
            <a:bodyPr anchor="ctr" rtlCol="false" tIns="0" lIns="0" bIns="0" rIns="0"/>
            <a:lstStyle/>
            <a:p>
              <a:pPr algn="l">
                <a:lnSpc>
                  <a:spcPts val="3929"/>
                </a:lnSpc>
              </a:pPr>
              <a:r>
                <a:rPr lang="en-US" sz="3274" b="true">
                  <a:solidFill>
                    <a:srgbClr val="1E2761"/>
                  </a:solidFill>
                  <a:latin typeface="Calibri (MS) Bold"/>
                  <a:ea typeface="Calibri (MS) Bold"/>
                  <a:cs typeface="Calibri (MS) Bold"/>
                  <a:sym typeface="Calibri (MS) Bold"/>
                </a:rPr>
                <a:t>Metrics need a method</a:t>
              </a:r>
            </a:p>
          </p:txBody>
        </p:sp>
      </p:grpSp>
      <p:grpSp>
        <p:nvGrpSpPr>
          <p:cNvPr name="Group 23" id="23"/>
          <p:cNvGrpSpPr/>
          <p:nvPr/>
        </p:nvGrpSpPr>
        <p:grpSpPr>
          <a:xfrm rot="0">
            <a:off x="1234440" y="3429000"/>
            <a:ext cx="7406640" cy="1724880"/>
            <a:chOff x="0" y="0"/>
            <a:chExt cx="9875520" cy="2299840"/>
          </a:xfrm>
        </p:grpSpPr>
        <p:sp>
          <p:nvSpPr>
            <p:cNvPr name="Freeform 24" id="24"/>
            <p:cNvSpPr/>
            <p:nvPr/>
          </p:nvSpPr>
          <p:spPr>
            <a:xfrm flipH="false" flipV="false" rot="0">
              <a:off x="0" y="0"/>
              <a:ext cx="9875520" cy="2299840"/>
            </a:xfrm>
            <a:custGeom>
              <a:avLst/>
              <a:gdLst/>
              <a:ahLst/>
              <a:cxnLst/>
              <a:rect r="r" b="b" t="t" l="l"/>
              <a:pathLst>
                <a:path h="2299840" w="9875520">
                  <a:moveTo>
                    <a:pt x="0" y="0"/>
                  </a:moveTo>
                  <a:lnTo>
                    <a:pt x="9875520" y="0"/>
                  </a:lnTo>
                  <a:lnTo>
                    <a:pt x="9875520" y="2299840"/>
                  </a:lnTo>
                  <a:lnTo>
                    <a:pt x="0" y="2299840"/>
                  </a:lnTo>
                  <a:close/>
                </a:path>
              </a:pathLst>
            </a:custGeom>
            <a:blipFill>
              <a:blip r:embed="rId4">
                <a:alphaModFix amt="0"/>
              </a:blip>
              <a:stretch>
                <a:fillRect l="0" t="-35957" r="0" b="-31379"/>
              </a:stretch>
            </a:blipFill>
          </p:spPr>
        </p:sp>
        <p:sp>
          <p:nvSpPr>
            <p:cNvPr name="TextBox 25" id="25"/>
            <p:cNvSpPr txBox="true"/>
            <p:nvPr/>
          </p:nvSpPr>
          <p:spPr>
            <a:xfrm>
              <a:off x="0" y="-161925"/>
              <a:ext cx="9875520" cy="2461765"/>
            </a:xfrm>
            <a:prstGeom prst="rect">
              <a:avLst/>
            </a:prstGeom>
          </p:spPr>
          <p:txBody>
            <a:bodyPr anchor="ctr" rtlCol="false" tIns="0" lIns="0" bIns="0" rIns="0"/>
            <a:lstStyle/>
            <a:p>
              <a:pPr algn="l">
                <a:lnSpc>
                  <a:spcPts val="4523"/>
                </a:lnSpc>
              </a:pPr>
              <a:r>
                <a:rPr lang="en-US" sz="2899">
                  <a:solidFill>
                    <a:srgbClr val="1B1F3B"/>
                  </a:solidFill>
                  <a:latin typeface="Calibri (MS)"/>
                  <a:ea typeface="Calibri (MS)"/>
                  <a:cs typeface="Calibri (MS)"/>
                  <a:sym typeface="Calibri (MS)"/>
                </a:rPr>
                <a:t>GQM, Balanced Scorecard, and NIST SP 800-55 each give structure to what you measure and why.</a:t>
              </a:r>
            </a:p>
          </p:txBody>
        </p:sp>
      </p:grpSp>
      <p:grpSp>
        <p:nvGrpSpPr>
          <p:cNvPr name="Group 26" id="26"/>
          <p:cNvGrpSpPr/>
          <p:nvPr/>
        </p:nvGrpSpPr>
        <p:grpSpPr>
          <a:xfrm rot="0">
            <a:off x="9258300" y="2057400"/>
            <a:ext cx="8161020" cy="3223260"/>
            <a:chOff x="0" y="0"/>
            <a:chExt cx="10881360" cy="4297680"/>
          </a:xfrm>
        </p:grpSpPr>
        <p:sp>
          <p:nvSpPr>
            <p:cNvPr name="Freeform 27" id="27"/>
            <p:cNvSpPr/>
            <p:nvPr/>
          </p:nvSpPr>
          <p:spPr>
            <a:xfrm flipH="false" flipV="false" rot="0">
              <a:off x="0" y="0"/>
              <a:ext cx="10881361" cy="4297680"/>
            </a:xfrm>
            <a:custGeom>
              <a:avLst/>
              <a:gdLst/>
              <a:ahLst/>
              <a:cxnLst/>
              <a:rect r="r" b="b" t="t" l="l"/>
              <a:pathLst>
                <a:path h="4297680" w="10881361">
                  <a:moveTo>
                    <a:pt x="0" y="219456"/>
                  </a:moveTo>
                  <a:cubicBezTo>
                    <a:pt x="0" y="98298"/>
                    <a:pt x="98298" y="0"/>
                    <a:pt x="219456" y="0"/>
                  </a:cubicBezTo>
                  <a:lnTo>
                    <a:pt x="10661904" y="0"/>
                  </a:lnTo>
                  <a:cubicBezTo>
                    <a:pt x="10783062" y="0"/>
                    <a:pt x="10881361" y="98298"/>
                    <a:pt x="10881361" y="219456"/>
                  </a:cubicBezTo>
                  <a:lnTo>
                    <a:pt x="10881361" y="4078224"/>
                  </a:lnTo>
                  <a:cubicBezTo>
                    <a:pt x="10881361" y="4199382"/>
                    <a:pt x="10783062" y="4297680"/>
                    <a:pt x="10661904" y="4297680"/>
                  </a:cubicBezTo>
                  <a:lnTo>
                    <a:pt x="219456" y="4297680"/>
                  </a:lnTo>
                  <a:cubicBezTo>
                    <a:pt x="98298" y="4297680"/>
                    <a:pt x="0" y="4199382"/>
                    <a:pt x="0" y="4078224"/>
                  </a:cubicBezTo>
                  <a:close/>
                </a:path>
              </a:pathLst>
            </a:custGeom>
            <a:solidFill>
              <a:srgbClr val="F3F5FC"/>
            </a:solidFill>
          </p:spPr>
        </p:sp>
      </p:grpSp>
      <p:grpSp>
        <p:nvGrpSpPr>
          <p:cNvPr name="Group 28" id="28"/>
          <p:cNvGrpSpPr/>
          <p:nvPr/>
        </p:nvGrpSpPr>
        <p:grpSpPr>
          <a:xfrm rot="0">
            <a:off x="9669780" y="2468880"/>
            <a:ext cx="685800" cy="685800"/>
            <a:chOff x="0" y="0"/>
            <a:chExt cx="914400" cy="914400"/>
          </a:xfrm>
        </p:grpSpPr>
        <p:sp>
          <p:nvSpPr>
            <p:cNvPr name="Freeform 29" id="2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30" id="30"/>
          <p:cNvGrpSpPr/>
          <p:nvPr/>
        </p:nvGrpSpPr>
        <p:grpSpPr>
          <a:xfrm rot="0">
            <a:off x="9669780" y="2468880"/>
            <a:ext cx="685800" cy="696421"/>
            <a:chOff x="0" y="0"/>
            <a:chExt cx="914400" cy="928562"/>
          </a:xfrm>
        </p:grpSpPr>
        <p:sp>
          <p:nvSpPr>
            <p:cNvPr name="Freeform 31" id="31"/>
            <p:cNvSpPr/>
            <p:nvPr/>
          </p:nvSpPr>
          <p:spPr>
            <a:xfrm flipH="false" flipV="false" rot="0">
              <a:off x="0" y="0"/>
              <a:ext cx="914400" cy="928562"/>
            </a:xfrm>
            <a:custGeom>
              <a:avLst/>
              <a:gdLst/>
              <a:ahLst/>
              <a:cxnLst/>
              <a:rect r="r" b="b" t="t" l="l"/>
              <a:pathLst>
                <a:path h="928562" w="914400">
                  <a:moveTo>
                    <a:pt x="0" y="0"/>
                  </a:moveTo>
                  <a:lnTo>
                    <a:pt x="914400" y="0"/>
                  </a:lnTo>
                  <a:lnTo>
                    <a:pt x="914400" y="928562"/>
                  </a:lnTo>
                  <a:lnTo>
                    <a:pt x="0" y="928562"/>
                  </a:lnTo>
                  <a:close/>
                </a:path>
              </a:pathLst>
            </a:custGeom>
            <a:blipFill>
              <a:blip r:embed="rId4">
                <a:alphaModFix amt="0"/>
              </a:blip>
              <a:stretch>
                <a:fillRect l="-78303" t="0" r="-78303" b="1525"/>
              </a:stretch>
            </a:blipFill>
          </p:spPr>
        </p:sp>
        <p:sp>
          <p:nvSpPr>
            <p:cNvPr name="TextBox 32" id="32"/>
            <p:cNvSpPr txBox="true"/>
            <p:nvPr/>
          </p:nvSpPr>
          <p:spPr>
            <a:xfrm>
              <a:off x="0" y="-66675"/>
              <a:ext cx="914400" cy="995237"/>
            </a:xfrm>
            <a:prstGeom prst="rect">
              <a:avLst/>
            </a:prstGeom>
          </p:spPr>
          <p:txBody>
            <a:bodyPr anchor="ctr" rtlCol="false" tIns="0" lIns="0" bIns="0" rIns="0"/>
            <a:lstStyle/>
            <a:p>
              <a:pPr algn="ctr">
                <a:lnSpc>
                  <a:spcPts val="4199"/>
                </a:lnSpc>
              </a:pPr>
              <a:r>
                <a:rPr lang="en-US" sz="3499" b="true">
                  <a:solidFill>
                    <a:srgbClr val="FFFFFF"/>
                  </a:solidFill>
                  <a:latin typeface="Calibri (MS) Bold"/>
                  <a:ea typeface="Calibri (MS) Bold"/>
                  <a:cs typeface="Calibri (MS) Bold"/>
                  <a:sym typeface="Calibri (MS) Bold"/>
                </a:rPr>
                <a:t>2</a:t>
              </a:r>
            </a:p>
          </p:txBody>
        </p:sp>
      </p:grpSp>
      <p:grpSp>
        <p:nvGrpSpPr>
          <p:cNvPr name="Group 33" id="33"/>
          <p:cNvGrpSpPr/>
          <p:nvPr/>
        </p:nvGrpSpPr>
        <p:grpSpPr>
          <a:xfrm rot="0">
            <a:off x="10629900" y="2400300"/>
            <a:ext cx="6446520" cy="822960"/>
            <a:chOff x="0" y="0"/>
            <a:chExt cx="8595360" cy="1097280"/>
          </a:xfrm>
        </p:grpSpPr>
        <p:sp>
          <p:nvSpPr>
            <p:cNvPr name="Freeform 34" id="34"/>
            <p:cNvSpPr/>
            <p:nvPr/>
          </p:nvSpPr>
          <p:spPr>
            <a:xfrm flipH="false" flipV="false" rot="0">
              <a:off x="0" y="0"/>
              <a:ext cx="8595360" cy="1097280"/>
            </a:xfrm>
            <a:custGeom>
              <a:avLst/>
              <a:gdLst/>
              <a:ahLst/>
              <a:cxnLst/>
              <a:rect r="r" b="b" t="t" l="l"/>
              <a:pathLst>
                <a:path h="1097280" w="8595360">
                  <a:moveTo>
                    <a:pt x="0" y="0"/>
                  </a:moveTo>
                  <a:lnTo>
                    <a:pt x="8595360" y="0"/>
                  </a:lnTo>
                  <a:lnTo>
                    <a:pt x="8595360" y="1097280"/>
                  </a:lnTo>
                  <a:lnTo>
                    <a:pt x="0" y="1097280"/>
                  </a:lnTo>
                  <a:close/>
                </a:path>
              </a:pathLst>
            </a:custGeom>
            <a:blipFill>
              <a:blip r:embed="rId4">
                <a:alphaModFix amt="0"/>
              </a:blip>
              <a:stretch>
                <a:fillRect l="0" t="-102632" r="0" b="-102632"/>
              </a:stretch>
            </a:blipFill>
          </p:spPr>
        </p:sp>
        <p:sp>
          <p:nvSpPr>
            <p:cNvPr name="TextBox 35" id="35"/>
            <p:cNvSpPr txBox="true"/>
            <p:nvPr/>
          </p:nvSpPr>
          <p:spPr>
            <a:xfrm>
              <a:off x="0" y="-66675"/>
              <a:ext cx="8595360" cy="1163955"/>
            </a:xfrm>
            <a:prstGeom prst="rect">
              <a:avLst/>
            </a:prstGeom>
          </p:spPr>
          <p:txBody>
            <a:bodyPr anchor="ctr" rtlCol="false" tIns="0" lIns="0" bIns="0" rIns="0"/>
            <a:lstStyle/>
            <a:p>
              <a:pPr algn="l">
                <a:lnSpc>
                  <a:spcPts val="3929"/>
                </a:lnSpc>
              </a:pPr>
              <a:r>
                <a:rPr lang="en-US" sz="3274" b="true">
                  <a:solidFill>
                    <a:srgbClr val="1E2761"/>
                  </a:solidFill>
                  <a:latin typeface="Calibri (MS) Bold"/>
                  <a:ea typeface="Calibri (MS) Bold"/>
                  <a:cs typeface="Calibri (MS) Bold"/>
                  <a:sym typeface="Calibri (MS) Bold"/>
                </a:rPr>
                <a:t>Maturity drives metric type</a:t>
              </a:r>
            </a:p>
          </p:txBody>
        </p:sp>
      </p:grpSp>
      <p:grpSp>
        <p:nvGrpSpPr>
          <p:cNvPr name="Group 36" id="36"/>
          <p:cNvGrpSpPr/>
          <p:nvPr/>
        </p:nvGrpSpPr>
        <p:grpSpPr>
          <a:xfrm rot="0">
            <a:off x="9669780" y="3429000"/>
            <a:ext cx="7406640" cy="1645920"/>
            <a:chOff x="0" y="0"/>
            <a:chExt cx="9875520" cy="2194560"/>
          </a:xfrm>
        </p:grpSpPr>
        <p:sp>
          <p:nvSpPr>
            <p:cNvPr name="Freeform 37" id="37"/>
            <p:cNvSpPr/>
            <p:nvPr/>
          </p:nvSpPr>
          <p:spPr>
            <a:xfrm flipH="false" flipV="false" rot="0">
              <a:off x="0" y="0"/>
              <a:ext cx="9875520" cy="2194560"/>
            </a:xfrm>
            <a:custGeom>
              <a:avLst/>
              <a:gdLst/>
              <a:ahLst/>
              <a:cxnLst/>
              <a:rect r="r" b="b" t="t" l="l"/>
              <a:pathLst>
                <a:path h="2194560" w="9875520">
                  <a:moveTo>
                    <a:pt x="0" y="0"/>
                  </a:moveTo>
                  <a:lnTo>
                    <a:pt x="9875520" y="0"/>
                  </a:lnTo>
                  <a:lnTo>
                    <a:pt x="9875520" y="2194560"/>
                  </a:lnTo>
                  <a:lnTo>
                    <a:pt x="0" y="2194560"/>
                  </a:lnTo>
                  <a:close/>
                </a:path>
              </a:pathLst>
            </a:custGeom>
            <a:blipFill>
              <a:blip r:embed="rId4">
                <a:alphaModFix amt="0"/>
              </a:blip>
              <a:stretch>
                <a:fillRect l="0" t="-37682" r="0" b="-37682"/>
              </a:stretch>
            </a:blipFill>
          </p:spPr>
        </p:sp>
        <p:sp>
          <p:nvSpPr>
            <p:cNvPr name="TextBox 38" id="38"/>
            <p:cNvSpPr txBox="true"/>
            <p:nvPr/>
          </p:nvSpPr>
          <p:spPr>
            <a:xfrm>
              <a:off x="0" y="-161925"/>
              <a:ext cx="9875520" cy="2356485"/>
            </a:xfrm>
            <a:prstGeom prst="rect">
              <a:avLst/>
            </a:prstGeom>
          </p:spPr>
          <p:txBody>
            <a:bodyPr anchor="ctr" rtlCol="false" tIns="0" lIns="0" bIns="0" rIns="0"/>
            <a:lstStyle/>
            <a:p>
              <a:pPr algn="l">
                <a:lnSpc>
                  <a:spcPts val="4523"/>
                </a:lnSpc>
              </a:pPr>
              <a:r>
                <a:rPr lang="en-US" sz="2899">
                  <a:solidFill>
                    <a:srgbClr val="1B1F3B"/>
                  </a:solidFill>
                  <a:latin typeface="Calibri (MS)"/>
                  <a:ea typeface="Calibri (MS)"/>
                  <a:cs typeface="Calibri (MS)"/>
                  <a:sym typeface="Calibri (MS)"/>
                </a:rPr>
                <a:t>Move from implementation → effectiveness → impact metrics as a program matures.</a:t>
              </a:r>
            </a:p>
          </p:txBody>
        </p:sp>
      </p:grpSp>
      <p:grpSp>
        <p:nvGrpSpPr>
          <p:cNvPr name="Group 39" id="39"/>
          <p:cNvGrpSpPr/>
          <p:nvPr/>
        </p:nvGrpSpPr>
        <p:grpSpPr>
          <a:xfrm rot="0">
            <a:off x="822960" y="5554980"/>
            <a:ext cx="8161020" cy="3223260"/>
            <a:chOff x="0" y="0"/>
            <a:chExt cx="10881360" cy="4297680"/>
          </a:xfrm>
        </p:grpSpPr>
        <p:sp>
          <p:nvSpPr>
            <p:cNvPr name="Freeform 40" id="40"/>
            <p:cNvSpPr/>
            <p:nvPr/>
          </p:nvSpPr>
          <p:spPr>
            <a:xfrm flipH="false" flipV="false" rot="0">
              <a:off x="0" y="0"/>
              <a:ext cx="10881361" cy="4297680"/>
            </a:xfrm>
            <a:custGeom>
              <a:avLst/>
              <a:gdLst/>
              <a:ahLst/>
              <a:cxnLst/>
              <a:rect r="r" b="b" t="t" l="l"/>
              <a:pathLst>
                <a:path h="4297680" w="10881361">
                  <a:moveTo>
                    <a:pt x="0" y="219456"/>
                  </a:moveTo>
                  <a:cubicBezTo>
                    <a:pt x="0" y="98298"/>
                    <a:pt x="98298" y="0"/>
                    <a:pt x="219456" y="0"/>
                  </a:cubicBezTo>
                  <a:lnTo>
                    <a:pt x="10661904" y="0"/>
                  </a:lnTo>
                  <a:cubicBezTo>
                    <a:pt x="10783062" y="0"/>
                    <a:pt x="10881361" y="98298"/>
                    <a:pt x="10881361" y="219456"/>
                  </a:cubicBezTo>
                  <a:lnTo>
                    <a:pt x="10881361" y="4078224"/>
                  </a:lnTo>
                  <a:cubicBezTo>
                    <a:pt x="10881361" y="4199382"/>
                    <a:pt x="10783062" y="4297680"/>
                    <a:pt x="10661904" y="4297680"/>
                  </a:cubicBezTo>
                  <a:lnTo>
                    <a:pt x="219456" y="4297680"/>
                  </a:lnTo>
                  <a:cubicBezTo>
                    <a:pt x="98298" y="4297680"/>
                    <a:pt x="0" y="4199382"/>
                    <a:pt x="0" y="4078224"/>
                  </a:cubicBezTo>
                  <a:close/>
                </a:path>
              </a:pathLst>
            </a:custGeom>
            <a:solidFill>
              <a:srgbClr val="F3F5FC"/>
            </a:solidFill>
          </p:spPr>
        </p:sp>
      </p:grpSp>
      <p:grpSp>
        <p:nvGrpSpPr>
          <p:cNvPr name="Group 41" id="41"/>
          <p:cNvGrpSpPr/>
          <p:nvPr/>
        </p:nvGrpSpPr>
        <p:grpSpPr>
          <a:xfrm rot="0">
            <a:off x="1234440" y="5966460"/>
            <a:ext cx="685800" cy="685800"/>
            <a:chOff x="0" y="0"/>
            <a:chExt cx="914400" cy="914400"/>
          </a:xfrm>
        </p:grpSpPr>
        <p:sp>
          <p:nvSpPr>
            <p:cNvPr name="Freeform 42" id="4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43" id="43"/>
          <p:cNvGrpSpPr/>
          <p:nvPr/>
        </p:nvGrpSpPr>
        <p:grpSpPr>
          <a:xfrm rot="0">
            <a:off x="1234440" y="5966460"/>
            <a:ext cx="685800" cy="696421"/>
            <a:chOff x="0" y="0"/>
            <a:chExt cx="914400" cy="928562"/>
          </a:xfrm>
        </p:grpSpPr>
        <p:sp>
          <p:nvSpPr>
            <p:cNvPr name="Freeform 44" id="44"/>
            <p:cNvSpPr/>
            <p:nvPr/>
          </p:nvSpPr>
          <p:spPr>
            <a:xfrm flipH="false" flipV="false" rot="0">
              <a:off x="0" y="0"/>
              <a:ext cx="914400" cy="928562"/>
            </a:xfrm>
            <a:custGeom>
              <a:avLst/>
              <a:gdLst/>
              <a:ahLst/>
              <a:cxnLst/>
              <a:rect r="r" b="b" t="t" l="l"/>
              <a:pathLst>
                <a:path h="928562" w="914400">
                  <a:moveTo>
                    <a:pt x="0" y="0"/>
                  </a:moveTo>
                  <a:lnTo>
                    <a:pt x="914400" y="0"/>
                  </a:lnTo>
                  <a:lnTo>
                    <a:pt x="914400" y="928562"/>
                  </a:lnTo>
                  <a:lnTo>
                    <a:pt x="0" y="928562"/>
                  </a:lnTo>
                  <a:close/>
                </a:path>
              </a:pathLst>
            </a:custGeom>
            <a:blipFill>
              <a:blip r:embed="rId4">
                <a:alphaModFix amt="0"/>
              </a:blip>
              <a:stretch>
                <a:fillRect l="-78303" t="0" r="-78303" b="1525"/>
              </a:stretch>
            </a:blipFill>
          </p:spPr>
        </p:sp>
        <p:sp>
          <p:nvSpPr>
            <p:cNvPr name="TextBox 45" id="45"/>
            <p:cNvSpPr txBox="true"/>
            <p:nvPr/>
          </p:nvSpPr>
          <p:spPr>
            <a:xfrm>
              <a:off x="0" y="-66675"/>
              <a:ext cx="914400" cy="995237"/>
            </a:xfrm>
            <a:prstGeom prst="rect">
              <a:avLst/>
            </a:prstGeom>
          </p:spPr>
          <p:txBody>
            <a:bodyPr anchor="ctr" rtlCol="false" tIns="0" lIns="0" bIns="0" rIns="0"/>
            <a:lstStyle/>
            <a:p>
              <a:pPr algn="ctr">
                <a:lnSpc>
                  <a:spcPts val="4199"/>
                </a:lnSpc>
              </a:pPr>
              <a:r>
                <a:rPr lang="en-US" sz="3499" b="true">
                  <a:solidFill>
                    <a:srgbClr val="FFFFFF"/>
                  </a:solidFill>
                  <a:latin typeface="Calibri (MS) Bold"/>
                  <a:ea typeface="Calibri (MS) Bold"/>
                  <a:cs typeface="Calibri (MS) Bold"/>
                  <a:sym typeface="Calibri (MS) Bold"/>
                </a:rPr>
                <a:t>3</a:t>
              </a:r>
            </a:p>
          </p:txBody>
        </p:sp>
      </p:grpSp>
      <p:grpSp>
        <p:nvGrpSpPr>
          <p:cNvPr name="Group 46" id="46"/>
          <p:cNvGrpSpPr/>
          <p:nvPr/>
        </p:nvGrpSpPr>
        <p:grpSpPr>
          <a:xfrm rot="0">
            <a:off x="2194560" y="5897880"/>
            <a:ext cx="6446520" cy="822960"/>
            <a:chOff x="0" y="0"/>
            <a:chExt cx="8595360" cy="1097280"/>
          </a:xfrm>
        </p:grpSpPr>
        <p:sp>
          <p:nvSpPr>
            <p:cNvPr name="Freeform 47" id="47"/>
            <p:cNvSpPr/>
            <p:nvPr/>
          </p:nvSpPr>
          <p:spPr>
            <a:xfrm flipH="false" flipV="false" rot="0">
              <a:off x="0" y="0"/>
              <a:ext cx="8595360" cy="1097280"/>
            </a:xfrm>
            <a:custGeom>
              <a:avLst/>
              <a:gdLst/>
              <a:ahLst/>
              <a:cxnLst/>
              <a:rect r="r" b="b" t="t" l="l"/>
              <a:pathLst>
                <a:path h="1097280" w="8595360">
                  <a:moveTo>
                    <a:pt x="0" y="0"/>
                  </a:moveTo>
                  <a:lnTo>
                    <a:pt x="8595360" y="0"/>
                  </a:lnTo>
                  <a:lnTo>
                    <a:pt x="8595360" y="1097280"/>
                  </a:lnTo>
                  <a:lnTo>
                    <a:pt x="0" y="1097280"/>
                  </a:lnTo>
                  <a:close/>
                </a:path>
              </a:pathLst>
            </a:custGeom>
            <a:blipFill>
              <a:blip r:embed="rId4">
                <a:alphaModFix amt="0"/>
              </a:blip>
              <a:stretch>
                <a:fillRect l="0" t="-102632" r="0" b="-102632"/>
              </a:stretch>
            </a:blipFill>
          </p:spPr>
        </p:sp>
        <p:sp>
          <p:nvSpPr>
            <p:cNvPr name="TextBox 48" id="48"/>
            <p:cNvSpPr txBox="true"/>
            <p:nvPr/>
          </p:nvSpPr>
          <p:spPr>
            <a:xfrm>
              <a:off x="0" y="-66675"/>
              <a:ext cx="8595360" cy="1163955"/>
            </a:xfrm>
            <a:prstGeom prst="rect">
              <a:avLst/>
            </a:prstGeom>
          </p:spPr>
          <p:txBody>
            <a:bodyPr anchor="ctr" rtlCol="false" tIns="0" lIns="0" bIns="0" rIns="0"/>
            <a:lstStyle/>
            <a:p>
              <a:pPr algn="l">
                <a:lnSpc>
                  <a:spcPts val="3929"/>
                </a:lnSpc>
              </a:pPr>
              <a:r>
                <a:rPr lang="en-US" sz="3274" b="true">
                  <a:solidFill>
                    <a:srgbClr val="1E2761"/>
                  </a:solidFill>
                  <a:latin typeface="Calibri (MS) Bold"/>
                  <a:ea typeface="Calibri (MS) Bold"/>
                  <a:cs typeface="Calibri (MS) Bold"/>
                  <a:sym typeface="Calibri (MS) Bold"/>
                </a:rPr>
                <a:t>FISMA formalizes accountability</a:t>
              </a:r>
            </a:p>
          </p:txBody>
        </p:sp>
      </p:grpSp>
      <p:grpSp>
        <p:nvGrpSpPr>
          <p:cNvPr name="Group 49" id="49"/>
          <p:cNvGrpSpPr/>
          <p:nvPr/>
        </p:nvGrpSpPr>
        <p:grpSpPr>
          <a:xfrm rot="0">
            <a:off x="1234440" y="6926580"/>
            <a:ext cx="7406640" cy="1645920"/>
            <a:chOff x="0" y="0"/>
            <a:chExt cx="9875520" cy="2194560"/>
          </a:xfrm>
        </p:grpSpPr>
        <p:sp>
          <p:nvSpPr>
            <p:cNvPr name="Freeform 50" id="50"/>
            <p:cNvSpPr/>
            <p:nvPr/>
          </p:nvSpPr>
          <p:spPr>
            <a:xfrm flipH="false" flipV="false" rot="0">
              <a:off x="0" y="0"/>
              <a:ext cx="9875520" cy="2194560"/>
            </a:xfrm>
            <a:custGeom>
              <a:avLst/>
              <a:gdLst/>
              <a:ahLst/>
              <a:cxnLst/>
              <a:rect r="r" b="b" t="t" l="l"/>
              <a:pathLst>
                <a:path h="2194560" w="9875520">
                  <a:moveTo>
                    <a:pt x="0" y="0"/>
                  </a:moveTo>
                  <a:lnTo>
                    <a:pt x="9875520" y="0"/>
                  </a:lnTo>
                  <a:lnTo>
                    <a:pt x="9875520" y="2194560"/>
                  </a:lnTo>
                  <a:lnTo>
                    <a:pt x="0" y="2194560"/>
                  </a:lnTo>
                  <a:close/>
                </a:path>
              </a:pathLst>
            </a:custGeom>
            <a:blipFill>
              <a:blip r:embed="rId4">
                <a:alphaModFix amt="0"/>
              </a:blip>
              <a:stretch>
                <a:fillRect l="0" t="-37682" r="0" b="-37682"/>
              </a:stretch>
            </a:blipFill>
          </p:spPr>
        </p:sp>
        <p:sp>
          <p:nvSpPr>
            <p:cNvPr name="TextBox 51" id="51"/>
            <p:cNvSpPr txBox="true"/>
            <p:nvPr/>
          </p:nvSpPr>
          <p:spPr>
            <a:xfrm>
              <a:off x="0" y="-161925"/>
              <a:ext cx="9875520" cy="2356485"/>
            </a:xfrm>
            <a:prstGeom prst="rect">
              <a:avLst/>
            </a:prstGeom>
          </p:spPr>
          <p:txBody>
            <a:bodyPr anchor="ctr" rtlCol="false" tIns="0" lIns="0" bIns="0" rIns="0"/>
            <a:lstStyle/>
            <a:p>
              <a:pPr algn="l">
                <a:lnSpc>
                  <a:spcPts val="4523"/>
                </a:lnSpc>
              </a:pPr>
              <a:r>
                <a:rPr lang="en-US" sz="2899">
                  <a:solidFill>
                    <a:srgbClr val="1B1F3B"/>
                  </a:solidFill>
                  <a:latin typeface="Calibri (MS)"/>
                  <a:ea typeface="Calibri (MS)"/>
                  <a:cs typeface="Calibri (MS)"/>
                  <a:sym typeface="Calibri (MS)"/>
                </a:rPr>
                <a:t>Federal agencies must measure, report, and be independently audited on security posture.</a:t>
              </a:r>
            </a:p>
          </p:txBody>
        </p:sp>
      </p:grpSp>
      <p:grpSp>
        <p:nvGrpSpPr>
          <p:cNvPr name="Group 52" id="52"/>
          <p:cNvGrpSpPr/>
          <p:nvPr/>
        </p:nvGrpSpPr>
        <p:grpSpPr>
          <a:xfrm rot="0">
            <a:off x="9258300" y="5554980"/>
            <a:ext cx="8161020" cy="3223260"/>
            <a:chOff x="0" y="0"/>
            <a:chExt cx="10881360" cy="4297680"/>
          </a:xfrm>
        </p:grpSpPr>
        <p:sp>
          <p:nvSpPr>
            <p:cNvPr name="Freeform 53" id="53"/>
            <p:cNvSpPr/>
            <p:nvPr/>
          </p:nvSpPr>
          <p:spPr>
            <a:xfrm flipH="false" flipV="false" rot="0">
              <a:off x="0" y="0"/>
              <a:ext cx="10881361" cy="4297680"/>
            </a:xfrm>
            <a:custGeom>
              <a:avLst/>
              <a:gdLst/>
              <a:ahLst/>
              <a:cxnLst/>
              <a:rect r="r" b="b" t="t" l="l"/>
              <a:pathLst>
                <a:path h="4297680" w="10881361">
                  <a:moveTo>
                    <a:pt x="0" y="219456"/>
                  </a:moveTo>
                  <a:cubicBezTo>
                    <a:pt x="0" y="98298"/>
                    <a:pt x="98298" y="0"/>
                    <a:pt x="219456" y="0"/>
                  </a:cubicBezTo>
                  <a:lnTo>
                    <a:pt x="10661904" y="0"/>
                  </a:lnTo>
                  <a:cubicBezTo>
                    <a:pt x="10783062" y="0"/>
                    <a:pt x="10881361" y="98298"/>
                    <a:pt x="10881361" y="219456"/>
                  </a:cubicBezTo>
                  <a:lnTo>
                    <a:pt x="10881361" y="4078224"/>
                  </a:lnTo>
                  <a:cubicBezTo>
                    <a:pt x="10881361" y="4199382"/>
                    <a:pt x="10783062" y="4297680"/>
                    <a:pt x="10661904" y="4297680"/>
                  </a:cubicBezTo>
                  <a:lnTo>
                    <a:pt x="219456" y="4297680"/>
                  </a:lnTo>
                  <a:cubicBezTo>
                    <a:pt x="98298" y="4297680"/>
                    <a:pt x="0" y="4199382"/>
                    <a:pt x="0" y="4078224"/>
                  </a:cubicBezTo>
                  <a:close/>
                </a:path>
              </a:pathLst>
            </a:custGeom>
            <a:solidFill>
              <a:srgbClr val="F3F5FC"/>
            </a:solidFill>
          </p:spPr>
        </p:sp>
      </p:grpSp>
      <p:grpSp>
        <p:nvGrpSpPr>
          <p:cNvPr name="Group 54" id="54"/>
          <p:cNvGrpSpPr/>
          <p:nvPr/>
        </p:nvGrpSpPr>
        <p:grpSpPr>
          <a:xfrm rot="0">
            <a:off x="9669780" y="5966460"/>
            <a:ext cx="685800" cy="685800"/>
            <a:chOff x="0" y="0"/>
            <a:chExt cx="914400" cy="914400"/>
          </a:xfrm>
        </p:grpSpPr>
        <p:sp>
          <p:nvSpPr>
            <p:cNvPr name="Freeform 55" id="5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56" id="56"/>
          <p:cNvGrpSpPr/>
          <p:nvPr/>
        </p:nvGrpSpPr>
        <p:grpSpPr>
          <a:xfrm rot="0">
            <a:off x="9669780" y="5966460"/>
            <a:ext cx="685800" cy="696421"/>
            <a:chOff x="0" y="0"/>
            <a:chExt cx="914400" cy="928562"/>
          </a:xfrm>
        </p:grpSpPr>
        <p:sp>
          <p:nvSpPr>
            <p:cNvPr name="Freeform 57" id="57"/>
            <p:cNvSpPr/>
            <p:nvPr/>
          </p:nvSpPr>
          <p:spPr>
            <a:xfrm flipH="false" flipV="false" rot="0">
              <a:off x="0" y="0"/>
              <a:ext cx="914400" cy="928562"/>
            </a:xfrm>
            <a:custGeom>
              <a:avLst/>
              <a:gdLst/>
              <a:ahLst/>
              <a:cxnLst/>
              <a:rect r="r" b="b" t="t" l="l"/>
              <a:pathLst>
                <a:path h="928562" w="914400">
                  <a:moveTo>
                    <a:pt x="0" y="0"/>
                  </a:moveTo>
                  <a:lnTo>
                    <a:pt x="914400" y="0"/>
                  </a:lnTo>
                  <a:lnTo>
                    <a:pt x="914400" y="928562"/>
                  </a:lnTo>
                  <a:lnTo>
                    <a:pt x="0" y="928562"/>
                  </a:lnTo>
                  <a:close/>
                </a:path>
              </a:pathLst>
            </a:custGeom>
            <a:blipFill>
              <a:blip r:embed="rId4">
                <a:alphaModFix amt="0"/>
              </a:blip>
              <a:stretch>
                <a:fillRect l="-78303" t="0" r="-78303" b="1525"/>
              </a:stretch>
            </a:blipFill>
          </p:spPr>
        </p:sp>
        <p:sp>
          <p:nvSpPr>
            <p:cNvPr name="TextBox 58" id="58"/>
            <p:cNvSpPr txBox="true"/>
            <p:nvPr/>
          </p:nvSpPr>
          <p:spPr>
            <a:xfrm>
              <a:off x="0" y="-66675"/>
              <a:ext cx="914400" cy="995237"/>
            </a:xfrm>
            <a:prstGeom prst="rect">
              <a:avLst/>
            </a:prstGeom>
          </p:spPr>
          <p:txBody>
            <a:bodyPr anchor="ctr" rtlCol="false" tIns="0" lIns="0" bIns="0" rIns="0"/>
            <a:lstStyle/>
            <a:p>
              <a:pPr algn="ctr">
                <a:lnSpc>
                  <a:spcPts val="4199"/>
                </a:lnSpc>
              </a:pPr>
              <a:r>
                <a:rPr lang="en-US" sz="3499" b="true">
                  <a:solidFill>
                    <a:srgbClr val="FFFFFF"/>
                  </a:solidFill>
                  <a:latin typeface="Calibri (MS) Bold"/>
                  <a:ea typeface="Calibri (MS) Bold"/>
                  <a:cs typeface="Calibri (MS) Bold"/>
                  <a:sym typeface="Calibri (MS) Bold"/>
                </a:rPr>
                <a:t>4</a:t>
              </a:r>
            </a:p>
          </p:txBody>
        </p:sp>
      </p:grpSp>
      <p:grpSp>
        <p:nvGrpSpPr>
          <p:cNvPr name="Group 59" id="59"/>
          <p:cNvGrpSpPr/>
          <p:nvPr/>
        </p:nvGrpSpPr>
        <p:grpSpPr>
          <a:xfrm rot="0">
            <a:off x="10629900" y="5897880"/>
            <a:ext cx="6446520" cy="1152054"/>
            <a:chOff x="0" y="0"/>
            <a:chExt cx="8595360" cy="1536072"/>
          </a:xfrm>
        </p:grpSpPr>
        <p:sp>
          <p:nvSpPr>
            <p:cNvPr name="Freeform 60" id="60"/>
            <p:cNvSpPr/>
            <p:nvPr/>
          </p:nvSpPr>
          <p:spPr>
            <a:xfrm flipH="false" flipV="false" rot="0">
              <a:off x="0" y="0"/>
              <a:ext cx="8595360" cy="1536072"/>
            </a:xfrm>
            <a:custGeom>
              <a:avLst/>
              <a:gdLst/>
              <a:ahLst/>
              <a:cxnLst/>
              <a:rect r="r" b="b" t="t" l="l"/>
              <a:pathLst>
                <a:path h="1536072" w="8595360">
                  <a:moveTo>
                    <a:pt x="0" y="0"/>
                  </a:moveTo>
                  <a:lnTo>
                    <a:pt x="8595360" y="0"/>
                  </a:lnTo>
                  <a:lnTo>
                    <a:pt x="8595360" y="1536072"/>
                  </a:lnTo>
                  <a:lnTo>
                    <a:pt x="0" y="1536072"/>
                  </a:lnTo>
                  <a:close/>
                </a:path>
              </a:pathLst>
            </a:custGeom>
            <a:blipFill>
              <a:blip r:embed="rId4">
                <a:alphaModFix amt="0"/>
              </a:blip>
              <a:stretch>
                <a:fillRect l="0" t="-73314" r="0" b="-44749"/>
              </a:stretch>
            </a:blipFill>
          </p:spPr>
        </p:sp>
        <p:sp>
          <p:nvSpPr>
            <p:cNvPr name="TextBox 61" id="61"/>
            <p:cNvSpPr txBox="true"/>
            <p:nvPr/>
          </p:nvSpPr>
          <p:spPr>
            <a:xfrm>
              <a:off x="0" y="-66675"/>
              <a:ext cx="8595360" cy="1602747"/>
            </a:xfrm>
            <a:prstGeom prst="rect">
              <a:avLst/>
            </a:prstGeom>
          </p:spPr>
          <p:txBody>
            <a:bodyPr anchor="ctr" rtlCol="false" tIns="0" lIns="0" bIns="0" rIns="0"/>
            <a:lstStyle/>
            <a:p>
              <a:pPr algn="l">
                <a:lnSpc>
                  <a:spcPts val="3929"/>
                </a:lnSpc>
              </a:pPr>
              <a:r>
                <a:rPr lang="en-US" sz="3274" b="true">
                  <a:solidFill>
                    <a:srgbClr val="1E2761"/>
                  </a:solidFill>
                  <a:latin typeface="Calibri (MS) Bold"/>
                  <a:ea typeface="Calibri (MS) Bold"/>
                  <a:cs typeface="Calibri (MS) Bold"/>
                  <a:sym typeface="Calibri (MS) Bold"/>
                </a:rPr>
                <a:t>Metrics are strategic, not just technical</a:t>
              </a:r>
            </a:p>
          </p:txBody>
        </p:sp>
      </p:grpSp>
      <p:grpSp>
        <p:nvGrpSpPr>
          <p:cNvPr name="Group 62" id="62"/>
          <p:cNvGrpSpPr/>
          <p:nvPr/>
        </p:nvGrpSpPr>
        <p:grpSpPr>
          <a:xfrm rot="0">
            <a:off x="9669780" y="6926580"/>
            <a:ext cx="7406640" cy="1645920"/>
            <a:chOff x="0" y="0"/>
            <a:chExt cx="9875520" cy="2194560"/>
          </a:xfrm>
        </p:grpSpPr>
        <p:sp>
          <p:nvSpPr>
            <p:cNvPr name="Freeform 63" id="63"/>
            <p:cNvSpPr/>
            <p:nvPr/>
          </p:nvSpPr>
          <p:spPr>
            <a:xfrm flipH="false" flipV="false" rot="0">
              <a:off x="0" y="0"/>
              <a:ext cx="9875520" cy="2194560"/>
            </a:xfrm>
            <a:custGeom>
              <a:avLst/>
              <a:gdLst/>
              <a:ahLst/>
              <a:cxnLst/>
              <a:rect r="r" b="b" t="t" l="l"/>
              <a:pathLst>
                <a:path h="2194560" w="9875520">
                  <a:moveTo>
                    <a:pt x="0" y="0"/>
                  </a:moveTo>
                  <a:lnTo>
                    <a:pt x="9875520" y="0"/>
                  </a:lnTo>
                  <a:lnTo>
                    <a:pt x="9875520" y="2194560"/>
                  </a:lnTo>
                  <a:lnTo>
                    <a:pt x="0" y="2194560"/>
                  </a:lnTo>
                  <a:close/>
                </a:path>
              </a:pathLst>
            </a:custGeom>
            <a:blipFill>
              <a:blip r:embed="rId4">
                <a:alphaModFix amt="0"/>
              </a:blip>
              <a:stretch>
                <a:fillRect l="0" t="-37682" r="0" b="-37682"/>
              </a:stretch>
            </a:blipFill>
          </p:spPr>
        </p:sp>
        <p:sp>
          <p:nvSpPr>
            <p:cNvPr name="TextBox 64" id="64"/>
            <p:cNvSpPr txBox="true"/>
            <p:nvPr/>
          </p:nvSpPr>
          <p:spPr>
            <a:xfrm>
              <a:off x="0" y="-161925"/>
              <a:ext cx="9875520" cy="2356485"/>
            </a:xfrm>
            <a:prstGeom prst="rect">
              <a:avLst/>
            </a:prstGeom>
          </p:spPr>
          <p:txBody>
            <a:bodyPr anchor="ctr" rtlCol="false" tIns="0" lIns="0" bIns="0" rIns="0"/>
            <a:lstStyle/>
            <a:p>
              <a:pPr algn="l">
                <a:lnSpc>
                  <a:spcPts val="4523"/>
                </a:lnSpc>
              </a:pPr>
              <a:r>
                <a:rPr lang="en-US" sz="2899">
                  <a:solidFill>
                    <a:srgbClr val="1B1F3B"/>
                  </a:solidFill>
                  <a:latin typeface="Calibri (MS)"/>
                  <a:ea typeface="Calibri (MS)"/>
                  <a:cs typeface="Calibri (MS)"/>
                  <a:sym typeface="Calibri (MS)"/>
                </a:rPr>
                <a:t>Good metrics connect security work directly to risk, cost, and mission outcomes.</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47625"/>
              <a:ext cx="1848158" cy="3198609"/>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498034" y="2355594"/>
            <a:ext cx="15291933" cy="5575813"/>
            <a:chOff x="0" y="0"/>
            <a:chExt cx="4027505" cy="1468527"/>
          </a:xfrm>
        </p:grpSpPr>
        <p:sp>
          <p:nvSpPr>
            <p:cNvPr name="Freeform 6" id="6"/>
            <p:cNvSpPr/>
            <p:nvPr/>
          </p:nvSpPr>
          <p:spPr>
            <a:xfrm flipH="false" flipV="false" rot="0">
              <a:off x="0" y="0"/>
              <a:ext cx="4027505" cy="1468527"/>
            </a:xfrm>
            <a:custGeom>
              <a:avLst/>
              <a:gdLst/>
              <a:ahLst/>
              <a:cxnLst/>
              <a:rect r="r" b="b" t="t" l="l"/>
              <a:pathLst>
                <a:path h="1468527" w="4027505">
                  <a:moveTo>
                    <a:pt x="0" y="0"/>
                  </a:moveTo>
                  <a:lnTo>
                    <a:pt x="4027505" y="0"/>
                  </a:lnTo>
                  <a:lnTo>
                    <a:pt x="4027505" y="1468527"/>
                  </a:lnTo>
                  <a:lnTo>
                    <a:pt x="0" y="1468527"/>
                  </a:lnTo>
                  <a:close/>
                </a:path>
              </a:pathLst>
            </a:custGeom>
            <a:solidFill>
              <a:srgbClr val="FFFFFF"/>
            </a:solidFill>
          </p:spPr>
        </p:sp>
        <p:sp>
          <p:nvSpPr>
            <p:cNvPr name="TextBox 7" id="7"/>
            <p:cNvSpPr txBox="true"/>
            <p:nvPr/>
          </p:nvSpPr>
          <p:spPr>
            <a:xfrm>
              <a:off x="0" y="-47625"/>
              <a:ext cx="4027505" cy="1516152"/>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1498034" y="2355594"/>
            <a:ext cx="956740" cy="5575813"/>
            <a:chOff x="0" y="0"/>
            <a:chExt cx="251981" cy="1468527"/>
          </a:xfrm>
        </p:grpSpPr>
        <p:sp>
          <p:nvSpPr>
            <p:cNvPr name="Freeform 9" id="9"/>
            <p:cNvSpPr/>
            <p:nvPr/>
          </p:nvSpPr>
          <p:spPr>
            <a:xfrm flipH="false" flipV="false" rot="0">
              <a:off x="0" y="0"/>
              <a:ext cx="251981" cy="1468527"/>
            </a:xfrm>
            <a:custGeom>
              <a:avLst/>
              <a:gdLst/>
              <a:ahLst/>
              <a:cxnLst/>
              <a:rect r="r" b="b" t="t" l="l"/>
              <a:pathLst>
                <a:path h="1468527" w="251981">
                  <a:moveTo>
                    <a:pt x="0" y="0"/>
                  </a:moveTo>
                  <a:lnTo>
                    <a:pt x="251981" y="0"/>
                  </a:lnTo>
                  <a:lnTo>
                    <a:pt x="251981" y="1468527"/>
                  </a:lnTo>
                  <a:lnTo>
                    <a:pt x="0" y="1468527"/>
                  </a:lnTo>
                  <a:close/>
                </a:path>
              </a:pathLst>
            </a:custGeom>
            <a:solidFill>
              <a:srgbClr val="FFD076"/>
            </a:solidFill>
          </p:spPr>
        </p:sp>
        <p:sp>
          <p:nvSpPr>
            <p:cNvPr name="TextBox 10" id="10"/>
            <p:cNvSpPr txBox="true"/>
            <p:nvPr/>
          </p:nvSpPr>
          <p:spPr>
            <a:xfrm>
              <a:off x="0" y="-47625"/>
              <a:ext cx="251981" cy="1516152"/>
            </a:xfrm>
            <a:prstGeom prst="rect">
              <a:avLst/>
            </a:prstGeom>
          </p:spPr>
          <p:txBody>
            <a:bodyPr anchor="ctr" rtlCol="false" tIns="50800" lIns="50800" bIns="50800" rIns="50800"/>
            <a:lstStyle/>
            <a:p>
              <a:pPr algn="ctr">
                <a:lnSpc>
                  <a:spcPts val="3560"/>
                </a:lnSpc>
              </a:pPr>
            </a:p>
          </p:txBody>
        </p:sp>
      </p:grpSp>
      <p:sp>
        <p:nvSpPr>
          <p:cNvPr name="TextBox 11" id="11"/>
          <p:cNvSpPr txBox="true"/>
          <p:nvPr/>
        </p:nvSpPr>
        <p:spPr>
          <a:xfrm rot="0">
            <a:off x="2879551" y="3023561"/>
            <a:ext cx="13097574" cy="1368139"/>
          </a:xfrm>
          <a:prstGeom prst="rect">
            <a:avLst/>
          </a:prstGeom>
        </p:spPr>
        <p:txBody>
          <a:bodyPr anchor="t" rtlCol="false" tIns="0" lIns="0" bIns="0" rIns="0">
            <a:spAutoFit/>
          </a:bodyPr>
          <a:lstStyle/>
          <a:p>
            <a:pPr algn="l" marL="0" indent="0" lvl="0">
              <a:lnSpc>
                <a:spcPts val="10690"/>
              </a:lnSpc>
              <a:spcBef>
                <a:spcPct val="0"/>
              </a:spcBef>
            </a:pPr>
            <a:r>
              <a:rPr lang="en-US" b="true" sz="7636">
                <a:solidFill>
                  <a:srgbClr val="8B5F0B"/>
                </a:solidFill>
                <a:latin typeface="Poppins Bold"/>
                <a:ea typeface="Poppins Bold"/>
                <a:cs typeface="Poppins Bold"/>
                <a:sym typeface="Poppins Bold"/>
              </a:rPr>
              <a:t>Objectives</a:t>
            </a:r>
          </a:p>
        </p:txBody>
      </p:sp>
      <p:sp>
        <p:nvSpPr>
          <p:cNvPr name="TextBox 12" id="12"/>
          <p:cNvSpPr txBox="true"/>
          <p:nvPr/>
        </p:nvSpPr>
        <p:spPr>
          <a:xfrm rot="0">
            <a:off x="2879551" y="4563713"/>
            <a:ext cx="12572904" cy="2490177"/>
          </a:xfrm>
          <a:prstGeom prst="rect">
            <a:avLst/>
          </a:prstGeom>
        </p:spPr>
        <p:txBody>
          <a:bodyPr anchor="t" rtlCol="false" tIns="0" lIns="0" bIns="0" rIns="0">
            <a:spAutoFit/>
          </a:bodyPr>
          <a:lstStyle/>
          <a:p>
            <a:pPr algn="l" marL="0" indent="0" lvl="0">
              <a:lnSpc>
                <a:spcPts val="3946"/>
              </a:lnSpc>
              <a:spcBef>
                <a:spcPct val="0"/>
              </a:spcBef>
            </a:pPr>
            <a:r>
              <a:rPr lang="en-US" sz="2819">
                <a:solidFill>
                  <a:srgbClr val="000000"/>
                </a:solidFill>
                <a:latin typeface="Poppins"/>
                <a:ea typeface="Poppins"/>
                <a:cs typeface="Poppins"/>
                <a:sym typeface="Poppins"/>
              </a:rPr>
              <a:t>As we delve into the SDGs Progress Report, I want to express my gratitude for the unwavering commitment each of you has shown toward advancing sustainable development. Our collective efforts are not just about meeting goals; they are a testament to our shared responsibility in shaping a better future.</a:t>
            </a:r>
          </a:p>
        </p:txBody>
      </p:sp>
      <p:sp>
        <p:nvSpPr>
          <p:cNvPr name="TextBox 13" id="13"/>
          <p:cNvSpPr txBox="true"/>
          <p:nvPr/>
        </p:nvSpPr>
        <p:spPr>
          <a:xfrm rot="0">
            <a:off x="6407056" y="8572326"/>
            <a:ext cx="5473887" cy="459182"/>
          </a:xfrm>
          <a:prstGeom prst="rect">
            <a:avLst/>
          </a:prstGeom>
        </p:spPr>
        <p:txBody>
          <a:bodyPr anchor="t" rtlCol="false" tIns="0" lIns="0" bIns="0" rIns="0">
            <a:spAutoFit/>
          </a:bodyPr>
          <a:lstStyle/>
          <a:p>
            <a:pPr algn="ctr" marL="0" indent="0" lvl="0">
              <a:lnSpc>
                <a:spcPts val="3560"/>
              </a:lnSpc>
              <a:spcBef>
                <a:spcPct val="0"/>
              </a:spcBef>
            </a:pPr>
            <a:r>
              <a:rPr lang="en-US" sz="2543" spc="1017">
                <a:solidFill>
                  <a:srgbClr val="383838"/>
                </a:solidFill>
                <a:latin typeface="Poppins"/>
                <a:ea typeface="Poppins"/>
                <a:cs typeface="Poppins"/>
                <a:sym typeface="Poppins"/>
              </a:rPr>
              <a:t>INGOUDE COMPANY</a:t>
            </a:r>
          </a:p>
        </p:txBody>
      </p:sp>
      <p:sp>
        <p:nvSpPr>
          <p:cNvPr name="TextBox 14" id="14"/>
          <p:cNvSpPr txBox="true"/>
          <p:nvPr/>
        </p:nvSpPr>
        <p:spPr>
          <a:xfrm rot="0">
            <a:off x="6407056" y="9182100"/>
            <a:ext cx="5473887" cy="451509"/>
          </a:xfrm>
          <a:prstGeom prst="rect">
            <a:avLst/>
          </a:prstGeom>
        </p:spPr>
        <p:txBody>
          <a:bodyPr anchor="t" rtlCol="false" tIns="0" lIns="0" bIns="0" rIns="0">
            <a:spAutoFit/>
          </a:bodyPr>
          <a:lstStyle/>
          <a:p>
            <a:pPr algn="ctr" marL="0" indent="0" lvl="0">
              <a:lnSpc>
                <a:spcPts val="3463"/>
              </a:lnSpc>
              <a:spcBef>
                <a:spcPct val="0"/>
              </a:spcBef>
            </a:pPr>
            <a:r>
              <a:rPr lang="en-US" sz="2474">
                <a:solidFill>
                  <a:srgbClr val="383838"/>
                </a:solidFill>
                <a:latin typeface="Poppins"/>
                <a:ea typeface="Poppins"/>
                <a:cs typeface="Poppins"/>
                <a:sym typeface="Poppins"/>
              </a:rPr>
              <a:t>SDG Progress Report 2025</a:t>
            </a:r>
          </a:p>
        </p:txBody>
      </p:sp>
      <p:sp>
        <p:nvSpPr>
          <p:cNvPr name="Freeform 15" id="15"/>
          <p:cNvSpPr/>
          <p:nvPr/>
        </p:nvSpPr>
        <p:spPr>
          <a:xfrm flipH="false" flipV="false" rot="0">
            <a:off x="1085797" y="1028700"/>
            <a:ext cx="2017463" cy="2030152"/>
          </a:xfrm>
          <a:custGeom>
            <a:avLst/>
            <a:gdLst/>
            <a:ahLst/>
            <a:cxnLst/>
            <a:rect r="r" b="b" t="t" l="l"/>
            <a:pathLst>
              <a:path h="2030152" w="2017463">
                <a:moveTo>
                  <a:pt x="0" y="0"/>
                </a:moveTo>
                <a:lnTo>
                  <a:pt x="2017464" y="0"/>
                </a:lnTo>
                <a:lnTo>
                  <a:pt x="2017464"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25502" y="0"/>
            <a:ext cx="225561" cy="10287000"/>
            <a:chOff x="0" y="0"/>
            <a:chExt cx="59407" cy="2709333"/>
          </a:xfrm>
        </p:grpSpPr>
        <p:sp>
          <p:nvSpPr>
            <p:cNvPr name="Freeform 3" id="3"/>
            <p:cNvSpPr/>
            <p:nvPr/>
          </p:nvSpPr>
          <p:spPr>
            <a:xfrm flipH="false" flipV="false" rot="0">
              <a:off x="0" y="0"/>
              <a:ext cx="59407" cy="2709333"/>
            </a:xfrm>
            <a:custGeom>
              <a:avLst/>
              <a:gdLst/>
              <a:ahLst/>
              <a:cxnLst/>
              <a:rect r="r" b="b" t="t" l="l"/>
              <a:pathLst>
                <a:path h="2709333" w="59407">
                  <a:moveTo>
                    <a:pt x="0" y="0"/>
                  </a:moveTo>
                  <a:lnTo>
                    <a:pt x="59407" y="0"/>
                  </a:lnTo>
                  <a:lnTo>
                    <a:pt x="59407" y="2709333"/>
                  </a:lnTo>
                  <a:lnTo>
                    <a:pt x="0" y="2709333"/>
                  </a:lnTo>
                  <a:close/>
                </a:path>
              </a:pathLst>
            </a:custGeom>
            <a:solidFill>
              <a:srgbClr val="646464"/>
            </a:solidFill>
          </p:spPr>
        </p:sp>
        <p:sp>
          <p:nvSpPr>
            <p:cNvPr name="TextBox 4" id="4"/>
            <p:cNvSpPr txBox="true"/>
            <p:nvPr/>
          </p:nvSpPr>
          <p:spPr>
            <a:xfrm>
              <a:off x="0" y="-47625"/>
              <a:ext cx="59407" cy="2756958"/>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2203776" y="-838446"/>
            <a:ext cx="6329279" cy="11963892"/>
            <a:chOff x="0" y="0"/>
            <a:chExt cx="1666971" cy="3150984"/>
          </a:xfrm>
        </p:grpSpPr>
        <p:sp>
          <p:nvSpPr>
            <p:cNvPr name="Freeform 6" id="6"/>
            <p:cNvSpPr/>
            <p:nvPr/>
          </p:nvSpPr>
          <p:spPr>
            <a:xfrm flipH="false" flipV="false" rot="0">
              <a:off x="0" y="0"/>
              <a:ext cx="1666971" cy="3150984"/>
            </a:xfrm>
            <a:custGeom>
              <a:avLst/>
              <a:gdLst/>
              <a:ahLst/>
              <a:cxnLst/>
              <a:rect r="r" b="b" t="t" l="l"/>
              <a:pathLst>
                <a:path h="3150984" w="1666971">
                  <a:moveTo>
                    <a:pt x="0" y="0"/>
                  </a:moveTo>
                  <a:lnTo>
                    <a:pt x="1666971" y="0"/>
                  </a:lnTo>
                  <a:lnTo>
                    <a:pt x="1666971" y="3150984"/>
                  </a:lnTo>
                  <a:lnTo>
                    <a:pt x="0" y="3150984"/>
                  </a:lnTo>
                  <a:close/>
                </a:path>
              </a:pathLst>
            </a:custGeom>
            <a:solidFill>
              <a:srgbClr val="FFD076"/>
            </a:solidFill>
          </p:spPr>
        </p:sp>
        <p:sp>
          <p:nvSpPr>
            <p:cNvPr name="TextBox 7" id="7"/>
            <p:cNvSpPr txBox="true"/>
            <p:nvPr/>
          </p:nvSpPr>
          <p:spPr>
            <a:xfrm>
              <a:off x="0" y="-47625"/>
              <a:ext cx="1666971" cy="3198609"/>
            </a:xfrm>
            <a:prstGeom prst="rect">
              <a:avLst/>
            </a:prstGeom>
          </p:spPr>
          <p:txBody>
            <a:bodyPr anchor="ctr" rtlCol="false" tIns="50800" lIns="50800" bIns="50800" rIns="50800"/>
            <a:lstStyle/>
            <a:p>
              <a:pPr algn="ctr">
                <a:lnSpc>
                  <a:spcPts val="3560"/>
                </a:lnSpc>
              </a:pPr>
            </a:p>
          </p:txBody>
        </p:sp>
      </p:grpSp>
      <p:sp>
        <p:nvSpPr>
          <p:cNvPr name="TextBox 8" id="8"/>
          <p:cNvSpPr txBox="true"/>
          <p:nvPr/>
        </p:nvSpPr>
        <p:spPr>
          <a:xfrm rot="0">
            <a:off x="6701837" y="3864998"/>
            <a:ext cx="10183028" cy="4039765"/>
          </a:xfrm>
          <a:prstGeom prst="rect">
            <a:avLst/>
          </a:prstGeom>
        </p:spPr>
        <p:txBody>
          <a:bodyPr anchor="t" rtlCol="false" tIns="0" lIns="0" bIns="0" rIns="0">
            <a:spAutoFit/>
          </a:bodyPr>
          <a:lstStyle/>
          <a:p>
            <a:pPr algn="l" marL="0" indent="0" lvl="0">
              <a:lnSpc>
                <a:spcPts val="3567"/>
              </a:lnSpc>
              <a:spcBef>
                <a:spcPct val="0"/>
              </a:spcBef>
            </a:pPr>
            <a:r>
              <a:rPr lang="en-US" sz="2547">
                <a:solidFill>
                  <a:srgbClr val="000000"/>
                </a:solidFill>
                <a:latin typeface="Poppins"/>
                <a:ea typeface="Poppins"/>
                <a:cs typeface="Poppins"/>
                <a:sym typeface="Poppins"/>
              </a:rPr>
              <a:t>Our progress in advancing the Sustainable Development Goals (SDGs) is marked by measurable positive impact, strategic collaborations with key partners, innovative approaches utilizing technology, and community empowerment initiatives. Achievements include notable improvements in clean sanitation, reflecting our commitment to creating positive change. These milestones reinforce our dedication to shaping a sustainable and equitable future, with ongoing efforts aligned with the SDGs agenda.</a:t>
            </a:r>
          </a:p>
        </p:txBody>
      </p:sp>
      <p:grpSp>
        <p:nvGrpSpPr>
          <p:cNvPr name="Group 9" id="9"/>
          <p:cNvGrpSpPr/>
          <p:nvPr/>
        </p:nvGrpSpPr>
        <p:grpSpPr>
          <a:xfrm rot="0">
            <a:off x="2182977" y="3312901"/>
            <a:ext cx="3798154" cy="379815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5F0B"/>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3560"/>
                </a:lnSpc>
              </a:pPr>
            </a:p>
          </p:txBody>
        </p:sp>
      </p:grpSp>
      <p:sp>
        <p:nvSpPr>
          <p:cNvPr name="TextBox 12" id="12"/>
          <p:cNvSpPr txBox="true"/>
          <p:nvPr/>
        </p:nvSpPr>
        <p:spPr>
          <a:xfrm rot="0">
            <a:off x="6701837" y="819150"/>
            <a:ext cx="8616075" cy="1359202"/>
          </a:xfrm>
          <a:prstGeom prst="rect">
            <a:avLst/>
          </a:prstGeom>
        </p:spPr>
        <p:txBody>
          <a:bodyPr anchor="t" rtlCol="false" tIns="0" lIns="0" bIns="0" rIns="0">
            <a:spAutoFit/>
          </a:bodyPr>
          <a:lstStyle/>
          <a:p>
            <a:pPr algn="l" marL="0" indent="0" lvl="0">
              <a:lnSpc>
                <a:spcPts val="10562"/>
              </a:lnSpc>
              <a:spcBef>
                <a:spcPct val="0"/>
              </a:spcBef>
            </a:pPr>
            <a:r>
              <a:rPr lang="en-US" b="true" sz="7544">
                <a:solidFill>
                  <a:srgbClr val="8B5F0B"/>
                </a:solidFill>
                <a:latin typeface="Poppins Bold"/>
                <a:ea typeface="Poppins Bold"/>
                <a:cs typeface="Poppins Bold"/>
                <a:sym typeface="Poppins Bold"/>
              </a:rPr>
              <a:t>Key</a:t>
            </a:r>
          </a:p>
        </p:txBody>
      </p:sp>
      <p:sp>
        <p:nvSpPr>
          <p:cNvPr name="TextBox 13" id="13"/>
          <p:cNvSpPr txBox="true"/>
          <p:nvPr/>
        </p:nvSpPr>
        <p:spPr>
          <a:xfrm rot="0">
            <a:off x="6701837" y="2197402"/>
            <a:ext cx="8616075" cy="1359202"/>
          </a:xfrm>
          <a:prstGeom prst="rect">
            <a:avLst/>
          </a:prstGeom>
        </p:spPr>
        <p:txBody>
          <a:bodyPr anchor="t" rtlCol="false" tIns="0" lIns="0" bIns="0" rIns="0">
            <a:spAutoFit/>
          </a:bodyPr>
          <a:lstStyle/>
          <a:p>
            <a:pPr algn="l" marL="0" indent="0" lvl="0">
              <a:lnSpc>
                <a:spcPts val="10562"/>
              </a:lnSpc>
              <a:spcBef>
                <a:spcPct val="0"/>
              </a:spcBef>
            </a:pPr>
            <a:r>
              <a:rPr lang="en-US" b="true" sz="7544">
                <a:solidFill>
                  <a:srgbClr val="FFD076"/>
                </a:solidFill>
                <a:latin typeface="Poppins Bold"/>
                <a:ea typeface="Poppins Bold"/>
                <a:cs typeface="Poppins Bold"/>
                <a:sym typeface="Poppins Bold"/>
              </a:rPr>
              <a:t>Highlights</a:t>
            </a:r>
          </a:p>
        </p:txBody>
      </p:sp>
      <p:sp>
        <p:nvSpPr>
          <p:cNvPr name="TextBox 14" id="14"/>
          <p:cNvSpPr txBox="true"/>
          <p:nvPr/>
        </p:nvSpPr>
        <p:spPr>
          <a:xfrm rot="0">
            <a:off x="12185337" y="8691853"/>
            <a:ext cx="5461258" cy="458298"/>
          </a:xfrm>
          <a:prstGeom prst="rect">
            <a:avLst/>
          </a:prstGeom>
        </p:spPr>
        <p:txBody>
          <a:bodyPr anchor="t" rtlCol="false" tIns="0" lIns="0" bIns="0" rIns="0">
            <a:spAutoFit/>
          </a:bodyPr>
          <a:lstStyle/>
          <a:p>
            <a:pPr algn="r" marL="0" indent="0" lvl="0">
              <a:lnSpc>
                <a:spcPts val="3552"/>
              </a:lnSpc>
              <a:spcBef>
                <a:spcPct val="0"/>
              </a:spcBef>
            </a:pPr>
            <a:r>
              <a:rPr lang="en-US" sz="2537" spc="1015">
                <a:solidFill>
                  <a:srgbClr val="383838"/>
                </a:solidFill>
                <a:latin typeface="Poppins"/>
                <a:ea typeface="Poppins"/>
                <a:cs typeface="Poppins"/>
                <a:sym typeface="Poppins"/>
              </a:rPr>
              <a:t>INGOUDE COMPANY</a:t>
            </a:r>
          </a:p>
        </p:txBody>
      </p:sp>
      <p:sp>
        <p:nvSpPr>
          <p:cNvPr name="TextBox 15" id="15"/>
          <p:cNvSpPr txBox="true"/>
          <p:nvPr/>
        </p:nvSpPr>
        <p:spPr>
          <a:xfrm rot="0">
            <a:off x="12185337" y="9300220"/>
            <a:ext cx="5461258" cy="450643"/>
          </a:xfrm>
          <a:prstGeom prst="rect">
            <a:avLst/>
          </a:prstGeom>
        </p:spPr>
        <p:txBody>
          <a:bodyPr anchor="t" rtlCol="false" tIns="0" lIns="0" bIns="0" rIns="0">
            <a:spAutoFit/>
          </a:bodyPr>
          <a:lstStyle/>
          <a:p>
            <a:pPr algn="r" marL="0" indent="0" lvl="0">
              <a:lnSpc>
                <a:spcPts val="3455"/>
              </a:lnSpc>
              <a:spcBef>
                <a:spcPct val="0"/>
              </a:spcBef>
            </a:pPr>
            <a:r>
              <a:rPr lang="en-US" sz="2468">
                <a:solidFill>
                  <a:srgbClr val="383838"/>
                </a:solidFill>
                <a:latin typeface="Poppins"/>
                <a:ea typeface="Poppins"/>
                <a:cs typeface="Poppins"/>
                <a:sym typeface="Poppins"/>
              </a:rPr>
              <a:t>SDG Progress Report 2025</a:t>
            </a:r>
          </a:p>
        </p:txBody>
      </p:sp>
      <p:sp>
        <p:nvSpPr>
          <p:cNvPr name="Freeform 16" id="16"/>
          <p:cNvSpPr/>
          <p:nvPr/>
        </p:nvSpPr>
        <p:spPr>
          <a:xfrm flipH="false" flipV="false" rot="0">
            <a:off x="2981490" y="3975389"/>
            <a:ext cx="2201127" cy="2473177"/>
          </a:xfrm>
          <a:custGeom>
            <a:avLst/>
            <a:gdLst/>
            <a:ahLst/>
            <a:cxnLst/>
            <a:rect r="r" b="b" t="t" l="l"/>
            <a:pathLst>
              <a:path h="2473177" w="2201127">
                <a:moveTo>
                  <a:pt x="0" y="0"/>
                </a:moveTo>
                <a:lnTo>
                  <a:pt x="2201127" y="0"/>
                </a:lnTo>
                <a:lnTo>
                  <a:pt x="2201127" y="2473177"/>
                </a:lnTo>
                <a:lnTo>
                  <a:pt x="0" y="2473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6289881" y="-552140"/>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974312" y="8394954"/>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002914"/>
            <a:ext cx="18288000" cy="3459362"/>
            <a:chOff x="0" y="0"/>
            <a:chExt cx="4816593" cy="911108"/>
          </a:xfrm>
        </p:grpSpPr>
        <p:sp>
          <p:nvSpPr>
            <p:cNvPr name="Freeform 3" id="3"/>
            <p:cNvSpPr/>
            <p:nvPr/>
          </p:nvSpPr>
          <p:spPr>
            <a:xfrm flipH="false" flipV="false" rot="0">
              <a:off x="0" y="0"/>
              <a:ext cx="4816592" cy="911108"/>
            </a:xfrm>
            <a:custGeom>
              <a:avLst/>
              <a:gdLst/>
              <a:ahLst/>
              <a:cxnLst/>
              <a:rect r="r" b="b" t="t" l="l"/>
              <a:pathLst>
                <a:path h="911108" w="4816592">
                  <a:moveTo>
                    <a:pt x="0" y="0"/>
                  </a:moveTo>
                  <a:lnTo>
                    <a:pt x="4816592" y="0"/>
                  </a:lnTo>
                  <a:lnTo>
                    <a:pt x="4816592" y="911108"/>
                  </a:lnTo>
                  <a:lnTo>
                    <a:pt x="0" y="911108"/>
                  </a:lnTo>
                  <a:close/>
                </a:path>
              </a:pathLst>
            </a:custGeom>
            <a:solidFill>
              <a:srgbClr val="FFD076"/>
            </a:solidFill>
          </p:spPr>
        </p:sp>
        <p:sp>
          <p:nvSpPr>
            <p:cNvPr name="TextBox 4" id="4"/>
            <p:cNvSpPr txBox="true"/>
            <p:nvPr/>
          </p:nvSpPr>
          <p:spPr>
            <a:xfrm>
              <a:off x="0" y="-47625"/>
              <a:ext cx="4816593" cy="958733"/>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0" y="5460043"/>
            <a:ext cx="18288000" cy="3451179"/>
            <a:chOff x="0" y="0"/>
            <a:chExt cx="4816593" cy="908953"/>
          </a:xfrm>
        </p:grpSpPr>
        <p:sp>
          <p:nvSpPr>
            <p:cNvPr name="Freeform 6" id="6"/>
            <p:cNvSpPr/>
            <p:nvPr/>
          </p:nvSpPr>
          <p:spPr>
            <a:xfrm flipH="false" flipV="false" rot="0">
              <a:off x="0" y="0"/>
              <a:ext cx="4816592" cy="908953"/>
            </a:xfrm>
            <a:custGeom>
              <a:avLst/>
              <a:gdLst/>
              <a:ahLst/>
              <a:cxnLst/>
              <a:rect r="r" b="b" t="t" l="l"/>
              <a:pathLst>
                <a:path h="908953" w="4816592">
                  <a:moveTo>
                    <a:pt x="0" y="0"/>
                  </a:moveTo>
                  <a:lnTo>
                    <a:pt x="4816592" y="0"/>
                  </a:lnTo>
                  <a:lnTo>
                    <a:pt x="4816592" y="908953"/>
                  </a:lnTo>
                  <a:lnTo>
                    <a:pt x="0" y="908953"/>
                  </a:lnTo>
                  <a:close/>
                </a:path>
              </a:pathLst>
            </a:custGeom>
            <a:solidFill>
              <a:srgbClr val="F1F1F1"/>
            </a:solidFill>
          </p:spPr>
        </p:sp>
        <p:sp>
          <p:nvSpPr>
            <p:cNvPr name="TextBox 7" id="7"/>
            <p:cNvSpPr txBox="true"/>
            <p:nvPr/>
          </p:nvSpPr>
          <p:spPr>
            <a:xfrm>
              <a:off x="0" y="-47625"/>
              <a:ext cx="4816593" cy="956578"/>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14525643" y="2318330"/>
            <a:ext cx="2733657" cy="273365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
              <a:stretch>
                <a:fillRect l="-24906" t="0" r="-24906" b="0"/>
              </a:stretch>
            </a:blipFill>
          </p:spPr>
        </p:sp>
      </p:grpSp>
      <p:grpSp>
        <p:nvGrpSpPr>
          <p:cNvPr name="Group 10" id="10"/>
          <p:cNvGrpSpPr/>
          <p:nvPr/>
        </p:nvGrpSpPr>
        <p:grpSpPr>
          <a:xfrm rot="0">
            <a:off x="14525643" y="5818805"/>
            <a:ext cx="2733657" cy="273365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3"/>
              <a:stretch>
                <a:fillRect l="-25046" t="0" r="-25046" b="0"/>
              </a:stretch>
            </a:blipFill>
          </p:spPr>
        </p:sp>
      </p:grpSp>
      <p:sp>
        <p:nvSpPr>
          <p:cNvPr name="TextBox 12" id="12"/>
          <p:cNvSpPr txBox="true"/>
          <p:nvPr/>
        </p:nvSpPr>
        <p:spPr>
          <a:xfrm rot="0">
            <a:off x="2903513" y="199762"/>
            <a:ext cx="12480974" cy="1456132"/>
          </a:xfrm>
          <a:prstGeom prst="rect">
            <a:avLst/>
          </a:prstGeom>
        </p:spPr>
        <p:txBody>
          <a:bodyPr anchor="t" rtlCol="false" tIns="0" lIns="0" bIns="0" rIns="0">
            <a:spAutoFit/>
          </a:bodyPr>
          <a:lstStyle/>
          <a:p>
            <a:pPr algn="ctr" marL="0" indent="0" lvl="0">
              <a:lnSpc>
                <a:spcPts val="11276"/>
              </a:lnSpc>
              <a:spcBef>
                <a:spcPct val="0"/>
              </a:spcBef>
            </a:pPr>
            <a:r>
              <a:rPr lang="en-US" b="true" sz="8054">
                <a:solidFill>
                  <a:srgbClr val="8B5F0B"/>
                </a:solidFill>
                <a:latin typeface="Poppins Bold"/>
                <a:ea typeface="Poppins Bold"/>
                <a:cs typeface="Poppins Bold"/>
                <a:sym typeface="Poppins Bold"/>
              </a:rPr>
              <a:t>Priority of SDGs</a:t>
            </a:r>
          </a:p>
        </p:txBody>
      </p:sp>
      <p:sp>
        <p:nvSpPr>
          <p:cNvPr name="TextBox 13" id="13"/>
          <p:cNvSpPr txBox="true"/>
          <p:nvPr/>
        </p:nvSpPr>
        <p:spPr>
          <a:xfrm rot="0">
            <a:off x="1302598" y="3072581"/>
            <a:ext cx="11751677" cy="2111237"/>
          </a:xfrm>
          <a:prstGeom prst="rect">
            <a:avLst/>
          </a:prstGeom>
        </p:spPr>
        <p:txBody>
          <a:bodyPr anchor="t" rtlCol="false" tIns="0" lIns="0" bIns="0" rIns="0">
            <a:spAutoFit/>
          </a:bodyPr>
          <a:lstStyle/>
          <a:p>
            <a:pPr algn="l" marL="0" indent="0" lvl="0">
              <a:lnSpc>
                <a:spcPts val="3314"/>
              </a:lnSpc>
              <a:spcBef>
                <a:spcPct val="0"/>
              </a:spcBef>
            </a:pPr>
            <a:r>
              <a:rPr lang="en-US" sz="2367">
                <a:solidFill>
                  <a:srgbClr val="000000"/>
                </a:solidFill>
                <a:latin typeface="Poppins"/>
                <a:ea typeface="Poppins"/>
                <a:cs typeface="Poppins"/>
                <a:sym typeface="Poppins"/>
              </a:rPr>
              <a:t>The SDGs represent a holistic and interconnected approach to addressing pressing global challenges. Ranging from poverty eradication and health to climate action and gender equality, the goals recognize the interdependence of social, economic, and environmental aspects in achieving sustainable development.</a:t>
            </a:r>
          </a:p>
        </p:txBody>
      </p:sp>
      <p:sp>
        <p:nvSpPr>
          <p:cNvPr name="TextBox 14" id="14"/>
          <p:cNvSpPr txBox="true"/>
          <p:nvPr/>
        </p:nvSpPr>
        <p:spPr>
          <a:xfrm rot="0">
            <a:off x="1302598" y="6874409"/>
            <a:ext cx="11751677" cy="1273169"/>
          </a:xfrm>
          <a:prstGeom prst="rect">
            <a:avLst/>
          </a:prstGeom>
        </p:spPr>
        <p:txBody>
          <a:bodyPr anchor="t" rtlCol="false" tIns="0" lIns="0" bIns="0" rIns="0">
            <a:spAutoFit/>
          </a:bodyPr>
          <a:lstStyle/>
          <a:p>
            <a:pPr algn="l" marL="0" indent="0" lvl="0">
              <a:lnSpc>
                <a:spcPts val="3314"/>
              </a:lnSpc>
              <a:spcBef>
                <a:spcPct val="0"/>
              </a:spcBef>
            </a:pPr>
            <a:r>
              <a:rPr lang="en-US" sz="2367">
                <a:solidFill>
                  <a:srgbClr val="000000"/>
                </a:solidFill>
                <a:latin typeface="Poppins"/>
                <a:ea typeface="Poppins"/>
                <a:cs typeface="Poppins"/>
                <a:sym typeface="Poppins"/>
              </a:rPr>
              <a:t>Central to the SDGs is the commitment to inclusivity, ensuring that development benefits reach all people, leaving no one behind. The goals emphasize addressing inequalities and disparities across various dimensions.</a:t>
            </a:r>
          </a:p>
        </p:txBody>
      </p:sp>
      <p:sp>
        <p:nvSpPr>
          <p:cNvPr name="TextBox 15" id="15"/>
          <p:cNvSpPr txBox="true"/>
          <p:nvPr/>
        </p:nvSpPr>
        <p:spPr>
          <a:xfrm rot="0">
            <a:off x="1302598" y="2242130"/>
            <a:ext cx="11227527" cy="524662"/>
          </a:xfrm>
          <a:prstGeom prst="rect">
            <a:avLst/>
          </a:prstGeom>
        </p:spPr>
        <p:txBody>
          <a:bodyPr anchor="t" rtlCol="false" tIns="0" lIns="0" bIns="0" rIns="0">
            <a:spAutoFit/>
          </a:bodyPr>
          <a:lstStyle/>
          <a:p>
            <a:pPr algn="l" marL="0" indent="0" lvl="0">
              <a:lnSpc>
                <a:spcPts val="4150"/>
              </a:lnSpc>
              <a:spcBef>
                <a:spcPct val="0"/>
              </a:spcBef>
            </a:pPr>
            <a:r>
              <a:rPr lang="en-US" b="true" sz="2964">
                <a:solidFill>
                  <a:srgbClr val="000000"/>
                </a:solidFill>
                <a:latin typeface="Poppins Bold"/>
                <a:ea typeface="Poppins Bold"/>
                <a:cs typeface="Poppins Bold"/>
                <a:sym typeface="Poppins Bold"/>
              </a:rPr>
              <a:t>Interconnected Global Agenda</a:t>
            </a:r>
          </a:p>
        </p:txBody>
      </p:sp>
      <p:sp>
        <p:nvSpPr>
          <p:cNvPr name="TextBox 16" id="16"/>
          <p:cNvSpPr txBox="true"/>
          <p:nvPr/>
        </p:nvSpPr>
        <p:spPr>
          <a:xfrm rot="0">
            <a:off x="1302598" y="6147488"/>
            <a:ext cx="11227527" cy="524662"/>
          </a:xfrm>
          <a:prstGeom prst="rect">
            <a:avLst/>
          </a:prstGeom>
        </p:spPr>
        <p:txBody>
          <a:bodyPr anchor="t" rtlCol="false" tIns="0" lIns="0" bIns="0" rIns="0">
            <a:spAutoFit/>
          </a:bodyPr>
          <a:lstStyle/>
          <a:p>
            <a:pPr algn="l" marL="0" indent="0" lvl="0">
              <a:lnSpc>
                <a:spcPts val="4150"/>
              </a:lnSpc>
              <a:spcBef>
                <a:spcPct val="0"/>
              </a:spcBef>
            </a:pPr>
            <a:r>
              <a:rPr lang="en-US" b="true" sz="2964">
                <a:solidFill>
                  <a:srgbClr val="000000"/>
                </a:solidFill>
                <a:latin typeface="Poppins Bold"/>
                <a:ea typeface="Poppins Bold"/>
                <a:cs typeface="Poppins Bold"/>
                <a:sym typeface="Poppins Bold"/>
              </a:rPr>
              <a:t>Inclusivity and Leave No One Behind</a:t>
            </a:r>
          </a:p>
        </p:txBody>
      </p:sp>
      <p:sp>
        <p:nvSpPr>
          <p:cNvPr name="TextBox 17" id="17"/>
          <p:cNvSpPr txBox="true"/>
          <p:nvPr/>
        </p:nvSpPr>
        <p:spPr>
          <a:xfrm rot="0">
            <a:off x="6413371" y="9201150"/>
            <a:ext cx="5461258" cy="367322"/>
          </a:xfrm>
          <a:prstGeom prst="rect">
            <a:avLst/>
          </a:prstGeom>
        </p:spPr>
        <p:txBody>
          <a:bodyPr anchor="t" rtlCol="false" tIns="0" lIns="0" bIns="0" rIns="0">
            <a:spAutoFit/>
          </a:bodyPr>
          <a:lstStyle/>
          <a:p>
            <a:pPr algn="ctr" marL="0" indent="0" lvl="0">
              <a:lnSpc>
                <a:spcPts val="2852"/>
              </a:lnSpc>
              <a:spcBef>
                <a:spcPct val="0"/>
              </a:spcBef>
            </a:pPr>
            <a:r>
              <a:rPr lang="en-US" sz="2037" spc="815">
                <a:solidFill>
                  <a:srgbClr val="383838"/>
                </a:solidFill>
                <a:latin typeface="Poppins"/>
                <a:ea typeface="Poppins"/>
                <a:cs typeface="Poppins"/>
                <a:sym typeface="Poppins"/>
              </a:rPr>
              <a:t>INGOUDE COMPANY</a:t>
            </a:r>
          </a:p>
        </p:txBody>
      </p:sp>
      <p:sp>
        <p:nvSpPr>
          <p:cNvPr name="TextBox 18" id="18"/>
          <p:cNvSpPr txBox="true"/>
          <p:nvPr/>
        </p:nvSpPr>
        <p:spPr>
          <a:xfrm rot="0">
            <a:off x="6413371" y="9628306"/>
            <a:ext cx="5461258" cy="350054"/>
          </a:xfrm>
          <a:prstGeom prst="rect">
            <a:avLst/>
          </a:prstGeom>
        </p:spPr>
        <p:txBody>
          <a:bodyPr anchor="t" rtlCol="false" tIns="0" lIns="0" bIns="0" rIns="0">
            <a:spAutoFit/>
          </a:bodyPr>
          <a:lstStyle/>
          <a:p>
            <a:pPr algn="ctr" marL="0" indent="0" lvl="0">
              <a:lnSpc>
                <a:spcPts val="2755"/>
              </a:lnSpc>
              <a:spcBef>
                <a:spcPct val="0"/>
              </a:spcBef>
            </a:pPr>
            <a:r>
              <a:rPr lang="en-US" sz="1968">
                <a:solidFill>
                  <a:srgbClr val="383838"/>
                </a:solidFill>
                <a:latin typeface="Poppins"/>
                <a:ea typeface="Poppins"/>
                <a:cs typeface="Poppins"/>
                <a:sym typeface="Poppins"/>
              </a:rPr>
              <a:t>SDG Progress Report 2025</a:t>
            </a:r>
          </a:p>
        </p:txBody>
      </p:sp>
      <p:sp>
        <p:nvSpPr>
          <p:cNvPr name="Freeform 19" id="19"/>
          <p:cNvSpPr/>
          <p:nvPr/>
        </p:nvSpPr>
        <p:spPr>
          <a:xfrm flipH="false" flipV="false" rot="0">
            <a:off x="-224578" y="9187447"/>
            <a:ext cx="2017463" cy="2030152"/>
          </a:xfrm>
          <a:custGeom>
            <a:avLst/>
            <a:gdLst/>
            <a:ahLst/>
            <a:cxnLst/>
            <a:rect r="r" b="b" t="t" l="l"/>
            <a:pathLst>
              <a:path h="2030152" w="2017463">
                <a:moveTo>
                  <a:pt x="0" y="0"/>
                </a:moveTo>
                <a:lnTo>
                  <a:pt x="2017464" y="0"/>
                </a:lnTo>
                <a:lnTo>
                  <a:pt x="2017464" y="2030152"/>
                </a:lnTo>
                <a:lnTo>
                  <a:pt x="0" y="2030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15586806" y="-1015076"/>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6867815" cy="10287000"/>
            <a:chOff x="0" y="0"/>
            <a:chExt cx="1808807" cy="2709333"/>
          </a:xfrm>
        </p:grpSpPr>
        <p:sp>
          <p:nvSpPr>
            <p:cNvPr name="Freeform 3" id="3"/>
            <p:cNvSpPr/>
            <p:nvPr/>
          </p:nvSpPr>
          <p:spPr>
            <a:xfrm flipH="false" flipV="false" rot="0">
              <a:off x="0" y="0"/>
              <a:ext cx="1808807" cy="2709333"/>
            </a:xfrm>
            <a:custGeom>
              <a:avLst/>
              <a:gdLst/>
              <a:ahLst/>
              <a:cxnLst/>
              <a:rect r="r" b="b" t="t" l="l"/>
              <a:pathLst>
                <a:path h="2709333" w="1808807">
                  <a:moveTo>
                    <a:pt x="0" y="0"/>
                  </a:moveTo>
                  <a:lnTo>
                    <a:pt x="1808807" y="0"/>
                  </a:lnTo>
                  <a:lnTo>
                    <a:pt x="1808807" y="2709333"/>
                  </a:lnTo>
                  <a:lnTo>
                    <a:pt x="0" y="2709333"/>
                  </a:lnTo>
                  <a:close/>
                </a:path>
              </a:pathLst>
            </a:custGeom>
            <a:solidFill>
              <a:srgbClr val="FFD076"/>
            </a:solidFill>
          </p:spPr>
        </p:sp>
        <p:sp>
          <p:nvSpPr>
            <p:cNvPr name="TextBox 4" id="4"/>
            <p:cNvSpPr txBox="true"/>
            <p:nvPr/>
          </p:nvSpPr>
          <p:spPr>
            <a:xfrm>
              <a:off x="0" y="-47625"/>
              <a:ext cx="1808807" cy="2756958"/>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576830" y="4022963"/>
            <a:ext cx="4401550" cy="1251966"/>
            <a:chOff x="0" y="0"/>
            <a:chExt cx="1552066" cy="441466"/>
          </a:xfrm>
        </p:grpSpPr>
        <p:sp>
          <p:nvSpPr>
            <p:cNvPr name="Freeform 6" id="6"/>
            <p:cNvSpPr/>
            <p:nvPr/>
          </p:nvSpPr>
          <p:spPr>
            <a:xfrm flipH="false" flipV="false" rot="0">
              <a:off x="0" y="0"/>
              <a:ext cx="1552066" cy="441466"/>
            </a:xfrm>
            <a:custGeom>
              <a:avLst/>
              <a:gdLst/>
              <a:ahLst/>
              <a:cxnLst/>
              <a:rect r="r" b="b" t="t" l="l"/>
              <a:pathLst>
                <a:path h="441466" w="1552066">
                  <a:moveTo>
                    <a:pt x="40455" y="0"/>
                  </a:moveTo>
                  <a:lnTo>
                    <a:pt x="1511611" y="0"/>
                  </a:lnTo>
                  <a:cubicBezTo>
                    <a:pt x="1533953" y="0"/>
                    <a:pt x="1552066" y="18112"/>
                    <a:pt x="1552066" y="40455"/>
                  </a:cubicBezTo>
                  <a:lnTo>
                    <a:pt x="1552066" y="401011"/>
                  </a:lnTo>
                  <a:cubicBezTo>
                    <a:pt x="1552066" y="411740"/>
                    <a:pt x="1547803" y="422030"/>
                    <a:pt x="1540217" y="429617"/>
                  </a:cubicBezTo>
                  <a:cubicBezTo>
                    <a:pt x="1532630" y="437203"/>
                    <a:pt x="1522340" y="441466"/>
                    <a:pt x="1511611" y="441466"/>
                  </a:cubicBezTo>
                  <a:lnTo>
                    <a:pt x="40455" y="441466"/>
                  </a:lnTo>
                  <a:cubicBezTo>
                    <a:pt x="18112" y="441466"/>
                    <a:pt x="0" y="423353"/>
                    <a:pt x="0" y="401011"/>
                  </a:cubicBezTo>
                  <a:lnTo>
                    <a:pt x="0" y="40455"/>
                  </a:lnTo>
                  <a:cubicBezTo>
                    <a:pt x="0" y="29726"/>
                    <a:pt x="4262" y="19436"/>
                    <a:pt x="11849" y="11849"/>
                  </a:cubicBezTo>
                  <a:cubicBezTo>
                    <a:pt x="19436" y="4262"/>
                    <a:pt x="29726" y="0"/>
                    <a:pt x="40455" y="0"/>
                  </a:cubicBezTo>
                  <a:close/>
                </a:path>
              </a:pathLst>
            </a:custGeom>
            <a:solidFill>
              <a:srgbClr val="FFFFFF"/>
            </a:solidFill>
          </p:spPr>
        </p:sp>
        <p:sp>
          <p:nvSpPr>
            <p:cNvPr name="TextBox 7" id="7"/>
            <p:cNvSpPr txBox="true"/>
            <p:nvPr/>
          </p:nvSpPr>
          <p:spPr>
            <a:xfrm>
              <a:off x="0" y="-95250"/>
              <a:ext cx="1552066" cy="536716"/>
            </a:xfrm>
            <a:prstGeom prst="rect">
              <a:avLst/>
            </a:prstGeom>
          </p:spPr>
          <p:txBody>
            <a:bodyPr anchor="ctr" rtlCol="false" tIns="50800" lIns="50800" bIns="50800" rIns="50800"/>
            <a:lstStyle/>
            <a:p>
              <a:pPr algn="ctr">
                <a:lnSpc>
                  <a:spcPts val="4260"/>
                </a:lnSpc>
              </a:pPr>
              <a:r>
                <a:rPr lang="en-US" b="true" sz="3043">
                  <a:solidFill>
                    <a:srgbClr val="000000"/>
                  </a:solidFill>
                  <a:latin typeface="Poppins Bold"/>
                  <a:ea typeface="Poppins Bold"/>
                  <a:cs typeface="Poppins Bold"/>
                  <a:sym typeface="Poppins Bold"/>
                </a:rPr>
                <a:t>Key Indicator</a:t>
              </a:r>
            </a:p>
          </p:txBody>
        </p:sp>
      </p:grpSp>
      <p:grpSp>
        <p:nvGrpSpPr>
          <p:cNvPr name="Group 8" id="8"/>
          <p:cNvGrpSpPr/>
          <p:nvPr/>
        </p:nvGrpSpPr>
        <p:grpSpPr>
          <a:xfrm rot="0">
            <a:off x="576830" y="5582750"/>
            <a:ext cx="4401550" cy="1251966"/>
            <a:chOff x="0" y="0"/>
            <a:chExt cx="1552066" cy="441466"/>
          </a:xfrm>
        </p:grpSpPr>
        <p:sp>
          <p:nvSpPr>
            <p:cNvPr name="Freeform 9" id="9"/>
            <p:cNvSpPr/>
            <p:nvPr/>
          </p:nvSpPr>
          <p:spPr>
            <a:xfrm flipH="false" flipV="false" rot="0">
              <a:off x="0" y="0"/>
              <a:ext cx="1552066" cy="441466"/>
            </a:xfrm>
            <a:custGeom>
              <a:avLst/>
              <a:gdLst/>
              <a:ahLst/>
              <a:cxnLst/>
              <a:rect r="r" b="b" t="t" l="l"/>
              <a:pathLst>
                <a:path h="441466" w="1552066">
                  <a:moveTo>
                    <a:pt x="40455" y="0"/>
                  </a:moveTo>
                  <a:lnTo>
                    <a:pt x="1511611" y="0"/>
                  </a:lnTo>
                  <a:cubicBezTo>
                    <a:pt x="1533953" y="0"/>
                    <a:pt x="1552066" y="18112"/>
                    <a:pt x="1552066" y="40455"/>
                  </a:cubicBezTo>
                  <a:lnTo>
                    <a:pt x="1552066" y="401011"/>
                  </a:lnTo>
                  <a:cubicBezTo>
                    <a:pt x="1552066" y="411740"/>
                    <a:pt x="1547803" y="422030"/>
                    <a:pt x="1540217" y="429617"/>
                  </a:cubicBezTo>
                  <a:cubicBezTo>
                    <a:pt x="1532630" y="437203"/>
                    <a:pt x="1522340" y="441466"/>
                    <a:pt x="1511611" y="441466"/>
                  </a:cubicBezTo>
                  <a:lnTo>
                    <a:pt x="40455" y="441466"/>
                  </a:lnTo>
                  <a:cubicBezTo>
                    <a:pt x="18112" y="441466"/>
                    <a:pt x="0" y="423353"/>
                    <a:pt x="0" y="401011"/>
                  </a:cubicBezTo>
                  <a:lnTo>
                    <a:pt x="0" y="40455"/>
                  </a:lnTo>
                  <a:cubicBezTo>
                    <a:pt x="0" y="29726"/>
                    <a:pt x="4262" y="19436"/>
                    <a:pt x="11849" y="11849"/>
                  </a:cubicBezTo>
                  <a:cubicBezTo>
                    <a:pt x="19436" y="4262"/>
                    <a:pt x="29726" y="0"/>
                    <a:pt x="40455" y="0"/>
                  </a:cubicBezTo>
                  <a:close/>
                </a:path>
              </a:pathLst>
            </a:custGeom>
            <a:solidFill>
              <a:srgbClr val="FFFFFF"/>
            </a:solidFill>
          </p:spPr>
        </p:sp>
        <p:sp>
          <p:nvSpPr>
            <p:cNvPr name="TextBox 10" id="10"/>
            <p:cNvSpPr txBox="true"/>
            <p:nvPr/>
          </p:nvSpPr>
          <p:spPr>
            <a:xfrm>
              <a:off x="0" y="-95250"/>
              <a:ext cx="1552066" cy="536716"/>
            </a:xfrm>
            <a:prstGeom prst="rect">
              <a:avLst/>
            </a:prstGeom>
          </p:spPr>
          <p:txBody>
            <a:bodyPr anchor="ctr" rtlCol="false" tIns="50800" lIns="50800" bIns="50800" rIns="50800"/>
            <a:lstStyle/>
            <a:p>
              <a:pPr algn="ctr">
                <a:lnSpc>
                  <a:spcPts val="4260"/>
                </a:lnSpc>
              </a:pPr>
              <a:r>
                <a:rPr lang="en-US" b="true" sz="3043">
                  <a:solidFill>
                    <a:srgbClr val="000000"/>
                  </a:solidFill>
                  <a:latin typeface="Poppins Bold"/>
                  <a:ea typeface="Poppins Bold"/>
                  <a:cs typeface="Poppins Bold"/>
                  <a:sym typeface="Poppins Bold"/>
                </a:rPr>
                <a:t>Activity</a:t>
              </a:r>
            </a:p>
          </p:txBody>
        </p:sp>
      </p:grpSp>
      <p:grpSp>
        <p:nvGrpSpPr>
          <p:cNvPr name="Group 11" id="11"/>
          <p:cNvGrpSpPr/>
          <p:nvPr/>
        </p:nvGrpSpPr>
        <p:grpSpPr>
          <a:xfrm rot="0">
            <a:off x="5080160" y="4022963"/>
            <a:ext cx="4160293" cy="1251966"/>
            <a:chOff x="0" y="0"/>
            <a:chExt cx="1466994" cy="441466"/>
          </a:xfrm>
        </p:grpSpPr>
        <p:sp>
          <p:nvSpPr>
            <p:cNvPr name="Freeform 12" id="12"/>
            <p:cNvSpPr/>
            <p:nvPr/>
          </p:nvSpPr>
          <p:spPr>
            <a:xfrm flipH="false" flipV="false" rot="0">
              <a:off x="0" y="0"/>
              <a:ext cx="1466994" cy="441466"/>
            </a:xfrm>
            <a:custGeom>
              <a:avLst/>
              <a:gdLst/>
              <a:ahLst/>
              <a:cxnLst/>
              <a:rect r="r" b="b" t="t" l="l"/>
              <a:pathLst>
                <a:path h="441466" w="1466994">
                  <a:moveTo>
                    <a:pt x="42801" y="0"/>
                  </a:moveTo>
                  <a:lnTo>
                    <a:pt x="1424193" y="0"/>
                  </a:lnTo>
                  <a:cubicBezTo>
                    <a:pt x="1435545" y="0"/>
                    <a:pt x="1446431" y="4509"/>
                    <a:pt x="1454458" y="12536"/>
                  </a:cubicBezTo>
                  <a:cubicBezTo>
                    <a:pt x="1462485" y="20563"/>
                    <a:pt x="1466994" y="31449"/>
                    <a:pt x="1466994" y="42801"/>
                  </a:cubicBezTo>
                  <a:lnTo>
                    <a:pt x="1466994" y="398665"/>
                  </a:lnTo>
                  <a:cubicBezTo>
                    <a:pt x="1466994" y="410016"/>
                    <a:pt x="1462485" y="420903"/>
                    <a:pt x="1454458" y="428929"/>
                  </a:cubicBezTo>
                  <a:cubicBezTo>
                    <a:pt x="1446431" y="436956"/>
                    <a:pt x="1435545" y="441466"/>
                    <a:pt x="1424193" y="441466"/>
                  </a:cubicBezTo>
                  <a:lnTo>
                    <a:pt x="42801" y="441466"/>
                  </a:lnTo>
                  <a:cubicBezTo>
                    <a:pt x="31449" y="441466"/>
                    <a:pt x="20563" y="436956"/>
                    <a:pt x="12536" y="428929"/>
                  </a:cubicBezTo>
                  <a:cubicBezTo>
                    <a:pt x="4509" y="420903"/>
                    <a:pt x="0" y="410016"/>
                    <a:pt x="0" y="398665"/>
                  </a:cubicBezTo>
                  <a:lnTo>
                    <a:pt x="0" y="42801"/>
                  </a:lnTo>
                  <a:cubicBezTo>
                    <a:pt x="0" y="31449"/>
                    <a:pt x="4509" y="20563"/>
                    <a:pt x="12536" y="12536"/>
                  </a:cubicBezTo>
                  <a:cubicBezTo>
                    <a:pt x="20563" y="4509"/>
                    <a:pt x="31449" y="0"/>
                    <a:pt x="42801" y="0"/>
                  </a:cubicBezTo>
                  <a:close/>
                </a:path>
              </a:pathLst>
            </a:custGeom>
            <a:solidFill>
              <a:srgbClr val="F1F1F1"/>
            </a:solidFill>
          </p:spPr>
        </p:sp>
        <p:sp>
          <p:nvSpPr>
            <p:cNvPr name="TextBox 13" id="13"/>
            <p:cNvSpPr txBox="true"/>
            <p:nvPr/>
          </p:nvSpPr>
          <p:spPr>
            <a:xfrm>
              <a:off x="0" y="-57150"/>
              <a:ext cx="1466994" cy="498616"/>
            </a:xfrm>
            <a:prstGeom prst="rect">
              <a:avLst/>
            </a:prstGeom>
          </p:spPr>
          <p:txBody>
            <a:bodyPr anchor="ctr" rtlCol="false" tIns="254000" lIns="254000" bIns="254000" rIns="254000"/>
            <a:lstStyle/>
            <a:p>
              <a:pPr algn="l">
                <a:lnSpc>
                  <a:spcPts val="2860"/>
                </a:lnSpc>
              </a:pPr>
              <a:r>
                <a:rPr lang="en-US" sz="2043">
                  <a:solidFill>
                    <a:srgbClr val="000000"/>
                  </a:solidFill>
                  <a:latin typeface="Poppins"/>
                  <a:ea typeface="Poppins"/>
                  <a:cs typeface="Poppins"/>
                  <a:sym typeface="Poppins"/>
                </a:rPr>
                <a:t>Your Key Performance Indicator goes here</a:t>
              </a:r>
            </a:p>
          </p:txBody>
        </p:sp>
      </p:grpSp>
      <p:grpSp>
        <p:nvGrpSpPr>
          <p:cNvPr name="Group 14" id="14"/>
          <p:cNvGrpSpPr/>
          <p:nvPr/>
        </p:nvGrpSpPr>
        <p:grpSpPr>
          <a:xfrm rot="0">
            <a:off x="5080160" y="5582750"/>
            <a:ext cx="4160293" cy="1251966"/>
            <a:chOff x="0" y="0"/>
            <a:chExt cx="1466994" cy="441466"/>
          </a:xfrm>
        </p:grpSpPr>
        <p:sp>
          <p:nvSpPr>
            <p:cNvPr name="Freeform 15" id="15"/>
            <p:cNvSpPr/>
            <p:nvPr/>
          </p:nvSpPr>
          <p:spPr>
            <a:xfrm flipH="false" flipV="false" rot="0">
              <a:off x="0" y="0"/>
              <a:ext cx="1466994" cy="441466"/>
            </a:xfrm>
            <a:custGeom>
              <a:avLst/>
              <a:gdLst/>
              <a:ahLst/>
              <a:cxnLst/>
              <a:rect r="r" b="b" t="t" l="l"/>
              <a:pathLst>
                <a:path h="441466" w="1466994">
                  <a:moveTo>
                    <a:pt x="42801" y="0"/>
                  </a:moveTo>
                  <a:lnTo>
                    <a:pt x="1424193" y="0"/>
                  </a:lnTo>
                  <a:cubicBezTo>
                    <a:pt x="1435545" y="0"/>
                    <a:pt x="1446431" y="4509"/>
                    <a:pt x="1454458" y="12536"/>
                  </a:cubicBezTo>
                  <a:cubicBezTo>
                    <a:pt x="1462485" y="20563"/>
                    <a:pt x="1466994" y="31449"/>
                    <a:pt x="1466994" y="42801"/>
                  </a:cubicBezTo>
                  <a:lnTo>
                    <a:pt x="1466994" y="398665"/>
                  </a:lnTo>
                  <a:cubicBezTo>
                    <a:pt x="1466994" y="410016"/>
                    <a:pt x="1462485" y="420903"/>
                    <a:pt x="1454458" y="428929"/>
                  </a:cubicBezTo>
                  <a:cubicBezTo>
                    <a:pt x="1446431" y="436956"/>
                    <a:pt x="1435545" y="441466"/>
                    <a:pt x="1424193" y="441466"/>
                  </a:cubicBezTo>
                  <a:lnTo>
                    <a:pt x="42801" y="441466"/>
                  </a:lnTo>
                  <a:cubicBezTo>
                    <a:pt x="31449" y="441466"/>
                    <a:pt x="20563" y="436956"/>
                    <a:pt x="12536" y="428929"/>
                  </a:cubicBezTo>
                  <a:cubicBezTo>
                    <a:pt x="4509" y="420903"/>
                    <a:pt x="0" y="410016"/>
                    <a:pt x="0" y="398665"/>
                  </a:cubicBezTo>
                  <a:lnTo>
                    <a:pt x="0" y="42801"/>
                  </a:lnTo>
                  <a:cubicBezTo>
                    <a:pt x="0" y="31449"/>
                    <a:pt x="4509" y="20563"/>
                    <a:pt x="12536" y="12536"/>
                  </a:cubicBezTo>
                  <a:cubicBezTo>
                    <a:pt x="20563" y="4509"/>
                    <a:pt x="31449" y="0"/>
                    <a:pt x="42801" y="0"/>
                  </a:cubicBezTo>
                  <a:close/>
                </a:path>
              </a:pathLst>
            </a:custGeom>
            <a:solidFill>
              <a:srgbClr val="F1F1F1"/>
            </a:solidFill>
          </p:spPr>
        </p:sp>
        <p:sp>
          <p:nvSpPr>
            <p:cNvPr name="TextBox 16" id="16"/>
            <p:cNvSpPr txBox="true"/>
            <p:nvPr/>
          </p:nvSpPr>
          <p:spPr>
            <a:xfrm>
              <a:off x="0" y="-57150"/>
              <a:ext cx="1466994" cy="498616"/>
            </a:xfrm>
            <a:prstGeom prst="rect">
              <a:avLst/>
            </a:prstGeom>
          </p:spPr>
          <p:txBody>
            <a:bodyPr anchor="ctr" rtlCol="false" tIns="254000" lIns="254000" bIns="254000" rIns="254000"/>
            <a:lstStyle/>
            <a:p>
              <a:pPr algn="l">
                <a:lnSpc>
                  <a:spcPts val="2860"/>
                </a:lnSpc>
              </a:pPr>
              <a:r>
                <a:rPr lang="en-US" sz="2043">
                  <a:solidFill>
                    <a:srgbClr val="000000"/>
                  </a:solidFill>
                  <a:latin typeface="Poppins"/>
                  <a:ea typeface="Poppins"/>
                  <a:cs typeface="Poppins"/>
                  <a:sym typeface="Poppins"/>
                </a:rPr>
                <a:t>Add a few details describing the related activities</a:t>
              </a:r>
            </a:p>
          </p:txBody>
        </p:sp>
      </p:grpSp>
      <p:grpSp>
        <p:nvGrpSpPr>
          <p:cNvPr name="Group 17" id="17"/>
          <p:cNvGrpSpPr/>
          <p:nvPr/>
        </p:nvGrpSpPr>
        <p:grpSpPr>
          <a:xfrm rot="0">
            <a:off x="9342234" y="4022963"/>
            <a:ext cx="4160293" cy="1251966"/>
            <a:chOff x="0" y="0"/>
            <a:chExt cx="1466994" cy="441466"/>
          </a:xfrm>
        </p:grpSpPr>
        <p:sp>
          <p:nvSpPr>
            <p:cNvPr name="Freeform 18" id="18"/>
            <p:cNvSpPr/>
            <p:nvPr/>
          </p:nvSpPr>
          <p:spPr>
            <a:xfrm flipH="false" flipV="false" rot="0">
              <a:off x="0" y="0"/>
              <a:ext cx="1466994" cy="441466"/>
            </a:xfrm>
            <a:custGeom>
              <a:avLst/>
              <a:gdLst/>
              <a:ahLst/>
              <a:cxnLst/>
              <a:rect r="r" b="b" t="t" l="l"/>
              <a:pathLst>
                <a:path h="441466" w="1466994">
                  <a:moveTo>
                    <a:pt x="42801" y="0"/>
                  </a:moveTo>
                  <a:lnTo>
                    <a:pt x="1424193" y="0"/>
                  </a:lnTo>
                  <a:cubicBezTo>
                    <a:pt x="1435545" y="0"/>
                    <a:pt x="1446431" y="4509"/>
                    <a:pt x="1454458" y="12536"/>
                  </a:cubicBezTo>
                  <a:cubicBezTo>
                    <a:pt x="1462485" y="20563"/>
                    <a:pt x="1466994" y="31449"/>
                    <a:pt x="1466994" y="42801"/>
                  </a:cubicBezTo>
                  <a:lnTo>
                    <a:pt x="1466994" y="398665"/>
                  </a:lnTo>
                  <a:cubicBezTo>
                    <a:pt x="1466994" y="410016"/>
                    <a:pt x="1462485" y="420903"/>
                    <a:pt x="1454458" y="428929"/>
                  </a:cubicBezTo>
                  <a:cubicBezTo>
                    <a:pt x="1446431" y="436956"/>
                    <a:pt x="1435545" y="441466"/>
                    <a:pt x="1424193" y="441466"/>
                  </a:cubicBezTo>
                  <a:lnTo>
                    <a:pt x="42801" y="441466"/>
                  </a:lnTo>
                  <a:cubicBezTo>
                    <a:pt x="31449" y="441466"/>
                    <a:pt x="20563" y="436956"/>
                    <a:pt x="12536" y="428929"/>
                  </a:cubicBezTo>
                  <a:cubicBezTo>
                    <a:pt x="4509" y="420903"/>
                    <a:pt x="0" y="410016"/>
                    <a:pt x="0" y="398665"/>
                  </a:cubicBezTo>
                  <a:lnTo>
                    <a:pt x="0" y="42801"/>
                  </a:lnTo>
                  <a:cubicBezTo>
                    <a:pt x="0" y="31449"/>
                    <a:pt x="4509" y="20563"/>
                    <a:pt x="12536" y="12536"/>
                  </a:cubicBezTo>
                  <a:cubicBezTo>
                    <a:pt x="20563" y="4509"/>
                    <a:pt x="31449" y="0"/>
                    <a:pt x="42801" y="0"/>
                  </a:cubicBezTo>
                  <a:close/>
                </a:path>
              </a:pathLst>
            </a:custGeom>
            <a:solidFill>
              <a:srgbClr val="F1F1F1"/>
            </a:solidFill>
          </p:spPr>
        </p:sp>
        <p:sp>
          <p:nvSpPr>
            <p:cNvPr name="TextBox 19" id="19"/>
            <p:cNvSpPr txBox="true"/>
            <p:nvPr/>
          </p:nvSpPr>
          <p:spPr>
            <a:xfrm>
              <a:off x="0" y="-57150"/>
              <a:ext cx="1466994" cy="498616"/>
            </a:xfrm>
            <a:prstGeom prst="rect">
              <a:avLst/>
            </a:prstGeom>
          </p:spPr>
          <p:txBody>
            <a:bodyPr anchor="ctr" rtlCol="false" tIns="254000" lIns="254000" bIns="254000" rIns="254000"/>
            <a:lstStyle/>
            <a:p>
              <a:pPr algn="l">
                <a:lnSpc>
                  <a:spcPts val="2860"/>
                </a:lnSpc>
              </a:pPr>
              <a:r>
                <a:rPr lang="en-US" sz="2043">
                  <a:solidFill>
                    <a:srgbClr val="000000"/>
                  </a:solidFill>
                  <a:latin typeface="Poppins"/>
                  <a:ea typeface="Poppins"/>
                  <a:cs typeface="Poppins"/>
                  <a:sym typeface="Poppins"/>
                </a:rPr>
                <a:t>Your Key Performance Indicator goes here</a:t>
              </a:r>
            </a:p>
          </p:txBody>
        </p:sp>
      </p:grpSp>
      <p:grpSp>
        <p:nvGrpSpPr>
          <p:cNvPr name="Group 20" id="20"/>
          <p:cNvGrpSpPr/>
          <p:nvPr/>
        </p:nvGrpSpPr>
        <p:grpSpPr>
          <a:xfrm rot="0">
            <a:off x="9342234" y="5582750"/>
            <a:ext cx="4160293" cy="1251966"/>
            <a:chOff x="0" y="0"/>
            <a:chExt cx="1466994" cy="441466"/>
          </a:xfrm>
        </p:grpSpPr>
        <p:sp>
          <p:nvSpPr>
            <p:cNvPr name="Freeform 21" id="21"/>
            <p:cNvSpPr/>
            <p:nvPr/>
          </p:nvSpPr>
          <p:spPr>
            <a:xfrm flipH="false" flipV="false" rot="0">
              <a:off x="0" y="0"/>
              <a:ext cx="1466994" cy="441466"/>
            </a:xfrm>
            <a:custGeom>
              <a:avLst/>
              <a:gdLst/>
              <a:ahLst/>
              <a:cxnLst/>
              <a:rect r="r" b="b" t="t" l="l"/>
              <a:pathLst>
                <a:path h="441466" w="1466994">
                  <a:moveTo>
                    <a:pt x="42801" y="0"/>
                  </a:moveTo>
                  <a:lnTo>
                    <a:pt x="1424193" y="0"/>
                  </a:lnTo>
                  <a:cubicBezTo>
                    <a:pt x="1435545" y="0"/>
                    <a:pt x="1446431" y="4509"/>
                    <a:pt x="1454458" y="12536"/>
                  </a:cubicBezTo>
                  <a:cubicBezTo>
                    <a:pt x="1462485" y="20563"/>
                    <a:pt x="1466994" y="31449"/>
                    <a:pt x="1466994" y="42801"/>
                  </a:cubicBezTo>
                  <a:lnTo>
                    <a:pt x="1466994" y="398665"/>
                  </a:lnTo>
                  <a:cubicBezTo>
                    <a:pt x="1466994" y="410016"/>
                    <a:pt x="1462485" y="420903"/>
                    <a:pt x="1454458" y="428929"/>
                  </a:cubicBezTo>
                  <a:cubicBezTo>
                    <a:pt x="1446431" y="436956"/>
                    <a:pt x="1435545" y="441466"/>
                    <a:pt x="1424193" y="441466"/>
                  </a:cubicBezTo>
                  <a:lnTo>
                    <a:pt x="42801" y="441466"/>
                  </a:lnTo>
                  <a:cubicBezTo>
                    <a:pt x="31449" y="441466"/>
                    <a:pt x="20563" y="436956"/>
                    <a:pt x="12536" y="428929"/>
                  </a:cubicBezTo>
                  <a:cubicBezTo>
                    <a:pt x="4509" y="420903"/>
                    <a:pt x="0" y="410016"/>
                    <a:pt x="0" y="398665"/>
                  </a:cubicBezTo>
                  <a:lnTo>
                    <a:pt x="0" y="42801"/>
                  </a:lnTo>
                  <a:cubicBezTo>
                    <a:pt x="0" y="31449"/>
                    <a:pt x="4509" y="20563"/>
                    <a:pt x="12536" y="12536"/>
                  </a:cubicBezTo>
                  <a:cubicBezTo>
                    <a:pt x="20563" y="4509"/>
                    <a:pt x="31449" y="0"/>
                    <a:pt x="42801" y="0"/>
                  </a:cubicBezTo>
                  <a:close/>
                </a:path>
              </a:pathLst>
            </a:custGeom>
            <a:solidFill>
              <a:srgbClr val="F1F1F1"/>
            </a:solidFill>
          </p:spPr>
        </p:sp>
        <p:sp>
          <p:nvSpPr>
            <p:cNvPr name="TextBox 22" id="22"/>
            <p:cNvSpPr txBox="true"/>
            <p:nvPr/>
          </p:nvSpPr>
          <p:spPr>
            <a:xfrm>
              <a:off x="0" y="-57150"/>
              <a:ext cx="1466994" cy="498616"/>
            </a:xfrm>
            <a:prstGeom prst="rect">
              <a:avLst/>
            </a:prstGeom>
          </p:spPr>
          <p:txBody>
            <a:bodyPr anchor="ctr" rtlCol="false" tIns="254000" lIns="254000" bIns="254000" rIns="254000"/>
            <a:lstStyle/>
            <a:p>
              <a:pPr algn="l">
                <a:lnSpc>
                  <a:spcPts val="2860"/>
                </a:lnSpc>
              </a:pPr>
              <a:r>
                <a:rPr lang="en-US" sz="2043">
                  <a:solidFill>
                    <a:srgbClr val="000000"/>
                  </a:solidFill>
                  <a:latin typeface="Poppins"/>
                  <a:ea typeface="Poppins"/>
                  <a:cs typeface="Poppins"/>
                  <a:sym typeface="Poppins"/>
                </a:rPr>
                <a:t>Add a few details describing the related activities</a:t>
              </a:r>
            </a:p>
          </p:txBody>
        </p:sp>
      </p:grpSp>
      <p:grpSp>
        <p:nvGrpSpPr>
          <p:cNvPr name="Group 23" id="23"/>
          <p:cNvGrpSpPr/>
          <p:nvPr/>
        </p:nvGrpSpPr>
        <p:grpSpPr>
          <a:xfrm rot="0">
            <a:off x="13604309" y="4022963"/>
            <a:ext cx="4160293" cy="1251966"/>
            <a:chOff x="0" y="0"/>
            <a:chExt cx="1466994" cy="441466"/>
          </a:xfrm>
        </p:grpSpPr>
        <p:sp>
          <p:nvSpPr>
            <p:cNvPr name="Freeform 24" id="24"/>
            <p:cNvSpPr/>
            <p:nvPr/>
          </p:nvSpPr>
          <p:spPr>
            <a:xfrm flipH="false" flipV="false" rot="0">
              <a:off x="0" y="0"/>
              <a:ext cx="1466994" cy="441466"/>
            </a:xfrm>
            <a:custGeom>
              <a:avLst/>
              <a:gdLst/>
              <a:ahLst/>
              <a:cxnLst/>
              <a:rect r="r" b="b" t="t" l="l"/>
              <a:pathLst>
                <a:path h="441466" w="1466994">
                  <a:moveTo>
                    <a:pt x="42801" y="0"/>
                  </a:moveTo>
                  <a:lnTo>
                    <a:pt x="1424193" y="0"/>
                  </a:lnTo>
                  <a:cubicBezTo>
                    <a:pt x="1435545" y="0"/>
                    <a:pt x="1446431" y="4509"/>
                    <a:pt x="1454458" y="12536"/>
                  </a:cubicBezTo>
                  <a:cubicBezTo>
                    <a:pt x="1462485" y="20563"/>
                    <a:pt x="1466994" y="31449"/>
                    <a:pt x="1466994" y="42801"/>
                  </a:cubicBezTo>
                  <a:lnTo>
                    <a:pt x="1466994" y="398665"/>
                  </a:lnTo>
                  <a:cubicBezTo>
                    <a:pt x="1466994" y="410016"/>
                    <a:pt x="1462485" y="420903"/>
                    <a:pt x="1454458" y="428929"/>
                  </a:cubicBezTo>
                  <a:cubicBezTo>
                    <a:pt x="1446431" y="436956"/>
                    <a:pt x="1435545" y="441466"/>
                    <a:pt x="1424193" y="441466"/>
                  </a:cubicBezTo>
                  <a:lnTo>
                    <a:pt x="42801" y="441466"/>
                  </a:lnTo>
                  <a:cubicBezTo>
                    <a:pt x="31449" y="441466"/>
                    <a:pt x="20563" y="436956"/>
                    <a:pt x="12536" y="428929"/>
                  </a:cubicBezTo>
                  <a:cubicBezTo>
                    <a:pt x="4509" y="420903"/>
                    <a:pt x="0" y="410016"/>
                    <a:pt x="0" y="398665"/>
                  </a:cubicBezTo>
                  <a:lnTo>
                    <a:pt x="0" y="42801"/>
                  </a:lnTo>
                  <a:cubicBezTo>
                    <a:pt x="0" y="31449"/>
                    <a:pt x="4509" y="20563"/>
                    <a:pt x="12536" y="12536"/>
                  </a:cubicBezTo>
                  <a:cubicBezTo>
                    <a:pt x="20563" y="4509"/>
                    <a:pt x="31449" y="0"/>
                    <a:pt x="42801" y="0"/>
                  </a:cubicBezTo>
                  <a:close/>
                </a:path>
              </a:pathLst>
            </a:custGeom>
            <a:solidFill>
              <a:srgbClr val="F1F1F1"/>
            </a:solidFill>
          </p:spPr>
        </p:sp>
        <p:sp>
          <p:nvSpPr>
            <p:cNvPr name="TextBox 25" id="25"/>
            <p:cNvSpPr txBox="true"/>
            <p:nvPr/>
          </p:nvSpPr>
          <p:spPr>
            <a:xfrm>
              <a:off x="0" y="-57150"/>
              <a:ext cx="1466994" cy="498616"/>
            </a:xfrm>
            <a:prstGeom prst="rect">
              <a:avLst/>
            </a:prstGeom>
          </p:spPr>
          <p:txBody>
            <a:bodyPr anchor="ctr" rtlCol="false" tIns="254000" lIns="254000" bIns="254000" rIns="254000"/>
            <a:lstStyle/>
            <a:p>
              <a:pPr algn="l">
                <a:lnSpc>
                  <a:spcPts val="2860"/>
                </a:lnSpc>
              </a:pPr>
              <a:r>
                <a:rPr lang="en-US" sz="2043">
                  <a:solidFill>
                    <a:srgbClr val="000000"/>
                  </a:solidFill>
                  <a:latin typeface="Poppins"/>
                  <a:ea typeface="Poppins"/>
                  <a:cs typeface="Poppins"/>
                  <a:sym typeface="Poppins"/>
                </a:rPr>
                <a:t>Your Key Performance Indicator goes here</a:t>
              </a:r>
            </a:p>
          </p:txBody>
        </p:sp>
      </p:grpSp>
      <p:grpSp>
        <p:nvGrpSpPr>
          <p:cNvPr name="Group 26" id="26"/>
          <p:cNvGrpSpPr/>
          <p:nvPr/>
        </p:nvGrpSpPr>
        <p:grpSpPr>
          <a:xfrm rot="0">
            <a:off x="13604309" y="5582750"/>
            <a:ext cx="4160293" cy="1251966"/>
            <a:chOff x="0" y="0"/>
            <a:chExt cx="1466994" cy="441466"/>
          </a:xfrm>
        </p:grpSpPr>
        <p:sp>
          <p:nvSpPr>
            <p:cNvPr name="Freeform 27" id="27"/>
            <p:cNvSpPr/>
            <p:nvPr/>
          </p:nvSpPr>
          <p:spPr>
            <a:xfrm flipH="false" flipV="false" rot="0">
              <a:off x="0" y="0"/>
              <a:ext cx="1466994" cy="441466"/>
            </a:xfrm>
            <a:custGeom>
              <a:avLst/>
              <a:gdLst/>
              <a:ahLst/>
              <a:cxnLst/>
              <a:rect r="r" b="b" t="t" l="l"/>
              <a:pathLst>
                <a:path h="441466" w="1466994">
                  <a:moveTo>
                    <a:pt x="42801" y="0"/>
                  </a:moveTo>
                  <a:lnTo>
                    <a:pt x="1424193" y="0"/>
                  </a:lnTo>
                  <a:cubicBezTo>
                    <a:pt x="1435545" y="0"/>
                    <a:pt x="1446431" y="4509"/>
                    <a:pt x="1454458" y="12536"/>
                  </a:cubicBezTo>
                  <a:cubicBezTo>
                    <a:pt x="1462485" y="20563"/>
                    <a:pt x="1466994" y="31449"/>
                    <a:pt x="1466994" y="42801"/>
                  </a:cubicBezTo>
                  <a:lnTo>
                    <a:pt x="1466994" y="398665"/>
                  </a:lnTo>
                  <a:cubicBezTo>
                    <a:pt x="1466994" y="410016"/>
                    <a:pt x="1462485" y="420903"/>
                    <a:pt x="1454458" y="428929"/>
                  </a:cubicBezTo>
                  <a:cubicBezTo>
                    <a:pt x="1446431" y="436956"/>
                    <a:pt x="1435545" y="441466"/>
                    <a:pt x="1424193" y="441466"/>
                  </a:cubicBezTo>
                  <a:lnTo>
                    <a:pt x="42801" y="441466"/>
                  </a:lnTo>
                  <a:cubicBezTo>
                    <a:pt x="31449" y="441466"/>
                    <a:pt x="20563" y="436956"/>
                    <a:pt x="12536" y="428929"/>
                  </a:cubicBezTo>
                  <a:cubicBezTo>
                    <a:pt x="4509" y="420903"/>
                    <a:pt x="0" y="410016"/>
                    <a:pt x="0" y="398665"/>
                  </a:cubicBezTo>
                  <a:lnTo>
                    <a:pt x="0" y="42801"/>
                  </a:lnTo>
                  <a:cubicBezTo>
                    <a:pt x="0" y="31449"/>
                    <a:pt x="4509" y="20563"/>
                    <a:pt x="12536" y="12536"/>
                  </a:cubicBezTo>
                  <a:cubicBezTo>
                    <a:pt x="20563" y="4509"/>
                    <a:pt x="31449" y="0"/>
                    <a:pt x="42801" y="0"/>
                  </a:cubicBezTo>
                  <a:close/>
                </a:path>
              </a:pathLst>
            </a:custGeom>
            <a:solidFill>
              <a:srgbClr val="F1F1F1"/>
            </a:solidFill>
          </p:spPr>
        </p:sp>
        <p:sp>
          <p:nvSpPr>
            <p:cNvPr name="TextBox 28" id="28"/>
            <p:cNvSpPr txBox="true"/>
            <p:nvPr/>
          </p:nvSpPr>
          <p:spPr>
            <a:xfrm>
              <a:off x="0" y="-57150"/>
              <a:ext cx="1466994" cy="498616"/>
            </a:xfrm>
            <a:prstGeom prst="rect">
              <a:avLst/>
            </a:prstGeom>
          </p:spPr>
          <p:txBody>
            <a:bodyPr anchor="ctr" rtlCol="false" tIns="254000" lIns="254000" bIns="254000" rIns="254000"/>
            <a:lstStyle/>
            <a:p>
              <a:pPr algn="l">
                <a:lnSpc>
                  <a:spcPts val="2860"/>
                </a:lnSpc>
              </a:pPr>
              <a:r>
                <a:rPr lang="en-US" sz="2043">
                  <a:solidFill>
                    <a:srgbClr val="000000"/>
                  </a:solidFill>
                  <a:latin typeface="Poppins"/>
                  <a:ea typeface="Poppins"/>
                  <a:cs typeface="Poppins"/>
                  <a:sym typeface="Poppins"/>
                </a:rPr>
                <a:t>Add a few details describing the related activities</a:t>
              </a:r>
            </a:p>
          </p:txBody>
        </p:sp>
      </p:grpSp>
      <p:grpSp>
        <p:nvGrpSpPr>
          <p:cNvPr name="Group 29" id="29"/>
          <p:cNvGrpSpPr/>
          <p:nvPr/>
        </p:nvGrpSpPr>
        <p:grpSpPr>
          <a:xfrm rot="0">
            <a:off x="576830" y="7142538"/>
            <a:ext cx="4401550" cy="1974566"/>
            <a:chOff x="0" y="0"/>
            <a:chExt cx="1552066" cy="696268"/>
          </a:xfrm>
        </p:grpSpPr>
        <p:sp>
          <p:nvSpPr>
            <p:cNvPr name="Freeform 30" id="30"/>
            <p:cNvSpPr/>
            <p:nvPr/>
          </p:nvSpPr>
          <p:spPr>
            <a:xfrm flipH="false" flipV="false" rot="0">
              <a:off x="0" y="0"/>
              <a:ext cx="1552066" cy="696268"/>
            </a:xfrm>
            <a:custGeom>
              <a:avLst/>
              <a:gdLst/>
              <a:ahLst/>
              <a:cxnLst/>
              <a:rect r="r" b="b" t="t" l="l"/>
              <a:pathLst>
                <a:path h="696268" w="1552066">
                  <a:moveTo>
                    <a:pt x="40455" y="0"/>
                  </a:moveTo>
                  <a:lnTo>
                    <a:pt x="1511611" y="0"/>
                  </a:lnTo>
                  <a:cubicBezTo>
                    <a:pt x="1533953" y="0"/>
                    <a:pt x="1552066" y="18112"/>
                    <a:pt x="1552066" y="40455"/>
                  </a:cubicBezTo>
                  <a:lnTo>
                    <a:pt x="1552066" y="655813"/>
                  </a:lnTo>
                  <a:cubicBezTo>
                    <a:pt x="1552066" y="666542"/>
                    <a:pt x="1547803" y="676832"/>
                    <a:pt x="1540217" y="684419"/>
                  </a:cubicBezTo>
                  <a:cubicBezTo>
                    <a:pt x="1532630" y="692005"/>
                    <a:pt x="1522340" y="696268"/>
                    <a:pt x="1511611" y="696268"/>
                  </a:cubicBezTo>
                  <a:lnTo>
                    <a:pt x="40455" y="696268"/>
                  </a:lnTo>
                  <a:cubicBezTo>
                    <a:pt x="29726" y="696268"/>
                    <a:pt x="19436" y="692005"/>
                    <a:pt x="11849" y="684419"/>
                  </a:cubicBezTo>
                  <a:cubicBezTo>
                    <a:pt x="4262" y="676832"/>
                    <a:pt x="0" y="666542"/>
                    <a:pt x="0" y="655813"/>
                  </a:cubicBezTo>
                  <a:lnTo>
                    <a:pt x="0" y="40455"/>
                  </a:lnTo>
                  <a:cubicBezTo>
                    <a:pt x="0" y="29726"/>
                    <a:pt x="4262" y="19436"/>
                    <a:pt x="11849" y="11849"/>
                  </a:cubicBezTo>
                  <a:cubicBezTo>
                    <a:pt x="19436" y="4262"/>
                    <a:pt x="29726" y="0"/>
                    <a:pt x="40455" y="0"/>
                  </a:cubicBezTo>
                  <a:close/>
                </a:path>
              </a:pathLst>
            </a:custGeom>
            <a:solidFill>
              <a:srgbClr val="FFFFFF"/>
            </a:solidFill>
          </p:spPr>
        </p:sp>
        <p:sp>
          <p:nvSpPr>
            <p:cNvPr name="TextBox 31" id="31"/>
            <p:cNvSpPr txBox="true"/>
            <p:nvPr/>
          </p:nvSpPr>
          <p:spPr>
            <a:xfrm>
              <a:off x="0" y="-95250"/>
              <a:ext cx="1552066" cy="791518"/>
            </a:xfrm>
            <a:prstGeom prst="rect">
              <a:avLst/>
            </a:prstGeom>
          </p:spPr>
          <p:txBody>
            <a:bodyPr anchor="ctr" rtlCol="false" tIns="50800" lIns="50800" bIns="50800" rIns="50800"/>
            <a:lstStyle/>
            <a:p>
              <a:pPr algn="ctr">
                <a:lnSpc>
                  <a:spcPts val="4260"/>
                </a:lnSpc>
              </a:pPr>
              <a:r>
                <a:rPr lang="en-US" b="true" sz="3043">
                  <a:solidFill>
                    <a:srgbClr val="000000"/>
                  </a:solidFill>
                  <a:latin typeface="Poppins Bold"/>
                  <a:ea typeface="Poppins Bold"/>
                  <a:cs typeface="Poppins Bold"/>
                  <a:sym typeface="Poppins Bold"/>
                </a:rPr>
                <a:t>Outcome</a:t>
              </a:r>
            </a:p>
          </p:txBody>
        </p:sp>
      </p:grpSp>
      <p:grpSp>
        <p:nvGrpSpPr>
          <p:cNvPr name="Group 32" id="32"/>
          <p:cNvGrpSpPr/>
          <p:nvPr/>
        </p:nvGrpSpPr>
        <p:grpSpPr>
          <a:xfrm rot="0">
            <a:off x="5080160" y="7142538"/>
            <a:ext cx="4160293" cy="1974566"/>
            <a:chOff x="0" y="0"/>
            <a:chExt cx="1466994" cy="696268"/>
          </a:xfrm>
        </p:grpSpPr>
        <p:sp>
          <p:nvSpPr>
            <p:cNvPr name="Freeform 33" id="33"/>
            <p:cNvSpPr/>
            <p:nvPr/>
          </p:nvSpPr>
          <p:spPr>
            <a:xfrm flipH="false" flipV="false" rot="0">
              <a:off x="0" y="0"/>
              <a:ext cx="1466994" cy="696268"/>
            </a:xfrm>
            <a:custGeom>
              <a:avLst/>
              <a:gdLst/>
              <a:ahLst/>
              <a:cxnLst/>
              <a:rect r="r" b="b" t="t" l="l"/>
              <a:pathLst>
                <a:path h="696268" w="1466994">
                  <a:moveTo>
                    <a:pt x="42801" y="0"/>
                  </a:moveTo>
                  <a:lnTo>
                    <a:pt x="1424193" y="0"/>
                  </a:lnTo>
                  <a:cubicBezTo>
                    <a:pt x="1435545" y="0"/>
                    <a:pt x="1446431" y="4509"/>
                    <a:pt x="1454458" y="12536"/>
                  </a:cubicBezTo>
                  <a:cubicBezTo>
                    <a:pt x="1462485" y="20563"/>
                    <a:pt x="1466994" y="31449"/>
                    <a:pt x="1466994" y="42801"/>
                  </a:cubicBezTo>
                  <a:lnTo>
                    <a:pt x="1466994" y="653467"/>
                  </a:lnTo>
                  <a:cubicBezTo>
                    <a:pt x="1466994" y="677105"/>
                    <a:pt x="1447832" y="696268"/>
                    <a:pt x="1424193" y="696268"/>
                  </a:cubicBezTo>
                  <a:lnTo>
                    <a:pt x="42801" y="696268"/>
                  </a:lnTo>
                  <a:cubicBezTo>
                    <a:pt x="31449" y="696268"/>
                    <a:pt x="20563" y="691758"/>
                    <a:pt x="12536" y="683732"/>
                  </a:cubicBezTo>
                  <a:cubicBezTo>
                    <a:pt x="4509" y="675705"/>
                    <a:pt x="0" y="664818"/>
                    <a:pt x="0" y="653467"/>
                  </a:cubicBezTo>
                  <a:lnTo>
                    <a:pt x="0" y="42801"/>
                  </a:lnTo>
                  <a:cubicBezTo>
                    <a:pt x="0" y="31449"/>
                    <a:pt x="4509" y="20563"/>
                    <a:pt x="12536" y="12536"/>
                  </a:cubicBezTo>
                  <a:cubicBezTo>
                    <a:pt x="20563" y="4509"/>
                    <a:pt x="31449" y="0"/>
                    <a:pt x="42801" y="0"/>
                  </a:cubicBezTo>
                  <a:close/>
                </a:path>
              </a:pathLst>
            </a:custGeom>
            <a:solidFill>
              <a:srgbClr val="F1F1F1"/>
            </a:solidFill>
          </p:spPr>
        </p:sp>
        <p:sp>
          <p:nvSpPr>
            <p:cNvPr name="TextBox 34" id="34"/>
            <p:cNvSpPr txBox="true"/>
            <p:nvPr/>
          </p:nvSpPr>
          <p:spPr>
            <a:xfrm>
              <a:off x="0" y="-57150"/>
              <a:ext cx="1466994" cy="753418"/>
            </a:xfrm>
            <a:prstGeom prst="rect">
              <a:avLst/>
            </a:prstGeom>
          </p:spPr>
          <p:txBody>
            <a:bodyPr anchor="ctr" rtlCol="false" tIns="254000" lIns="254000" bIns="254000" rIns="254000"/>
            <a:lstStyle/>
            <a:p>
              <a:pPr algn="l" marL="441197" indent="-220599" lvl="1">
                <a:lnSpc>
                  <a:spcPts val="2860"/>
                </a:lnSpc>
                <a:buFont typeface="Arial"/>
                <a:buChar char="•"/>
              </a:pPr>
              <a:r>
                <a:rPr lang="en-US" sz="2043">
                  <a:solidFill>
                    <a:srgbClr val="000000"/>
                  </a:solidFill>
                  <a:latin typeface="Poppins"/>
                  <a:ea typeface="Poppins"/>
                  <a:cs typeface="Poppins"/>
                  <a:sym typeface="Poppins"/>
                </a:rPr>
                <a:t>What results did you obtain from your projects?</a:t>
              </a:r>
            </a:p>
            <a:p>
              <a:pPr algn="l" marL="441197" indent="-220599" lvl="1">
                <a:lnSpc>
                  <a:spcPts val="2860"/>
                </a:lnSpc>
                <a:buFont typeface="Arial"/>
                <a:buChar char="•"/>
              </a:pPr>
              <a:r>
                <a:rPr lang="en-US" sz="2043">
                  <a:solidFill>
                    <a:srgbClr val="000000"/>
                  </a:solidFill>
                  <a:latin typeface="Poppins"/>
                  <a:ea typeface="Poppins"/>
                  <a:cs typeface="Poppins"/>
                  <a:sym typeface="Poppins"/>
                </a:rPr>
                <a:t>Write them here</a:t>
              </a:r>
            </a:p>
          </p:txBody>
        </p:sp>
      </p:grpSp>
      <p:grpSp>
        <p:nvGrpSpPr>
          <p:cNvPr name="Group 35" id="35"/>
          <p:cNvGrpSpPr/>
          <p:nvPr/>
        </p:nvGrpSpPr>
        <p:grpSpPr>
          <a:xfrm rot="0">
            <a:off x="9342234" y="7142538"/>
            <a:ext cx="4160293" cy="1974566"/>
            <a:chOff x="0" y="0"/>
            <a:chExt cx="1466994" cy="696268"/>
          </a:xfrm>
        </p:grpSpPr>
        <p:sp>
          <p:nvSpPr>
            <p:cNvPr name="Freeform 36" id="36"/>
            <p:cNvSpPr/>
            <p:nvPr/>
          </p:nvSpPr>
          <p:spPr>
            <a:xfrm flipH="false" flipV="false" rot="0">
              <a:off x="0" y="0"/>
              <a:ext cx="1466994" cy="696268"/>
            </a:xfrm>
            <a:custGeom>
              <a:avLst/>
              <a:gdLst/>
              <a:ahLst/>
              <a:cxnLst/>
              <a:rect r="r" b="b" t="t" l="l"/>
              <a:pathLst>
                <a:path h="696268" w="1466994">
                  <a:moveTo>
                    <a:pt x="42801" y="0"/>
                  </a:moveTo>
                  <a:lnTo>
                    <a:pt x="1424193" y="0"/>
                  </a:lnTo>
                  <a:cubicBezTo>
                    <a:pt x="1435545" y="0"/>
                    <a:pt x="1446431" y="4509"/>
                    <a:pt x="1454458" y="12536"/>
                  </a:cubicBezTo>
                  <a:cubicBezTo>
                    <a:pt x="1462485" y="20563"/>
                    <a:pt x="1466994" y="31449"/>
                    <a:pt x="1466994" y="42801"/>
                  </a:cubicBezTo>
                  <a:lnTo>
                    <a:pt x="1466994" y="653467"/>
                  </a:lnTo>
                  <a:cubicBezTo>
                    <a:pt x="1466994" y="677105"/>
                    <a:pt x="1447832" y="696268"/>
                    <a:pt x="1424193" y="696268"/>
                  </a:cubicBezTo>
                  <a:lnTo>
                    <a:pt x="42801" y="696268"/>
                  </a:lnTo>
                  <a:cubicBezTo>
                    <a:pt x="31449" y="696268"/>
                    <a:pt x="20563" y="691758"/>
                    <a:pt x="12536" y="683732"/>
                  </a:cubicBezTo>
                  <a:cubicBezTo>
                    <a:pt x="4509" y="675705"/>
                    <a:pt x="0" y="664818"/>
                    <a:pt x="0" y="653467"/>
                  </a:cubicBezTo>
                  <a:lnTo>
                    <a:pt x="0" y="42801"/>
                  </a:lnTo>
                  <a:cubicBezTo>
                    <a:pt x="0" y="31449"/>
                    <a:pt x="4509" y="20563"/>
                    <a:pt x="12536" y="12536"/>
                  </a:cubicBezTo>
                  <a:cubicBezTo>
                    <a:pt x="20563" y="4509"/>
                    <a:pt x="31449" y="0"/>
                    <a:pt x="42801" y="0"/>
                  </a:cubicBezTo>
                  <a:close/>
                </a:path>
              </a:pathLst>
            </a:custGeom>
            <a:solidFill>
              <a:srgbClr val="F1F1F1"/>
            </a:solidFill>
          </p:spPr>
        </p:sp>
        <p:sp>
          <p:nvSpPr>
            <p:cNvPr name="TextBox 37" id="37"/>
            <p:cNvSpPr txBox="true"/>
            <p:nvPr/>
          </p:nvSpPr>
          <p:spPr>
            <a:xfrm>
              <a:off x="0" y="-57150"/>
              <a:ext cx="1466994" cy="753418"/>
            </a:xfrm>
            <a:prstGeom prst="rect">
              <a:avLst/>
            </a:prstGeom>
          </p:spPr>
          <p:txBody>
            <a:bodyPr anchor="ctr" rtlCol="false" tIns="254000" lIns="254000" bIns="254000" rIns="254000"/>
            <a:lstStyle/>
            <a:p>
              <a:pPr algn="l" marL="441197" indent="-220599" lvl="1">
                <a:lnSpc>
                  <a:spcPts val="2860"/>
                </a:lnSpc>
                <a:buFont typeface="Arial"/>
                <a:buChar char="•"/>
              </a:pPr>
              <a:r>
                <a:rPr lang="en-US" sz="2043">
                  <a:solidFill>
                    <a:srgbClr val="000000"/>
                  </a:solidFill>
                  <a:latin typeface="Poppins"/>
                  <a:ea typeface="Poppins"/>
                  <a:cs typeface="Poppins"/>
                  <a:sym typeface="Poppins"/>
                </a:rPr>
                <a:t>What results did you obtain from your projects?</a:t>
              </a:r>
            </a:p>
            <a:p>
              <a:pPr algn="l" marL="441197" indent="-220599" lvl="1">
                <a:lnSpc>
                  <a:spcPts val="2860"/>
                </a:lnSpc>
                <a:buFont typeface="Arial"/>
                <a:buChar char="•"/>
              </a:pPr>
              <a:r>
                <a:rPr lang="en-US" sz="2043">
                  <a:solidFill>
                    <a:srgbClr val="000000"/>
                  </a:solidFill>
                  <a:latin typeface="Poppins"/>
                  <a:ea typeface="Poppins"/>
                  <a:cs typeface="Poppins"/>
                  <a:sym typeface="Poppins"/>
                </a:rPr>
                <a:t>Write them here</a:t>
              </a:r>
            </a:p>
          </p:txBody>
        </p:sp>
      </p:grpSp>
      <p:grpSp>
        <p:nvGrpSpPr>
          <p:cNvPr name="Group 38" id="38"/>
          <p:cNvGrpSpPr/>
          <p:nvPr/>
        </p:nvGrpSpPr>
        <p:grpSpPr>
          <a:xfrm rot="0">
            <a:off x="13604309" y="7142538"/>
            <a:ext cx="4160293" cy="1974566"/>
            <a:chOff x="0" y="0"/>
            <a:chExt cx="1466994" cy="696268"/>
          </a:xfrm>
        </p:grpSpPr>
        <p:sp>
          <p:nvSpPr>
            <p:cNvPr name="Freeform 39" id="39"/>
            <p:cNvSpPr/>
            <p:nvPr/>
          </p:nvSpPr>
          <p:spPr>
            <a:xfrm flipH="false" flipV="false" rot="0">
              <a:off x="0" y="0"/>
              <a:ext cx="1466994" cy="696268"/>
            </a:xfrm>
            <a:custGeom>
              <a:avLst/>
              <a:gdLst/>
              <a:ahLst/>
              <a:cxnLst/>
              <a:rect r="r" b="b" t="t" l="l"/>
              <a:pathLst>
                <a:path h="696268" w="1466994">
                  <a:moveTo>
                    <a:pt x="42801" y="0"/>
                  </a:moveTo>
                  <a:lnTo>
                    <a:pt x="1424193" y="0"/>
                  </a:lnTo>
                  <a:cubicBezTo>
                    <a:pt x="1435545" y="0"/>
                    <a:pt x="1446431" y="4509"/>
                    <a:pt x="1454458" y="12536"/>
                  </a:cubicBezTo>
                  <a:cubicBezTo>
                    <a:pt x="1462485" y="20563"/>
                    <a:pt x="1466994" y="31449"/>
                    <a:pt x="1466994" y="42801"/>
                  </a:cubicBezTo>
                  <a:lnTo>
                    <a:pt x="1466994" y="653467"/>
                  </a:lnTo>
                  <a:cubicBezTo>
                    <a:pt x="1466994" y="677105"/>
                    <a:pt x="1447832" y="696268"/>
                    <a:pt x="1424193" y="696268"/>
                  </a:cubicBezTo>
                  <a:lnTo>
                    <a:pt x="42801" y="696268"/>
                  </a:lnTo>
                  <a:cubicBezTo>
                    <a:pt x="31449" y="696268"/>
                    <a:pt x="20563" y="691758"/>
                    <a:pt x="12536" y="683732"/>
                  </a:cubicBezTo>
                  <a:cubicBezTo>
                    <a:pt x="4509" y="675705"/>
                    <a:pt x="0" y="664818"/>
                    <a:pt x="0" y="653467"/>
                  </a:cubicBezTo>
                  <a:lnTo>
                    <a:pt x="0" y="42801"/>
                  </a:lnTo>
                  <a:cubicBezTo>
                    <a:pt x="0" y="31449"/>
                    <a:pt x="4509" y="20563"/>
                    <a:pt x="12536" y="12536"/>
                  </a:cubicBezTo>
                  <a:cubicBezTo>
                    <a:pt x="20563" y="4509"/>
                    <a:pt x="31449" y="0"/>
                    <a:pt x="42801" y="0"/>
                  </a:cubicBezTo>
                  <a:close/>
                </a:path>
              </a:pathLst>
            </a:custGeom>
            <a:solidFill>
              <a:srgbClr val="F1F1F1"/>
            </a:solidFill>
          </p:spPr>
        </p:sp>
        <p:sp>
          <p:nvSpPr>
            <p:cNvPr name="TextBox 40" id="40"/>
            <p:cNvSpPr txBox="true"/>
            <p:nvPr/>
          </p:nvSpPr>
          <p:spPr>
            <a:xfrm>
              <a:off x="0" y="-57150"/>
              <a:ext cx="1466994" cy="753418"/>
            </a:xfrm>
            <a:prstGeom prst="rect">
              <a:avLst/>
            </a:prstGeom>
          </p:spPr>
          <p:txBody>
            <a:bodyPr anchor="ctr" rtlCol="false" tIns="254000" lIns="254000" bIns="254000" rIns="254000"/>
            <a:lstStyle/>
            <a:p>
              <a:pPr algn="l" marL="441197" indent="-220599" lvl="1">
                <a:lnSpc>
                  <a:spcPts val="2860"/>
                </a:lnSpc>
                <a:buFont typeface="Arial"/>
                <a:buChar char="•"/>
              </a:pPr>
              <a:r>
                <a:rPr lang="en-US" sz="2043">
                  <a:solidFill>
                    <a:srgbClr val="000000"/>
                  </a:solidFill>
                  <a:latin typeface="Poppins"/>
                  <a:ea typeface="Poppins"/>
                  <a:cs typeface="Poppins"/>
                  <a:sym typeface="Poppins"/>
                </a:rPr>
                <a:t>What results did you obtain from your projects?</a:t>
              </a:r>
            </a:p>
            <a:p>
              <a:pPr algn="l" marL="441197" indent="-220599" lvl="1">
                <a:lnSpc>
                  <a:spcPts val="2860"/>
                </a:lnSpc>
                <a:buFont typeface="Arial"/>
                <a:buChar char="•"/>
              </a:pPr>
              <a:r>
                <a:rPr lang="en-US" sz="2043">
                  <a:solidFill>
                    <a:srgbClr val="000000"/>
                  </a:solidFill>
                  <a:latin typeface="Poppins"/>
                  <a:ea typeface="Poppins"/>
                  <a:cs typeface="Poppins"/>
                  <a:sym typeface="Poppins"/>
                </a:rPr>
                <a:t>Write them here</a:t>
              </a:r>
            </a:p>
          </p:txBody>
        </p:sp>
      </p:grpSp>
      <p:grpSp>
        <p:nvGrpSpPr>
          <p:cNvPr name="Group 41" id="41"/>
          <p:cNvGrpSpPr/>
          <p:nvPr/>
        </p:nvGrpSpPr>
        <p:grpSpPr>
          <a:xfrm rot="0">
            <a:off x="8336281" y="9421904"/>
            <a:ext cx="9951719" cy="408123"/>
            <a:chOff x="0" y="0"/>
            <a:chExt cx="2621029" cy="107489"/>
          </a:xfrm>
        </p:grpSpPr>
        <p:sp>
          <p:nvSpPr>
            <p:cNvPr name="Freeform 42" id="42"/>
            <p:cNvSpPr/>
            <p:nvPr/>
          </p:nvSpPr>
          <p:spPr>
            <a:xfrm flipH="false" flipV="false" rot="0">
              <a:off x="0" y="0"/>
              <a:ext cx="2621029" cy="107489"/>
            </a:xfrm>
            <a:custGeom>
              <a:avLst/>
              <a:gdLst/>
              <a:ahLst/>
              <a:cxnLst/>
              <a:rect r="r" b="b" t="t" l="l"/>
              <a:pathLst>
                <a:path h="107489" w="2621029">
                  <a:moveTo>
                    <a:pt x="0" y="0"/>
                  </a:moveTo>
                  <a:lnTo>
                    <a:pt x="2621029" y="0"/>
                  </a:lnTo>
                  <a:lnTo>
                    <a:pt x="2621029" y="107489"/>
                  </a:lnTo>
                  <a:lnTo>
                    <a:pt x="0" y="107489"/>
                  </a:lnTo>
                  <a:close/>
                </a:path>
              </a:pathLst>
            </a:custGeom>
            <a:solidFill>
              <a:srgbClr val="FFD076"/>
            </a:solidFill>
          </p:spPr>
        </p:sp>
        <p:sp>
          <p:nvSpPr>
            <p:cNvPr name="TextBox 43" id="43"/>
            <p:cNvSpPr txBox="true"/>
            <p:nvPr/>
          </p:nvSpPr>
          <p:spPr>
            <a:xfrm>
              <a:off x="0" y="-47625"/>
              <a:ext cx="2621029" cy="155114"/>
            </a:xfrm>
            <a:prstGeom prst="rect">
              <a:avLst/>
            </a:prstGeom>
          </p:spPr>
          <p:txBody>
            <a:bodyPr anchor="ctr" rtlCol="false" tIns="50800" lIns="50800" bIns="50800" rIns="50800"/>
            <a:lstStyle/>
            <a:p>
              <a:pPr algn="ctr">
                <a:lnSpc>
                  <a:spcPts val="3560"/>
                </a:lnSpc>
              </a:pPr>
            </a:p>
          </p:txBody>
        </p:sp>
      </p:grpSp>
      <p:sp>
        <p:nvSpPr>
          <p:cNvPr name="TextBox 44" id="44"/>
          <p:cNvSpPr txBox="true"/>
          <p:nvPr/>
        </p:nvSpPr>
        <p:spPr>
          <a:xfrm rot="0">
            <a:off x="576830" y="549227"/>
            <a:ext cx="6290986" cy="2562625"/>
          </a:xfrm>
          <a:prstGeom prst="rect">
            <a:avLst/>
          </a:prstGeom>
        </p:spPr>
        <p:txBody>
          <a:bodyPr anchor="t" rtlCol="false" tIns="0" lIns="0" bIns="0" rIns="0">
            <a:spAutoFit/>
          </a:bodyPr>
          <a:lstStyle/>
          <a:p>
            <a:pPr algn="l" marL="0" indent="0" lvl="0">
              <a:lnSpc>
                <a:spcPts val="10017"/>
              </a:lnSpc>
              <a:spcBef>
                <a:spcPct val="0"/>
              </a:spcBef>
            </a:pPr>
            <a:r>
              <a:rPr lang="en-US" b="true" sz="7155">
                <a:solidFill>
                  <a:srgbClr val="563C08"/>
                </a:solidFill>
                <a:latin typeface="Poppins Bold"/>
                <a:ea typeface="Poppins Bold"/>
                <a:cs typeface="Poppins Bold"/>
                <a:sym typeface="Poppins Bold"/>
              </a:rPr>
              <a:t>Measuring Progress</a:t>
            </a:r>
          </a:p>
        </p:txBody>
      </p:sp>
      <p:sp>
        <p:nvSpPr>
          <p:cNvPr name="TextBox 45" id="45"/>
          <p:cNvSpPr txBox="true"/>
          <p:nvPr/>
        </p:nvSpPr>
        <p:spPr>
          <a:xfrm rot="0">
            <a:off x="7285742" y="971550"/>
            <a:ext cx="10478860" cy="1953674"/>
          </a:xfrm>
          <a:prstGeom prst="rect">
            <a:avLst/>
          </a:prstGeom>
        </p:spPr>
        <p:txBody>
          <a:bodyPr anchor="t" rtlCol="false" tIns="0" lIns="0" bIns="0" rIns="0">
            <a:spAutoFit/>
          </a:bodyPr>
          <a:lstStyle/>
          <a:p>
            <a:pPr algn="l" marL="0" indent="0" lvl="0">
              <a:lnSpc>
                <a:spcPts val="3080"/>
              </a:lnSpc>
              <a:spcBef>
                <a:spcPct val="0"/>
              </a:spcBef>
            </a:pPr>
            <a:r>
              <a:rPr lang="en-US" sz="2200">
                <a:solidFill>
                  <a:srgbClr val="563C08"/>
                </a:solidFill>
                <a:latin typeface="Poppins"/>
                <a:ea typeface="Poppins"/>
                <a:cs typeface="Poppins"/>
                <a:sym typeface="Poppins"/>
              </a:rPr>
              <a:t>Measuring progress towards Sustainable Development Goals (SDGs) involves defining clear indicators for each goal, collecting relevant data, and establishing baselines. Regular monitoring and evaluation against these indicators help track trends and assess the effectiveness of implemented policies.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47625"/>
              <a:ext cx="1848158" cy="3198609"/>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498034" y="2355594"/>
            <a:ext cx="15291933" cy="5575813"/>
            <a:chOff x="0" y="0"/>
            <a:chExt cx="4027505" cy="1468527"/>
          </a:xfrm>
        </p:grpSpPr>
        <p:sp>
          <p:nvSpPr>
            <p:cNvPr name="Freeform 6" id="6"/>
            <p:cNvSpPr/>
            <p:nvPr/>
          </p:nvSpPr>
          <p:spPr>
            <a:xfrm flipH="false" flipV="false" rot="0">
              <a:off x="0" y="0"/>
              <a:ext cx="4027505" cy="1468527"/>
            </a:xfrm>
            <a:custGeom>
              <a:avLst/>
              <a:gdLst/>
              <a:ahLst/>
              <a:cxnLst/>
              <a:rect r="r" b="b" t="t" l="l"/>
              <a:pathLst>
                <a:path h="1468527" w="4027505">
                  <a:moveTo>
                    <a:pt x="0" y="0"/>
                  </a:moveTo>
                  <a:lnTo>
                    <a:pt x="4027505" y="0"/>
                  </a:lnTo>
                  <a:lnTo>
                    <a:pt x="4027505" y="1468527"/>
                  </a:lnTo>
                  <a:lnTo>
                    <a:pt x="0" y="1468527"/>
                  </a:lnTo>
                  <a:close/>
                </a:path>
              </a:pathLst>
            </a:custGeom>
            <a:solidFill>
              <a:srgbClr val="FFFFFF"/>
            </a:solidFill>
          </p:spPr>
        </p:sp>
        <p:sp>
          <p:nvSpPr>
            <p:cNvPr name="TextBox 7" id="7"/>
            <p:cNvSpPr txBox="true"/>
            <p:nvPr/>
          </p:nvSpPr>
          <p:spPr>
            <a:xfrm>
              <a:off x="0" y="-47625"/>
              <a:ext cx="4027505" cy="1516152"/>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1498034" y="2355594"/>
            <a:ext cx="956740" cy="5575813"/>
            <a:chOff x="0" y="0"/>
            <a:chExt cx="251981" cy="1468527"/>
          </a:xfrm>
        </p:grpSpPr>
        <p:sp>
          <p:nvSpPr>
            <p:cNvPr name="Freeform 9" id="9"/>
            <p:cNvSpPr/>
            <p:nvPr/>
          </p:nvSpPr>
          <p:spPr>
            <a:xfrm flipH="false" flipV="false" rot="0">
              <a:off x="0" y="0"/>
              <a:ext cx="251981" cy="1468527"/>
            </a:xfrm>
            <a:custGeom>
              <a:avLst/>
              <a:gdLst/>
              <a:ahLst/>
              <a:cxnLst/>
              <a:rect r="r" b="b" t="t" l="l"/>
              <a:pathLst>
                <a:path h="1468527" w="251981">
                  <a:moveTo>
                    <a:pt x="0" y="0"/>
                  </a:moveTo>
                  <a:lnTo>
                    <a:pt x="251981" y="0"/>
                  </a:lnTo>
                  <a:lnTo>
                    <a:pt x="251981" y="1468527"/>
                  </a:lnTo>
                  <a:lnTo>
                    <a:pt x="0" y="1468527"/>
                  </a:lnTo>
                  <a:close/>
                </a:path>
              </a:pathLst>
            </a:custGeom>
            <a:solidFill>
              <a:srgbClr val="FFD076"/>
            </a:solidFill>
          </p:spPr>
        </p:sp>
        <p:sp>
          <p:nvSpPr>
            <p:cNvPr name="TextBox 10" id="10"/>
            <p:cNvSpPr txBox="true"/>
            <p:nvPr/>
          </p:nvSpPr>
          <p:spPr>
            <a:xfrm>
              <a:off x="0" y="-47625"/>
              <a:ext cx="251981" cy="1516152"/>
            </a:xfrm>
            <a:prstGeom prst="rect">
              <a:avLst/>
            </a:prstGeom>
          </p:spPr>
          <p:txBody>
            <a:bodyPr anchor="ctr" rtlCol="false" tIns="50800" lIns="50800" bIns="50800" rIns="50800"/>
            <a:lstStyle/>
            <a:p>
              <a:pPr algn="ctr">
                <a:lnSpc>
                  <a:spcPts val="3560"/>
                </a:lnSpc>
              </a:pPr>
            </a:p>
          </p:txBody>
        </p:sp>
      </p:grpSp>
      <p:sp>
        <p:nvSpPr>
          <p:cNvPr name="TextBox 11" id="11"/>
          <p:cNvSpPr txBox="true"/>
          <p:nvPr/>
        </p:nvSpPr>
        <p:spPr>
          <a:xfrm rot="0">
            <a:off x="3574182" y="4221299"/>
            <a:ext cx="10719160" cy="1596752"/>
          </a:xfrm>
          <a:prstGeom prst="rect">
            <a:avLst/>
          </a:prstGeom>
        </p:spPr>
        <p:txBody>
          <a:bodyPr anchor="t" rtlCol="false" tIns="0" lIns="0" bIns="0" rIns="0">
            <a:spAutoFit/>
          </a:bodyPr>
          <a:lstStyle/>
          <a:p>
            <a:pPr algn="l" marL="0" indent="0" lvl="0">
              <a:lnSpc>
                <a:spcPts val="12448"/>
              </a:lnSpc>
              <a:spcBef>
                <a:spcPct val="0"/>
              </a:spcBef>
            </a:pPr>
            <a:r>
              <a:rPr lang="en-US" b="true" sz="8891">
                <a:solidFill>
                  <a:srgbClr val="8B5F0B"/>
                </a:solidFill>
                <a:latin typeface="Poppins Bold"/>
                <a:ea typeface="Poppins Bold"/>
                <a:cs typeface="Poppins Bold"/>
                <a:sym typeface="Poppins Bold"/>
              </a:rPr>
              <a:t>Metrics and FISMA</a:t>
            </a:r>
          </a:p>
        </p:txBody>
      </p:sp>
      <p:sp>
        <p:nvSpPr>
          <p:cNvPr name="Freeform 12" id="12"/>
          <p:cNvSpPr/>
          <p:nvPr/>
        </p:nvSpPr>
        <p:spPr>
          <a:xfrm flipH="false" flipV="false" rot="0">
            <a:off x="1085797" y="1028700"/>
            <a:ext cx="2017463" cy="2030152"/>
          </a:xfrm>
          <a:custGeom>
            <a:avLst/>
            <a:gdLst/>
            <a:ahLst/>
            <a:cxnLst/>
            <a:rect r="r" b="b" t="t" l="l"/>
            <a:pathLst>
              <a:path h="2030152" w="2017463">
                <a:moveTo>
                  <a:pt x="0" y="0"/>
                </a:moveTo>
                <a:lnTo>
                  <a:pt x="2017464" y="0"/>
                </a:lnTo>
                <a:lnTo>
                  <a:pt x="2017464"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15981039" y="9462044"/>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BORJA</a:t>
            </a:r>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9227797"/>
            <a:chOff x="0" y="0"/>
            <a:chExt cx="4816593" cy="2430366"/>
          </a:xfrm>
        </p:grpSpPr>
        <p:sp>
          <p:nvSpPr>
            <p:cNvPr name="Freeform 3" id="3"/>
            <p:cNvSpPr/>
            <p:nvPr/>
          </p:nvSpPr>
          <p:spPr>
            <a:xfrm flipH="false" flipV="false" rot="0">
              <a:off x="0" y="0"/>
              <a:ext cx="4816592" cy="2430366"/>
            </a:xfrm>
            <a:custGeom>
              <a:avLst/>
              <a:gdLst/>
              <a:ahLst/>
              <a:cxnLst/>
              <a:rect r="r" b="b" t="t" l="l"/>
              <a:pathLst>
                <a:path h="2430366" w="4816592">
                  <a:moveTo>
                    <a:pt x="0" y="0"/>
                  </a:moveTo>
                  <a:lnTo>
                    <a:pt x="4816592" y="0"/>
                  </a:lnTo>
                  <a:lnTo>
                    <a:pt x="4816592" y="2430366"/>
                  </a:lnTo>
                  <a:lnTo>
                    <a:pt x="0" y="2430366"/>
                  </a:lnTo>
                  <a:close/>
                </a:path>
              </a:pathLst>
            </a:custGeom>
            <a:solidFill>
              <a:srgbClr val="FFD076"/>
            </a:solidFill>
          </p:spPr>
        </p:sp>
        <p:sp>
          <p:nvSpPr>
            <p:cNvPr name="TextBox 4" id="4"/>
            <p:cNvSpPr txBox="true"/>
            <p:nvPr/>
          </p:nvSpPr>
          <p:spPr>
            <a:xfrm>
              <a:off x="0" y="-47625"/>
              <a:ext cx="4816593" cy="2477991"/>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0" y="0"/>
            <a:ext cx="8200350" cy="9227797"/>
            <a:chOff x="0" y="0"/>
            <a:chExt cx="2159763" cy="2430366"/>
          </a:xfrm>
        </p:grpSpPr>
        <p:sp>
          <p:nvSpPr>
            <p:cNvPr name="Freeform 6" id="6"/>
            <p:cNvSpPr/>
            <p:nvPr/>
          </p:nvSpPr>
          <p:spPr>
            <a:xfrm flipH="false" flipV="false" rot="0">
              <a:off x="0" y="0"/>
              <a:ext cx="2159763" cy="2430366"/>
            </a:xfrm>
            <a:custGeom>
              <a:avLst/>
              <a:gdLst/>
              <a:ahLst/>
              <a:cxnLst/>
              <a:rect r="r" b="b" t="t" l="l"/>
              <a:pathLst>
                <a:path h="2430366" w="2159763">
                  <a:moveTo>
                    <a:pt x="0" y="0"/>
                  </a:moveTo>
                  <a:lnTo>
                    <a:pt x="2159763" y="0"/>
                  </a:lnTo>
                  <a:lnTo>
                    <a:pt x="2159763" y="2430366"/>
                  </a:lnTo>
                  <a:lnTo>
                    <a:pt x="0" y="2430366"/>
                  </a:lnTo>
                  <a:close/>
                </a:path>
              </a:pathLst>
            </a:custGeom>
            <a:solidFill>
              <a:srgbClr val="FFFFFF"/>
            </a:solidFill>
          </p:spPr>
        </p:sp>
        <p:sp>
          <p:nvSpPr>
            <p:cNvPr name="TextBox 7" id="7"/>
            <p:cNvSpPr txBox="true"/>
            <p:nvPr/>
          </p:nvSpPr>
          <p:spPr>
            <a:xfrm>
              <a:off x="0" y="-47625"/>
              <a:ext cx="2159763" cy="2477991"/>
            </a:xfrm>
            <a:prstGeom prst="rect">
              <a:avLst/>
            </a:prstGeom>
          </p:spPr>
          <p:txBody>
            <a:bodyPr anchor="ctr" rtlCol="false" tIns="50800" lIns="50800" bIns="50800" rIns="50800"/>
            <a:lstStyle/>
            <a:p>
              <a:pPr algn="ctr">
                <a:lnSpc>
                  <a:spcPts val="3560"/>
                </a:lnSpc>
              </a:pPr>
            </a:p>
          </p:txBody>
        </p:sp>
      </p:grpSp>
      <p:sp>
        <p:nvSpPr>
          <p:cNvPr name="TextBox 8" id="8"/>
          <p:cNvSpPr txBox="true"/>
          <p:nvPr/>
        </p:nvSpPr>
        <p:spPr>
          <a:xfrm rot="0">
            <a:off x="1220952" y="1368362"/>
            <a:ext cx="5758446" cy="6281524"/>
          </a:xfrm>
          <a:prstGeom prst="rect">
            <a:avLst/>
          </a:prstGeom>
        </p:spPr>
        <p:txBody>
          <a:bodyPr anchor="t" rtlCol="false" tIns="0" lIns="0" bIns="0" rIns="0">
            <a:spAutoFit/>
          </a:bodyPr>
          <a:lstStyle/>
          <a:p>
            <a:pPr algn="l">
              <a:lnSpc>
                <a:spcPts val="9843"/>
              </a:lnSpc>
            </a:pPr>
            <a:r>
              <a:rPr lang="en-US" sz="7031" b="true">
                <a:solidFill>
                  <a:srgbClr val="191919"/>
                </a:solidFill>
                <a:latin typeface="Poppins Bold"/>
                <a:ea typeface="Poppins Bold"/>
                <a:cs typeface="Poppins Bold"/>
                <a:sym typeface="Poppins Bold"/>
              </a:rPr>
              <a:t>Overview of FISMA </a:t>
            </a:r>
          </a:p>
          <a:p>
            <a:pPr algn="l" marL="0" indent="0" lvl="0">
              <a:lnSpc>
                <a:spcPts val="9843"/>
              </a:lnSpc>
              <a:spcBef>
                <a:spcPct val="0"/>
              </a:spcBef>
            </a:pPr>
            <a:r>
              <a:rPr lang="en-US" b="true" sz="7031">
                <a:solidFill>
                  <a:srgbClr val="191919"/>
                </a:solidFill>
                <a:latin typeface="Poppins Bold"/>
                <a:ea typeface="Poppins Bold"/>
                <a:cs typeface="Poppins Bold"/>
                <a:sym typeface="Poppins Bold"/>
              </a:rPr>
              <a:t>&amp; The Role of Security Metrics</a:t>
            </a:r>
          </a:p>
        </p:txBody>
      </p:sp>
      <p:sp>
        <p:nvSpPr>
          <p:cNvPr name="TextBox 9" id="9"/>
          <p:cNvSpPr txBox="true"/>
          <p:nvPr/>
        </p:nvSpPr>
        <p:spPr>
          <a:xfrm rot="0">
            <a:off x="9012676" y="848984"/>
            <a:ext cx="8407624" cy="7444105"/>
          </a:xfrm>
          <a:prstGeom prst="rect">
            <a:avLst/>
          </a:prstGeom>
        </p:spPr>
        <p:txBody>
          <a:bodyPr anchor="t" rtlCol="false" tIns="0" lIns="0" bIns="0" rIns="0">
            <a:spAutoFit/>
          </a:bodyPr>
          <a:lstStyle/>
          <a:p>
            <a:pPr algn="just">
              <a:lnSpc>
                <a:spcPts val="3919"/>
              </a:lnSpc>
              <a:spcBef>
                <a:spcPct val="0"/>
              </a:spcBef>
            </a:pPr>
            <a:r>
              <a:rPr lang="en-US" sz="2799">
                <a:solidFill>
                  <a:srgbClr val="000000"/>
                </a:solidFill>
                <a:latin typeface="Poppins"/>
                <a:ea typeface="Poppins"/>
                <a:cs typeface="Poppins"/>
                <a:sym typeface="Poppins"/>
              </a:rPr>
              <a:t>The </a:t>
            </a:r>
            <a:r>
              <a:rPr lang="en-US" b="true" sz="2799">
                <a:solidFill>
                  <a:srgbClr val="000000"/>
                </a:solidFill>
                <a:latin typeface="Poppins Bold"/>
                <a:ea typeface="Poppins Bold"/>
                <a:cs typeface="Poppins Bold"/>
                <a:sym typeface="Poppins Bold"/>
              </a:rPr>
              <a:t>Federal Information Security Modernization Act (FISMA)</a:t>
            </a:r>
            <a:r>
              <a:rPr lang="en-US" sz="2799">
                <a:solidFill>
                  <a:srgbClr val="000000"/>
                </a:solidFill>
                <a:latin typeface="Poppins"/>
                <a:ea typeface="Poppins"/>
                <a:cs typeface="Poppins"/>
                <a:sym typeface="Poppins"/>
              </a:rPr>
              <a:t> is a United States federal law that requires agencies and contractors to establish comprehensive cybersecurity programs. Under FISMA, information security cannot remain a passive policy document; it must exist as an active, operational process. Security metrics serve as the essential quantitative evidence required by FISMA. They transform subjective assumptions about an organization's security posture into objective, measurable data that demonstrates whether security controls are actually functioning as intended to protect critical information systems.</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295276"/>
            <a:ext cx="18288000" cy="6991724"/>
            <a:chOff x="0" y="0"/>
            <a:chExt cx="4816593" cy="1841442"/>
          </a:xfrm>
        </p:grpSpPr>
        <p:sp>
          <p:nvSpPr>
            <p:cNvPr name="Freeform 3" id="3"/>
            <p:cNvSpPr/>
            <p:nvPr/>
          </p:nvSpPr>
          <p:spPr>
            <a:xfrm flipH="false" flipV="false" rot="0">
              <a:off x="0" y="0"/>
              <a:ext cx="4816592" cy="1841442"/>
            </a:xfrm>
            <a:custGeom>
              <a:avLst/>
              <a:gdLst/>
              <a:ahLst/>
              <a:cxnLst/>
              <a:rect r="r" b="b" t="t" l="l"/>
              <a:pathLst>
                <a:path h="1841442" w="4816592">
                  <a:moveTo>
                    <a:pt x="0" y="0"/>
                  </a:moveTo>
                  <a:lnTo>
                    <a:pt x="4816592" y="0"/>
                  </a:lnTo>
                  <a:lnTo>
                    <a:pt x="4816592" y="1841442"/>
                  </a:lnTo>
                  <a:lnTo>
                    <a:pt x="0" y="1841442"/>
                  </a:lnTo>
                  <a:close/>
                </a:path>
              </a:pathLst>
            </a:custGeom>
            <a:solidFill>
              <a:srgbClr val="FFD076"/>
            </a:solidFill>
          </p:spPr>
        </p:sp>
        <p:sp>
          <p:nvSpPr>
            <p:cNvPr name="TextBox 4" id="4"/>
            <p:cNvSpPr txBox="true"/>
            <p:nvPr/>
          </p:nvSpPr>
          <p:spPr>
            <a:xfrm>
              <a:off x="0" y="-47625"/>
              <a:ext cx="4816593" cy="1889067"/>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1235880" y="1875155"/>
            <a:ext cx="7641913" cy="8269098"/>
            <a:chOff x="0" y="0"/>
            <a:chExt cx="2012685" cy="2177869"/>
          </a:xfrm>
        </p:grpSpPr>
        <p:sp>
          <p:nvSpPr>
            <p:cNvPr name="Freeform 6" id="6"/>
            <p:cNvSpPr/>
            <p:nvPr/>
          </p:nvSpPr>
          <p:spPr>
            <a:xfrm flipH="false" flipV="false" rot="0">
              <a:off x="0" y="0"/>
              <a:ext cx="2012685" cy="2177869"/>
            </a:xfrm>
            <a:custGeom>
              <a:avLst/>
              <a:gdLst/>
              <a:ahLst/>
              <a:cxnLst/>
              <a:rect r="r" b="b" t="t" l="l"/>
              <a:pathLst>
                <a:path h="2177869" w="2012685">
                  <a:moveTo>
                    <a:pt x="0" y="0"/>
                  </a:moveTo>
                  <a:lnTo>
                    <a:pt x="2012685" y="0"/>
                  </a:lnTo>
                  <a:lnTo>
                    <a:pt x="2012685" y="2177869"/>
                  </a:lnTo>
                  <a:lnTo>
                    <a:pt x="0" y="2177869"/>
                  </a:lnTo>
                  <a:close/>
                </a:path>
              </a:pathLst>
            </a:custGeom>
            <a:solidFill>
              <a:srgbClr val="F1F1F1"/>
            </a:solidFill>
          </p:spPr>
        </p:sp>
        <p:sp>
          <p:nvSpPr>
            <p:cNvPr name="TextBox 7" id="7"/>
            <p:cNvSpPr txBox="true"/>
            <p:nvPr/>
          </p:nvSpPr>
          <p:spPr>
            <a:xfrm>
              <a:off x="0" y="-47625"/>
              <a:ext cx="2012685" cy="2225494"/>
            </a:xfrm>
            <a:prstGeom prst="rect">
              <a:avLst/>
            </a:prstGeom>
          </p:spPr>
          <p:txBody>
            <a:bodyPr anchor="ctr" rtlCol="false" tIns="50800" lIns="50800" bIns="50800" rIns="50800"/>
            <a:lstStyle/>
            <a:p>
              <a:pPr algn="ctr">
                <a:lnSpc>
                  <a:spcPts val="3560"/>
                </a:lnSpc>
              </a:pPr>
            </a:p>
          </p:txBody>
        </p:sp>
      </p:grpSp>
      <p:sp>
        <p:nvSpPr>
          <p:cNvPr name="Freeform 8" id="8"/>
          <p:cNvSpPr/>
          <p:nvPr/>
        </p:nvSpPr>
        <p:spPr>
          <a:xfrm flipH="false" flipV="false" rot="0">
            <a:off x="0" y="3724313"/>
            <a:ext cx="11235880" cy="6133649"/>
          </a:xfrm>
          <a:custGeom>
            <a:avLst/>
            <a:gdLst/>
            <a:ahLst/>
            <a:cxnLst/>
            <a:rect r="r" b="b" t="t" l="l"/>
            <a:pathLst>
              <a:path h="6133649" w="11235880">
                <a:moveTo>
                  <a:pt x="0" y="0"/>
                </a:moveTo>
                <a:lnTo>
                  <a:pt x="11235880" y="0"/>
                </a:lnTo>
                <a:lnTo>
                  <a:pt x="11235880" y="6133649"/>
                </a:lnTo>
                <a:lnTo>
                  <a:pt x="0" y="6133649"/>
                </a:lnTo>
                <a:lnTo>
                  <a:pt x="0" y="0"/>
                </a:lnTo>
                <a:close/>
              </a:path>
            </a:pathLst>
          </a:custGeom>
          <a:blipFill>
            <a:blip r:embed="rId2"/>
            <a:stretch>
              <a:fillRect l="0" t="0" r="0" b="0"/>
            </a:stretch>
          </a:blipFill>
        </p:spPr>
      </p:sp>
      <p:sp>
        <p:nvSpPr>
          <p:cNvPr name="TextBox 9" id="9"/>
          <p:cNvSpPr txBox="true"/>
          <p:nvPr/>
        </p:nvSpPr>
        <p:spPr>
          <a:xfrm rot="0">
            <a:off x="212866" y="445141"/>
            <a:ext cx="15195454" cy="2285078"/>
          </a:xfrm>
          <a:prstGeom prst="rect">
            <a:avLst/>
          </a:prstGeom>
        </p:spPr>
        <p:txBody>
          <a:bodyPr anchor="t" rtlCol="false" tIns="0" lIns="0" bIns="0" rIns="0">
            <a:spAutoFit/>
          </a:bodyPr>
          <a:lstStyle/>
          <a:p>
            <a:pPr algn="l" marL="0" indent="0" lvl="0">
              <a:lnSpc>
                <a:spcPts val="8975"/>
              </a:lnSpc>
              <a:spcBef>
                <a:spcPct val="0"/>
              </a:spcBef>
            </a:pPr>
            <a:r>
              <a:rPr lang="en-US" b="true" sz="6411">
                <a:solidFill>
                  <a:srgbClr val="8B5F0B"/>
                </a:solidFill>
                <a:latin typeface="Poppins Bold"/>
                <a:ea typeface="Poppins Bold"/>
                <a:cs typeface="Poppins Bold"/>
                <a:sym typeface="Poppins Bold"/>
              </a:rPr>
              <a:t>FISMA Evolution: Paper Compliance vs. Continuous Monitoring</a:t>
            </a:r>
          </a:p>
        </p:txBody>
      </p:sp>
      <p:sp>
        <p:nvSpPr>
          <p:cNvPr name="TextBox 10" id="10"/>
          <p:cNvSpPr txBox="true"/>
          <p:nvPr/>
        </p:nvSpPr>
        <p:spPr>
          <a:xfrm rot="0">
            <a:off x="11410658" y="1980623"/>
            <a:ext cx="6719312" cy="7990473"/>
          </a:xfrm>
          <a:prstGeom prst="rect">
            <a:avLst/>
          </a:prstGeom>
        </p:spPr>
        <p:txBody>
          <a:bodyPr anchor="t" rtlCol="false" tIns="0" lIns="0" bIns="0" rIns="0">
            <a:spAutoFit/>
          </a:bodyPr>
          <a:lstStyle/>
          <a:p>
            <a:pPr algn="just" marL="0" indent="0" lvl="0">
              <a:lnSpc>
                <a:spcPts val="3712"/>
              </a:lnSpc>
              <a:spcBef>
                <a:spcPct val="0"/>
              </a:spcBef>
            </a:pPr>
            <a:r>
              <a:rPr lang="en-US" sz="2651">
                <a:solidFill>
                  <a:srgbClr val="000000"/>
                </a:solidFill>
                <a:latin typeface="Poppins"/>
                <a:ea typeface="Poppins"/>
                <a:cs typeface="Poppins"/>
                <a:sym typeface="Poppins"/>
              </a:rPr>
              <a:t>Historically, FISMA compliance was treated as a "paperwork exercise"—a point-in-time assessment where organizations completed annual checklists to satisfy external auditors. Modern FISMA mandates have fundamentally shifted this paradigm toward active continuous monitoring. Today, organizations are required to collect and analyze real-time metrics using automated tools. This continuous data collection ensures that security flaws, unauthorized configuration changes, and active network threats are detected immediately rather than remaining hidden until the next annual audit cycle.</a:t>
            </a: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9227797"/>
            <a:chOff x="0" y="0"/>
            <a:chExt cx="4816593" cy="2430366"/>
          </a:xfrm>
        </p:grpSpPr>
        <p:sp>
          <p:nvSpPr>
            <p:cNvPr name="Freeform 3" id="3"/>
            <p:cNvSpPr/>
            <p:nvPr/>
          </p:nvSpPr>
          <p:spPr>
            <a:xfrm flipH="false" flipV="false" rot="0">
              <a:off x="0" y="0"/>
              <a:ext cx="4816592" cy="2430366"/>
            </a:xfrm>
            <a:custGeom>
              <a:avLst/>
              <a:gdLst/>
              <a:ahLst/>
              <a:cxnLst/>
              <a:rect r="r" b="b" t="t" l="l"/>
              <a:pathLst>
                <a:path h="2430366" w="4816592">
                  <a:moveTo>
                    <a:pt x="0" y="0"/>
                  </a:moveTo>
                  <a:lnTo>
                    <a:pt x="4816592" y="0"/>
                  </a:lnTo>
                  <a:lnTo>
                    <a:pt x="4816592" y="2430366"/>
                  </a:lnTo>
                  <a:lnTo>
                    <a:pt x="0" y="2430366"/>
                  </a:lnTo>
                  <a:close/>
                </a:path>
              </a:pathLst>
            </a:custGeom>
            <a:solidFill>
              <a:srgbClr val="FFD076"/>
            </a:solidFill>
          </p:spPr>
        </p:sp>
        <p:sp>
          <p:nvSpPr>
            <p:cNvPr name="TextBox 4" id="4"/>
            <p:cNvSpPr txBox="true"/>
            <p:nvPr/>
          </p:nvSpPr>
          <p:spPr>
            <a:xfrm>
              <a:off x="0" y="-47625"/>
              <a:ext cx="4816593" cy="2477991"/>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0087650" y="0"/>
            <a:ext cx="8200350" cy="7769665"/>
            <a:chOff x="0" y="0"/>
            <a:chExt cx="2159763" cy="2046332"/>
          </a:xfrm>
        </p:grpSpPr>
        <p:sp>
          <p:nvSpPr>
            <p:cNvPr name="Freeform 6" id="6"/>
            <p:cNvSpPr/>
            <p:nvPr/>
          </p:nvSpPr>
          <p:spPr>
            <a:xfrm flipH="false" flipV="false" rot="0">
              <a:off x="0" y="0"/>
              <a:ext cx="2159763" cy="2046331"/>
            </a:xfrm>
            <a:custGeom>
              <a:avLst/>
              <a:gdLst/>
              <a:ahLst/>
              <a:cxnLst/>
              <a:rect r="r" b="b" t="t" l="l"/>
              <a:pathLst>
                <a:path h="2046331" w="2159763">
                  <a:moveTo>
                    <a:pt x="0" y="0"/>
                  </a:moveTo>
                  <a:lnTo>
                    <a:pt x="2159763" y="0"/>
                  </a:lnTo>
                  <a:lnTo>
                    <a:pt x="2159763" y="2046331"/>
                  </a:lnTo>
                  <a:lnTo>
                    <a:pt x="0" y="2046331"/>
                  </a:lnTo>
                  <a:close/>
                </a:path>
              </a:pathLst>
            </a:custGeom>
            <a:solidFill>
              <a:srgbClr val="FFFFFF"/>
            </a:solidFill>
          </p:spPr>
        </p:sp>
        <p:sp>
          <p:nvSpPr>
            <p:cNvPr name="TextBox 7" id="7"/>
            <p:cNvSpPr txBox="true"/>
            <p:nvPr/>
          </p:nvSpPr>
          <p:spPr>
            <a:xfrm>
              <a:off x="0" y="-47625"/>
              <a:ext cx="2159763" cy="2093957"/>
            </a:xfrm>
            <a:prstGeom prst="rect">
              <a:avLst/>
            </a:prstGeom>
          </p:spPr>
          <p:txBody>
            <a:bodyPr anchor="ctr" rtlCol="false" tIns="50800" lIns="50800" bIns="50800" rIns="50800"/>
            <a:lstStyle/>
            <a:p>
              <a:pPr algn="ctr">
                <a:lnSpc>
                  <a:spcPts val="3560"/>
                </a:lnSpc>
              </a:pPr>
            </a:p>
          </p:txBody>
        </p:sp>
      </p:grpSp>
      <p:sp>
        <p:nvSpPr>
          <p:cNvPr name="TextBox 8" id="8"/>
          <p:cNvSpPr txBox="true"/>
          <p:nvPr/>
        </p:nvSpPr>
        <p:spPr>
          <a:xfrm rot="0">
            <a:off x="10936338" y="1889409"/>
            <a:ext cx="7351662" cy="3781297"/>
          </a:xfrm>
          <a:prstGeom prst="rect">
            <a:avLst/>
          </a:prstGeom>
        </p:spPr>
        <p:txBody>
          <a:bodyPr anchor="t" rtlCol="false" tIns="0" lIns="0" bIns="0" rIns="0">
            <a:spAutoFit/>
          </a:bodyPr>
          <a:lstStyle/>
          <a:p>
            <a:pPr algn="l" marL="0" indent="0" lvl="0">
              <a:lnSpc>
                <a:spcPts val="9843"/>
              </a:lnSpc>
              <a:spcBef>
                <a:spcPct val="0"/>
              </a:spcBef>
            </a:pPr>
            <a:r>
              <a:rPr lang="en-US" b="true" sz="7031">
                <a:solidFill>
                  <a:srgbClr val="191919"/>
                </a:solidFill>
                <a:latin typeface="Poppins Bold"/>
                <a:ea typeface="Poppins Bold"/>
                <a:cs typeface="Poppins Bold"/>
                <a:sym typeface="Poppins Bold"/>
              </a:rPr>
              <a:t>Key Categories of FISMA Metrics</a:t>
            </a:r>
          </a:p>
        </p:txBody>
      </p:sp>
      <p:sp>
        <p:nvSpPr>
          <p:cNvPr name="TextBox 9" id="9"/>
          <p:cNvSpPr txBox="true"/>
          <p:nvPr/>
        </p:nvSpPr>
        <p:spPr>
          <a:xfrm rot="0">
            <a:off x="736376" y="353684"/>
            <a:ext cx="8407624" cy="8434705"/>
          </a:xfrm>
          <a:prstGeom prst="rect">
            <a:avLst/>
          </a:prstGeom>
        </p:spPr>
        <p:txBody>
          <a:bodyPr anchor="t" rtlCol="false" tIns="0" lIns="0" bIns="0" rIns="0">
            <a:spAutoFit/>
          </a:bodyPr>
          <a:lstStyle/>
          <a:p>
            <a:pPr algn="just" marL="604519" indent="-302260" lvl="1">
              <a:lnSpc>
                <a:spcPts val="3919"/>
              </a:lnSpc>
              <a:buFont typeface="Arial"/>
              <a:buChar char="•"/>
            </a:pPr>
            <a:r>
              <a:rPr lang="en-US" b="true" sz="2799">
                <a:solidFill>
                  <a:srgbClr val="000000"/>
                </a:solidFill>
                <a:latin typeface="Poppins Bold"/>
                <a:ea typeface="Poppins Bold"/>
                <a:cs typeface="Poppins Bold"/>
                <a:sym typeface="Poppins Bold"/>
              </a:rPr>
              <a:t>Implementation Metrics:</a:t>
            </a:r>
            <a:r>
              <a:rPr lang="en-US" sz="2799">
                <a:solidFill>
                  <a:srgbClr val="000000"/>
                </a:solidFill>
                <a:latin typeface="Poppins"/>
                <a:ea typeface="Poppins"/>
                <a:cs typeface="Poppins"/>
                <a:sym typeface="Poppins"/>
              </a:rPr>
              <a:t> Evaluate whether mandatory security controls and policies have been successfully deployed across all systems (e.g., tracking the percentage of organizational endpoints with mandatory Multi-Factor Authentication enabled).</a:t>
            </a:r>
          </a:p>
          <a:p>
            <a:pPr algn="just" marL="604519" indent="-302260" lvl="1">
              <a:lnSpc>
                <a:spcPts val="3919"/>
              </a:lnSpc>
              <a:buFont typeface="Arial"/>
              <a:buChar char="•"/>
            </a:pPr>
            <a:r>
              <a:rPr lang="en-US" b="true" sz="2799">
                <a:solidFill>
                  <a:srgbClr val="000000"/>
                </a:solidFill>
                <a:latin typeface="Poppins Bold"/>
                <a:ea typeface="Poppins Bold"/>
                <a:cs typeface="Poppins Bold"/>
                <a:sym typeface="Poppins Bold"/>
              </a:rPr>
              <a:t>Effectiveness Metrics:</a:t>
            </a:r>
            <a:r>
              <a:rPr lang="en-US" sz="2799">
                <a:solidFill>
                  <a:srgbClr val="000000"/>
                </a:solidFill>
                <a:latin typeface="Poppins"/>
                <a:ea typeface="Poppins"/>
                <a:cs typeface="Poppins"/>
                <a:sym typeface="Poppins"/>
              </a:rPr>
              <a:t> Measure how well deployed security controls perform under real-world operational conditions (e.g., measuring the mean time required to identify, isolate, and apply critical security patches across servers).</a:t>
            </a:r>
          </a:p>
          <a:p>
            <a:pPr algn="just" marL="604519" indent="-302260" lvl="1">
              <a:lnSpc>
                <a:spcPts val="3919"/>
              </a:lnSpc>
              <a:spcBef>
                <a:spcPct val="0"/>
              </a:spcBef>
              <a:buFont typeface="Arial"/>
              <a:buChar char="•"/>
            </a:pPr>
            <a:r>
              <a:rPr lang="en-US" b="true" sz="2799">
                <a:solidFill>
                  <a:srgbClr val="000000"/>
                </a:solidFill>
                <a:latin typeface="Poppins Bold"/>
                <a:ea typeface="Poppins Bold"/>
                <a:cs typeface="Poppins Bold"/>
                <a:sym typeface="Poppins Bold"/>
              </a:rPr>
              <a:t>Imp</a:t>
            </a:r>
            <a:r>
              <a:rPr lang="en-US" b="true" sz="2799">
                <a:solidFill>
                  <a:srgbClr val="000000"/>
                </a:solidFill>
                <a:latin typeface="Poppins Bold"/>
                <a:ea typeface="Poppins Bold"/>
                <a:cs typeface="Poppins Bold"/>
                <a:sym typeface="Poppins Bold"/>
              </a:rPr>
              <a:t>act Metrics:</a:t>
            </a:r>
            <a:r>
              <a:rPr lang="en-US" sz="2799">
                <a:solidFill>
                  <a:srgbClr val="000000"/>
                </a:solidFill>
                <a:latin typeface="Poppins"/>
                <a:ea typeface="Poppins"/>
                <a:cs typeface="Poppins"/>
                <a:sym typeface="Poppins"/>
              </a:rPr>
              <a:t> Assess the operational and business damage caused by security failures (e.g., rec</a:t>
            </a:r>
            <a:r>
              <a:rPr lang="en-US" sz="2799">
                <a:solidFill>
                  <a:srgbClr val="000000"/>
                </a:solidFill>
                <a:latin typeface="Poppins"/>
                <a:ea typeface="Poppins"/>
                <a:cs typeface="Poppins"/>
                <a:sym typeface="Poppins"/>
              </a:rPr>
              <a:t>o</a:t>
            </a:r>
            <a:r>
              <a:rPr lang="en-US" sz="2799">
                <a:solidFill>
                  <a:srgbClr val="000000"/>
                </a:solidFill>
                <a:latin typeface="Poppins"/>
                <a:ea typeface="Poppins"/>
                <a:cs typeface="Poppins"/>
                <a:sym typeface="Poppins"/>
              </a:rPr>
              <a:t>rding total system downtime, financial costs, or lost data records resulting from an incident).</a:t>
            </a:r>
          </a:p>
        </p:txBody>
      </p:sp>
    </p:spTree>
  </p:cSld>
  <p:clrMapOvr>
    <a:masterClrMapping/>
  </p:clrMapOvr>
</p:sld>
</file>

<file path=ppt/slides/slide38.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9227797"/>
            <a:chOff x="0" y="0"/>
            <a:chExt cx="4816593" cy="2430366"/>
          </a:xfrm>
        </p:grpSpPr>
        <p:sp>
          <p:nvSpPr>
            <p:cNvPr name="Freeform 3" id="3"/>
            <p:cNvSpPr/>
            <p:nvPr/>
          </p:nvSpPr>
          <p:spPr>
            <a:xfrm flipH="false" flipV="false" rot="0">
              <a:off x="0" y="0"/>
              <a:ext cx="4816592" cy="2430366"/>
            </a:xfrm>
            <a:custGeom>
              <a:avLst/>
              <a:gdLst/>
              <a:ahLst/>
              <a:cxnLst/>
              <a:rect r="r" b="b" t="t" l="l"/>
              <a:pathLst>
                <a:path h="2430366" w="4816592">
                  <a:moveTo>
                    <a:pt x="0" y="0"/>
                  </a:moveTo>
                  <a:lnTo>
                    <a:pt x="4816592" y="0"/>
                  </a:lnTo>
                  <a:lnTo>
                    <a:pt x="4816592" y="2430366"/>
                  </a:lnTo>
                  <a:lnTo>
                    <a:pt x="0" y="2430366"/>
                  </a:lnTo>
                  <a:close/>
                </a:path>
              </a:pathLst>
            </a:custGeom>
            <a:solidFill>
              <a:srgbClr val="FFD076"/>
            </a:solidFill>
          </p:spPr>
        </p:sp>
        <p:sp>
          <p:nvSpPr>
            <p:cNvPr name="TextBox 4" id="4"/>
            <p:cNvSpPr txBox="true"/>
            <p:nvPr/>
          </p:nvSpPr>
          <p:spPr>
            <a:xfrm>
              <a:off x="0" y="-47625"/>
              <a:ext cx="4816593" cy="2477991"/>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0" y="0"/>
            <a:ext cx="8200350" cy="7769665"/>
            <a:chOff x="0" y="0"/>
            <a:chExt cx="2159763" cy="2046332"/>
          </a:xfrm>
        </p:grpSpPr>
        <p:sp>
          <p:nvSpPr>
            <p:cNvPr name="Freeform 6" id="6"/>
            <p:cNvSpPr/>
            <p:nvPr/>
          </p:nvSpPr>
          <p:spPr>
            <a:xfrm flipH="false" flipV="false" rot="0">
              <a:off x="0" y="0"/>
              <a:ext cx="2159763" cy="2046331"/>
            </a:xfrm>
            <a:custGeom>
              <a:avLst/>
              <a:gdLst/>
              <a:ahLst/>
              <a:cxnLst/>
              <a:rect r="r" b="b" t="t" l="l"/>
              <a:pathLst>
                <a:path h="2046331" w="2159763">
                  <a:moveTo>
                    <a:pt x="0" y="0"/>
                  </a:moveTo>
                  <a:lnTo>
                    <a:pt x="2159763" y="0"/>
                  </a:lnTo>
                  <a:lnTo>
                    <a:pt x="2159763" y="2046331"/>
                  </a:lnTo>
                  <a:lnTo>
                    <a:pt x="0" y="2046331"/>
                  </a:lnTo>
                  <a:close/>
                </a:path>
              </a:pathLst>
            </a:custGeom>
            <a:solidFill>
              <a:srgbClr val="FFFFFF"/>
            </a:solidFill>
          </p:spPr>
        </p:sp>
        <p:sp>
          <p:nvSpPr>
            <p:cNvPr name="TextBox 7" id="7"/>
            <p:cNvSpPr txBox="true"/>
            <p:nvPr/>
          </p:nvSpPr>
          <p:spPr>
            <a:xfrm>
              <a:off x="0" y="-47625"/>
              <a:ext cx="2159763" cy="2093957"/>
            </a:xfrm>
            <a:prstGeom prst="rect">
              <a:avLst/>
            </a:prstGeom>
          </p:spPr>
          <p:txBody>
            <a:bodyPr anchor="ctr" rtlCol="false" tIns="50800" lIns="50800" bIns="50800" rIns="50800"/>
            <a:lstStyle/>
            <a:p>
              <a:pPr algn="ctr">
                <a:lnSpc>
                  <a:spcPts val="3560"/>
                </a:lnSpc>
              </a:pPr>
            </a:p>
          </p:txBody>
        </p:sp>
      </p:grpSp>
      <p:sp>
        <p:nvSpPr>
          <p:cNvPr name="TextBox 8" id="8"/>
          <p:cNvSpPr txBox="true"/>
          <p:nvPr/>
        </p:nvSpPr>
        <p:spPr>
          <a:xfrm rot="0">
            <a:off x="1028700" y="723851"/>
            <a:ext cx="6533007" cy="5884955"/>
          </a:xfrm>
          <a:prstGeom prst="rect">
            <a:avLst/>
          </a:prstGeom>
        </p:spPr>
        <p:txBody>
          <a:bodyPr anchor="t" rtlCol="false" tIns="0" lIns="0" bIns="0" rIns="0">
            <a:spAutoFit/>
          </a:bodyPr>
          <a:lstStyle/>
          <a:p>
            <a:pPr algn="l" marL="0" indent="0" lvl="0">
              <a:lnSpc>
                <a:spcPts val="9247"/>
              </a:lnSpc>
              <a:spcBef>
                <a:spcPct val="0"/>
              </a:spcBef>
            </a:pPr>
            <a:r>
              <a:rPr lang="en-US" b="true" sz="6605">
                <a:solidFill>
                  <a:srgbClr val="191919"/>
                </a:solidFill>
                <a:latin typeface="Poppins Bold"/>
                <a:ea typeface="Poppins Bold"/>
                <a:cs typeface="Poppins Bold"/>
                <a:sym typeface="Poppins Bold"/>
              </a:rPr>
              <a:t>Continuous Diagnostics and Mitigation (CDM) Framework</a:t>
            </a:r>
          </a:p>
        </p:txBody>
      </p:sp>
      <p:sp>
        <p:nvSpPr>
          <p:cNvPr name="TextBox 9" id="9"/>
          <p:cNvSpPr txBox="true"/>
          <p:nvPr/>
        </p:nvSpPr>
        <p:spPr>
          <a:xfrm rot="0">
            <a:off x="8968901" y="353684"/>
            <a:ext cx="8670273" cy="8434705"/>
          </a:xfrm>
          <a:prstGeom prst="rect">
            <a:avLst/>
          </a:prstGeom>
        </p:spPr>
        <p:txBody>
          <a:bodyPr anchor="t" rtlCol="false" tIns="0" lIns="0" bIns="0" rIns="0">
            <a:spAutoFit/>
          </a:bodyPr>
          <a:lstStyle/>
          <a:p>
            <a:pPr algn="just">
              <a:lnSpc>
                <a:spcPts val="3919"/>
              </a:lnSpc>
            </a:pPr>
            <a:r>
              <a:rPr lang="en-US" sz="2799">
                <a:solidFill>
                  <a:srgbClr val="000000"/>
                </a:solidFill>
                <a:latin typeface="Poppins"/>
                <a:ea typeface="Poppins"/>
                <a:cs typeface="Poppins"/>
                <a:sym typeface="Poppins"/>
              </a:rPr>
              <a:t>A foundational pillar of modern FISMA metrics is the Continuous Diagnostics and Mitigation (CDM) program. CDM provides organizations with automated tools to constantly monitor network activity and produce actionable risk metrics. </a:t>
            </a:r>
          </a:p>
          <a:p>
            <a:pPr algn="just">
              <a:lnSpc>
                <a:spcPts val="3919"/>
              </a:lnSpc>
            </a:pPr>
          </a:p>
          <a:p>
            <a:pPr algn="just">
              <a:lnSpc>
                <a:spcPts val="3919"/>
              </a:lnSpc>
            </a:pPr>
            <a:r>
              <a:rPr lang="en-US" sz="2799">
                <a:solidFill>
                  <a:srgbClr val="000000"/>
                </a:solidFill>
                <a:latin typeface="Poppins"/>
                <a:ea typeface="Poppins"/>
                <a:cs typeface="Poppins"/>
                <a:sym typeface="Poppins"/>
              </a:rPr>
              <a:t>Under the CDM model, an organization’s metric tracking must continuously answer three fundamental operational questions:</a:t>
            </a:r>
          </a:p>
          <a:p>
            <a:pPr algn="just" marL="604519" indent="-302260" lvl="1">
              <a:lnSpc>
                <a:spcPts val="3919"/>
              </a:lnSpc>
              <a:buAutoNum type="arabicPeriod" startAt="1"/>
            </a:pPr>
            <a:r>
              <a:rPr lang="en-US" b="true" sz="2799">
                <a:solidFill>
                  <a:srgbClr val="000000"/>
                </a:solidFill>
                <a:latin typeface="Poppins Bold"/>
                <a:ea typeface="Poppins Bold"/>
                <a:cs typeface="Poppins Bold"/>
                <a:sym typeface="Poppins Bold"/>
              </a:rPr>
              <a:t>What is on the network?</a:t>
            </a:r>
            <a:r>
              <a:rPr lang="en-US" sz="2799">
                <a:solidFill>
                  <a:srgbClr val="000000"/>
                </a:solidFill>
                <a:latin typeface="Poppins"/>
                <a:ea typeface="Poppins"/>
                <a:cs typeface="Poppins"/>
                <a:sym typeface="Poppins"/>
              </a:rPr>
              <a:t> (Continuous asset management of hardware and software).</a:t>
            </a:r>
          </a:p>
          <a:p>
            <a:pPr algn="just" marL="604519" indent="-302260" lvl="1">
              <a:lnSpc>
                <a:spcPts val="3919"/>
              </a:lnSpc>
              <a:buAutoNum type="arabicPeriod" startAt="1"/>
            </a:pPr>
            <a:r>
              <a:rPr lang="en-US" b="true" sz="2799">
                <a:solidFill>
                  <a:srgbClr val="000000"/>
                </a:solidFill>
                <a:latin typeface="Poppins Bold"/>
                <a:ea typeface="Poppins Bold"/>
                <a:cs typeface="Poppins Bold"/>
                <a:sym typeface="Poppins Bold"/>
              </a:rPr>
              <a:t>Who is on the network?</a:t>
            </a:r>
            <a:r>
              <a:rPr lang="en-US" sz="2799">
                <a:solidFill>
                  <a:srgbClr val="000000"/>
                </a:solidFill>
                <a:latin typeface="Poppins"/>
                <a:ea typeface="Poppins"/>
                <a:cs typeface="Poppins"/>
                <a:sym typeface="Poppins"/>
              </a:rPr>
              <a:t> (Continuous identity and privilege management).</a:t>
            </a:r>
          </a:p>
          <a:p>
            <a:pPr algn="just" marL="604519" indent="-302260" lvl="1">
              <a:lnSpc>
                <a:spcPts val="3919"/>
              </a:lnSpc>
              <a:spcBef>
                <a:spcPct val="0"/>
              </a:spcBef>
              <a:buAutoNum type="arabicPeriod" startAt="1"/>
            </a:pPr>
            <a:r>
              <a:rPr lang="en-US" b="true" sz="2799">
                <a:solidFill>
                  <a:srgbClr val="000000"/>
                </a:solidFill>
                <a:latin typeface="Poppins Bold"/>
                <a:ea typeface="Poppins Bold"/>
                <a:cs typeface="Poppins Bold"/>
                <a:sym typeface="Poppins Bold"/>
              </a:rPr>
              <a:t>What is happening on the network?</a:t>
            </a:r>
            <a:r>
              <a:rPr lang="en-US" sz="2799">
                <a:solidFill>
                  <a:srgbClr val="000000"/>
                </a:solidFill>
                <a:latin typeface="Poppins"/>
                <a:ea typeface="Poppins"/>
                <a:cs typeface="Poppins"/>
                <a:sym typeface="Poppins"/>
              </a:rPr>
              <a:t> (Continuous event and network threat monitoring).</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444136" y="3702669"/>
            <a:ext cx="17349240" cy="8008872"/>
            <a:chOff x="0" y="0"/>
            <a:chExt cx="4569347" cy="2109332"/>
          </a:xfrm>
        </p:grpSpPr>
        <p:sp>
          <p:nvSpPr>
            <p:cNvPr name="Freeform 3" id="3"/>
            <p:cNvSpPr/>
            <p:nvPr/>
          </p:nvSpPr>
          <p:spPr>
            <a:xfrm flipH="false" flipV="false" rot="0">
              <a:off x="0" y="0"/>
              <a:ext cx="4569347" cy="2109332"/>
            </a:xfrm>
            <a:custGeom>
              <a:avLst/>
              <a:gdLst/>
              <a:ahLst/>
              <a:cxnLst/>
              <a:rect r="r" b="b" t="t" l="l"/>
              <a:pathLst>
                <a:path h="2109332" w="4569347">
                  <a:moveTo>
                    <a:pt x="0" y="0"/>
                  </a:moveTo>
                  <a:lnTo>
                    <a:pt x="4569347" y="0"/>
                  </a:lnTo>
                  <a:lnTo>
                    <a:pt x="4569347" y="2109332"/>
                  </a:lnTo>
                  <a:lnTo>
                    <a:pt x="0" y="2109332"/>
                  </a:lnTo>
                  <a:close/>
                </a:path>
              </a:pathLst>
            </a:custGeom>
            <a:solidFill>
              <a:srgbClr val="FFD076"/>
            </a:solidFill>
          </p:spPr>
        </p:sp>
        <p:sp>
          <p:nvSpPr>
            <p:cNvPr name="TextBox 4" id="4"/>
            <p:cNvSpPr txBox="true"/>
            <p:nvPr/>
          </p:nvSpPr>
          <p:spPr>
            <a:xfrm>
              <a:off x="0" y="-47625"/>
              <a:ext cx="4569347" cy="2156957"/>
            </a:xfrm>
            <a:prstGeom prst="rect">
              <a:avLst/>
            </a:prstGeom>
          </p:spPr>
          <p:txBody>
            <a:bodyPr anchor="ctr" rtlCol="false" tIns="50800" lIns="50800" bIns="50800" rIns="50800"/>
            <a:lstStyle/>
            <a:p>
              <a:pPr algn="ctr">
                <a:lnSpc>
                  <a:spcPts val="3560"/>
                </a:lnSpc>
              </a:pPr>
            </a:p>
          </p:txBody>
        </p:sp>
      </p:grpSp>
      <p:sp>
        <p:nvSpPr>
          <p:cNvPr name="Freeform 5" id="5"/>
          <p:cNvSpPr/>
          <p:nvPr/>
        </p:nvSpPr>
        <p:spPr>
          <a:xfrm flipH="false" flipV="false" rot="0">
            <a:off x="-224578" y="9187447"/>
            <a:ext cx="2017463" cy="2030152"/>
          </a:xfrm>
          <a:custGeom>
            <a:avLst/>
            <a:gdLst/>
            <a:ahLst/>
            <a:cxnLst/>
            <a:rect r="r" b="b" t="t" l="l"/>
            <a:pathLst>
              <a:path h="2030152" w="2017463">
                <a:moveTo>
                  <a:pt x="0" y="0"/>
                </a:moveTo>
                <a:lnTo>
                  <a:pt x="2017464" y="0"/>
                </a:lnTo>
                <a:lnTo>
                  <a:pt x="2017464"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412353" y="408209"/>
            <a:ext cx="1233226" cy="1240983"/>
          </a:xfrm>
          <a:custGeom>
            <a:avLst/>
            <a:gdLst/>
            <a:ahLst/>
            <a:cxnLst/>
            <a:rect r="r" b="b" t="t" l="l"/>
            <a:pathLst>
              <a:path h="1240983" w="1233226">
                <a:moveTo>
                  <a:pt x="0" y="0"/>
                </a:moveTo>
                <a:lnTo>
                  <a:pt x="1233226" y="0"/>
                </a:lnTo>
                <a:lnTo>
                  <a:pt x="1233226" y="1240982"/>
                </a:lnTo>
                <a:lnTo>
                  <a:pt x="0" y="12409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3577656" y="543812"/>
            <a:ext cx="11132688" cy="2526506"/>
          </a:xfrm>
          <a:prstGeom prst="rect">
            <a:avLst/>
          </a:prstGeom>
        </p:spPr>
        <p:txBody>
          <a:bodyPr anchor="t" rtlCol="false" tIns="0" lIns="0" bIns="0" rIns="0">
            <a:spAutoFit/>
          </a:bodyPr>
          <a:lstStyle/>
          <a:p>
            <a:pPr algn="ctr" marL="0" indent="0" lvl="0">
              <a:lnSpc>
                <a:spcPts val="9843"/>
              </a:lnSpc>
              <a:spcBef>
                <a:spcPct val="0"/>
              </a:spcBef>
            </a:pPr>
            <a:r>
              <a:rPr lang="en-US" b="true" sz="7031">
                <a:solidFill>
                  <a:srgbClr val="191919"/>
                </a:solidFill>
                <a:latin typeface="Poppins Bold"/>
                <a:ea typeface="Poppins Bold"/>
                <a:cs typeface="Poppins Bold"/>
                <a:sym typeface="Poppins Bold"/>
              </a:rPr>
              <a:t>Strategic Impact of FISMA Security Metrics</a:t>
            </a:r>
          </a:p>
        </p:txBody>
      </p:sp>
      <p:graphicFrame>
        <p:nvGraphicFramePr>
          <p:cNvPr name="Table 8" id="8"/>
          <p:cNvGraphicFramePr>
            <a:graphicFrameLocks noGrp="true"/>
          </p:cNvGraphicFramePr>
          <p:nvPr/>
        </p:nvGraphicFramePr>
        <p:xfrm>
          <a:off x="679168" y="4053425"/>
          <a:ext cx="16929664" cy="5886450"/>
        </p:xfrm>
        <a:graphic>
          <a:graphicData uri="http://schemas.openxmlformats.org/drawingml/2006/table">
            <a:tbl>
              <a:tblPr/>
              <a:tblGrid>
                <a:gridCol w="5271299"/>
                <a:gridCol w="11658365"/>
              </a:tblGrid>
              <a:tr h="1083337">
                <a:tc>
                  <a:txBody>
                    <a:bodyPr anchor="t" rtlCol="false"/>
                    <a:lstStyle/>
                    <a:p>
                      <a:pPr algn="ctr">
                        <a:lnSpc>
                          <a:spcPts val="4200"/>
                        </a:lnSpc>
                        <a:defRPr/>
                      </a:pPr>
                      <a:r>
                        <a:rPr lang="en-US" sz="3000" b="true">
                          <a:solidFill>
                            <a:srgbClr val="000000"/>
                          </a:solidFill>
                          <a:latin typeface="Inter Bold"/>
                          <a:ea typeface="Inter Bold"/>
                          <a:cs typeface="Inter Bold"/>
                          <a:sym typeface="Inter Bold"/>
                        </a:rPr>
                        <a:t>Strategic Area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b="true">
                          <a:solidFill>
                            <a:srgbClr val="000000"/>
                          </a:solidFill>
                          <a:latin typeface="Inter Bold"/>
                          <a:ea typeface="Inter Bold"/>
                          <a:cs typeface="Inter Bold"/>
                          <a:sym typeface="Inter Bold"/>
                        </a:rPr>
                        <a:t>Impact of FISMA Metrics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601038">
                <a:tc>
                  <a:txBody>
                    <a:bodyPr anchor="t" rtlCol="false"/>
                    <a:lstStyle/>
                    <a:p>
                      <a:pPr algn="ctr">
                        <a:lnSpc>
                          <a:spcPts val="4199"/>
                        </a:lnSpc>
                        <a:defRPr/>
                      </a:pPr>
                      <a:r>
                        <a:rPr lang="en-US" sz="2999">
                          <a:solidFill>
                            <a:srgbClr val="000000"/>
                          </a:solidFill>
                          <a:latin typeface="Inter"/>
                          <a:ea typeface="Inter"/>
                          <a:cs typeface="Inter"/>
                          <a:sym typeface="Inter"/>
                        </a:rPr>
                        <a:t>Risk Reduction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4199"/>
                        </a:lnSpc>
                        <a:defRPr/>
                      </a:pPr>
                      <a:r>
                        <a:rPr lang="en-US" sz="2999">
                          <a:solidFill>
                            <a:srgbClr val="000000"/>
                          </a:solidFill>
                          <a:latin typeface="Inter"/>
                          <a:ea typeface="Inter"/>
                          <a:cs typeface="Inter"/>
                          <a:sym typeface="Inter"/>
                        </a:rPr>
                        <a:t>Replaces static guesswork with continuous visibility into system vulnerabilities.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601038">
                <a:tc>
                  <a:txBody>
                    <a:bodyPr anchor="t" rtlCol="false"/>
                    <a:lstStyle/>
                    <a:p>
                      <a:pPr algn="ctr">
                        <a:lnSpc>
                          <a:spcPts val="4199"/>
                        </a:lnSpc>
                        <a:defRPr/>
                      </a:pPr>
                      <a:r>
                        <a:rPr lang="en-US" sz="2999">
                          <a:solidFill>
                            <a:srgbClr val="000000"/>
                          </a:solidFill>
                          <a:latin typeface="Inter"/>
                          <a:ea typeface="Inter"/>
                          <a:cs typeface="Inter"/>
                          <a:sym typeface="Inter"/>
                        </a:rPr>
                        <a:t>Resource Allocation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4199"/>
                        </a:lnSpc>
                        <a:defRPr/>
                      </a:pPr>
                      <a:r>
                        <a:rPr lang="en-US" sz="2999">
                          <a:solidFill>
                            <a:srgbClr val="000000"/>
                          </a:solidFill>
                          <a:latin typeface="Inter"/>
                          <a:ea typeface="Inter"/>
                          <a:cs typeface="Inter"/>
                          <a:sym typeface="Inter"/>
                        </a:rPr>
                        <a:t>Identifies failing security controls, allowing IT leadership to direct budget and manpower effectively.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601038">
                <a:tc>
                  <a:txBody>
                    <a:bodyPr anchor="t" rtlCol="false"/>
                    <a:lstStyle/>
                    <a:p>
                      <a:pPr algn="ctr">
                        <a:lnSpc>
                          <a:spcPts val="4199"/>
                        </a:lnSpc>
                        <a:defRPr/>
                      </a:pPr>
                      <a:r>
                        <a:rPr lang="en-US" sz="2999">
                          <a:solidFill>
                            <a:srgbClr val="000000"/>
                          </a:solidFill>
                          <a:latin typeface="Inter"/>
                          <a:ea typeface="Inter"/>
                          <a:cs typeface="Inter"/>
                          <a:sym typeface="Inter"/>
                        </a:rPr>
                        <a:t>Audit &amp; Accountability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4199"/>
                        </a:lnSpc>
                        <a:defRPr/>
                      </a:pPr>
                      <a:r>
                        <a:rPr lang="en-US" sz="2999">
                          <a:solidFill>
                            <a:srgbClr val="000000"/>
                          </a:solidFill>
                          <a:latin typeface="Inter"/>
                          <a:ea typeface="Inter"/>
                          <a:cs typeface="Inter"/>
                          <a:sym typeface="Inter"/>
                        </a:rPr>
                        <a:t>Provides immutable, data-driven proof of compliance for government oversight and regulatory reviews.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2472426" y="-1184202"/>
            <a:ext cx="7017226" cy="11963892"/>
            <a:chOff x="0" y="0"/>
            <a:chExt cx="1848158" cy="3150984"/>
          </a:xfrm>
        </p:grpSpPr>
        <p:sp>
          <p:nvSpPr>
            <p:cNvPr name="Freeform 3" id="3"/>
            <p:cNvSpPr/>
            <p:nvPr/>
          </p:nvSpPr>
          <p:spPr>
            <a:xfrm flipH="false" flipV="false" rot="0">
              <a:off x="0" y="0"/>
              <a:ext cx="1848158" cy="3150984"/>
            </a:xfrm>
            <a:custGeom>
              <a:avLst/>
              <a:gdLst/>
              <a:ahLst/>
              <a:cxnLst/>
              <a:rect r="r" b="b" t="t" l="l"/>
              <a:pathLst>
                <a:path h="3150984" w="1848158">
                  <a:moveTo>
                    <a:pt x="0" y="0"/>
                  </a:moveTo>
                  <a:lnTo>
                    <a:pt x="1848158" y="0"/>
                  </a:lnTo>
                  <a:lnTo>
                    <a:pt x="1848158" y="3150984"/>
                  </a:lnTo>
                  <a:lnTo>
                    <a:pt x="0" y="3150984"/>
                  </a:lnTo>
                  <a:close/>
                </a:path>
              </a:pathLst>
            </a:custGeom>
            <a:solidFill>
              <a:srgbClr val="FFD076"/>
            </a:solidFill>
          </p:spPr>
        </p:sp>
        <p:sp>
          <p:nvSpPr>
            <p:cNvPr name="TextBox 4" id="4"/>
            <p:cNvSpPr txBox="true"/>
            <p:nvPr/>
          </p:nvSpPr>
          <p:spPr>
            <a:xfrm>
              <a:off x="0" y="-47625"/>
              <a:ext cx="1848158" cy="3198609"/>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498034" y="2355594"/>
            <a:ext cx="15291933" cy="5575813"/>
            <a:chOff x="0" y="0"/>
            <a:chExt cx="4027505" cy="1468527"/>
          </a:xfrm>
        </p:grpSpPr>
        <p:sp>
          <p:nvSpPr>
            <p:cNvPr name="Freeform 6" id="6"/>
            <p:cNvSpPr/>
            <p:nvPr/>
          </p:nvSpPr>
          <p:spPr>
            <a:xfrm flipH="false" flipV="false" rot="0">
              <a:off x="0" y="0"/>
              <a:ext cx="4027505" cy="1468527"/>
            </a:xfrm>
            <a:custGeom>
              <a:avLst/>
              <a:gdLst/>
              <a:ahLst/>
              <a:cxnLst/>
              <a:rect r="r" b="b" t="t" l="l"/>
              <a:pathLst>
                <a:path h="1468527" w="4027505">
                  <a:moveTo>
                    <a:pt x="0" y="0"/>
                  </a:moveTo>
                  <a:lnTo>
                    <a:pt x="4027505" y="0"/>
                  </a:lnTo>
                  <a:lnTo>
                    <a:pt x="4027505" y="1468527"/>
                  </a:lnTo>
                  <a:lnTo>
                    <a:pt x="0" y="1468527"/>
                  </a:lnTo>
                  <a:close/>
                </a:path>
              </a:pathLst>
            </a:custGeom>
            <a:solidFill>
              <a:srgbClr val="FFFFFF"/>
            </a:solidFill>
          </p:spPr>
        </p:sp>
        <p:sp>
          <p:nvSpPr>
            <p:cNvPr name="TextBox 7" id="7"/>
            <p:cNvSpPr txBox="true"/>
            <p:nvPr/>
          </p:nvSpPr>
          <p:spPr>
            <a:xfrm>
              <a:off x="0" y="-47625"/>
              <a:ext cx="4027505" cy="1516152"/>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1498034" y="2355594"/>
            <a:ext cx="956740" cy="5575813"/>
            <a:chOff x="0" y="0"/>
            <a:chExt cx="251981" cy="1468527"/>
          </a:xfrm>
        </p:grpSpPr>
        <p:sp>
          <p:nvSpPr>
            <p:cNvPr name="Freeform 9" id="9"/>
            <p:cNvSpPr/>
            <p:nvPr/>
          </p:nvSpPr>
          <p:spPr>
            <a:xfrm flipH="false" flipV="false" rot="0">
              <a:off x="0" y="0"/>
              <a:ext cx="251981" cy="1468527"/>
            </a:xfrm>
            <a:custGeom>
              <a:avLst/>
              <a:gdLst/>
              <a:ahLst/>
              <a:cxnLst/>
              <a:rect r="r" b="b" t="t" l="l"/>
              <a:pathLst>
                <a:path h="1468527" w="251981">
                  <a:moveTo>
                    <a:pt x="0" y="0"/>
                  </a:moveTo>
                  <a:lnTo>
                    <a:pt x="251981" y="0"/>
                  </a:lnTo>
                  <a:lnTo>
                    <a:pt x="251981" y="1468527"/>
                  </a:lnTo>
                  <a:lnTo>
                    <a:pt x="0" y="1468527"/>
                  </a:lnTo>
                  <a:close/>
                </a:path>
              </a:pathLst>
            </a:custGeom>
            <a:solidFill>
              <a:srgbClr val="FFD076"/>
            </a:solidFill>
          </p:spPr>
        </p:sp>
        <p:sp>
          <p:nvSpPr>
            <p:cNvPr name="TextBox 10" id="10"/>
            <p:cNvSpPr txBox="true"/>
            <p:nvPr/>
          </p:nvSpPr>
          <p:spPr>
            <a:xfrm>
              <a:off x="0" y="-47625"/>
              <a:ext cx="251981" cy="1516152"/>
            </a:xfrm>
            <a:prstGeom prst="rect">
              <a:avLst/>
            </a:prstGeom>
          </p:spPr>
          <p:txBody>
            <a:bodyPr anchor="ctr" rtlCol="false" tIns="50800" lIns="50800" bIns="50800" rIns="50800"/>
            <a:lstStyle/>
            <a:p>
              <a:pPr algn="ctr">
                <a:lnSpc>
                  <a:spcPts val="3560"/>
                </a:lnSpc>
              </a:pPr>
            </a:p>
          </p:txBody>
        </p:sp>
      </p:grpSp>
      <p:sp>
        <p:nvSpPr>
          <p:cNvPr name="TextBox 11" id="11"/>
          <p:cNvSpPr txBox="true"/>
          <p:nvPr/>
        </p:nvSpPr>
        <p:spPr>
          <a:xfrm rot="0">
            <a:off x="3103261" y="3433820"/>
            <a:ext cx="12907898" cy="3171709"/>
          </a:xfrm>
          <a:prstGeom prst="rect">
            <a:avLst/>
          </a:prstGeom>
        </p:spPr>
        <p:txBody>
          <a:bodyPr anchor="t" rtlCol="false" tIns="0" lIns="0" bIns="0" rIns="0">
            <a:spAutoFit/>
          </a:bodyPr>
          <a:lstStyle/>
          <a:p>
            <a:pPr algn="l" marL="0" indent="0" lvl="0">
              <a:lnSpc>
                <a:spcPts val="12448"/>
              </a:lnSpc>
              <a:spcBef>
                <a:spcPct val="0"/>
              </a:spcBef>
            </a:pPr>
            <a:r>
              <a:rPr lang="en-US" b="true" sz="8891">
                <a:solidFill>
                  <a:srgbClr val="8B5F0B"/>
                </a:solidFill>
                <a:latin typeface="Poppins Bold"/>
                <a:ea typeface="Poppins Bold"/>
                <a:cs typeface="Poppins Bold"/>
                <a:sym typeface="Poppins Bold"/>
              </a:rPr>
              <a:t>Physical Security and Environmental Events</a:t>
            </a:r>
          </a:p>
        </p:txBody>
      </p:sp>
      <p:sp>
        <p:nvSpPr>
          <p:cNvPr name="Freeform 12" id="12"/>
          <p:cNvSpPr/>
          <p:nvPr/>
        </p:nvSpPr>
        <p:spPr>
          <a:xfrm flipH="false" flipV="false" rot="0">
            <a:off x="1085797" y="1028700"/>
            <a:ext cx="2017463" cy="2030152"/>
          </a:xfrm>
          <a:custGeom>
            <a:avLst/>
            <a:gdLst/>
            <a:ahLst/>
            <a:cxnLst/>
            <a:rect r="r" b="b" t="t" l="l"/>
            <a:pathLst>
              <a:path h="2030152" w="2017463">
                <a:moveTo>
                  <a:pt x="0" y="0"/>
                </a:moveTo>
                <a:lnTo>
                  <a:pt x="2017464" y="0"/>
                </a:lnTo>
                <a:lnTo>
                  <a:pt x="2017464"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5781235" y="7228148"/>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15981039" y="9462044"/>
            <a:ext cx="5461258" cy="458386"/>
          </a:xfrm>
          <a:prstGeom prst="rect">
            <a:avLst/>
          </a:prstGeom>
        </p:spPr>
        <p:txBody>
          <a:bodyPr anchor="t" rtlCol="false" tIns="0" lIns="0" bIns="0" rIns="0">
            <a:spAutoFit/>
          </a:bodyPr>
          <a:lstStyle/>
          <a:p>
            <a:pPr algn="l" marL="0" indent="0" lvl="0">
              <a:lnSpc>
                <a:spcPts val="3552"/>
              </a:lnSpc>
              <a:spcBef>
                <a:spcPct val="0"/>
              </a:spcBef>
            </a:pPr>
            <a:r>
              <a:rPr lang="en-US" sz="2537" spc="1015">
                <a:solidFill>
                  <a:srgbClr val="000000"/>
                </a:solidFill>
                <a:latin typeface="Poppins"/>
                <a:ea typeface="Poppins"/>
                <a:cs typeface="Poppins"/>
                <a:sym typeface="Poppins"/>
              </a:rPr>
              <a:t>BORJA</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0"/>
            <a:ext cx="1714682" cy="10287000"/>
            <a:chOff x="0" y="0"/>
            <a:chExt cx="451603" cy="2709333"/>
          </a:xfrm>
        </p:grpSpPr>
        <p:sp>
          <p:nvSpPr>
            <p:cNvPr name="Freeform 3" id="3"/>
            <p:cNvSpPr/>
            <p:nvPr/>
          </p:nvSpPr>
          <p:spPr>
            <a:xfrm flipH="false" flipV="false" rot="0">
              <a:off x="0" y="0"/>
              <a:ext cx="451603" cy="2709333"/>
            </a:xfrm>
            <a:custGeom>
              <a:avLst/>
              <a:gdLst/>
              <a:ahLst/>
              <a:cxnLst/>
              <a:rect r="r" b="b" t="t" l="l"/>
              <a:pathLst>
                <a:path h="2709333" w="451603">
                  <a:moveTo>
                    <a:pt x="0" y="0"/>
                  </a:moveTo>
                  <a:lnTo>
                    <a:pt x="451603" y="0"/>
                  </a:lnTo>
                  <a:lnTo>
                    <a:pt x="451603" y="2709333"/>
                  </a:lnTo>
                  <a:lnTo>
                    <a:pt x="0" y="2709333"/>
                  </a:lnTo>
                  <a:close/>
                </a:path>
              </a:pathLst>
            </a:custGeom>
            <a:solidFill>
              <a:srgbClr val="FFD076"/>
            </a:solidFill>
          </p:spPr>
        </p:sp>
        <p:sp>
          <p:nvSpPr>
            <p:cNvPr name="TextBox 4" id="4"/>
            <p:cNvSpPr txBox="true"/>
            <p:nvPr/>
          </p:nvSpPr>
          <p:spPr>
            <a:xfrm>
              <a:off x="0" y="-47625"/>
              <a:ext cx="451603" cy="2756958"/>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6660825" y="8744089"/>
            <a:ext cx="1831555" cy="2394494"/>
            <a:chOff x="0" y="0"/>
            <a:chExt cx="482385" cy="630649"/>
          </a:xfrm>
        </p:grpSpPr>
        <p:sp>
          <p:nvSpPr>
            <p:cNvPr name="Freeform 6" id="6"/>
            <p:cNvSpPr/>
            <p:nvPr/>
          </p:nvSpPr>
          <p:spPr>
            <a:xfrm flipH="false" flipV="false" rot="0">
              <a:off x="0" y="0"/>
              <a:ext cx="482385" cy="630649"/>
            </a:xfrm>
            <a:custGeom>
              <a:avLst/>
              <a:gdLst/>
              <a:ahLst/>
              <a:cxnLst/>
              <a:rect r="r" b="b" t="t" l="l"/>
              <a:pathLst>
                <a:path h="630649" w="482385">
                  <a:moveTo>
                    <a:pt x="0" y="0"/>
                  </a:moveTo>
                  <a:lnTo>
                    <a:pt x="482385" y="0"/>
                  </a:lnTo>
                  <a:lnTo>
                    <a:pt x="482385" y="630649"/>
                  </a:lnTo>
                  <a:lnTo>
                    <a:pt x="0" y="630649"/>
                  </a:lnTo>
                  <a:close/>
                </a:path>
              </a:pathLst>
            </a:custGeom>
            <a:solidFill>
              <a:srgbClr val="FFD076"/>
            </a:solidFill>
          </p:spPr>
        </p:sp>
        <p:sp>
          <p:nvSpPr>
            <p:cNvPr name="TextBox 7" id="7"/>
            <p:cNvSpPr txBox="true"/>
            <p:nvPr/>
          </p:nvSpPr>
          <p:spPr>
            <a:xfrm>
              <a:off x="0" y="-47625"/>
              <a:ext cx="482385" cy="678274"/>
            </a:xfrm>
            <a:prstGeom prst="rect">
              <a:avLst/>
            </a:prstGeom>
          </p:spPr>
          <p:txBody>
            <a:bodyPr anchor="ctr" rtlCol="false" tIns="50800" lIns="50800" bIns="50800" rIns="50800"/>
            <a:lstStyle/>
            <a:p>
              <a:pPr algn="ctr">
                <a:lnSpc>
                  <a:spcPts val="3560"/>
                </a:lnSpc>
              </a:pPr>
            </a:p>
          </p:txBody>
        </p:sp>
      </p:grpSp>
      <p:sp>
        <p:nvSpPr>
          <p:cNvPr name="TextBox 8" id="8"/>
          <p:cNvSpPr txBox="true"/>
          <p:nvPr/>
        </p:nvSpPr>
        <p:spPr>
          <a:xfrm rot="0">
            <a:off x="2107656" y="828675"/>
            <a:ext cx="14418642" cy="2417174"/>
          </a:xfrm>
          <a:prstGeom prst="rect">
            <a:avLst/>
          </a:prstGeom>
        </p:spPr>
        <p:txBody>
          <a:bodyPr anchor="t" rtlCol="false" tIns="0" lIns="0" bIns="0" rIns="0">
            <a:spAutoFit/>
          </a:bodyPr>
          <a:lstStyle/>
          <a:p>
            <a:pPr algn="l" marL="0" indent="0" lvl="0">
              <a:lnSpc>
                <a:spcPts val="9400"/>
              </a:lnSpc>
              <a:spcBef>
                <a:spcPct val="0"/>
              </a:spcBef>
            </a:pPr>
            <a:r>
              <a:rPr lang="en-US" b="true" sz="6714">
                <a:solidFill>
                  <a:srgbClr val="8B5F0B"/>
                </a:solidFill>
                <a:latin typeface="Poppins Bold"/>
                <a:ea typeface="Poppins Bold"/>
                <a:cs typeface="Poppins Bold"/>
                <a:sym typeface="Poppins Bold"/>
              </a:rPr>
              <a:t>Introduction to Physical Security and Environmental Events</a:t>
            </a:r>
          </a:p>
        </p:txBody>
      </p:sp>
      <p:sp>
        <p:nvSpPr>
          <p:cNvPr name="Freeform 9" id="9"/>
          <p:cNvSpPr/>
          <p:nvPr/>
        </p:nvSpPr>
        <p:spPr>
          <a:xfrm flipH="false" flipV="false" rot="0">
            <a:off x="16919273" y="-920557"/>
            <a:ext cx="3874149" cy="3898515"/>
          </a:xfrm>
          <a:custGeom>
            <a:avLst/>
            <a:gdLst/>
            <a:ahLst/>
            <a:cxnLst/>
            <a:rect r="r" b="b" t="t" l="l"/>
            <a:pathLst>
              <a:path h="3898515" w="3874149">
                <a:moveTo>
                  <a:pt x="0" y="0"/>
                </a:moveTo>
                <a:lnTo>
                  <a:pt x="3874149" y="0"/>
                </a:lnTo>
                <a:lnTo>
                  <a:pt x="3874149" y="3898514"/>
                </a:lnTo>
                <a:lnTo>
                  <a:pt x="0" y="38985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2385933" y="3770710"/>
            <a:ext cx="13603640" cy="5891586"/>
          </a:xfrm>
          <a:prstGeom prst="rect">
            <a:avLst/>
          </a:prstGeom>
        </p:spPr>
        <p:txBody>
          <a:bodyPr anchor="t" rtlCol="false" tIns="0" lIns="0" bIns="0" rIns="0">
            <a:spAutoFit/>
          </a:bodyPr>
          <a:lstStyle/>
          <a:p>
            <a:pPr algn="just" marL="0" indent="0" lvl="0">
              <a:lnSpc>
                <a:spcPts val="4641"/>
              </a:lnSpc>
              <a:spcBef>
                <a:spcPct val="0"/>
              </a:spcBef>
            </a:pPr>
            <a:r>
              <a:rPr lang="en-US" sz="3315">
                <a:solidFill>
                  <a:srgbClr val="000000"/>
                </a:solidFill>
                <a:latin typeface="Poppins"/>
                <a:ea typeface="Poppins"/>
                <a:cs typeface="Poppins"/>
                <a:sym typeface="Poppins"/>
              </a:rPr>
              <a:t>While cybersecurity discussions heavily focus on logical threats like malware, network hacks, and software exploits, physical security and environmental events represent equally catastrophic risks to IT infrastructure. A physical security event involves real-world breaches, unauthorized human access, or hardware theft, while an environmental event involves natural or facility-based disruptions like fires, floods, or power grid failures. Regardless of how sophisticated a network's firewalls or encryption keys are, physical destruction or theft of server hardware completely undermines logical defenses.</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620250"/>
            <a:ext cx="18288000" cy="666750"/>
            <a:chOff x="0" y="0"/>
            <a:chExt cx="4816593" cy="175605"/>
          </a:xfrm>
        </p:grpSpPr>
        <p:sp>
          <p:nvSpPr>
            <p:cNvPr name="Freeform 3" id="3"/>
            <p:cNvSpPr/>
            <p:nvPr/>
          </p:nvSpPr>
          <p:spPr>
            <a:xfrm flipH="false" flipV="false" rot="0">
              <a:off x="0" y="0"/>
              <a:ext cx="4816592" cy="175605"/>
            </a:xfrm>
            <a:custGeom>
              <a:avLst/>
              <a:gdLst/>
              <a:ahLst/>
              <a:cxnLst/>
              <a:rect r="r" b="b" t="t" l="l"/>
              <a:pathLst>
                <a:path h="175605" w="4816592">
                  <a:moveTo>
                    <a:pt x="0" y="0"/>
                  </a:moveTo>
                  <a:lnTo>
                    <a:pt x="4816592" y="0"/>
                  </a:lnTo>
                  <a:lnTo>
                    <a:pt x="4816592" y="175605"/>
                  </a:lnTo>
                  <a:lnTo>
                    <a:pt x="0" y="175605"/>
                  </a:lnTo>
                  <a:close/>
                </a:path>
              </a:pathLst>
            </a:custGeom>
            <a:solidFill>
              <a:srgbClr val="FFD076"/>
            </a:solidFill>
          </p:spPr>
        </p:sp>
        <p:sp>
          <p:nvSpPr>
            <p:cNvPr name="TextBox 4" id="4"/>
            <p:cNvSpPr txBox="true"/>
            <p:nvPr/>
          </p:nvSpPr>
          <p:spPr>
            <a:xfrm>
              <a:off x="0" y="-47625"/>
              <a:ext cx="4816593" cy="223230"/>
            </a:xfrm>
            <a:prstGeom prst="rect">
              <a:avLst/>
            </a:prstGeom>
          </p:spPr>
          <p:txBody>
            <a:bodyPr anchor="ctr" rtlCol="false" tIns="50800" lIns="50800" bIns="50800" rIns="50800"/>
            <a:lstStyle/>
            <a:p>
              <a:pPr algn="ctr">
                <a:lnSpc>
                  <a:spcPts val="3560"/>
                </a:lnSpc>
              </a:pPr>
            </a:p>
          </p:txBody>
        </p:sp>
      </p:grpSp>
      <p:sp>
        <p:nvSpPr>
          <p:cNvPr name="TextBox 5" id="5"/>
          <p:cNvSpPr txBox="true"/>
          <p:nvPr/>
        </p:nvSpPr>
        <p:spPr>
          <a:xfrm rot="0">
            <a:off x="1399749" y="1967013"/>
            <a:ext cx="11878039" cy="7135194"/>
          </a:xfrm>
          <a:prstGeom prst="rect">
            <a:avLst/>
          </a:prstGeom>
        </p:spPr>
        <p:txBody>
          <a:bodyPr anchor="t" rtlCol="false" tIns="0" lIns="0" bIns="0" rIns="0">
            <a:spAutoFit/>
          </a:bodyPr>
          <a:lstStyle/>
          <a:p>
            <a:pPr algn="just">
              <a:lnSpc>
                <a:spcPts val="3960"/>
              </a:lnSpc>
            </a:pPr>
            <a:r>
              <a:rPr lang="en-US" sz="2828" b="true">
                <a:solidFill>
                  <a:srgbClr val="191919"/>
                </a:solidFill>
                <a:latin typeface="Poppins Bold"/>
                <a:ea typeface="Poppins Bold"/>
                <a:cs typeface="Poppins Bold"/>
                <a:sym typeface="Poppins Bold"/>
              </a:rPr>
              <a:t>Physical security events stem from human actions—both malicious and accidental—that compromise physical IT assets:</a:t>
            </a:r>
          </a:p>
          <a:p>
            <a:pPr algn="just">
              <a:lnSpc>
                <a:spcPts val="3372"/>
              </a:lnSpc>
            </a:pPr>
          </a:p>
          <a:p>
            <a:pPr algn="just">
              <a:lnSpc>
                <a:spcPts val="3960"/>
              </a:lnSpc>
            </a:pPr>
            <a:r>
              <a:rPr lang="en-US" sz="2828" b="true">
                <a:solidFill>
                  <a:srgbClr val="191919"/>
                </a:solidFill>
                <a:latin typeface="Poppins Bold"/>
                <a:ea typeface="Poppins Bold"/>
                <a:cs typeface="Poppins Bold"/>
                <a:sym typeface="Poppins Bold"/>
              </a:rPr>
              <a:t>Unau</a:t>
            </a:r>
            <a:r>
              <a:rPr lang="en-US" sz="2828" b="true">
                <a:solidFill>
                  <a:srgbClr val="191919"/>
                </a:solidFill>
                <a:latin typeface="Poppins Bold"/>
                <a:ea typeface="Poppins Bold"/>
                <a:cs typeface="Poppins Bold"/>
                <a:sym typeface="Poppins Bold"/>
              </a:rPr>
              <a:t>thorized Access &amp; Perimeter Breaches</a:t>
            </a:r>
          </a:p>
          <a:p>
            <a:pPr algn="just">
              <a:lnSpc>
                <a:spcPts val="3372"/>
              </a:lnSpc>
            </a:pPr>
            <a:r>
              <a:rPr lang="en-US" sz="2408">
                <a:solidFill>
                  <a:srgbClr val="000000"/>
                </a:solidFill>
                <a:latin typeface="Poppins"/>
                <a:ea typeface="Poppins"/>
                <a:cs typeface="Poppins"/>
                <a:sym typeface="Poppins"/>
              </a:rPr>
              <a:t>Int</a:t>
            </a:r>
            <a:r>
              <a:rPr lang="en-US" sz="2408">
                <a:solidFill>
                  <a:srgbClr val="000000"/>
                </a:solidFill>
                <a:latin typeface="Poppins"/>
                <a:ea typeface="Poppins"/>
                <a:cs typeface="Poppins"/>
                <a:sym typeface="Poppins"/>
              </a:rPr>
              <a:t>ruders bypass security gates, tailgated authorized staff through doors, or gain entry into restricted areas like server rooms or data centers.</a:t>
            </a:r>
          </a:p>
          <a:p>
            <a:pPr algn="just">
              <a:lnSpc>
                <a:spcPts val="3372"/>
              </a:lnSpc>
            </a:pPr>
          </a:p>
          <a:p>
            <a:pPr algn="just">
              <a:lnSpc>
                <a:spcPts val="3960"/>
              </a:lnSpc>
            </a:pPr>
            <a:r>
              <a:rPr lang="en-US" sz="2828" b="true">
                <a:solidFill>
                  <a:srgbClr val="191919"/>
                </a:solidFill>
                <a:latin typeface="Poppins Bold"/>
                <a:ea typeface="Poppins Bold"/>
                <a:cs typeface="Poppins Bold"/>
                <a:sym typeface="Poppins Bold"/>
              </a:rPr>
              <a:t>Th</a:t>
            </a:r>
            <a:r>
              <a:rPr lang="en-US" sz="2828" b="true">
                <a:solidFill>
                  <a:srgbClr val="191919"/>
                </a:solidFill>
                <a:latin typeface="Poppins Bold"/>
                <a:ea typeface="Poppins Bold"/>
                <a:cs typeface="Poppins Bold"/>
                <a:sym typeface="Poppins Bold"/>
              </a:rPr>
              <a:t>eft and Sabotage</a:t>
            </a:r>
          </a:p>
          <a:p>
            <a:pPr algn="just">
              <a:lnSpc>
                <a:spcPts val="3372"/>
              </a:lnSpc>
            </a:pPr>
            <a:r>
              <a:rPr lang="en-US" sz="2408">
                <a:solidFill>
                  <a:srgbClr val="000000"/>
                </a:solidFill>
                <a:latin typeface="Poppins"/>
                <a:ea typeface="Poppins"/>
                <a:cs typeface="Poppins"/>
                <a:sym typeface="Poppins"/>
              </a:rPr>
              <a:t>Direct theft of sensitive storage drives, laptops, or networking hardware, as well as intentional physical damage like cutting fiber-optic cables or smashing hardware.</a:t>
            </a:r>
          </a:p>
          <a:p>
            <a:pPr algn="just">
              <a:lnSpc>
                <a:spcPts val="3372"/>
              </a:lnSpc>
            </a:pPr>
          </a:p>
          <a:p>
            <a:pPr algn="just">
              <a:lnSpc>
                <a:spcPts val="3960"/>
              </a:lnSpc>
            </a:pPr>
            <a:r>
              <a:rPr lang="en-US" sz="2828" b="true">
                <a:solidFill>
                  <a:srgbClr val="191919"/>
                </a:solidFill>
                <a:latin typeface="Poppins Bold"/>
                <a:ea typeface="Poppins Bold"/>
                <a:cs typeface="Poppins Bold"/>
                <a:sym typeface="Poppins Bold"/>
              </a:rPr>
              <a:t>Hum</a:t>
            </a:r>
            <a:r>
              <a:rPr lang="en-US" sz="2828" b="true">
                <a:solidFill>
                  <a:srgbClr val="191919"/>
                </a:solidFill>
                <a:latin typeface="Poppins Bold"/>
                <a:ea typeface="Poppins Bold"/>
                <a:cs typeface="Poppins Bold"/>
                <a:sym typeface="Poppins Bold"/>
              </a:rPr>
              <a:t>an Error and Negligence</a:t>
            </a:r>
          </a:p>
          <a:p>
            <a:pPr algn="just" marL="0" indent="0" lvl="0">
              <a:lnSpc>
                <a:spcPts val="3372"/>
              </a:lnSpc>
              <a:spcBef>
                <a:spcPct val="0"/>
              </a:spcBef>
            </a:pPr>
            <a:r>
              <a:rPr lang="en-US" sz="2408">
                <a:solidFill>
                  <a:srgbClr val="000000"/>
                </a:solidFill>
                <a:latin typeface="Poppins"/>
                <a:ea typeface="Poppins"/>
                <a:cs typeface="Poppins"/>
                <a:sym typeface="Poppins"/>
              </a:rPr>
              <a:t>Acc</a:t>
            </a:r>
            <a:r>
              <a:rPr lang="en-US" sz="2408">
                <a:solidFill>
                  <a:srgbClr val="000000"/>
                </a:solidFill>
                <a:latin typeface="Poppins"/>
                <a:ea typeface="Poppins"/>
                <a:cs typeface="Poppins"/>
                <a:sym typeface="Poppins"/>
              </a:rPr>
              <a:t>idental damage caused by personnel, such as liquid spills on workstations, tripping over exposed cabling, or leaving server room doors unsecured.</a:t>
            </a:r>
          </a:p>
        </p:txBody>
      </p:sp>
      <p:sp>
        <p:nvSpPr>
          <p:cNvPr name="Freeform 6" id="6"/>
          <p:cNvSpPr/>
          <p:nvPr/>
        </p:nvSpPr>
        <p:spPr>
          <a:xfrm flipH="false" flipV="false" rot="0">
            <a:off x="16376664" y="3422803"/>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7330" y="7998004"/>
            <a:ext cx="1252419" cy="1260296"/>
          </a:xfrm>
          <a:custGeom>
            <a:avLst/>
            <a:gdLst/>
            <a:ahLst/>
            <a:cxnLst/>
            <a:rect r="r" b="b" t="t" l="l"/>
            <a:pathLst>
              <a:path h="1260296" w="1252419">
                <a:moveTo>
                  <a:pt x="0" y="0"/>
                </a:moveTo>
                <a:lnTo>
                  <a:pt x="1252419" y="0"/>
                </a:lnTo>
                <a:lnTo>
                  <a:pt x="1252419" y="1260296"/>
                </a:lnTo>
                <a:lnTo>
                  <a:pt x="0" y="12602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502858" y="332206"/>
            <a:ext cx="16756442" cy="1202489"/>
          </a:xfrm>
          <a:prstGeom prst="rect">
            <a:avLst/>
          </a:prstGeom>
        </p:spPr>
        <p:txBody>
          <a:bodyPr anchor="t" rtlCol="false" tIns="0" lIns="0" bIns="0" rIns="0">
            <a:spAutoFit/>
          </a:bodyPr>
          <a:lstStyle/>
          <a:p>
            <a:pPr algn="ctr" marL="0" indent="0" lvl="0">
              <a:lnSpc>
                <a:spcPts val="9321"/>
              </a:lnSpc>
              <a:spcBef>
                <a:spcPct val="0"/>
              </a:spcBef>
            </a:pPr>
            <a:r>
              <a:rPr lang="en-US" b="true" sz="6657">
                <a:solidFill>
                  <a:srgbClr val="8B5F0B"/>
                </a:solidFill>
                <a:latin typeface="Poppins Bold"/>
                <a:ea typeface="Poppins Bold"/>
                <a:cs typeface="Poppins Bold"/>
                <a:sym typeface="Poppins Bold"/>
              </a:rPr>
              <a:t>Categorizing Physical Security Events</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620250"/>
            <a:ext cx="18288000" cy="666750"/>
            <a:chOff x="0" y="0"/>
            <a:chExt cx="4816593" cy="175605"/>
          </a:xfrm>
        </p:grpSpPr>
        <p:sp>
          <p:nvSpPr>
            <p:cNvPr name="Freeform 3" id="3"/>
            <p:cNvSpPr/>
            <p:nvPr/>
          </p:nvSpPr>
          <p:spPr>
            <a:xfrm flipH="false" flipV="false" rot="0">
              <a:off x="0" y="0"/>
              <a:ext cx="4816592" cy="175605"/>
            </a:xfrm>
            <a:custGeom>
              <a:avLst/>
              <a:gdLst/>
              <a:ahLst/>
              <a:cxnLst/>
              <a:rect r="r" b="b" t="t" l="l"/>
              <a:pathLst>
                <a:path h="175605" w="4816592">
                  <a:moveTo>
                    <a:pt x="0" y="0"/>
                  </a:moveTo>
                  <a:lnTo>
                    <a:pt x="4816592" y="0"/>
                  </a:lnTo>
                  <a:lnTo>
                    <a:pt x="4816592" y="175605"/>
                  </a:lnTo>
                  <a:lnTo>
                    <a:pt x="0" y="175605"/>
                  </a:lnTo>
                  <a:close/>
                </a:path>
              </a:pathLst>
            </a:custGeom>
            <a:solidFill>
              <a:srgbClr val="FFD076"/>
            </a:solidFill>
          </p:spPr>
        </p:sp>
        <p:sp>
          <p:nvSpPr>
            <p:cNvPr name="TextBox 4" id="4"/>
            <p:cNvSpPr txBox="true"/>
            <p:nvPr/>
          </p:nvSpPr>
          <p:spPr>
            <a:xfrm>
              <a:off x="0" y="-47625"/>
              <a:ext cx="4816593" cy="223230"/>
            </a:xfrm>
            <a:prstGeom prst="rect">
              <a:avLst/>
            </a:prstGeom>
          </p:spPr>
          <p:txBody>
            <a:bodyPr anchor="ctr" rtlCol="false" tIns="50800" lIns="50800" bIns="50800" rIns="50800"/>
            <a:lstStyle/>
            <a:p>
              <a:pPr algn="ctr">
                <a:lnSpc>
                  <a:spcPts val="3560"/>
                </a:lnSpc>
              </a:pPr>
            </a:p>
          </p:txBody>
        </p:sp>
      </p:grpSp>
      <p:sp>
        <p:nvSpPr>
          <p:cNvPr name="TextBox 5" id="5"/>
          <p:cNvSpPr txBox="true"/>
          <p:nvPr/>
        </p:nvSpPr>
        <p:spPr>
          <a:xfrm rot="0">
            <a:off x="1000628" y="1669273"/>
            <a:ext cx="13201401" cy="7639417"/>
          </a:xfrm>
          <a:prstGeom prst="rect">
            <a:avLst/>
          </a:prstGeom>
        </p:spPr>
        <p:txBody>
          <a:bodyPr anchor="t" rtlCol="false" tIns="0" lIns="0" bIns="0" rIns="0">
            <a:spAutoFit/>
          </a:bodyPr>
          <a:lstStyle/>
          <a:p>
            <a:pPr algn="just">
              <a:lnSpc>
                <a:spcPts val="3774"/>
              </a:lnSpc>
            </a:pPr>
            <a:r>
              <a:rPr lang="en-US" sz="2696" b="true">
                <a:solidFill>
                  <a:srgbClr val="191919"/>
                </a:solidFill>
                <a:latin typeface="Poppins Bold"/>
                <a:ea typeface="Poppins Bold"/>
                <a:cs typeface="Poppins Bold"/>
                <a:sym typeface="Poppins Bold"/>
              </a:rPr>
              <a:t>Environmental events arise from natural disasters or facility infrastructure failures that threaten the physical environment hosting IT assets:</a:t>
            </a:r>
          </a:p>
          <a:p>
            <a:pPr algn="just">
              <a:lnSpc>
                <a:spcPts val="3214"/>
              </a:lnSpc>
            </a:pPr>
          </a:p>
          <a:p>
            <a:pPr algn="just">
              <a:lnSpc>
                <a:spcPts val="3774"/>
              </a:lnSpc>
            </a:pPr>
            <a:r>
              <a:rPr lang="en-US" sz="2696" b="true">
                <a:solidFill>
                  <a:srgbClr val="191919"/>
                </a:solidFill>
                <a:latin typeface="Poppins Bold"/>
                <a:ea typeface="Poppins Bold"/>
                <a:cs typeface="Poppins Bold"/>
                <a:sym typeface="Poppins Bold"/>
              </a:rPr>
              <a:t>Ex</a:t>
            </a:r>
            <a:r>
              <a:rPr lang="en-US" sz="2696" b="true">
                <a:solidFill>
                  <a:srgbClr val="191919"/>
                </a:solidFill>
                <a:latin typeface="Poppins Bold"/>
                <a:ea typeface="Poppins Bold"/>
                <a:cs typeface="Poppins Bold"/>
                <a:sym typeface="Poppins Bold"/>
              </a:rPr>
              <a:t>treme Weather &amp; Disasters</a:t>
            </a:r>
          </a:p>
          <a:p>
            <a:pPr algn="just">
              <a:lnSpc>
                <a:spcPts val="3214"/>
              </a:lnSpc>
            </a:pPr>
            <a:r>
              <a:rPr lang="en-US" sz="2296">
                <a:solidFill>
                  <a:srgbClr val="000000"/>
                </a:solidFill>
                <a:latin typeface="Poppins"/>
                <a:ea typeface="Poppins"/>
                <a:cs typeface="Poppins"/>
                <a:sym typeface="Poppins"/>
              </a:rPr>
              <a:t>Event</a:t>
            </a:r>
            <a:r>
              <a:rPr lang="en-US" sz="2296">
                <a:solidFill>
                  <a:srgbClr val="000000"/>
                </a:solidFill>
                <a:latin typeface="Poppins"/>
                <a:ea typeface="Poppins"/>
                <a:cs typeface="Poppins"/>
                <a:sym typeface="Poppins"/>
              </a:rPr>
              <a:t>s such as severe typhoons, earthquakes, and flash floods that damage physical facilities and structural integrity.</a:t>
            </a:r>
          </a:p>
          <a:p>
            <a:pPr algn="just">
              <a:lnSpc>
                <a:spcPts val="3214"/>
              </a:lnSpc>
            </a:pPr>
          </a:p>
          <a:p>
            <a:pPr algn="just">
              <a:lnSpc>
                <a:spcPts val="3774"/>
              </a:lnSpc>
            </a:pPr>
            <a:r>
              <a:rPr lang="en-US" sz="2696" b="true">
                <a:solidFill>
                  <a:srgbClr val="191919"/>
                </a:solidFill>
                <a:latin typeface="Poppins Bold"/>
                <a:ea typeface="Poppins Bold"/>
                <a:cs typeface="Poppins Bold"/>
                <a:sym typeface="Poppins Bold"/>
              </a:rPr>
              <a:t>Fire, Smok</a:t>
            </a:r>
            <a:r>
              <a:rPr lang="en-US" sz="2696" b="true">
                <a:solidFill>
                  <a:srgbClr val="191919"/>
                </a:solidFill>
                <a:latin typeface="Poppins Bold"/>
                <a:ea typeface="Poppins Bold"/>
                <a:cs typeface="Poppins Bold"/>
                <a:sym typeface="Poppins Bold"/>
              </a:rPr>
              <a:t>e, and Heat</a:t>
            </a:r>
          </a:p>
          <a:p>
            <a:pPr algn="just">
              <a:lnSpc>
                <a:spcPts val="3214"/>
              </a:lnSpc>
            </a:pPr>
            <a:r>
              <a:rPr lang="en-US" sz="2296">
                <a:solidFill>
                  <a:srgbClr val="000000"/>
                </a:solidFill>
                <a:latin typeface="Poppins"/>
                <a:ea typeface="Poppins"/>
                <a:cs typeface="Poppins"/>
                <a:sym typeface="Poppins"/>
              </a:rPr>
              <a:t>G</a:t>
            </a:r>
            <a:r>
              <a:rPr lang="en-US" sz="2296">
                <a:solidFill>
                  <a:srgbClr val="000000"/>
                </a:solidFill>
                <a:latin typeface="Poppins"/>
                <a:ea typeface="Poppins"/>
                <a:cs typeface="Poppins"/>
                <a:sym typeface="Poppins"/>
              </a:rPr>
              <a:t>rid failures, prolonged blackouts, voltage sags (brownouts), and power surges that cause unexpected system shutdowns or fry sensitive motherboards.</a:t>
            </a:r>
          </a:p>
          <a:p>
            <a:pPr algn="just">
              <a:lnSpc>
                <a:spcPts val="3214"/>
              </a:lnSpc>
            </a:pPr>
          </a:p>
          <a:p>
            <a:pPr algn="just">
              <a:lnSpc>
                <a:spcPts val="3774"/>
              </a:lnSpc>
            </a:pPr>
            <a:r>
              <a:rPr lang="en-US" sz="2696" b="true">
                <a:solidFill>
                  <a:srgbClr val="191919"/>
                </a:solidFill>
                <a:latin typeface="Poppins Bold"/>
                <a:ea typeface="Poppins Bold"/>
                <a:cs typeface="Poppins Bold"/>
                <a:sym typeface="Poppins Bold"/>
              </a:rPr>
              <a:t>P</a:t>
            </a:r>
            <a:r>
              <a:rPr lang="en-US" sz="2696" b="true">
                <a:solidFill>
                  <a:srgbClr val="191919"/>
                </a:solidFill>
                <a:latin typeface="Poppins Bold"/>
                <a:ea typeface="Poppins Bold"/>
                <a:cs typeface="Poppins Bold"/>
                <a:sym typeface="Poppins Bold"/>
              </a:rPr>
              <a:t>ower Supply Disruptions</a:t>
            </a:r>
          </a:p>
          <a:p>
            <a:pPr algn="just">
              <a:lnSpc>
                <a:spcPts val="3214"/>
              </a:lnSpc>
            </a:pPr>
            <a:r>
              <a:rPr lang="en-US" sz="2296">
                <a:solidFill>
                  <a:srgbClr val="000000"/>
                </a:solidFill>
                <a:latin typeface="Poppins"/>
                <a:ea typeface="Poppins"/>
                <a:cs typeface="Poppins"/>
                <a:sym typeface="Poppins"/>
              </a:rPr>
              <a:t>Acc</a:t>
            </a:r>
            <a:r>
              <a:rPr lang="en-US" sz="2296">
                <a:solidFill>
                  <a:srgbClr val="000000"/>
                </a:solidFill>
                <a:latin typeface="Poppins"/>
                <a:ea typeface="Poppins"/>
                <a:cs typeface="Poppins"/>
                <a:sym typeface="Poppins"/>
              </a:rPr>
              <a:t>idental damage caused by personnel, such as liquid spills on workstations, tripping over exposed cabling, or leaving server room doors unsecured.</a:t>
            </a:r>
          </a:p>
          <a:p>
            <a:pPr algn="just">
              <a:lnSpc>
                <a:spcPts val="3214"/>
              </a:lnSpc>
            </a:pPr>
          </a:p>
          <a:p>
            <a:pPr algn="just">
              <a:lnSpc>
                <a:spcPts val="3776"/>
              </a:lnSpc>
            </a:pPr>
            <a:r>
              <a:rPr lang="en-US" sz="2697" b="true">
                <a:solidFill>
                  <a:srgbClr val="000000"/>
                </a:solidFill>
                <a:latin typeface="Poppins Bold"/>
                <a:ea typeface="Poppins Bold"/>
                <a:cs typeface="Poppins Bold"/>
                <a:sym typeface="Poppins Bold"/>
              </a:rPr>
              <a:t>HVAC &amp; Climate Control Failures</a:t>
            </a:r>
          </a:p>
          <a:p>
            <a:pPr algn="just" marL="0" indent="0" lvl="0">
              <a:lnSpc>
                <a:spcPts val="3214"/>
              </a:lnSpc>
              <a:spcBef>
                <a:spcPct val="0"/>
              </a:spcBef>
            </a:pPr>
            <a:r>
              <a:rPr lang="en-US" sz="2296">
                <a:solidFill>
                  <a:srgbClr val="000000"/>
                </a:solidFill>
                <a:latin typeface="Poppins"/>
                <a:ea typeface="Poppins"/>
                <a:cs typeface="Poppins"/>
                <a:sym typeface="Poppins"/>
              </a:rPr>
              <a:t>Air conditioning malfunctions that lead to extreme server room overheating or improper humidity levels causing static discharge.</a:t>
            </a:r>
          </a:p>
        </p:txBody>
      </p:sp>
      <p:sp>
        <p:nvSpPr>
          <p:cNvPr name="Freeform 6" id="6"/>
          <p:cNvSpPr/>
          <p:nvPr/>
        </p:nvSpPr>
        <p:spPr>
          <a:xfrm flipH="false" flipV="false" rot="0">
            <a:off x="16376664" y="3422803"/>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7330" y="7998004"/>
            <a:ext cx="1252419" cy="1260296"/>
          </a:xfrm>
          <a:custGeom>
            <a:avLst/>
            <a:gdLst/>
            <a:ahLst/>
            <a:cxnLst/>
            <a:rect r="r" b="b" t="t" l="l"/>
            <a:pathLst>
              <a:path h="1260296" w="1252419">
                <a:moveTo>
                  <a:pt x="0" y="0"/>
                </a:moveTo>
                <a:lnTo>
                  <a:pt x="1252419" y="0"/>
                </a:lnTo>
                <a:lnTo>
                  <a:pt x="1252419" y="1260296"/>
                </a:lnTo>
                <a:lnTo>
                  <a:pt x="0" y="12602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75378" y="231425"/>
            <a:ext cx="16756442" cy="1202489"/>
          </a:xfrm>
          <a:prstGeom prst="rect">
            <a:avLst/>
          </a:prstGeom>
        </p:spPr>
        <p:txBody>
          <a:bodyPr anchor="t" rtlCol="false" tIns="0" lIns="0" bIns="0" rIns="0">
            <a:spAutoFit/>
          </a:bodyPr>
          <a:lstStyle/>
          <a:p>
            <a:pPr algn="ctr" marL="0" indent="0" lvl="0">
              <a:lnSpc>
                <a:spcPts val="9321"/>
              </a:lnSpc>
              <a:spcBef>
                <a:spcPct val="0"/>
              </a:spcBef>
            </a:pPr>
            <a:r>
              <a:rPr lang="en-US" b="true" sz="6657">
                <a:solidFill>
                  <a:srgbClr val="8B5F0B"/>
                </a:solidFill>
                <a:latin typeface="Poppins Bold"/>
                <a:ea typeface="Poppins Bold"/>
                <a:cs typeface="Poppins Bold"/>
                <a:sym typeface="Poppins Bold"/>
              </a:rPr>
              <a:t>Categorizing Environmental Events</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0"/>
            <a:ext cx="1714682" cy="10287000"/>
            <a:chOff x="0" y="0"/>
            <a:chExt cx="451603" cy="2709333"/>
          </a:xfrm>
        </p:grpSpPr>
        <p:sp>
          <p:nvSpPr>
            <p:cNvPr name="Freeform 3" id="3"/>
            <p:cNvSpPr/>
            <p:nvPr/>
          </p:nvSpPr>
          <p:spPr>
            <a:xfrm flipH="false" flipV="false" rot="0">
              <a:off x="0" y="0"/>
              <a:ext cx="451603" cy="2709333"/>
            </a:xfrm>
            <a:custGeom>
              <a:avLst/>
              <a:gdLst/>
              <a:ahLst/>
              <a:cxnLst/>
              <a:rect r="r" b="b" t="t" l="l"/>
              <a:pathLst>
                <a:path h="2709333" w="451603">
                  <a:moveTo>
                    <a:pt x="0" y="0"/>
                  </a:moveTo>
                  <a:lnTo>
                    <a:pt x="451603" y="0"/>
                  </a:lnTo>
                  <a:lnTo>
                    <a:pt x="451603" y="2709333"/>
                  </a:lnTo>
                  <a:lnTo>
                    <a:pt x="0" y="2709333"/>
                  </a:lnTo>
                  <a:close/>
                </a:path>
              </a:pathLst>
            </a:custGeom>
            <a:solidFill>
              <a:srgbClr val="FFD076"/>
            </a:solidFill>
          </p:spPr>
        </p:sp>
        <p:sp>
          <p:nvSpPr>
            <p:cNvPr name="TextBox 4" id="4"/>
            <p:cNvSpPr txBox="true"/>
            <p:nvPr/>
          </p:nvSpPr>
          <p:spPr>
            <a:xfrm>
              <a:off x="0" y="-47625"/>
              <a:ext cx="451603" cy="2756958"/>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6660825" y="8744089"/>
            <a:ext cx="1831555" cy="2394494"/>
            <a:chOff x="0" y="0"/>
            <a:chExt cx="482385" cy="630649"/>
          </a:xfrm>
        </p:grpSpPr>
        <p:sp>
          <p:nvSpPr>
            <p:cNvPr name="Freeform 6" id="6"/>
            <p:cNvSpPr/>
            <p:nvPr/>
          </p:nvSpPr>
          <p:spPr>
            <a:xfrm flipH="false" flipV="false" rot="0">
              <a:off x="0" y="0"/>
              <a:ext cx="482385" cy="630649"/>
            </a:xfrm>
            <a:custGeom>
              <a:avLst/>
              <a:gdLst/>
              <a:ahLst/>
              <a:cxnLst/>
              <a:rect r="r" b="b" t="t" l="l"/>
              <a:pathLst>
                <a:path h="630649" w="482385">
                  <a:moveTo>
                    <a:pt x="0" y="0"/>
                  </a:moveTo>
                  <a:lnTo>
                    <a:pt x="482385" y="0"/>
                  </a:lnTo>
                  <a:lnTo>
                    <a:pt x="482385" y="630649"/>
                  </a:lnTo>
                  <a:lnTo>
                    <a:pt x="0" y="630649"/>
                  </a:lnTo>
                  <a:close/>
                </a:path>
              </a:pathLst>
            </a:custGeom>
            <a:solidFill>
              <a:srgbClr val="FFD076"/>
            </a:solidFill>
          </p:spPr>
        </p:sp>
        <p:sp>
          <p:nvSpPr>
            <p:cNvPr name="TextBox 7" id="7"/>
            <p:cNvSpPr txBox="true"/>
            <p:nvPr/>
          </p:nvSpPr>
          <p:spPr>
            <a:xfrm>
              <a:off x="0" y="-47625"/>
              <a:ext cx="482385" cy="678274"/>
            </a:xfrm>
            <a:prstGeom prst="rect">
              <a:avLst/>
            </a:prstGeom>
          </p:spPr>
          <p:txBody>
            <a:bodyPr anchor="ctr" rtlCol="false" tIns="50800" lIns="50800" bIns="50800" rIns="50800"/>
            <a:lstStyle/>
            <a:p>
              <a:pPr algn="ctr">
                <a:lnSpc>
                  <a:spcPts val="3560"/>
                </a:lnSpc>
              </a:pPr>
            </a:p>
          </p:txBody>
        </p:sp>
      </p:grpSp>
      <p:sp>
        <p:nvSpPr>
          <p:cNvPr name="TextBox 8" id="8"/>
          <p:cNvSpPr txBox="true"/>
          <p:nvPr/>
        </p:nvSpPr>
        <p:spPr>
          <a:xfrm rot="0">
            <a:off x="2107656" y="828675"/>
            <a:ext cx="14418642" cy="2417174"/>
          </a:xfrm>
          <a:prstGeom prst="rect">
            <a:avLst/>
          </a:prstGeom>
        </p:spPr>
        <p:txBody>
          <a:bodyPr anchor="t" rtlCol="false" tIns="0" lIns="0" bIns="0" rIns="0">
            <a:spAutoFit/>
          </a:bodyPr>
          <a:lstStyle/>
          <a:p>
            <a:pPr algn="l" marL="0" indent="0" lvl="0">
              <a:lnSpc>
                <a:spcPts val="9400"/>
              </a:lnSpc>
              <a:spcBef>
                <a:spcPct val="0"/>
              </a:spcBef>
            </a:pPr>
            <a:r>
              <a:rPr lang="en-US" b="true" sz="6714">
                <a:solidFill>
                  <a:srgbClr val="8B5F0B"/>
                </a:solidFill>
                <a:latin typeface="Poppins Bold"/>
                <a:ea typeface="Poppins Bold"/>
                <a:cs typeface="Poppins Bold"/>
                <a:sym typeface="Poppins Bold"/>
              </a:rPr>
              <a:t>Monitoring &amp; Tracking Physical/Environmental Events</a:t>
            </a:r>
          </a:p>
        </p:txBody>
      </p:sp>
      <p:sp>
        <p:nvSpPr>
          <p:cNvPr name="Freeform 9" id="9"/>
          <p:cNvSpPr/>
          <p:nvPr/>
        </p:nvSpPr>
        <p:spPr>
          <a:xfrm flipH="false" flipV="false" rot="0">
            <a:off x="16919273" y="-920557"/>
            <a:ext cx="3874149" cy="3898515"/>
          </a:xfrm>
          <a:custGeom>
            <a:avLst/>
            <a:gdLst/>
            <a:ahLst/>
            <a:cxnLst/>
            <a:rect r="r" b="b" t="t" l="l"/>
            <a:pathLst>
              <a:path h="3898515" w="3874149">
                <a:moveTo>
                  <a:pt x="0" y="0"/>
                </a:moveTo>
                <a:lnTo>
                  <a:pt x="3874149" y="0"/>
                </a:lnTo>
                <a:lnTo>
                  <a:pt x="3874149" y="3898514"/>
                </a:lnTo>
                <a:lnTo>
                  <a:pt x="0" y="38985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2246795" y="3780235"/>
            <a:ext cx="14140365" cy="5653886"/>
          </a:xfrm>
          <a:prstGeom prst="rect">
            <a:avLst/>
          </a:prstGeom>
        </p:spPr>
        <p:txBody>
          <a:bodyPr anchor="t" rtlCol="false" tIns="0" lIns="0" bIns="0" rIns="0">
            <a:spAutoFit/>
          </a:bodyPr>
          <a:lstStyle/>
          <a:p>
            <a:pPr algn="just" marL="0" indent="0" lvl="0">
              <a:lnSpc>
                <a:spcPts val="4459"/>
              </a:lnSpc>
              <a:spcBef>
                <a:spcPct val="0"/>
              </a:spcBef>
            </a:pPr>
            <a:r>
              <a:rPr lang="en-US" sz="3185">
                <a:solidFill>
                  <a:srgbClr val="000000"/>
                </a:solidFill>
                <a:latin typeface="Poppins"/>
                <a:ea typeface="Poppins"/>
                <a:cs typeface="Poppins"/>
                <a:sym typeface="Poppins"/>
              </a:rPr>
              <a:t>To effectively protect IT infrastructure, security teams must monitor physical and environmental metrics using specialized telemetry tools. Telemetry from biometric access logs, CCTV systems, and physical door sensors tracks physical access events to identify unauthorized entry attempts. Simultaneously, environmental monitoring sensors (thermostats, humidity gauges, liquid leak detectors, and Uninterruptible Power Supply/UPS telemetry) continuously record facility conditions. Tracking metrics such as the frequency of unauthorized access alerts or temperature spikes ensures immediate intervention before physical hardware suffers permanent damage.</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FD076"/>
        </a:solidFill>
      </p:bgPr>
    </p:bg>
    <p:spTree>
      <p:nvGrpSpPr>
        <p:cNvPr id="1" name=""/>
        <p:cNvGrpSpPr/>
        <p:nvPr/>
      </p:nvGrpSpPr>
      <p:grpSpPr>
        <a:xfrm>
          <a:off x="0" y="0"/>
          <a:ext cx="0" cy="0"/>
          <a:chOff x="0" y="0"/>
          <a:chExt cx="0" cy="0"/>
        </a:xfrm>
      </p:grpSpPr>
      <p:sp>
        <p:nvSpPr>
          <p:cNvPr name="Freeform 2" id="2"/>
          <p:cNvSpPr/>
          <p:nvPr/>
        </p:nvSpPr>
        <p:spPr>
          <a:xfrm flipH="false" flipV="false" rot="0">
            <a:off x="14950711" y="6943787"/>
            <a:ext cx="3962999" cy="3987924"/>
          </a:xfrm>
          <a:custGeom>
            <a:avLst/>
            <a:gdLst/>
            <a:ahLst/>
            <a:cxnLst/>
            <a:rect r="r" b="b" t="t" l="l"/>
            <a:pathLst>
              <a:path h="3987924" w="3962999">
                <a:moveTo>
                  <a:pt x="0" y="0"/>
                </a:moveTo>
                <a:lnTo>
                  <a:pt x="3963000" y="0"/>
                </a:lnTo>
                <a:lnTo>
                  <a:pt x="3963000" y="3987924"/>
                </a:lnTo>
                <a:lnTo>
                  <a:pt x="0" y="39879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06416" y="327916"/>
            <a:ext cx="17631392" cy="9696829"/>
            <a:chOff x="0" y="0"/>
            <a:chExt cx="4643659" cy="2553897"/>
          </a:xfrm>
        </p:grpSpPr>
        <p:sp>
          <p:nvSpPr>
            <p:cNvPr name="Freeform 4" id="4"/>
            <p:cNvSpPr/>
            <p:nvPr/>
          </p:nvSpPr>
          <p:spPr>
            <a:xfrm flipH="false" flipV="false" rot="0">
              <a:off x="0" y="0"/>
              <a:ext cx="4643659" cy="2553897"/>
            </a:xfrm>
            <a:custGeom>
              <a:avLst/>
              <a:gdLst/>
              <a:ahLst/>
              <a:cxnLst/>
              <a:rect r="r" b="b" t="t" l="l"/>
              <a:pathLst>
                <a:path h="2553897" w="4643659">
                  <a:moveTo>
                    <a:pt x="0" y="0"/>
                  </a:moveTo>
                  <a:lnTo>
                    <a:pt x="4643659" y="0"/>
                  </a:lnTo>
                  <a:lnTo>
                    <a:pt x="4643659" y="2553897"/>
                  </a:lnTo>
                  <a:lnTo>
                    <a:pt x="0" y="2553897"/>
                  </a:lnTo>
                  <a:close/>
                </a:path>
              </a:pathLst>
            </a:custGeom>
            <a:solidFill>
              <a:srgbClr val="FFFFFF"/>
            </a:solidFill>
          </p:spPr>
        </p:sp>
        <p:sp>
          <p:nvSpPr>
            <p:cNvPr name="TextBox 5" id="5"/>
            <p:cNvSpPr txBox="true"/>
            <p:nvPr/>
          </p:nvSpPr>
          <p:spPr>
            <a:xfrm>
              <a:off x="0" y="-47625"/>
              <a:ext cx="4643659" cy="2601522"/>
            </a:xfrm>
            <a:prstGeom prst="rect">
              <a:avLst/>
            </a:prstGeom>
          </p:spPr>
          <p:txBody>
            <a:bodyPr anchor="ctr" rtlCol="false" tIns="50800" lIns="50800" bIns="50800" rIns="50800"/>
            <a:lstStyle/>
            <a:p>
              <a:pPr algn="ctr">
                <a:lnSpc>
                  <a:spcPts val="3560"/>
                </a:lnSpc>
              </a:pPr>
            </a:p>
          </p:txBody>
        </p:sp>
      </p:grpSp>
      <p:sp>
        <p:nvSpPr>
          <p:cNvPr name="Freeform 6" id="6"/>
          <p:cNvSpPr/>
          <p:nvPr/>
        </p:nvSpPr>
        <p:spPr>
          <a:xfrm flipH="false" flipV="false" rot="0">
            <a:off x="-157415" y="-579138"/>
            <a:ext cx="2711578" cy="2728632"/>
          </a:xfrm>
          <a:custGeom>
            <a:avLst/>
            <a:gdLst/>
            <a:ahLst/>
            <a:cxnLst/>
            <a:rect r="r" b="b" t="t" l="l"/>
            <a:pathLst>
              <a:path h="2728632" w="2711578">
                <a:moveTo>
                  <a:pt x="0" y="0"/>
                </a:moveTo>
                <a:lnTo>
                  <a:pt x="2711578" y="0"/>
                </a:lnTo>
                <a:lnTo>
                  <a:pt x="2711578" y="2728631"/>
                </a:lnTo>
                <a:lnTo>
                  <a:pt x="0" y="2728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7" id="7"/>
          <p:cNvGraphicFramePr>
            <a:graphicFrameLocks noGrp="true"/>
          </p:cNvGraphicFramePr>
          <p:nvPr/>
        </p:nvGraphicFramePr>
        <p:xfrm>
          <a:off x="801014" y="2370773"/>
          <a:ext cx="16685972" cy="7467600"/>
        </p:xfrm>
        <a:graphic>
          <a:graphicData uri="http://schemas.openxmlformats.org/drawingml/2006/table">
            <a:tbl>
              <a:tblPr/>
              <a:tblGrid>
                <a:gridCol w="5873204"/>
                <a:gridCol w="10812768"/>
              </a:tblGrid>
              <a:tr h="1014828">
                <a:tc>
                  <a:txBody>
                    <a:bodyPr anchor="t" rtlCol="false"/>
                    <a:lstStyle/>
                    <a:p>
                      <a:pPr algn="just">
                        <a:lnSpc>
                          <a:spcPts val="3779"/>
                        </a:lnSpc>
                        <a:defRPr/>
                      </a:pPr>
                      <a:r>
                        <a:rPr lang="en-US" sz="2699" b="true">
                          <a:solidFill>
                            <a:srgbClr val="000000"/>
                          </a:solidFill>
                          <a:latin typeface="Inter Bold"/>
                          <a:ea typeface="Inter Bold"/>
                          <a:cs typeface="Inter Bold"/>
                          <a:sym typeface="Inter Bold"/>
                        </a:rPr>
                        <a:t>Operational Impact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779"/>
                        </a:lnSpc>
                        <a:defRPr/>
                      </a:pPr>
                      <a:r>
                        <a:rPr lang="en-US" sz="2699" b="true">
                          <a:solidFill>
                            <a:srgbClr val="000000"/>
                          </a:solidFill>
                          <a:latin typeface="Inter Bold"/>
                          <a:ea typeface="Inter Bold"/>
                          <a:cs typeface="Inter Bold"/>
                          <a:sym typeface="Inter Bold"/>
                        </a:rPr>
                        <a:t>Description of Consequences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93520">
                <a:tc>
                  <a:txBody>
                    <a:bodyPr anchor="t" rtlCol="false"/>
                    <a:lstStyle/>
                    <a:p>
                      <a:pPr algn="just">
                        <a:lnSpc>
                          <a:spcPts val="3779"/>
                        </a:lnSpc>
                        <a:defRPr/>
                      </a:pPr>
                      <a:r>
                        <a:rPr lang="en-US" sz="2699">
                          <a:solidFill>
                            <a:srgbClr val="000000"/>
                          </a:solidFill>
                          <a:latin typeface="Inter"/>
                          <a:ea typeface="Inter"/>
                          <a:cs typeface="Inter"/>
                          <a:sym typeface="Inter"/>
                        </a:rPr>
                        <a:t>Permanent Data Loss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779"/>
                        </a:lnSpc>
                        <a:defRPr/>
                      </a:pPr>
                      <a:r>
                        <a:rPr lang="en-US" sz="2699">
                          <a:solidFill>
                            <a:srgbClr val="000000"/>
                          </a:solidFill>
                          <a:latin typeface="Inter"/>
                          <a:ea typeface="Inter"/>
                          <a:cs typeface="Inter"/>
                          <a:sym typeface="Inter"/>
                        </a:rPr>
                        <a:t>Destroyed or stolen physical drives without offsite backups lead to irreversible loss of critical institutional data.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93520">
                <a:tc>
                  <a:txBody>
                    <a:bodyPr anchor="t" rtlCol="false"/>
                    <a:lstStyle/>
                    <a:p>
                      <a:pPr algn="just">
                        <a:lnSpc>
                          <a:spcPts val="3779"/>
                        </a:lnSpc>
                        <a:defRPr/>
                      </a:pPr>
                      <a:r>
                        <a:rPr lang="en-US" sz="2699">
                          <a:solidFill>
                            <a:srgbClr val="000000"/>
                          </a:solidFill>
                          <a:latin typeface="Inter"/>
                          <a:ea typeface="Inter"/>
                          <a:cs typeface="Inter"/>
                          <a:sym typeface="Inter"/>
                        </a:rPr>
                        <a:t>Extended System Downtime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779"/>
                        </a:lnSpc>
                        <a:defRPr/>
                      </a:pPr>
                      <a:r>
                        <a:rPr lang="en-US" sz="2699">
                          <a:solidFill>
                            <a:srgbClr val="000000"/>
                          </a:solidFill>
                          <a:latin typeface="Inter"/>
                          <a:ea typeface="Inter"/>
                          <a:cs typeface="Inter"/>
                          <a:sym typeface="Inter"/>
                        </a:rPr>
                        <a:t>Replacing burned, flooded, or damaged physical server hardware takes days or weeks, halting critical operations.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972212">
                <a:tc>
                  <a:txBody>
                    <a:bodyPr anchor="t" rtlCol="false"/>
                    <a:lstStyle/>
                    <a:p>
                      <a:pPr algn="just">
                        <a:lnSpc>
                          <a:spcPts val="3779"/>
                        </a:lnSpc>
                        <a:defRPr/>
                      </a:pPr>
                      <a:r>
                        <a:rPr lang="en-US" sz="2699">
                          <a:solidFill>
                            <a:srgbClr val="000000"/>
                          </a:solidFill>
                          <a:latin typeface="Inter"/>
                          <a:ea typeface="Inter"/>
                          <a:cs typeface="Inter"/>
                          <a:sym typeface="Inter"/>
                        </a:rPr>
                        <a:t>High Financial &amp; Operational Cost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779"/>
                        </a:lnSpc>
                        <a:defRPr/>
                      </a:pPr>
                      <a:r>
                        <a:rPr lang="en-US" sz="2699">
                          <a:solidFill>
                            <a:srgbClr val="000000"/>
                          </a:solidFill>
                          <a:latin typeface="Inter"/>
                          <a:ea typeface="Inter"/>
                          <a:cs typeface="Inter"/>
                          <a:sym typeface="Inter"/>
                        </a:rPr>
                        <a:t>Facility repair, emergency hardware replacement, and operational disruption lead to massive unplanned financial expenditure.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93520">
                <a:tc>
                  <a:txBody>
                    <a:bodyPr anchor="t" rtlCol="false"/>
                    <a:lstStyle/>
                    <a:p>
                      <a:pPr algn="just">
                        <a:lnSpc>
                          <a:spcPts val="3779"/>
                        </a:lnSpc>
                        <a:defRPr/>
                      </a:pPr>
                      <a:r>
                        <a:rPr lang="en-US" sz="2699">
                          <a:solidFill>
                            <a:srgbClr val="000000"/>
                          </a:solidFill>
                          <a:latin typeface="Inter"/>
                          <a:ea typeface="Inter"/>
                          <a:cs typeface="Inter"/>
                          <a:sym typeface="Inter"/>
                        </a:rPr>
                        <a:t>Life &amp; Safety Risks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779"/>
                        </a:lnSpc>
                        <a:defRPr/>
                      </a:pPr>
                      <a:r>
                        <a:rPr lang="en-US" sz="2699">
                          <a:solidFill>
                            <a:srgbClr val="000000"/>
                          </a:solidFill>
                          <a:latin typeface="Inter"/>
                          <a:ea typeface="Inter"/>
                          <a:cs typeface="Inter"/>
                          <a:sym typeface="Inter"/>
                        </a:rPr>
                        <a:t>Environmental events like electrical fires or ungrounded power surges pose immediate physical dangers to facility personnel.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8" id="8"/>
          <p:cNvSpPr txBox="true"/>
          <p:nvPr/>
        </p:nvSpPr>
        <p:spPr>
          <a:xfrm rot="0">
            <a:off x="2261912" y="305630"/>
            <a:ext cx="13720402" cy="1881963"/>
          </a:xfrm>
          <a:prstGeom prst="rect">
            <a:avLst/>
          </a:prstGeom>
        </p:spPr>
        <p:txBody>
          <a:bodyPr anchor="t" rtlCol="false" tIns="0" lIns="0" bIns="0" rIns="0">
            <a:spAutoFit/>
          </a:bodyPr>
          <a:lstStyle/>
          <a:p>
            <a:pPr algn="ctr" marL="0" indent="0" lvl="0">
              <a:lnSpc>
                <a:spcPts val="7333"/>
              </a:lnSpc>
              <a:spcBef>
                <a:spcPct val="0"/>
              </a:spcBef>
            </a:pPr>
            <a:r>
              <a:rPr lang="en-US" b="true" sz="5238">
                <a:solidFill>
                  <a:srgbClr val="8B5F0B"/>
                </a:solidFill>
                <a:latin typeface="Poppins Bold"/>
                <a:ea typeface="Poppins Bold"/>
                <a:cs typeface="Poppins Bold"/>
                <a:sym typeface="Poppins Bold"/>
              </a:rPr>
              <a:t>Impact of Physical &amp; Environmental Events on IT Resilience</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5849" y="3295276"/>
            <a:ext cx="17827564" cy="6991724"/>
            <a:chOff x="0" y="0"/>
            <a:chExt cx="4695326" cy="1841442"/>
          </a:xfrm>
        </p:grpSpPr>
        <p:sp>
          <p:nvSpPr>
            <p:cNvPr name="Freeform 3" id="3"/>
            <p:cNvSpPr/>
            <p:nvPr/>
          </p:nvSpPr>
          <p:spPr>
            <a:xfrm flipH="false" flipV="false" rot="0">
              <a:off x="0" y="0"/>
              <a:ext cx="4695325" cy="1841442"/>
            </a:xfrm>
            <a:custGeom>
              <a:avLst/>
              <a:gdLst/>
              <a:ahLst/>
              <a:cxnLst/>
              <a:rect r="r" b="b" t="t" l="l"/>
              <a:pathLst>
                <a:path h="1841442" w="4695325">
                  <a:moveTo>
                    <a:pt x="0" y="0"/>
                  </a:moveTo>
                  <a:lnTo>
                    <a:pt x="4695325" y="0"/>
                  </a:lnTo>
                  <a:lnTo>
                    <a:pt x="4695325" y="1841442"/>
                  </a:lnTo>
                  <a:lnTo>
                    <a:pt x="0" y="1841442"/>
                  </a:lnTo>
                  <a:close/>
                </a:path>
              </a:pathLst>
            </a:custGeom>
            <a:solidFill>
              <a:srgbClr val="FFD076"/>
            </a:solidFill>
          </p:spPr>
        </p:sp>
        <p:sp>
          <p:nvSpPr>
            <p:cNvPr name="TextBox 4" id="4"/>
            <p:cNvSpPr txBox="true"/>
            <p:nvPr/>
          </p:nvSpPr>
          <p:spPr>
            <a:xfrm>
              <a:off x="0" y="-47625"/>
              <a:ext cx="4695326" cy="1889067"/>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2223382" y="1875155"/>
            <a:ext cx="6654411" cy="8269098"/>
            <a:chOff x="0" y="0"/>
            <a:chExt cx="1752602" cy="2177869"/>
          </a:xfrm>
        </p:grpSpPr>
        <p:sp>
          <p:nvSpPr>
            <p:cNvPr name="Freeform 6" id="6"/>
            <p:cNvSpPr/>
            <p:nvPr/>
          </p:nvSpPr>
          <p:spPr>
            <a:xfrm flipH="false" flipV="false" rot="0">
              <a:off x="0" y="0"/>
              <a:ext cx="1752602" cy="2177869"/>
            </a:xfrm>
            <a:custGeom>
              <a:avLst/>
              <a:gdLst/>
              <a:ahLst/>
              <a:cxnLst/>
              <a:rect r="r" b="b" t="t" l="l"/>
              <a:pathLst>
                <a:path h="2177869" w="1752602">
                  <a:moveTo>
                    <a:pt x="0" y="0"/>
                  </a:moveTo>
                  <a:lnTo>
                    <a:pt x="1752602" y="0"/>
                  </a:lnTo>
                  <a:lnTo>
                    <a:pt x="1752602" y="2177869"/>
                  </a:lnTo>
                  <a:lnTo>
                    <a:pt x="0" y="2177869"/>
                  </a:lnTo>
                  <a:close/>
                </a:path>
              </a:pathLst>
            </a:custGeom>
            <a:solidFill>
              <a:srgbClr val="F1F1F1"/>
            </a:solidFill>
          </p:spPr>
        </p:sp>
        <p:sp>
          <p:nvSpPr>
            <p:cNvPr name="TextBox 7" id="7"/>
            <p:cNvSpPr txBox="true"/>
            <p:nvPr/>
          </p:nvSpPr>
          <p:spPr>
            <a:xfrm>
              <a:off x="0" y="-47625"/>
              <a:ext cx="1752602" cy="2225494"/>
            </a:xfrm>
            <a:prstGeom prst="rect">
              <a:avLst/>
            </a:prstGeom>
          </p:spPr>
          <p:txBody>
            <a:bodyPr anchor="ctr" rtlCol="false" tIns="50800" lIns="50800" bIns="50800" rIns="50800"/>
            <a:lstStyle/>
            <a:p>
              <a:pPr algn="ctr">
                <a:lnSpc>
                  <a:spcPts val="3560"/>
                </a:lnSpc>
              </a:pPr>
            </a:p>
          </p:txBody>
        </p:sp>
      </p:grpSp>
      <p:sp>
        <p:nvSpPr>
          <p:cNvPr name="Freeform 8" id="8"/>
          <p:cNvSpPr/>
          <p:nvPr/>
        </p:nvSpPr>
        <p:spPr>
          <a:xfrm flipH="false" flipV="false" rot="0">
            <a:off x="0" y="-142875"/>
            <a:ext cx="4497049" cy="4114800"/>
          </a:xfrm>
          <a:custGeom>
            <a:avLst/>
            <a:gdLst/>
            <a:ahLst/>
            <a:cxnLst/>
            <a:rect r="r" b="b" t="t" l="l"/>
            <a:pathLst>
              <a:path h="4114800" w="4497049">
                <a:moveTo>
                  <a:pt x="0" y="0"/>
                </a:moveTo>
                <a:lnTo>
                  <a:pt x="4497049" y="0"/>
                </a:lnTo>
                <a:lnTo>
                  <a:pt x="449704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84787" y="3887603"/>
            <a:ext cx="10854927" cy="5925687"/>
          </a:xfrm>
          <a:custGeom>
            <a:avLst/>
            <a:gdLst/>
            <a:ahLst/>
            <a:cxnLst/>
            <a:rect r="r" b="b" t="t" l="l"/>
            <a:pathLst>
              <a:path h="5925687" w="10854927">
                <a:moveTo>
                  <a:pt x="0" y="0"/>
                </a:moveTo>
                <a:lnTo>
                  <a:pt x="10854926" y="0"/>
                </a:lnTo>
                <a:lnTo>
                  <a:pt x="10854926" y="5925687"/>
                </a:lnTo>
                <a:lnTo>
                  <a:pt x="0" y="5925687"/>
                </a:lnTo>
                <a:lnTo>
                  <a:pt x="0" y="0"/>
                </a:lnTo>
                <a:close/>
              </a:path>
            </a:pathLst>
          </a:custGeom>
          <a:blipFill>
            <a:blip r:embed="rId4"/>
            <a:stretch>
              <a:fillRect l="0" t="0" r="0" b="0"/>
            </a:stretch>
          </a:blipFill>
        </p:spPr>
      </p:sp>
      <p:sp>
        <p:nvSpPr>
          <p:cNvPr name="TextBox 10" id="10"/>
          <p:cNvSpPr txBox="true"/>
          <p:nvPr/>
        </p:nvSpPr>
        <p:spPr>
          <a:xfrm rot="0">
            <a:off x="4077485" y="642128"/>
            <a:ext cx="13181815" cy="2285078"/>
          </a:xfrm>
          <a:prstGeom prst="rect">
            <a:avLst/>
          </a:prstGeom>
        </p:spPr>
        <p:txBody>
          <a:bodyPr anchor="t" rtlCol="false" tIns="0" lIns="0" bIns="0" rIns="0">
            <a:spAutoFit/>
          </a:bodyPr>
          <a:lstStyle/>
          <a:p>
            <a:pPr algn="l" marL="0" indent="0" lvl="0">
              <a:lnSpc>
                <a:spcPts val="8975"/>
              </a:lnSpc>
              <a:spcBef>
                <a:spcPct val="0"/>
              </a:spcBef>
            </a:pPr>
            <a:r>
              <a:rPr lang="en-US" b="true" sz="6411">
                <a:solidFill>
                  <a:srgbClr val="8B5F0B"/>
                </a:solidFill>
                <a:latin typeface="Poppins Bold"/>
                <a:ea typeface="Poppins Bold"/>
                <a:cs typeface="Poppins Bold"/>
                <a:sym typeface="Poppins Bold"/>
              </a:rPr>
              <a:t>Physical and Environmental Threats</a:t>
            </a:r>
          </a:p>
        </p:txBody>
      </p:sp>
      <p:sp>
        <p:nvSpPr>
          <p:cNvPr name="TextBox 11" id="11"/>
          <p:cNvSpPr txBox="true"/>
          <p:nvPr/>
        </p:nvSpPr>
        <p:spPr>
          <a:xfrm rot="0">
            <a:off x="12439738" y="2369185"/>
            <a:ext cx="5444980" cy="7444105"/>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Poppins"/>
                <a:ea typeface="Poppins"/>
                <a:cs typeface="Poppins"/>
                <a:sym typeface="Poppins"/>
              </a:rPr>
              <a:t>When we talk about IT security, we often focus on hackers and viruses. However, physical and environmental threats are just as dangerous. These threats happen in the real world, not just on a computer screen. If a server room is destroyed or a laptop is stolen, the best firewalls in the world won’t save your data. This section will explore the real-world dangers that put our hardware and data at risk.</a:t>
            </a:r>
          </a:p>
        </p:txBody>
      </p:sp>
    </p:spTree>
  </p:cSld>
  <p:clrMapOvr>
    <a:masterClrMapping/>
  </p:clrMapOvr>
</p:sld>
</file>

<file path=ppt/slides/slide47.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9227797"/>
            <a:chOff x="0" y="0"/>
            <a:chExt cx="4816593" cy="2430366"/>
          </a:xfrm>
        </p:grpSpPr>
        <p:sp>
          <p:nvSpPr>
            <p:cNvPr name="Freeform 3" id="3"/>
            <p:cNvSpPr/>
            <p:nvPr/>
          </p:nvSpPr>
          <p:spPr>
            <a:xfrm flipH="false" flipV="false" rot="0">
              <a:off x="0" y="0"/>
              <a:ext cx="4816592" cy="2430366"/>
            </a:xfrm>
            <a:custGeom>
              <a:avLst/>
              <a:gdLst/>
              <a:ahLst/>
              <a:cxnLst/>
              <a:rect r="r" b="b" t="t" l="l"/>
              <a:pathLst>
                <a:path h="2430366" w="4816592">
                  <a:moveTo>
                    <a:pt x="0" y="0"/>
                  </a:moveTo>
                  <a:lnTo>
                    <a:pt x="4816592" y="0"/>
                  </a:lnTo>
                  <a:lnTo>
                    <a:pt x="4816592" y="2430366"/>
                  </a:lnTo>
                  <a:lnTo>
                    <a:pt x="0" y="2430366"/>
                  </a:lnTo>
                  <a:close/>
                </a:path>
              </a:pathLst>
            </a:custGeom>
            <a:solidFill>
              <a:srgbClr val="FFD076"/>
            </a:solidFill>
          </p:spPr>
        </p:sp>
        <p:sp>
          <p:nvSpPr>
            <p:cNvPr name="TextBox 4" id="4"/>
            <p:cNvSpPr txBox="true"/>
            <p:nvPr/>
          </p:nvSpPr>
          <p:spPr>
            <a:xfrm>
              <a:off x="0" y="-47625"/>
              <a:ext cx="4816593" cy="2477991"/>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0" y="0"/>
            <a:ext cx="8200350" cy="7769665"/>
            <a:chOff x="0" y="0"/>
            <a:chExt cx="2159763" cy="2046332"/>
          </a:xfrm>
        </p:grpSpPr>
        <p:sp>
          <p:nvSpPr>
            <p:cNvPr name="Freeform 6" id="6"/>
            <p:cNvSpPr/>
            <p:nvPr/>
          </p:nvSpPr>
          <p:spPr>
            <a:xfrm flipH="false" flipV="false" rot="0">
              <a:off x="0" y="0"/>
              <a:ext cx="2159763" cy="2046331"/>
            </a:xfrm>
            <a:custGeom>
              <a:avLst/>
              <a:gdLst/>
              <a:ahLst/>
              <a:cxnLst/>
              <a:rect r="r" b="b" t="t" l="l"/>
              <a:pathLst>
                <a:path h="2046331" w="2159763">
                  <a:moveTo>
                    <a:pt x="0" y="0"/>
                  </a:moveTo>
                  <a:lnTo>
                    <a:pt x="2159763" y="0"/>
                  </a:lnTo>
                  <a:lnTo>
                    <a:pt x="2159763" y="2046331"/>
                  </a:lnTo>
                  <a:lnTo>
                    <a:pt x="0" y="2046331"/>
                  </a:lnTo>
                  <a:close/>
                </a:path>
              </a:pathLst>
            </a:custGeom>
            <a:solidFill>
              <a:srgbClr val="FFFFFF"/>
            </a:solidFill>
          </p:spPr>
        </p:sp>
        <p:sp>
          <p:nvSpPr>
            <p:cNvPr name="TextBox 7" id="7"/>
            <p:cNvSpPr txBox="true"/>
            <p:nvPr/>
          </p:nvSpPr>
          <p:spPr>
            <a:xfrm>
              <a:off x="0" y="-47625"/>
              <a:ext cx="2159763" cy="2093957"/>
            </a:xfrm>
            <a:prstGeom prst="rect">
              <a:avLst/>
            </a:prstGeom>
          </p:spPr>
          <p:txBody>
            <a:bodyPr anchor="ctr" rtlCol="false" tIns="50800" lIns="50800" bIns="50800" rIns="50800"/>
            <a:lstStyle/>
            <a:p>
              <a:pPr algn="ctr">
                <a:lnSpc>
                  <a:spcPts val="3560"/>
                </a:lnSpc>
              </a:pPr>
            </a:p>
          </p:txBody>
        </p:sp>
      </p:grpSp>
      <p:sp>
        <p:nvSpPr>
          <p:cNvPr name="TextBox 8" id="8"/>
          <p:cNvSpPr txBox="true"/>
          <p:nvPr/>
        </p:nvSpPr>
        <p:spPr>
          <a:xfrm rot="0">
            <a:off x="1301206" y="1688585"/>
            <a:ext cx="6721491" cy="3781297"/>
          </a:xfrm>
          <a:prstGeom prst="rect">
            <a:avLst/>
          </a:prstGeom>
        </p:spPr>
        <p:txBody>
          <a:bodyPr anchor="t" rtlCol="false" tIns="0" lIns="0" bIns="0" rIns="0">
            <a:spAutoFit/>
          </a:bodyPr>
          <a:lstStyle/>
          <a:p>
            <a:pPr algn="l" marL="0" indent="0" lvl="0">
              <a:lnSpc>
                <a:spcPts val="9843"/>
              </a:lnSpc>
              <a:spcBef>
                <a:spcPct val="0"/>
              </a:spcBef>
            </a:pPr>
            <a:r>
              <a:rPr lang="en-US" b="true" sz="7031">
                <a:solidFill>
                  <a:srgbClr val="191919"/>
                </a:solidFill>
                <a:latin typeface="Poppins Bold"/>
                <a:ea typeface="Poppins Bold"/>
                <a:cs typeface="Poppins Bold"/>
                <a:sym typeface="Poppins Bold"/>
              </a:rPr>
              <a:t>Major Physical Threats</a:t>
            </a:r>
          </a:p>
        </p:txBody>
      </p:sp>
      <p:sp>
        <p:nvSpPr>
          <p:cNvPr name="TextBox 9" id="9"/>
          <p:cNvSpPr txBox="true"/>
          <p:nvPr/>
        </p:nvSpPr>
        <p:spPr>
          <a:xfrm rot="0">
            <a:off x="9144000" y="819101"/>
            <a:ext cx="8407624" cy="8434705"/>
          </a:xfrm>
          <a:prstGeom prst="rect">
            <a:avLst/>
          </a:prstGeom>
        </p:spPr>
        <p:txBody>
          <a:bodyPr anchor="t" rtlCol="false" tIns="0" lIns="0" bIns="0" rIns="0">
            <a:spAutoFit/>
          </a:bodyPr>
          <a:lstStyle/>
          <a:p>
            <a:pPr algn="l">
              <a:lnSpc>
                <a:spcPts val="3919"/>
              </a:lnSpc>
            </a:pPr>
            <a:r>
              <a:rPr lang="en-US" sz="2799">
                <a:solidFill>
                  <a:srgbClr val="000000"/>
                </a:solidFill>
                <a:latin typeface="Poppins"/>
                <a:ea typeface="Poppins"/>
                <a:cs typeface="Poppins"/>
                <a:sym typeface="Poppins"/>
              </a:rPr>
              <a:t>Physical threats are dangers caused by people or physical events that can damage or steal IT equipment.</a:t>
            </a:r>
          </a:p>
          <a:p>
            <a:pPr algn="l">
              <a:lnSpc>
                <a:spcPts val="3919"/>
              </a:lnSpc>
            </a:pPr>
          </a:p>
          <a:p>
            <a:pPr algn="l" marL="604519" indent="-302260" lvl="1">
              <a:lnSpc>
                <a:spcPts val="3919"/>
              </a:lnSpc>
              <a:buFont typeface="Arial"/>
              <a:buChar char="•"/>
            </a:pPr>
            <a:r>
              <a:rPr lang="en-US" sz="2799">
                <a:solidFill>
                  <a:srgbClr val="000000"/>
                </a:solidFill>
                <a:latin typeface="Poppins"/>
                <a:ea typeface="Poppins"/>
                <a:cs typeface="Poppins"/>
                <a:sym typeface="Poppins"/>
              </a:rPr>
              <a:t>Unauthorized Access: When people enter restricted areas like server rooms without permission.</a:t>
            </a:r>
          </a:p>
          <a:p>
            <a:pPr algn="l" marL="604519" indent="-302260" lvl="1">
              <a:lnSpc>
                <a:spcPts val="3919"/>
              </a:lnSpc>
              <a:buFont typeface="Arial"/>
              <a:buChar char="•"/>
            </a:pPr>
            <a:r>
              <a:rPr lang="en-US" sz="2799">
                <a:solidFill>
                  <a:srgbClr val="000000"/>
                </a:solidFill>
                <a:latin typeface="Poppins"/>
                <a:ea typeface="Poppins"/>
                <a:cs typeface="Poppins"/>
                <a:sym typeface="Poppins"/>
              </a:rPr>
              <a:t>Theft of Equipment: Stealing laptops, hard drives, or servers that contain sensitive data.</a:t>
            </a:r>
          </a:p>
          <a:p>
            <a:pPr algn="l" marL="604519" indent="-302260" lvl="1">
              <a:lnSpc>
                <a:spcPts val="3919"/>
              </a:lnSpc>
              <a:buFont typeface="Arial"/>
              <a:buChar char="•"/>
            </a:pPr>
            <a:r>
              <a:rPr lang="en-US" sz="2799">
                <a:solidFill>
                  <a:srgbClr val="000000"/>
                </a:solidFill>
                <a:latin typeface="Poppins"/>
                <a:ea typeface="Poppins"/>
                <a:cs typeface="Poppins"/>
                <a:sym typeface="Poppins"/>
              </a:rPr>
              <a:t>Vandalism and Sabotage: Intentionally destroying hardware, cutting cables, or smashing screens.</a:t>
            </a:r>
          </a:p>
          <a:p>
            <a:pPr algn="l" marL="604519" indent="-302260" lvl="1">
              <a:lnSpc>
                <a:spcPts val="3919"/>
              </a:lnSpc>
              <a:spcBef>
                <a:spcPct val="0"/>
              </a:spcBef>
              <a:buFont typeface="Arial"/>
              <a:buChar char="•"/>
            </a:pPr>
            <a:r>
              <a:rPr lang="en-US" sz="2799">
                <a:solidFill>
                  <a:srgbClr val="000000"/>
                </a:solidFill>
                <a:latin typeface="Poppins"/>
                <a:ea typeface="Poppins"/>
                <a:cs typeface="Poppins"/>
                <a:sym typeface="Poppins"/>
              </a:rPr>
              <a:t>Accidental Damage: When employees accidentally spill coffee on a server or trip over power cords.</a:t>
            </a:r>
          </a:p>
          <a:p>
            <a:pPr algn="l" marL="0" indent="0" lvl="0">
              <a:lnSpc>
                <a:spcPts val="3919"/>
              </a:lnSpc>
              <a:spcBef>
                <a:spcPct val="0"/>
              </a:spcBef>
            </a:pPr>
          </a:p>
        </p:txBody>
      </p:sp>
    </p:spTree>
  </p:cSld>
  <p:clrMapOvr>
    <a:masterClrMapping/>
  </p:clrMapOvr>
</p:sld>
</file>

<file path=ppt/slides/slide48.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9227797"/>
            <a:chOff x="0" y="0"/>
            <a:chExt cx="4816593" cy="2430366"/>
          </a:xfrm>
        </p:grpSpPr>
        <p:sp>
          <p:nvSpPr>
            <p:cNvPr name="Freeform 3" id="3"/>
            <p:cNvSpPr/>
            <p:nvPr/>
          </p:nvSpPr>
          <p:spPr>
            <a:xfrm flipH="false" flipV="false" rot="0">
              <a:off x="0" y="0"/>
              <a:ext cx="4816592" cy="2430366"/>
            </a:xfrm>
            <a:custGeom>
              <a:avLst/>
              <a:gdLst/>
              <a:ahLst/>
              <a:cxnLst/>
              <a:rect r="r" b="b" t="t" l="l"/>
              <a:pathLst>
                <a:path h="2430366" w="4816592">
                  <a:moveTo>
                    <a:pt x="0" y="0"/>
                  </a:moveTo>
                  <a:lnTo>
                    <a:pt x="4816592" y="0"/>
                  </a:lnTo>
                  <a:lnTo>
                    <a:pt x="4816592" y="2430366"/>
                  </a:lnTo>
                  <a:lnTo>
                    <a:pt x="0" y="2430366"/>
                  </a:lnTo>
                  <a:close/>
                </a:path>
              </a:pathLst>
            </a:custGeom>
            <a:solidFill>
              <a:srgbClr val="FFD076"/>
            </a:solidFill>
          </p:spPr>
        </p:sp>
        <p:sp>
          <p:nvSpPr>
            <p:cNvPr name="TextBox 4" id="4"/>
            <p:cNvSpPr txBox="true"/>
            <p:nvPr/>
          </p:nvSpPr>
          <p:spPr>
            <a:xfrm>
              <a:off x="0" y="-47625"/>
              <a:ext cx="4816593" cy="2477991"/>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0087650" y="0"/>
            <a:ext cx="8200350" cy="7769665"/>
            <a:chOff x="0" y="0"/>
            <a:chExt cx="2159763" cy="2046332"/>
          </a:xfrm>
        </p:grpSpPr>
        <p:sp>
          <p:nvSpPr>
            <p:cNvPr name="Freeform 6" id="6"/>
            <p:cNvSpPr/>
            <p:nvPr/>
          </p:nvSpPr>
          <p:spPr>
            <a:xfrm flipH="false" flipV="false" rot="0">
              <a:off x="0" y="0"/>
              <a:ext cx="2159763" cy="2046331"/>
            </a:xfrm>
            <a:custGeom>
              <a:avLst/>
              <a:gdLst/>
              <a:ahLst/>
              <a:cxnLst/>
              <a:rect r="r" b="b" t="t" l="l"/>
              <a:pathLst>
                <a:path h="2046331" w="2159763">
                  <a:moveTo>
                    <a:pt x="0" y="0"/>
                  </a:moveTo>
                  <a:lnTo>
                    <a:pt x="2159763" y="0"/>
                  </a:lnTo>
                  <a:lnTo>
                    <a:pt x="2159763" y="2046331"/>
                  </a:lnTo>
                  <a:lnTo>
                    <a:pt x="0" y="2046331"/>
                  </a:lnTo>
                  <a:close/>
                </a:path>
              </a:pathLst>
            </a:custGeom>
            <a:solidFill>
              <a:srgbClr val="FFFFFF"/>
            </a:solidFill>
          </p:spPr>
        </p:sp>
        <p:sp>
          <p:nvSpPr>
            <p:cNvPr name="TextBox 7" id="7"/>
            <p:cNvSpPr txBox="true"/>
            <p:nvPr/>
          </p:nvSpPr>
          <p:spPr>
            <a:xfrm>
              <a:off x="0" y="-47625"/>
              <a:ext cx="2159763" cy="2093957"/>
            </a:xfrm>
            <a:prstGeom prst="rect">
              <a:avLst/>
            </a:prstGeom>
          </p:spPr>
          <p:txBody>
            <a:bodyPr anchor="ctr" rtlCol="false" tIns="50800" lIns="50800" bIns="50800" rIns="50800"/>
            <a:lstStyle/>
            <a:p>
              <a:pPr algn="ctr">
                <a:lnSpc>
                  <a:spcPts val="3560"/>
                </a:lnSpc>
              </a:pPr>
            </a:p>
          </p:txBody>
        </p:sp>
      </p:grpSp>
      <p:sp>
        <p:nvSpPr>
          <p:cNvPr name="TextBox 8" id="8"/>
          <p:cNvSpPr txBox="true"/>
          <p:nvPr/>
        </p:nvSpPr>
        <p:spPr>
          <a:xfrm rot="0">
            <a:off x="10936338" y="1889409"/>
            <a:ext cx="7351662" cy="3781297"/>
          </a:xfrm>
          <a:prstGeom prst="rect">
            <a:avLst/>
          </a:prstGeom>
        </p:spPr>
        <p:txBody>
          <a:bodyPr anchor="t" rtlCol="false" tIns="0" lIns="0" bIns="0" rIns="0">
            <a:spAutoFit/>
          </a:bodyPr>
          <a:lstStyle/>
          <a:p>
            <a:pPr algn="l" marL="0" indent="0" lvl="0">
              <a:lnSpc>
                <a:spcPts val="9843"/>
              </a:lnSpc>
              <a:spcBef>
                <a:spcPct val="0"/>
              </a:spcBef>
            </a:pPr>
            <a:r>
              <a:rPr lang="en-US" b="true" sz="7031">
                <a:solidFill>
                  <a:srgbClr val="191919"/>
                </a:solidFill>
                <a:latin typeface="Poppins Bold"/>
                <a:ea typeface="Poppins Bold"/>
                <a:cs typeface="Poppins Bold"/>
                <a:sym typeface="Poppins Bold"/>
              </a:rPr>
              <a:t>Major Environmental Threats</a:t>
            </a:r>
          </a:p>
        </p:txBody>
      </p:sp>
      <p:sp>
        <p:nvSpPr>
          <p:cNvPr name="TextBox 9" id="9"/>
          <p:cNvSpPr txBox="true"/>
          <p:nvPr/>
        </p:nvSpPr>
        <p:spPr>
          <a:xfrm rot="0">
            <a:off x="736376" y="353684"/>
            <a:ext cx="8407624" cy="7939405"/>
          </a:xfrm>
          <a:prstGeom prst="rect">
            <a:avLst/>
          </a:prstGeom>
        </p:spPr>
        <p:txBody>
          <a:bodyPr anchor="t" rtlCol="false" tIns="0" lIns="0" bIns="0" rIns="0">
            <a:spAutoFit/>
          </a:bodyPr>
          <a:lstStyle/>
          <a:p>
            <a:pPr algn="l">
              <a:lnSpc>
                <a:spcPts val="3919"/>
              </a:lnSpc>
            </a:pPr>
            <a:r>
              <a:rPr lang="en-US" sz="2799">
                <a:solidFill>
                  <a:srgbClr val="000000"/>
                </a:solidFill>
                <a:latin typeface="Poppins"/>
                <a:ea typeface="Poppins"/>
                <a:cs typeface="Poppins"/>
                <a:sym typeface="Poppins"/>
              </a:rPr>
              <a:t>Environmental threats come from nature or the conditions around the building. We cannot always stop these from happening, but we must be ready for them.</a:t>
            </a:r>
          </a:p>
          <a:p>
            <a:pPr algn="l" marL="604519" indent="-302260" lvl="1">
              <a:lnSpc>
                <a:spcPts val="3919"/>
              </a:lnSpc>
              <a:buFont typeface="Arial"/>
              <a:buChar char="•"/>
            </a:pPr>
            <a:r>
              <a:rPr lang="en-US" sz="2799">
                <a:solidFill>
                  <a:srgbClr val="000000"/>
                </a:solidFill>
                <a:latin typeface="Poppins"/>
                <a:ea typeface="Poppins"/>
                <a:cs typeface="Poppins"/>
                <a:sym typeface="Poppins"/>
              </a:rPr>
              <a:t>Extreme Weather: Typhoons, earthquakes, and heavy storms that can destroy buildings.</a:t>
            </a:r>
          </a:p>
          <a:p>
            <a:pPr algn="l" marL="604519" indent="-302260" lvl="1">
              <a:lnSpc>
                <a:spcPts val="3919"/>
              </a:lnSpc>
              <a:buFont typeface="Arial"/>
              <a:buChar char="•"/>
            </a:pPr>
            <a:r>
              <a:rPr lang="en-US" sz="2799">
                <a:solidFill>
                  <a:srgbClr val="000000"/>
                </a:solidFill>
                <a:latin typeface="Poppins"/>
                <a:ea typeface="Poppins"/>
                <a:cs typeface="Poppins"/>
                <a:sym typeface="Poppins"/>
              </a:rPr>
              <a:t>Fir</a:t>
            </a:r>
            <a:r>
              <a:rPr lang="en-US" sz="2799">
                <a:solidFill>
                  <a:srgbClr val="000000"/>
                </a:solidFill>
                <a:latin typeface="Poppins"/>
                <a:ea typeface="Poppins"/>
                <a:cs typeface="Poppins"/>
                <a:sym typeface="Poppins"/>
              </a:rPr>
              <a:t>e and Smoke: Fires can melt hardware, and even the smoke can ruin sensitive computer parts.</a:t>
            </a:r>
          </a:p>
          <a:p>
            <a:pPr algn="l" marL="604519" indent="-302260" lvl="1">
              <a:lnSpc>
                <a:spcPts val="3919"/>
              </a:lnSpc>
              <a:buFont typeface="Arial"/>
              <a:buChar char="•"/>
            </a:pPr>
            <a:r>
              <a:rPr lang="en-US" sz="2799">
                <a:solidFill>
                  <a:srgbClr val="000000"/>
                </a:solidFill>
                <a:latin typeface="Poppins"/>
                <a:ea typeface="Poppins"/>
                <a:cs typeface="Poppins"/>
                <a:sym typeface="Poppins"/>
              </a:rPr>
              <a:t>W</a:t>
            </a:r>
            <a:r>
              <a:rPr lang="en-US" sz="2799">
                <a:solidFill>
                  <a:srgbClr val="000000"/>
                </a:solidFill>
                <a:latin typeface="Poppins"/>
                <a:ea typeface="Poppins"/>
                <a:cs typeface="Poppins"/>
                <a:sym typeface="Poppins"/>
              </a:rPr>
              <a:t>ater Damage: Floods, leaking roofs, or broken pipes near server racks.</a:t>
            </a:r>
          </a:p>
          <a:p>
            <a:pPr algn="l" marL="604519" indent="-302260" lvl="1">
              <a:lnSpc>
                <a:spcPts val="3919"/>
              </a:lnSpc>
              <a:spcBef>
                <a:spcPct val="0"/>
              </a:spcBef>
              <a:buFont typeface="Arial"/>
              <a:buChar char="•"/>
            </a:pPr>
            <a:r>
              <a:rPr lang="en-US" sz="2799">
                <a:solidFill>
                  <a:srgbClr val="000000"/>
                </a:solidFill>
                <a:latin typeface="Poppins"/>
                <a:ea typeface="Poppins"/>
                <a:cs typeface="Poppins"/>
                <a:sym typeface="Poppins"/>
              </a:rPr>
              <a:t>Pow</a:t>
            </a:r>
            <a:r>
              <a:rPr lang="en-US" sz="2799">
                <a:solidFill>
                  <a:srgbClr val="000000"/>
                </a:solidFill>
                <a:latin typeface="Poppins"/>
                <a:ea typeface="Poppins"/>
                <a:cs typeface="Poppins"/>
                <a:sym typeface="Poppins"/>
              </a:rPr>
              <a:t>er Issues: Sudden blackouts, power surges, or brownouts that can fry motherboards.</a:t>
            </a:r>
          </a:p>
          <a:p>
            <a:pPr algn="l" marL="0" indent="0" lvl="0">
              <a:lnSpc>
                <a:spcPts val="3919"/>
              </a:lnSpc>
              <a:spcBef>
                <a:spcPct val="0"/>
              </a:spcBef>
            </a:pP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444136" y="3702669"/>
            <a:ext cx="17349240" cy="8008872"/>
            <a:chOff x="0" y="0"/>
            <a:chExt cx="4569347" cy="2109332"/>
          </a:xfrm>
        </p:grpSpPr>
        <p:sp>
          <p:nvSpPr>
            <p:cNvPr name="Freeform 3" id="3"/>
            <p:cNvSpPr/>
            <p:nvPr/>
          </p:nvSpPr>
          <p:spPr>
            <a:xfrm flipH="false" flipV="false" rot="0">
              <a:off x="0" y="0"/>
              <a:ext cx="4569347" cy="2109332"/>
            </a:xfrm>
            <a:custGeom>
              <a:avLst/>
              <a:gdLst/>
              <a:ahLst/>
              <a:cxnLst/>
              <a:rect r="r" b="b" t="t" l="l"/>
              <a:pathLst>
                <a:path h="2109332" w="4569347">
                  <a:moveTo>
                    <a:pt x="0" y="0"/>
                  </a:moveTo>
                  <a:lnTo>
                    <a:pt x="4569347" y="0"/>
                  </a:lnTo>
                  <a:lnTo>
                    <a:pt x="4569347" y="2109332"/>
                  </a:lnTo>
                  <a:lnTo>
                    <a:pt x="0" y="2109332"/>
                  </a:lnTo>
                  <a:close/>
                </a:path>
              </a:pathLst>
            </a:custGeom>
            <a:solidFill>
              <a:srgbClr val="FFD076"/>
            </a:solidFill>
          </p:spPr>
        </p:sp>
        <p:sp>
          <p:nvSpPr>
            <p:cNvPr name="TextBox 4" id="4"/>
            <p:cNvSpPr txBox="true"/>
            <p:nvPr/>
          </p:nvSpPr>
          <p:spPr>
            <a:xfrm>
              <a:off x="0" y="-47625"/>
              <a:ext cx="4569347" cy="2156957"/>
            </a:xfrm>
            <a:prstGeom prst="rect">
              <a:avLst/>
            </a:prstGeom>
          </p:spPr>
          <p:txBody>
            <a:bodyPr anchor="ctr" rtlCol="false" tIns="50800" lIns="50800" bIns="50800" rIns="50800"/>
            <a:lstStyle/>
            <a:p>
              <a:pPr algn="ctr">
                <a:lnSpc>
                  <a:spcPts val="3560"/>
                </a:lnSpc>
              </a:pPr>
            </a:p>
          </p:txBody>
        </p:sp>
      </p:grpSp>
      <p:sp>
        <p:nvSpPr>
          <p:cNvPr name="Freeform 5" id="5"/>
          <p:cNvSpPr/>
          <p:nvPr/>
        </p:nvSpPr>
        <p:spPr>
          <a:xfrm flipH="false" flipV="false" rot="0">
            <a:off x="-224578" y="9187447"/>
            <a:ext cx="2017463" cy="2030152"/>
          </a:xfrm>
          <a:custGeom>
            <a:avLst/>
            <a:gdLst/>
            <a:ahLst/>
            <a:cxnLst/>
            <a:rect r="r" b="b" t="t" l="l"/>
            <a:pathLst>
              <a:path h="2030152" w="2017463">
                <a:moveTo>
                  <a:pt x="0" y="0"/>
                </a:moveTo>
                <a:lnTo>
                  <a:pt x="2017464" y="0"/>
                </a:lnTo>
                <a:lnTo>
                  <a:pt x="2017464"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412353" y="408209"/>
            <a:ext cx="1233226" cy="1240983"/>
          </a:xfrm>
          <a:custGeom>
            <a:avLst/>
            <a:gdLst/>
            <a:ahLst/>
            <a:cxnLst/>
            <a:rect r="r" b="b" t="t" l="l"/>
            <a:pathLst>
              <a:path h="1240983" w="1233226">
                <a:moveTo>
                  <a:pt x="0" y="0"/>
                </a:moveTo>
                <a:lnTo>
                  <a:pt x="1233226" y="0"/>
                </a:lnTo>
                <a:lnTo>
                  <a:pt x="1233226" y="1240982"/>
                </a:lnTo>
                <a:lnTo>
                  <a:pt x="0" y="12409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3552412" y="-209550"/>
            <a:ext cx="11132688" cy="3774281"/>
          </a:xfrm>
          <a:prstGeom prst="rect">
            <a:avLst/>
          </a:prstGeom>
        </p:spPr>
        <p:txBody>
          <a:bodyPr anchor="t" rtlCol="false" tIns="0" lIns="0" bIns="0" rIns="0">
            <a:spAutoFit/>
          </a:bodyPr>
          <a:lstStyle/>
          <a:p>
            <a:pPr algn="ctr">
              <a:lnSpc>
                <a:spcPts val="9843"/>
              </a:lnSpc>
            </a:pPr>
            <a:r>
              <a:rPr lang="en-US" sz="7031" b="true">
                <a:solidFill>
                  <a:srgbClr val="191919"/>
                </a:solidFill>
                <a:latin typeface="Poppins Bold"/>
                <a:ea typeface="Poppins Bold"/>
                <a:cs typeface="Poppins Bold"/>
                <a:sym typeface="Poppins Bold"/>
              </a:rPr>
              <a:t>Natural </a:t>
            </a:r>
          </a:p>
          <a:p>
            <a:pPr algn="ctr">
              <a:lnSpc>
                <a:spcPts val="9843"/>
              </a:lnSpc>
            </a:pPr>
            <a:r>
              <a:rPr lang="en-US" sz="7031" b="true">
                <a:solidFill>
                  <a:srgbClr val="191919"/>
                </a:solidFill>
                <a:latin typeface="Poppins Bold"/>
                <a:ea typeface="Poppins Bold"/>
                <a:cs typeface="Poppins Bold"/>
                <a:sym typeface="Poppins Bold"/>
              </a:rPr>
              <a:t>vs. </a:t>
            </a:r>
          </a:p>
          <a:p>
            <a:pPr algn="ctr" marL="0" indent="0" lvl="0">
              <a:lnSpc>
                <a:spcPts val="9843"/>
              </a:lnSpc>
              <a:spcBef>
                <a:spcPct val="0"/>
              </a:spcBef>
            </a:pPr>
            <a:r>
              <a:rPr lang="en-US" b="true" sz="7031">
                <a:solidFill>
                  <a:srgbClr val="191919"/>
                </a:solidFill>
                <a:latin typeface="Poppins Bold"/>
                <a:ea typeface="Poppins Bold"/>
                <a:cs typeface="Poppins Bold"/>
                <a:sym typeface="Poppins Bold"/>
              </a:rPr>
              <a:t>Human-Made Threats</a:t>
            </a:r>
          </a:p>
        </p:txBody>
      </p:sp>
      <p:graphicFrame>
        <p:nvGraphicFramePr>
          <p:cNvPr name="Table 8" id="8"/>
          <p:cNvGraphicFramePr>
            <a:graphicFrameLocks noGrp="true"/>
          </p:cNvGraphicFramePr>
          <p:nvPr/>
        </p:nvGraphicFramePr>
        <p:xfrm>
          <a:off x="1824899" y="3876675"/>
          <a:ext cx="14587714" cy="6410325"/>
        </p:xfrm>
        <a:graphic>
          <a:graphicData uri="http://schemas.openxmlformats.org/drawingml/2006/table">
            <a:tbl>
              <a:tblPr/>
              <a:tblGrid>
                <a:gridCol w="4293363"/>
                <a:gridCol w="4856879"/>
                <a:gridCol w="5437472"/>
              </a:tblGrid>
              <a:tr h="1082760">
                <a:tc>
                  <a:txBody>
                    <a:bodyPr anchor="t" rtlCol="false"/>
                    <a:lstStyle/>
                    <a:p>
                      <a:pPr algn="ctr">
                        <a:lnSpc>
                          <a:spcPts val="4200"/>
                        </a:lnSpc>
                        <a:defRPr/>
                      </a:pPr>
                      <a:r>
                        <a:rPr lang="en-US" sz="3000" b="true">
                          <a:solidFill>
                            <a:srgbClr val="000000"/>
                          </a:solidFill>
                          <a:latin typeface="Inter Bold"/>
                          <a:ea typeface="Inter Bold"/>
                          <a:cs typeface="Inter Bold"/>
                          <a:sym typeface="Inter Bold"/>
                        </a:rPr>
                        <a:t>Threat Category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Inter Bold"/>
                          <a:ea typeface="Inter Bold"/>
                          <a:cs typeface="Inter Bold"/>
                          <a:sym typeface="Inter Bold"/>
                        </a:rPr>
                        <a:t>Examples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b="true">
                          <a:solidFill>
                            <a:srgbClr val="000000"/>
                          </a:solidFill>
                          <a:latin typeface="Inter Bold"/>
                          <a:ea typeface="Inter Bold"/>
                          <a:cs typeface="Inter Bold"/>
                          <a:sym typeface="Inter Bold"/>
                        </a:rPr>
                        <a:t>Predictability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600186">
                <a:tc>
                  <a:txBody>
                    <a:bodyPr anchor="t" rtlCol="false"/>
                    <a:lstStyle/>
                    <a:p>
                      <a:pPr algn="ctr">
                        <a:lnSpc>
                          <a:spcPts val="4199"/>
                        </a:lnSpc>
                        <a:defRPr/>
                      </a:pPr>
                      <a:r>
                        <a:rPr lang="en-US" sz="2999">
                          <a:solidFill>
                            <a:srgbClr val="000000"/>
                          </a:solidFill>
                          <a:latin typeface="Inter"/>
                          <a:ea typeface="Inter"/>
                          <a:cs typeface="Inter"/>
                          <a:sym typeface="Inter"/>
                        </a:rPr>
                        <a:t>Natural Threats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Inter"/>
                          <a:ea typeface="Inter"/>
                          <a:cs typeface="Inter"/>
                          <a:sym typeface="Inter"/>
                        </a:rPr>
                        <a:t>Earthquakes, floods, lightning strikes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Inter"/>
                          <a:ea typeface="Inter"/>
                          <a:cs typeface="Inter"/>
                          <a:sym typeface="Inter"/>
                        </a:rPr>
                        <a:t>Very hard to predict; requires heavy preparation.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600186">
                <a:tc>
                  <a:txBody>
                    <a:bodyPr anchor="t" rtlCol="false"/>
                    <a:lstStyle/>
                    <a:p>
                      <a:pPr algn="ctr">
                        <a:lnSpc>
                          <a:spcPts val="4199"/>
                        </a:lnSpc>
                        <a:defRPr/>
                      </a:pPr>
                      <a:r>
                        <a:rPr lang="en-US" sz="2999">
                          <a:solidFill>
                            <a:srgbClr val="000000"/>
                          </a:solidFill>
                          <a:latin typeface="Inter"/>
                          <a:ea typeface="Inter"/>
                          <a:cs typeface="Inter"/>
                          <a:sym typeface="Inter"/>
                        </a:rPr>
                        <a:t>Human-Made</a:t>
                      </a:r>
                      <a:endParaRPr lang="en-US" sz="1100"/>
                    </a:p>
                    <a:p>
                      <a:pPr algn="ctr">
                        <a:lnSpc>
                          <a:spcPts val="4199"/>
                        </a:lnSpc>
                      </a:pPr>
                      <a:r>
                        <a:rPr lang="en-US" sz="2999">
                          <a:solidFill>
                            <a:srgbClr val="000000"/>
                          </a:solidFill>
                          <a:latin typeface="Inter"/>
                          <a:ea typeface="Inter"/>
                          <a:cs typeface="Inter"/>
                          <a:sym typeface="Inter"/>
                        </a:rPr>
                        <a:t>(Intentional)</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Inter"/>
                          <a:ea typeface="Inter"/>
                          <a:cs typeface="Inter"/>
                          <a:sym typeface="Inter"/>
                        </a:rPr>
                        <a:t>Theft, hacking, vandalism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Inter"/>
                          <a:ea typeface="Inter"/>
                          <a:cs typeface="Inter"/>
                          <a:sym typeface="Inter"/>
                        </a:rPr>
                        <a:t>Can be stopped with strict security rules and guards.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127193">
                <a:tc>
                  <a:txBody>
                    <a:bodyPr anchor="t" rtlCol="false"/>
                    <a:lstStyle/>
                    <a:p>
                      <a:pPr algn="ctr">
                        <a:lnSpc>
                          <a:spcPts val="4199"/>
                        </a:lnSpc>
                        <a:defRPr/>
                      </a:pPr>
                      <a:r>
                        <a:rPr lang="en-US" sz="2999">
                          <a:solidFill>
                            <a:srgbClr val="000000"/>
                          </a:solidFill>
                          <a:latin typeface="Inter"/>
                          <a:ea typeface="Inter"/>
                          <a:cs typeface="Inter"/>
                          <a:sym typeface="Inter"/>
                        </a:rPr>
                        <a:t>H</a:t>
                      </a:r>
                      <a:r>
                        <a:rPr lang="en-US" sz="2999">
                          <a:solidFill>
                            <a:srgbClr val="000000"/>
                          </a:solidFill>
                          <a:latin typeface="Inter"/>
                          <a:ea typeface="Inter"/>
                          <a:cs typeface="Inter"/>
                          <a:sym typeface="Inter"/>
                        </a:rPr>
                        <a:t>uman-Made</a:t>
                      </a:r>
                      <a:endParaRPr lang="en-US" sz="1100"/>
                    </a:p>
                    <a:p>
                      <a:pPr algn="ctr">
                        <a:lnSpc>
                          <a:spcPts val="4199"/>
                        </a:lnSpc>
                      </a:pPr>
                      <a:r>
                        <a:rPr lang="en-US" sz="2999">
                          <a:solidFill>
                            <a:srgbClr val="000000"/>
                          </a:solidFill>
                          <a:latin typeface="Inter"/>
                          <a:ea typeface="Inter"/>
                          <a:cs typeface="Inter"/>
                          <a:sym typeface="Inter"/>
                        </a:rPr>
                        <a:t>(Accidental)</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Inter"/>
                          <a:ea typeface="Inter"/>
                          <a:cs typeface="Inter"/>
                          <a:sym typeface="Inter"/>
                        </a:rPr>
                        <a:t>Spilled drinks, unplugging wires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Inter"/>
                          <a:ea typeface="Inter"/>
                          <a:cs typeface="Inter"/>
                          <a:sym typeface="Inter"/>
                        </a:rPr>
                        <a:t>Managed by proper training and restricted access.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9" id="9"/>
          <p:cNvSpPr/>
          <p:nvPr/>
        </p:nvSpPr>
        <p:spPr>
          <a:xfrm flipH="false" flipV="false" rot="0">
            <a:off x="11113340" y="0"/>
            <a:ext cx="2103901" cy="2646417"/>
          </a:xfrm>
          <a:custGeom>
            <a:avLst/>
            <a:gdLst/>
            <a:ahLst/>
            <a:cxnLst/>
            <a:rect r="r" b="b" t="t" l="l"/>
            <a:pathLst>
              <a:path h="2646417" w="2103901">
                <a:moveTo>
                  <a:pt x="0" y="0"/>
                </a:moveTo>
                <a:lnTo>
                  <a:pt x="2103901" y="0"/>
                </a:lnTo>
                <a:lnTo>
                  <a:pt x="2103901" y="2646417"/>
                </a:lnTo>
                <a:lnTo>
                  <a:pt x="0" y="26464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4400842" y="0"/>
            <a:ext cx="2289150" cy="2646417"/>
          </a:xfrm>
          <a:custGeom>
            <a:avLst/>
            <a:gdLst/>
            <a:ahLst/>
            <a:cxnLst/>
            <a:rect r="r" b="b" t="t" l="l"/>
            <a:pathLst>
              <a:path h="2646417" w="2289150">
                <a:moveTo>
                  <a:pt x="0" y="0"/>
                </a:moveTo>
                <a:lnTo>
                  <a:pt x="2289150" y="0"/>
                </a:lnTo>
                <a:lnTo>
                  <a:pt x="2289150" y="2646417"/>
                </a:lnTo>
                <a:lnTo>
                  <a:pt x="0" y="26464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620250"/>
            <a:ext cx="18288000" cy="666750"/>
            <a:chOff x="0" y="0"/>
            <a:chExt cx="4816593" cy="175605"/>
          </a:xfrm>
        </p:grpSpPr>
        <p:sp>
          <p:nvSpPr>
            <p:cNvPr name="Freeform 3" id="3"/>
            <p:cNvSpPr/>
            <p:nvPr/>
          </p:nvSpPr>
          <p:spPr>
            <a:xfrm flipH="false" flipV="false" rot="0">
              <a:off x="0" y="0"/>
              <a:ext cx="4816592" cy="175605"/>
            </a:xfrm>
            <a:custGeom>
              <a:avLst/>
              <a:gdLst/>
              <a:ahLst/>
              <a:cxnLst/>
              <a:rect r="r" b="b" t="t" l="l"/>
              <a:pathLst>
                <a:path h="175605" w="4816592">
                  <a:moveTo>
                    <a:pt x="0" y="0"/>
                  </a:moveTo>
                  <a:lnTo>
                    <a:pt x="4816592" y="0"/>
                  </a:lnTo>
                  <a:lnTo>
                    <a:pt x="4816592" y="175605"/>
                  </a:lnTo>
                  <a:lnTo>
                    <a:pt x="0" y="175605"/>
                  </a:lnTo>
                  <a:close/>
                </a:path>
              </a:pathLst>
            </a:custGeom>
            <a:solidFill>
              <a:srgbClr val="FFD076"/>
            </a:solidFill>
          </p:spPr>
        </p:sp>
        <p:sp>
          <p:nvSpPr>
            <p:cNvPr name="TextBox 4" id="4"/>
            <p:cNvSpPr txBox="true"/>
            <p:nvPr/>
          </p:nvSpPr>
          <p:spPr>
            <a:xfrm>
              <a:off x="0" y="-47625"/>
              <a:ext cx="4816593" cy="223230"/>
            </a:xfrm>
            <a:prstGeom prst="rect">
              <a:avLst/>
            </a:prstGeom>
          </p:spPr>
          <p:txBody>
            <a:bodyPr anchor="ctr" rtlCol="false" tIns="50800" lIns="50800" bIns="50800" rIns="50800"/>
            <a:lstStyle/>
            <a:p>
              <a:pPr algn="ctr">
                <a:lnSpc>
                  <a:spcPts val="3560"/>
                </a:lnSpc>
              </a:pPr>
            </a:p>
          </p:txBody>
        </p:sp>
      </p:grpSp>
      <p:sp>
        <p:nvSpPr>
          <p:cNvPr name="TextBox 5" id="5"/>
          <p:cNvSpPr txBox="true"/>
          <p:nvPr/>
        </p:nvSpPr>
        <p:spPr>
          <a:xfrm rot="0">
            <a:off x="1703925" y="2035070"/>
            <a:ext cx="12020608" cy="7918555"/>
          </a:xfrm>
          <a:prstGeom prst="rect">
            <a:avLst/>
          </a:prstGeom>
        </p:spPr>
        <p:txBody>
          <a:bodyPr anchor="t" rtlCol="false" tIns="0" lIns="0" bIns="0" rIns="0">
            <a:spAutoFit/>
          </a:bodyPr>
          <a:lstStyle/>
          <a:p>
            <a:pPr algn="l">
              <a:lnSpc>
                <a:spcPts val="3774"/>
              </a:lnSpc>
            </a:pPr>
            <a:r>
              <a:rPr lang="en-US" sz="2695" b="true">
                <a:solidFill>
                  <a:srgbClr val="FF2828"/>
                </a:solidFill>
                <a:latin typeface="Poppins Bold"/>
                <a:ea typeface="Poppins Bold"/>
                <a:cs typeface="Poppins Bold"/>
                <a:sym typeface="Poppins Bold"/>
              </a:rPr>
              <a:t>Loss of Important Data </a:t>
            </a:r>
          </a:p>
          <a:p>
            <a:pPr algn="l">
              <a:lnSpc>
                <a:spcPts val="3214"/>
              </a:lnSpc>
            </a:pPr>
            <a:r>
              <a:rPr lang="en-US" sz="2295">
                <a:solidFill>
                  <a:srgbClr val="000000"/>
                </a:solidFill>
                <a:latin typeface="Poppins"/>
                <a:ea typeface="Poppins"/>
                <a:cs typeface="Poppins"/>
                <a:sym typeface="Poppins"/>
              </a:rPr>
              <a:t>If a server is destroyed or stolen without backups, critical information like school records, research datasets, or company files could be lost forever.</a:t>
            </a:r>
          </a:p>
          <a:p>
            <a:pPr algn="l">
              <a:lnSpc>
                <a:spcPts val="3214"/>
              </a:lnSpc>
            </a:pPr>
          </a:p>
          <a:p>
            <a:pPr algn="l">
              <a:lnSpc>
                <a:spcPts val="3774"/>
              </a:lnSpc>
            </a:pPr>
            <a:r>
              <a:rPr lang="en-US" sz="2695" b="true">
                <a:solidFill>
                  <a:srgbClr val="FF2828"/>
                </a:solidFill>
                <a:latin typeface="Poppins Bold"/>
                <a:ea typeface="Poppins Bold"/>
                <a:cs typeface="Poppins Bold"/>
                <a:sym typeface="Poppins Bold"/>
              </a:rPr>
              <a:t>System Downtime and Service Failures </a:t>
            </a:r>
          </a:p>
          <a:p>
            <a:pPr algn="l">
              <a:lnSpc>
                <a:spcPts val="3214"/>
              </a:lnSpc>
            </a:pPr>
            <a:r>
              <a:rPr lang="en-US" sz="2295">
                <a:solidFill>
                  <a:srgbClr val="000000"/>
                </a:solidFill>
                <a:latin typeface="Poppins"/>
                <a:ea typeface="Poppins"/>
                <a:cs typeface="Poppins"/>
                <a:sym typeface="Poppins"/>
              </a:rPr>
              <a:t>Damaged hardware stops operations completely, causing businesses to lose money and preventing essential places like hospitals or government offices from providing emergency services.</a:t>
            </a:r>
          </a:p>
          <a:p>
            <a:pPr algn="l">
              <a:lnSpc>
                <a:spcPts val="3214"/>
              </a:lnSpc>
            </a:pPr>
          </a:p>
          <a:p>
            <a:pPr algn="l">
              <a:lnSpc>
                <a:spcPts val="3774"/>
              </a:lnSpc>
            </a:pPr>
            <a:r>
              <a:rPr lang="en-US" sz="2695" b="true">
                <a:solidFill>
                  <a:srgbClr val="FF2828"/>
                </a:solidFill>
                <a:latin typeface="Poppins Bold"/>
                <a:ea typeface="Poppins Bold"/>
                <a:cs typeface="Poppins Bold"/>
                <a:sym typeface="Poppins Bold"/>
              </a:rPr>
              <a:t>Academic and Research Setbacks</a:t>
            </a:r>
          </a:p>
          <a:p>
            <a:pPr algn="l">
              <a:lnSpc>
                <a:spcPts val="3214"/>
              </a:lnSpc>
            </a:pPr>
            <a:r>
              <a:rPr lang="en-US" sz="2295">
                <a:solidFill>
                  <a:srgbClr val="000000"/>
                </a:solidFill>
                <a:latin typeface="Poppins"/>
                <a:ea typeface="Poppins"/>
                <a:cs typeface="Poppins"/>
                <a:sym typeface="Poppins"/>
              </a:rPr>
              <a:t> A sudden power outage or stolen laptop can ruin heavy data processing, forcing students and developers to restart months of hard work on their capstone projects.</a:t>
            </a:r>
          </a:p>
          <a:p>
            <a:pPr algn="l">
              <a:lnSpc>
                <a:spcPts val="3214"/>
              </a:lnSpc>
            </a:pPr>
          </a:p>
          <a:p>
            <a:pPr algn="l">
              <a:lnSpc>
                <a:spcPts val="3774"/>
              </a:lnSpc>
            </a:pPr>
            <a:r>
              <a:rPr lang="en-US" sz="2695" b="true">
                <a:solidFill>
                  <a:srgbClr val="FF2828"/>
                </a:solidFill>
                <a:latin typeface="Poppins Bold"/>
                <a:ea typeface="Poppins Bold"/>
                <a:cs typeface="Poppins Bold"/>
                <a:sym typeface="Poppins Bold"/>
              </a:rPr>
              <a:t>Safety and Health Risks</a:t>
            </a:r>
          </a:p>
          <a:p>
            <a:pPr algn="l" marL="0" indent="0" lvl="0">
              <a:lnSpc>
                <a:spcPts val="3214"/>
              </a:lnSpc>
              <a:spcBef>
                <a:spcPct val="0"/>
              </a:spcBef>
            </a:pPr>
            <a:r>
              <a:rPr lang="en-US" sz="2295">
                <a:solidFill>
                  <a:srgbClr val="000000"/>
                </a:solidFill>
                <a:latin typeface="Poppins"/>
                <a:ea typeface="Poppins"/>
                <a:cs typeface="Poppins"/>
                <a:sym typeface="Poppins"/>
              </a:rPr>
              <a:t> Environmental threats like equipment fires or exposed electrical wires do not just damage computers; they put the actual lives of the staff inside the building in serious danger.</a:t>
            </a:r>
          </a:p>
          <a:p>
            <a:pPr algn="l" marL="0" indent="0" lvl="0">
              <a:lnSpc>
                <a:spcPts val="3214"/>
              </a:lnSpc>
              <a:spcBef>
                <a:spcPct val="0"/>
              </a:spcBef>
            </a:pPr>
          </a:p>
        </p:txBody>
      </p:sp>
      <p:sp>
        <p:nvSpPr>
          <p:cNvPr name="Freeform 6" id="6"/>
          <p:cNvSpPr/>
          <p:nvPr/>
        </p:nvSpPr>
        <p:spPr>
          <a:xfrm flipH="false" flipV="false" rot="0">
            <a:off x="16376664" y="3422803"/>
            <a:ext cx="2017463" cy="2030152"/>
          </a:xfrm>
          <a:custGeom>
            <a:avLst/>
            <a:gdLst/>
            <a:ahLst/>
            <a:cxnLst/>
            <a:rect r="r" b="b" t="t" l="l"/>
            <a:pathLst>
              <a:path h="2030152" w="2017463">
                <a:moveTo>
                  <a:pt x="0" y="0"/>
                </a:moveTo>
                <a:lnTo>
                  <a:pt x="2017463" y="0"/>
                </a:lnTo>
                <a:lnTo>
                  <a:pt x="2017463" y="2030152"/>
                </a:lnTo>
                <a:lnTo>
                  <a:pt x="0" y="2030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7330" y="7998004"/>
            <a:ext cx="1252419" cy="1260296"/>
          </a:xfrm>
          <a:custGeom>
            <a:avLst/>
            <a:gdLst/>
            <a:ahLst/>
            <a:cxnLst/>
            <a:rect r="r" b="b" t="t" l="l"/>
            <a:pathLst>
              <a:path h="1260296" w="1252419">
                <a:moveTo>
                  <a:pt x="0" y="0"/>
                </a:moveTo>
                <a:lnTo>
                  <a:pt x="1252419" y="0"/>
                </a:lnTo>
                <a:lnTo>
                  <a:pt x="1252419" y="1260296"/>
                </a:lnTo>
                <a:lnTo>
                  <a:pt x="0" y="12602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3605556" y="2472961"/>
            <a:ext cx="2801092" cy="5047013"/>
          </a:xfrm>
          <a:custGeom>
            <a:avLst/>
            <a:gdLst/>
            <a:ahLst/>
            <a:cxnLst/>
            <a:rect r="r" b="b" t="t" l="l"/>
            <a:pathLst>
              <a:path h="5047013" w="2801092">
                <a:moveTo>
                  <a:pt x="0" y="0"/>
                </a:moveTo>
                <a:lnTo>
                  <a:pt x="2801092" y="0"/>
                </a:lnTo>
                <a:lnTo>
                  <a:pt x="2801092" y="5047013"/>
                </a:lnTo>
                <a:lnTo>
                  <a:pt x="0" y="50470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28383" y="-272319"/>
            <a:ext cx="16756442" cy="2383589"/>
          </a:xfrm>
          <a:prstGeom prst="rect">
            <a:avLst/>
          </a:prstGeom>
        </p:spPr>
        <p:txBody>
          <a:bodyPr anchor="t" rtlCol="false" tIns="0" lIns="0" bIns="0" rIns="0">
            <a:spAutoFit/>
          </a:bodyPr>
          <a:lstStyle/>
          <a:p>
            <a:pPr algn="ctr" marL="0" indent="0" lvl="0">
              <a:lnSpc>
                <a:spcPts val="9321"/>
              </a:lnSpc>
              <a:spcBef>
                <a:spcPct val="0"/>
              </a:spcBef>
            </a:pPr>
            <a:r>
              <a:rPr lang="en-US" b="true" sz="6657">
                <a:solidFill>
                  <a:srgbClr val="8B5F0B"/>
                </a:solidFill>
                <a:latin typeface="Poppins Bold"/>
                <a:ea typeface="Poppins Bold"/>
                <a:cs typeface="Poppins Bold"/>
                <a:sym typeface="Poppins Bold"/>
              </a:rPr>
              <a:t>IMPACT OF PHYSICAL &amp; ENVIRONMENTAL THREATS</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0"/>
            <a:ext cx="1714682" cy="10287000"/>
            <a:chOff x="0" y="0"/>
            <a:chExt cx="451603" cy="2709333"/>
          </a:xfrm>
        </p:grpSpPr>
        <p:sp>
          <p:nvSpPr>
            <p:cNvPr name="Freeform 3" id="3"/>
            <p:cNvSpPr/>
            <p:nvPr/>
          </p:nvSpPr>
          <p:spPr>
            <a:xfrm flipH="false" flipV="false" rot="0">
              <a:off x="0" y="0"/>
              <a:ext cx="451603" cy="2709333"/>
            </a:xfrm>
            <a:custGeom>
              <a:avLst/>
              <a:gdLst/>
              <a:ahLst/>
              <a:cxnLst/>
              <a:rect r="r" b="b" t="t" l="l"/>
              <a:pathLst>
                <a:path h="2709333" w="451603">
                  <a:moveTo>
                    <a:pt x="0" y="0"/>
                  </a:moveTo>
                  <a:lnTo>
                    <a:pt x="451603" y="0"/>
                  </a:lnTo>
                  <a:lnTo>
                    <a:pt x="451603" y="2709333"/>
                  </a:lnTo>
                  <a:lnTo>
                    <a:pt x="0" y="2709333"/>
                  </a:lnTo>
                  <a:close/>
                </a:path>
              </a:pathLst>
            </a:custGeom>
            <a:solidFill>
              <a:srgbClr val="FFD076"/>
            </a:solidFill>
          </p:spPr>
        </p:sp>
        <p:sp>
          <p:nvSpPr>
            <p:cNvPr name="TextBox 4" id="4"/>
            <p:cNvSpPr txBox="true"/>
            <p:nvPr/>
          </p:nvSpPr>
          <p:spPr>
            <a:xfrm>
              <a:off x="0" y="-47625"/>
              <a:ext cx="451603" cy="2756958"/>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6660825" y="8744089"/>
            <a:ext cx="1831555" cy="2394494"/>
            <a:chOff x="0" y="0"/>
            <a:chExt cx="482385" cy="630649"/>
          </a:xfrm>
        </p:grpSpPr>
        <p:sp>
          <p:nvSpPr>
            <p:cNvPr name="Freeform 6" id="6"/>
            <p:cNvSpPr/>
            <p:nvPr/>
          </p:nvSpPr>
          <p:spPr>
            <a:xfrm flipH="false" flipV="false" rot="0">
              <a:off x="0" y="0"/>
              <a:ext cx="482385" cy="630649"/>
            </a:xfrm>
            <a:custGeom>
              <a:avLst/>
              <a:gdLst/>
              <a:ahLst/>
              <a:cxnLst/>
              <a:rect r="r" b="b" t="t" l="l"/>
              <a:pathLst>
                <a:path h="630649" w="482385">
                  <a:moveTo>
                    <a:pt x="0" y="0"/>
                  </a:moveTo>
                  <a:lnTo>
                    <a:pt x="482385" y="0"/>
                  </a:lnTo>
                  <a:lnTo>
                    <a:pt x="482385" y="630649"/>
                  </a:lnTo>
                  <a:lnTo>
                    <a:pt x="0" y="630649"/>
                  </a:lnTo>
                  <a:close/>
                </a:path>
              </a:pathLst>
            </a:custGeom>
            <a:solidFill>
              <a:srgbClr val="FFD076"/>
            </a:solidFill>
          </p:spPr>
        </p:sp>
        <p:sp>
          <p:nvSpPr>
            <p:cNvPr name="TextBox 7" id="7"/>
            <p:cNvSpPr txBox="true"/>
            <p:nvPr/>
          </p:nvSpPr>
          <p:spPr>
            <a:xfrm>
              <a:off x="0" y="-47625"/>
              <a:ext cx="482385" cy="678274"/>
            </a:xfrm>
            <a:prstGeom prst="rect">
              <a:avLst/>
            </a:prstGeom>
          </p:spPr>
          <p:txBody>
            <a:bodyPr anchor="ctr" rtlCol="false" tIns="50800" lIns="50800" bIns="50800" rIns="50800"/>
            <a:lstStyle/>
            <a:p>
              <a:pPr algn="ctr">
                <a:lnSpc>
                  <a:spcPts val="3560"/>
                </a:lnSpc>
              </a:pPr>
            </a:p>
          </p:txBody>
        </p:sp>
      </p:grpSp>
      <p:sp>
        <p:nvSpPr>
          <p:cNvPr name="TextBox 8" id="8"/>
          <p:cNvSpPr txBox="true"/>
          <p:nvPr/>
        </p:nvSpPr>
        <p:spPr>
          <a:xfrm rot="0">
            <a:off x="7529453" y="-219075"/>
            <a:ext cx="7964263" cy="4195032"/>
          </a:xfrm>
          <a:prstGeom prst="rect">
            <a:avLst/>
          </a:prstGeom>
        </p:spPr>
        <p:txBody>
          <a:bodyPr anchor="t" rtlCol="false" tIns="0" lIns="0" bIns="0" rIns="0">
            <a:spAutoFit/>
          </a:bodyPr>
          <a:lstStyle/>
          <a:p>
            <a:pPr algn="l" marL="0" indent="0" lvl="0">
              <a:lnSpc>
                <a:spcPts val="10957"/>
              </a:lnSpc>
              <a:spcBef>
                <a:spcPct val="0"/>
              </a:spcBef>
            </a:pPr>
            <a:r>
              <a:rPr lang="en-US" b="true" sz="7826">
                <a:solidFill>
                  <a:srgbClr val="8B5F0B"/>
                </a:solidFill>
                <a:latin typeface="Poppins Bold"/>
                <a:ea typeface="Poppins Bold"/>
                <a:cs typeface="Poppins Bold"/>
                <a:sym typeface="Poppins Bold"/>
              </a:rPr>
              <a:t> Physical and Environmental Controls</a:t>
            </a:r>
          </a:p>
        </p:txBody>
      </p:sp>
      <p:grpSp>
        <p:nvGrpSpPr>
          <p:cNvPr name="Group 9" id="9"/>
          <p:cNvGrpSpPr/>
          <p:nvPr/>
        </p:nvGrpSpPr>
        <p:grpSpPr>
          <a:xfrm rot="0">
            <a:off x="894947" y="1173835"/>
            <a:ext cx="5674091" cy="8360159"/>
            <a:chOff x="0" y="0"/>
            <a:chExt cx="1494411" cy="2201852"/>
          </a:xfrm>
        </p:grpSpPr>
        <p:sp>
          <p:nvSpPr>
            <p:cNvPr name="Freeform 10" id="10"/>
            <p:cNvSpPr/>
            <p:nvPr/>
          </p:nvSpPr>
          <p:spPr>
            <a:xfrm flipH="false" flipV="false" rot="0">
              <a:off x="0" y="0"/>
              <a:ext cx="1494411" cy="2201852"/>
            </a:xfrm>
            <a:custGeom>
              <a:avLst/>
              <a:gdLst/>
              <a:ahLst/>
              <a:cxnLst/>
              <a:rect r="r" b="b" t="t" l="l"/>
              <a:pathLst>
                <a:path h="2201852" w="1494411">
                  <a:moveTo>
                    <a:pt x="76408" y="0"/>
                  </a:moveTo>
                  <a:lnTo>
                    <a:pt x="1418003" y="0"/>
                  </a:lnTo>
                  <a:cubicBezTo>
                    <a:pt x="1460202" y="0"/>
                    <a:pt x="1494411" y="34209"/>
                    <a:pt x="1494411" y="76408"/>
                  </a:cubicBezTo>
                  <a:lnTo>
                    <a:pt x="1494411" y="2125444"/>
                  </a:lnTo>
                  <a:cubicBezTo>
                    <a:pt x="1494411" y="2167643"/>
                    <a:pt x="1460202" y="2201852"/>
                    <a:pt x="1418003" y="2201852"/>
                  </a:cubicBezTo>
                  <a:lnTo>
                    <a:pt x="76408" y="2201852"/>
                  </a:lnTo>
                  <a:cubicBezTo>
                    <a:pt x="34209" y="2201852"/>
                    <a:pt x="0" y="2167643"/>
                    <a:pt x="0" y="2125444"/>
                  </a:cubicBezTo>
                  <a:lnTo>
                    <a:pt x="0" y="76408"/>
                  </a:lnTo>
                  <a:cubicBezTo>
                    <a:pt x="0" y="34209"/>
                    <a:pt x="34209" y="0"/>
                    <a:pt x="76408" y="0"/>
                  </a:cubicBezTo>
                  <a:close/>
                </a:path>
              </a:pathLst>
            </a:custGeom>
            <a:solidFill>
              <a:srgbClr val="FFFFFF"/>
            </a:solidFill>
          </p:spPr>
        </p:sp>
        <p:sp>
          <p:nvSpPr>
            <p:cNvPr name="TextBox 11" id="11"/>
            <p:cNvSpPr txBox="true"/>
            <p:nvPr/>
          </p:nvSpPr>
          <p:spPr>
            <a:xfrm>
              <a:off x="0" y="-47625"/>
              <a:ext cx="1494411" cy="2249477"/>
            </a:xfrm>
            <a:prstGeom prst="rect">
              <a:avLst/>
            </a:prstGeom>
          </p:spPr>
          <p:txBody>
            <a:bodyPr anchor="ctr" rtlCol="false" tIns="50800" lIns="50800" bIns="50800" rIns="50800"/>
            <a:lstStyle/>
            <a:p>
              <a:pPr algn="ctr">
                <a:lnSpc>
                  <a:spcPts val="3560"/>
                </a:lnSpc>
              </a:pPr>
            </a:p>
          </p:txBody>
        </p:sp>
      </p:grpSp>
      <p:sp>
        <p:nvSpPr>
          <p:cNvPr name="Freeform 12" id="12"/>
          <p:cNvSpPr/>
          <p:nvPr/>
        </p:nvSpPr>
        <p:spPr>
          <a:xfrm flipH="false" flipV="false" rot="0">
            <a:off x="16919273" y="-920557"/>
            <a:ext cx="3874149" cy="3898515"/>
          </a:xfrm>
          <a:custGeom>
            <a:avLst/>
            <a:gdLst/>
            <a:ahLst/>
            <a:cxnLst/>
            <a:rect r="r" b="b" t="t" l="l"/>
            <a:pathLst>
              <a:path h="3898515" w="3874149">
                <a:moveTo>
                  <a:pt x="0" y="0"/>
                </a:moveTo>
                <a:lnTo>
                  <a:pt x="3874149" y="0"/>
                </a:lnTo>
                <a:lnTo>
                  <a:pt x="3874149" y="3898514"/>
                </a:lnTo>
                <a:lnTo>
                  <a:pt x="0" y="38985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60088" y="2232987"/>
            <a:ext cx="4743809" cy="6241854"/>
          </a:xfrm>
          <a:custGeom>
            <a:avLst/>
            <a:gdLst/>
            <a:ahLst/>
            <a:cxnLst/>
            <a:rect r="r" b="b" t="t" l="l"/>
            <a:pathLst>
              <a:path h="6241854" w="4743809">
                <a:moveTo>
                  <a:pt x="0" y="0"/>
                </a:moveTo>
                <a:lnTo>
                  <a:pt x="4743809" y="0"/>
                </a:lnTo>
                <a:lnTo>
                  <a:pt x="4743809" y="6241854"/>
                </a:lnTo>
                <a:lnTo>
                  <a:pt x="0" y="6241854"/>
                </a:lnTo>
                <a:lnTo>
                  <a:pt x="0" y="0"/>
                </a:lnTo>
                <a:close/>
              </a:path>
            </a:pathLst>
          </a:custGeom>
          <a:blipFill>
            <a:blip r:embed="rId4"/>
            <a:stretch>
              <a:fillRect l="0" t="0" r="0" b="0"/>
            </a:stretch>
          </a:blipFill>
        </p:spPr>
      </p:sp>
      <p:sp>
        <p:nvSpPr>
          <p:cNvPr name="TextBox 14" id="14"/>
          <p:cNvSpPr txBox="true"/>
          <p:nvPr/>
        </p:nvSpPr>
        <p:spPr>
          <a:xfrm rot="0">
            <a:off x="7235768" y="4555818"/>
            <a:ext cx="10125722" cy="4631690"/>
          </a:xfrm>
          <a:prstGeom prst="rect">
            <a:avLst/>
          </a:prstGeom>
        </p:spPr>
        <p:txBody>
          <a:bodyPr anchor="t" rtlCol="false" tIns="0" lIns="0" bIns="0" rIns="0">
            <a:spAutoFit/>
          </a:bodyPr>
          <a:lstStyle/>
          <a:p>
            <a:pPr algn="l" marL="0" indent="0" lvl="0">
              <a:lnSpc>
                <a:spcPts val="4059"/>
              </a:lnSpc>
              <a:spcBef>
                <a:spcPct val="0"/>
              </a:spcBef>
            </a:pPr>
            <a:r>
              <a:rPr lang="en-US" sz="2899">
                <a:solidFill>
                  <a:srgbClr val="000000"/>
                </a:solidFill>
                <a:latin typeface="Poppins"/>
                <a:ea typeface="Poppins"/>
                <a:cs typeface="Poppins"/>
                <a:sym typeface="Poppins"/>
              </a:rPr>
              <a:t>To keep our computers safe, we need more than just software; we also need to protect them in the real world. Physical and environmental controls are the tools and rules we use to do this. Physical controls stop unauthorized people from getting near the equipment. Environmental controls protect the computers from nature, extreme heat, and power outages. The main goal of both is to keep the machines safe and running smoothly without any problems.</a:t>
            </a:r>
          </a:p>
        </p:txBody>
      </p:sp>
    </p:spTree>
  </p:cSld>
  <p:clrMapOvr>
    <a:masterClrMapping/>
  </p:clrMapOvr>
</p:sld>
</file>

<file path=ppt/slides/slide52.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9227797"/>
            <a:chOff x="0" y="0"/>
            <a:chExt cx="4816593" cy="2430366"/>
          </a:xfrm>
        </p:grpSpPr>
        <p:sp>
          <p:nvSpPr>
            <p:cNvPr name="Freeform 3" id="3"/>
            <p:cNvSpPr/>
            <p:nvPr/>
          </p:nvSpPr>
          <p:spPr>
            <a:xfrm flipH="false" flipV="false" rot="0">
              <a:off x="0" y="0"/>
              <a:ext cx="4816592" cy="2430366"/>
            </a:xfrm>
            <a:custGeom>
              <a:avLst/>
              <a:gdLst/>
              <a:ahLst/>
              <a:cxnLst/>
              <a:rect r="r" b="b" t="t" l="l"/>
              <a:pathLst>
                <a:path h="2430366" w="4816592">
                  <a:moveTo>
                    <a:pt x="0" y="0"/>
                  </a:moveTo>
                  <a:lnTo>
                    <a:pt x="4816592" y="0"/>
                  </a:lnTo>
                  <a:lnTo>
                    <a:pt x="4816592" y="2430366"/>
                  </a:lnTo>
                  <a:lnTo>
                    <a:pt x="0" y="2430366"/>
                  </a:lnTo>
                  <a:close/>
                </a:path>
              </a:pathLst>
            </a:custGeom>
            <a:solidFill>
              <a:srgbClr val="FFD076"/>
            </a:solidFill>
          </p:spPr>
        </p:sp>
        <p:sp>
          <p:nvSpPr>
            <p:cNvPr name="TextBox 4" id="4"/>
            <p:cNvSpPr txBox="true"/>
            <p:nvPr/>
          </p:nvSpPr>
          <p:spPr>
            <a:xfrm>
              <a:off x="0" y="-47625"/>
              <a:ext cx="4816593" cy="2477991"/>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0" y="0"/>
            <a:ext cx="8200350" cy="7769665"/>
            <a:chOff x="0" y="0"/>
            <a:chExt cx="2159763" cy="2046332"/>
          </a:xfrm>
        </p:grpSpPr>
        <p:sp>
          <p:nvSpPr>
            <p:cNvPr name="Freeform 6" id="6"/>
            <p:cNvSpPr/>
            <p:nvPr/>
          </p:nvSpPr>
          <p:spPr>
            <a:xfrm flipH="false" flipV="false" rot="0">
              <a:off x="0" y="0"/>
              <a:ext cx="2159763" cy="2046331"/>
            </a:xfrm>
            <a:custGeom>
              <a:avLst/>
              <a:gdLst/>
              <a:ahLst/>
              <a:cxnLst/>
              <a:rect r="r" b="b" t="t" l="l"/>
              <a:pathLst>
                <a:path h="2046331" w="2159763">
                  <a:moveTo>
                    <a:pt x="0" y="0"/>
                  </a:moveTo>
                  <a:lnTo>
                    <a:pt x="2159763" y="0"/>
                  </a:lnTo>
                  <a:lnTo>
                    <a:pt x="2159763" y="2046331"/>
                  </a:lnTo>
                  <a:lnTo>
                    <a:pt x="0" y="2046331"/>
                  </a:lnTo>
                  <a:close/>
                </a:path>
              </a:pathLst>
            </a:custGeom>
            <a:solidFill>
              <a:srgbClr val="FFFFFF"/>
            </a:solidFill>
          </p:spPr>
        </p:sp>
        <p:sp>
          <p:nvSpPr>
            <p:cNvPr name="TextBox 7" id="7"/>
            <p:cNvSpPr txBox="true"/>
            <p:nvPr/>
          </p:nvSpPr>
          <p:spPr>
            <a:xfrm>
              <a:off x="0" y="-47625"/>
              <a:ext cx="2159763" cy="2093957"/>
            </a:xfrm>
            <a:prstGeom prst="rect">
              <a:avLst/>
            </a:prstGeom>
          </p:spPr>
          <p:txBody>
            <a:bodyPr anchor="ctr" rtlCol="false" tIns="50800" lIns="50800" bIns="50800" rIns="50800"/>
            <a:lstStyle/>
            <a:p>
              <a:pPr algn="ctr">
                <a:lnSpc>
                  <a:spcPts val="3560"/>
                </a:lnSpc>
              </a:pPr>
            </a:p>
          </p:txBody>
        </p:sp>
      </p:grpSp>
      <p:sp>
        <p:nvSpPr>
          <p:cNvPr name="TextBox 8" id="8"/>
          <p:cNvSpPr txBox="true"/>
          <p:nvPr/>
        </p:nvSpPr>
        <p:spPr>
          <a:xfrm rot="0">
            <a:off x="1301206" y="1688585"/>
            <a:ext cx="6721491" cy="5031410"/>
          </a:xfrm>
          <a:prstGeom prst="rect">
            <a:avLst/>
          </a:prstGeom>
        </p:spPr>
        <p:txBody>
          <a:bodyPr anchor="t" rtlCol="false" tIns="0" lIns="0" bIns="0" rIns="0">
            <a:spAutoFit/>
          </a:bodyPr>
          <a:lstStyle/>
          <a:p>
            <a:pPr algn="l" marL="0" indent="0" lvl="0">
              <a:lnSpc>
                <a:spcPts val="9843"/>
              </a:lnSpc>
              <a:spcBef>
                <a:spcPct val="0"/>
              </a:spcBef>
            </a:pPr>
            <a:r>
              <a:rPr lang="en-US" b="true" sz="7031">
                <a:solidFill>
                  <a:srgbClr val="191919"/>
                </a:solidFill>
                <a:latin typeface="Poppins Bold"/>
                <a:ea typeface="Poppins Bold"/>
                <a:cs typeface="Poppins Bold"/>
                <a:sym typeface="Poppins Bold"/>
              </a:rPr>
              <a:t>Defending Against Physical Threats</a:t>
            </a:r>
          </a:p>
        </p:txBody>
      </p:sp>
      <p:sp>
        <p:nvSpPr>
          <p:cNvPr name="TextBox 9" id="9"/>
          <p:cNvSpPr txBox="true"/>
          <p:nvPr/>
        </p:nvSpPr>
        <p:spPr>
          <a:xfrm rot="0">
            <a:off x="9144000" y="819101"/>
            <a:ext cx="8407624" cy="7939405"/>
          </a:xfrm>
          <a:prstGeom prst="rect">
            <a:avLst/>
          </a:prstGeom>
        </p:spPr>
        <p:txBody>
          <a:bodyPr anchor="t" rtlCol="false" tIns="0" lIns="0" bIns="0" rIns="0">
            <a:spAutoFit/>
          </a:bodyPr>
          <a:lstStyle/>
          <a:p>
            <a:pPr algn="l">
              <a:lnSpc>
                <a:spcPts val="3919"/>
              </a:lnSpc>
            </a:pPr>
            <a:r>
              <a:rPr lang="en-US" sz="2799">
                <a:solidFill>
                  <a:srgbClr val="000000"/>
                </a:solidFill>
                <a:latin typeface="Poppins"/>
                <a:ea typeface="Poppins"/>
                <a:cs typeface="Poppins"/>
                <a:sym typeface="Poppins"/>
              </a:rPr>
              <a:t>To stop physical threats like theft and vandalism, we use physical controls.</a:t>
            </a:r>
          </a:p>
          <a:p>
            <a:pPr algn="l">
              <a:lnSpc>
                <a:spcPts val="3919"/>
              </a:lnSpc>
            </a:pPr>
          </a:p>
          <a:p>
            <a:pPr algn="l" marL="604519" indent="-302260" lvl="1">
              <a:lnSpc>
                <a:spcPts val="3919"/>
              </a:lnSpc>
              <a:buAutoNum type="arabicPeriod" startAt="1"/>
            </a:pPr>
            <a:r>
              <a:rPr lang="en-US" sz="2799">
                <a:solidFill>
                  <a:srgbClr val="000000"/>
                </a:solidFill>
                <a:latin typeface="Poppins"/>
                <a:ea typeface="Poppins"/>
                <a:cs typeface="Poppins"/>
                <a:sym typeface="Poppins"/>
              </a:rPr>
              <a:t>Biometric Scanners: Using fingerprint or face scanners to open doors so only approved staff can enter the server room.</a:t>
            </a:r>
          </a:p>
          <a:p>
            <a:pPr algn="l" marL="604519" indent="-302260" lvl="1">
              <a:lnSpc>
                <a:spcPts val="3919"/>
              </a:lnSpc>
              <a:buAutoNum type="arabicPeriod" startAt="1"/>
            </a:pPr>
            <a:r>
              <a:rPr lang="en-US" sz="2799">
                <a:solidFill>
                  <a:srgbClr val="000000"/>
                </a:solidFill>
                <a:latin typeface="Poppins"/>
                <a:ea typeface="Poppins"/>
                <a:cs typeface="Poppins"/>
                <a:sym typeface="Poppins"/>
              </a:rPr>
              <a:t>CC</a:t>
            </a:r>
            <a:r>
              <a:rPr lang="en-US" sz="2799">
                <a:solidFill>
                  <a:srgbClr val="000000"/>
                </a:solidFill>
                <a:latin typeface="Poppins"/>
                <a:ea typeface="Poppins"/>
                <a:cs typeface="Poppins"/>
                <a:sym typeface="Poppins"/>
              </a:rPr>
              <a:t>TV Cameras: Installing cameras in hallways and outside the building to monitor who comes in and out.</a:t>
            </a:r>
          </a:p>
          <a:p>
            <a:pPr algn="l" marL="604519" indent="-302260" lvl="1">
              <a:lnSpc>
                <a:spcPts val="3919"/>
              </a:lnSpc>
              <a:buAutoNum type="arabicPeriod" startAt="1"/>
            </a:pPr>
            <a:r>
              <a:rPr lang="en-US" sz="2799">
                <a:solidFill>
                  <a:srgbClr val="000000"/>
                </a:solidFill>
                <a:latin typeface="Poppins"/>
                <a:ea typeface="Poppins"/>
                <a:cs typeface="Poppins"/>
                <a:sym typeface="Poppins"/>
              </a:rPr>
              <a:t>Security Gu</a:t>
            </a:r>
            <a:r>
              <a:rPr lang="en-US" sz="2799">
                <a:solidFill>
                  <a:srgbClr val="000000"/>
                </a:solidFill>
                <a:latin typeface="Poppins"/>
                <a:ea typeface="Poppins"/>
                <a:cs typeface="Poppins"/>
                <a:sym typeface="Poppins"/>
              </a:rPr>
              <a:t>ards: Having trained personnel to check IDs and patrol the area.</a:t>
            </a:r>
          </a:p>
          <a:p>
            <a:pPr algn="l" marL="604519" indent="-302260" lvl="1">
              <a:lnSpc>
                <a:spcPts val="3919"/>
              </a:lnSpc>
              <a:spcBef>
                <a:spcPct val="0"/>
              </a:spcBef>
              <a:buAutoNum type="arabicPeriod" startAt="1"/>
            </a:pPr>
            <a:r>
              <a:rPr lang="en-US" sz="2799">
                <a:solidFill>
                  <a:srgbClr val="000000"/>
                </a:solidFill>
                <a:latin typeface="Poppins"/>
                <a:ea typeface="Poppins"/>
                <a:cs typeface="Poppins"/>
                <a:sym typeface="Poppins"/>
              </a:rPr>
              <a:t>Mantrap Doors: A small room with two doors where the first door must close before the second door opens, preventing people from tailgating.</a:t>
            </a:r>
          </a:p>
          <a:p>
            <a:pPr algn="l" marL="0" indent="0" lvl="0">
              <a:lnSpc>
                <a:spcPts val="3919"/>
              </a:lnSpc>
              <a:spcBef>
                <a:spcPct val="0"/>
              </a:spcBef>
            </a:pPr>
          </a:p>
        </p:txBody>
      </p:sp>
    </p:spTree>
  </p:cSld>
  <p:clrMapOvr>
    <a:masterClrMapping/>
  </p:clrMapOvr>
</p:sld>
</file>

<file path=ppt/slides/slide53.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9227797"/>
            <a:chOff x="0" y="0"/>
            <a:chExt cx="4816593" cy="2430366"/>
          </a:xfrm>
        </p:grpSpPr>
        <p:sp>
          <p:nvSpPr>
            <p:cNvPr name="Freeform 3" id="3"/>
            <p:cNvSpPr/>
            <p:nvPr/>
          </p:nvSpPr>
          <p:spPr>
            <a:xfrm flipH="false" flipV="false" rot="0">
              <a:off x="0" y="0"/>
              <a:ext cx="4816592" cy="2430366"/>
            </a:xfrm>
            <a:custGeom>
              <a:avLst/>
              <a:gdLst/>
              <a:ahLst/>
              <a:cxnLst/>
              <a:rect r="r" b="b" t="t" l="l"/>
              <a:pathLst>
                <a:path h="2430366" w="4816592">
                  <a:moveTo>
                    <a:pt x="0" y="0"/>
                  </a:moveTo>
                  <a:lnTo>
                    <a:pt x="4816592" y="0"/>
                  </a:lnTo>
                  <a:lnTo>
                    <a:pt x="4816592" y="2430366"/>
                  </a:lnTo>
                  <a:lnTo>
                    <a:pt x="0" y="2430366"/>
                  </a:lnTo>
                  <a:close/>
                </a:path>
              </a:pathLst>
            </a:custGeom>
            <a:solidFill>
              <a:srgbClr val="FFD076"/>
            </a:solidFill>
          </p:spPr>
        </p:sp>
        <p:sp>
          <p:nvSpPr>
            <p:cNvPr name="TextBox 4" id="4"/>
            <p:cNvSpPr txBox="true"/>
            <p:nvPr/>
          </p:nvSpPr>
          <p:spPr>
            <a:xfrm>
              <a:off x="0" y="-47625"/>
              <a:ext cx="4816593" cy="2477991"/>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0087650" y="0"/>
            <a:ext cx="8200350" cy="7769665"/>
            <a:chOff x="0" y="0"/>
            <a:chExt cx="2159763" cy="2046332"/>
          </a:xfrm>
        </p:grpSpPr>
        <p:sp>
          <p:nvSpPr>
            <p:cNvPr name="Freeform 6" id="6"/>
            <p:cNvSpPr/>
            <p:nvPr/>
          </p:nvSpPr>
          <p:spPr>
            <a:xfrm flipH="false" flipV="false" rot="0">
              <a:off x="0" y="0"/>
              <a:ext cx="2159763" cy="2046331"/>
            </a:xfrm>
            <a:custGeom>
              <a:avLst/>
              <a:gdLst/>
              <a:ahLst/>
              <a:cxnLst/>
              <a:rect r="r" b="b" t="t" l="l"/>
              <a:pathLst>
                <a:path h="2046331" w="2159763">
                  <a:moveTo>
                    <a:pt x="0" y="0"/>
                  </a:moveTo>
                  <a:lnTo>
                    <a:pt x="2159763" y="0"/>
                  </a:lnTo>
                  <a:lnTo>
                    <a:pt x="2159763" y="2046331"/>
                  </a:lnTo>
                  <a:lnTo>
                    <a:pt x="0" y="2046331"/>
                  </a:lnTo>
                  <a:close/>
                </a:path>
              </a:pathLst>
            </a:custGeom>
            <a:solidFill>
              <a:srgbClr val="FFFFFF"/>
            </a:solidFill>
          </p:spPr>
        </p:sp>
        <p:sp>
          <p:nvSpPr>
            <p:cNvPr name="TextBox 7" id="7"/>
            <p:cNvSpPr txBox="true"/>
            <p:nvPr/>
          </p:nvSpPr>
          <p:spPr>
            <a:xfrm>
              <a:off x="0" y="-47625"/>
              <a:ext cx="2159763" cy="2093957"/>
            </a:xfrm>
            <a:prstGeom prst="rect">
              <a:avLst/>
            </a:prstGeom>
          </p:spPr>
          <p:txBody>
            <a:bodyPr anchor="ctr" rtlCol="false" tIns="50800" lIns="50800" bIns="50800" rIns="50800"/>
            <a:lstStyle/>
            <a:p>
              <a:pPr algn="ctr">
                <a:lnSpc>
                  <a:spcPts val="3560"/>
                </a:lnSpc>
              </a:pPr>
            </a:p>
          </p:txBody>
        </p:sp>
      </p:grpSp>
      <p:sp>
        <p:nvSpPr>
          <p:cNvPr name="TextBox 8" id="8"/>
          <p:cNvSpPr txBox="true"/>
          <p:nvPr/>
        </p:nvSpPr>
        <p:spPr>
          <a:xfrm rot="0">
            <a:off x="10936338" y="1889409"/>
            <a:ext cx="7351662" cy="7531637"/>
          </a:xfrm>
          <a:prstGeom prst="rect">
            <a:avLst/>
          </a:prstGeom>
        </p:spPr>
        <p:txBody>
          <a:bodyPr anchor="t" rtlCol="false" tIns="0" lIns="0" bIns="0" rIns="0">
            <a:spAutoFit/>
          </a:bodyPr>
          <a:lstStyle/>
          <a:p>
            <a:pPr algn="l" marL="0" indent="0" lvl="0">
              <a:lnSpc>
                <a:spcPts val="9843"/>
              </a:lnSpc>
              <a:spcBef>
                <a:spcPct val="0"/>
              </a:spcBef>
            </a:pPr>
            <a:r>
              <a:rPr lang="en-US" b="true" sz="7031">
                <a:solidFill>
                  <a:srgbClr val="191919"/>
                </a:solidFill>
                <a:latin typeface="Poppins Bold"/>
                <a:ea typeface="Poppins Bold"/>
                <a:cs typeface="Poppins Bold"/>
                <a:sym typeface="Poppins Bold"/>
              </a:rPr>
              <a:t>Defending Against Environmental Threats</a:t>
            </a:r>
          </a:p>
          <a:p>
            <a:pPr algn="l" marL="0" indent="0" lvl="0">
              <a:lnSpc>
                <a:spcPts val="9843"/>
              </a:lnSpc>
              <a:spcBef>
                <a:spcPct val="0"/>
              </a:spcBef>
            </a:pPr>
          </a:p>
          <a:p>
            <a:pPr algn="l" marL="0" indent="0" lvl="0">
              <a:lnSpc>
                <a:spcPts val="9843"/>
              </a:lnSpc>
              <a:spcBef>
                <a:spcPct val="0"/>
              </a:spcBef>
            </a:pPr>
          </a:p>
        </p:txBody>
      </p:sp>
      <p:sp>
        <p:nvSpPr>
          <p:cNvPr name="TextBox 9" id="9"/>
          <p:cNvSpPr txBox="true"/>
          <p:nvPr/>
        </p:nvSpPr>
        <p:spPr>
          <a:xfrm rot="0">
            <a:off x="736376" y="353684"/>
            <a:ext cx="8407624" cy="8434705"/>
          </a:xfrm>
          <a:prstGeom prst="rect">
            <a:avLst/>
          </a:prstGeom>
        </p:spPr>
        <p:txBody>
          <a:bodyPr anchor="t" rtlCol="false" tIns="0" lIns="0" bIns="0" rIns="0">
            <a:spAutoFit/>
          </a:bodyPr>
          <a:lstStyle/>
          <a:p>
            <a:pPr algn="l">
              <a:lnSpc>
                <a:spcPts val="3919"/>
              </a:lnSpc>
            </a:pPr>
            <a:r>
              <a:rPr lang="en-US" sz="2799">
                <a:solidFill>
                  <a:srgbClr val="000000"/>
                </a:solidFill>
                <a:latin typeface="Poppins"/>
                <a:ea typeface="Poppins"/>
                <a:cs typeface="Poppins"/>
                <a:sym typeface="Poppins"/>
              </a:rPr>
              <a:t>To keep the room safe from fires, heat, and power loss, we use environmental controls.</a:t>
            </a:r>
          </a:p>
          <a:p>
            <a:pPr algn="l" marL="604519" indent="-302260" lvl="1">
              <a:lnSpc>
                <a:spcPts val="3919"/>
              </a:lnSpc>
              <a:buFont typeface="Arial"/>
              <a:buChar char="•"/>
            </a:pPr>
            <a:r>
              <a:rPr lang="en-US" sz="2799">
                <a:solidFill>
                  <a:srgbClr val="000000"/>
                </a:solidFill>
                <a:latin typeface="Poppins"/>
                <a:ea typeface="Poppins"/>
                <a:cs typeface="Poppins"/>
                <a:sym typeface="Poppins"/>
              </a:rPr>
              <a:t>HVAC Systems: High-tech air conditioning that keeps the server room very cool and controls the humidity so machines do not overheat.</a:t>
            </a:r>
          </a:p>
          <a:p>
            <a:pPr algn="l" marL="604519" indent="-302260" lvl="1">
              <a:lnSpc>
                <a:spcPts val="3919"/>
              </a:lnSpc>
              <a:buFont typeface="Arial"/>
              <a:buChar char="•"/>
            </a:pPr>
            <a:r>
              <a:rPr lang="en-US" sz="2799">
                <a:solidFill>
                  <a:srgbClr val="000000"/>
                </a:solidFill>
                <a:latin typeface="Poppins"/>
                <a:ea typeface="Poppins"/>
                <a:cs typeface="Poppins"/>
                <a:sym typeface="Poppins"/>
              </a:rPr>
              <a:t>UPS (Uninterruptible Power Supply): Giant battery backups that keep computers running if a brownout or blackout happens.</a:t>
            </a:r>
          </a:p>
          <a:p>
            <a:pPr algn="l" marL="604519" indent="-302260" lvl="1">
              <a:lnSpc>
                <a:spcPts val="3919"/>
              </a:lnSpc>
              <a:buFont typeface="Arial"/>
              <a:buChar char="•"/>
            </a:pPr>
            <a:r>
              <a:rPr lang="en-US" sz="2799">
                <a:solidFill>
                  <a:srgbClr val="000000"/>
                </a:solidFill>
                <a:latin typeface="Poppins"/>
                <a:ea typeface="Poppins"/>
                <a:cs typeface="Poppins"/>
                <a:sym typeface="Poppins"/>
              </a:rPr>
              <a:t>Fir</a:t>
            </a:r>
            <a:r>
              <a:rPr lang="en-US" sz="2799">
                <a:solidFill>
                  <a:srgbClr val="000000"/>
                </a:solidFill>
                <a:latin typeface="Poppins"/>
                <a:ea typeface="Poppins"/>
                <a:cs typeface="Poppins"/>
                <a:sym typeface="Poppins"/>
              </a:rPr>
              <a:t>e Suppression Systems: Special fire extinguishers (like FM-200 gas) that put out fires without using water, which would ruin the electronics.</a:t>
            </a:r>
          </a:p>
          <a:p>
            <a:pPr algn="l" marL="604519" indent="-302260" lvl="1">
              <a:lnSpc>
                <a:spcPts val="3919"/>
              </a:lnSpc>
              <a:spcBef>
                <a:spcPct val="0"/>
              </a:spcBef>
              <a:buFont typeface="Arial"/>
              <a:buChar char="•"/>
            </a:pPr>
            <a:r>
              <a:rPr lang="en-US" sz="2799">
                <a:solidFill>
                  <a:srgbClr val="000000"/>
                </a:solidFill>
                <a:latin typeface="Poppins"/>
                <a:ea typeface="Poppins"/>
                <a:cs typeface="Poppins"/>
                <a:sym typeface="Poppins"/>
              </a:rPr>
              <a:t>Water Detect</a:t>
            </a:r>
            <a:r>
              <a:rPr lang="en-US" sz="2799">
                <a:solidFill>
                  <a:srgbClr val="000000"/>
                </a:solidFill>
                <a:latin typeface="Poppins"/>
                <a:ea typeface="Poppins"/>
                <a:cs typeface="Poppins"/>
                <a:sym typeface="Poppins"/>
              </a:rPr>
              <a:t>o</a:t>
            </a:r>
            <a:r>
              <a:rPr lang="en-US" sz="2799">
                <a:solidFill>
                  <a:srgbClr val="000000"/>
                </a:solidFill>
                <a:latin typeface="Poppins"/>
                <a:ea typeface="Poppins"/>
                <a:cs typeface="Poppins"/>
                <a:sym typeface="Poppins"/>
              </a:rPr>
              <a:t>rs: Sensors placed on the floor to sound an alarm if there is a leak or flood.</a:t>
            </a:r>
          </a:p>
          <a:p>
            <a:pPr algn="l" marL="0" indent="0" lvl="0">
              <a:lnSpc>
                <a:spcPts val="3919"/>
              </a:lnSpc>
              <a:spcBef>
                <a:spcPct val="0"/>
              </a:spcBef>
            </a:pP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FFD076"/>
        </a:solidFill>
      </p:bgPr>
    </p:bg>
    <p:spTree>
      <p:nvGrpSpPr>
        <p:cNvPr id="1" name=""/>
        <p:cNvGrpSpPr/>
        <p:nvPr/>
      </p:nvGrpSpPr>
      <p:grpSpPr>
        <a:xfrm>
          <a:off x="0" y="0"/>
          <a:ext cx="0" cy="0"/>
          <a:chOff x="0" y="0"/>
          <a:chExt cx="0" cy="0"/>
        </a:xfrm>
      </p:grpSpPr>
      <p:sp>
        <p:nvSpPr>
          <p:cNvPr name="Freeform 2" id="2"/>
          <p:cNvSpPr/>
          <p:nvPr/>
        </p:nvSpPr>
        <p:spPr>
          <a:xfrm flipH="false" flipV="false" rot="0">
            <a:off x="14950711" y="6943787"/>
            <a:ext cx="3962999" cy="3987924"/>
          </a:xfrm>
          <a:custGeom>
            <a:avLst/>
            <a:gdLst/>
            <a:ahLst/>
            <a:cxnLst/>
            <a:rect r="r" b="b" t="t" l="l"/>
            <a:pathLst>
              <a:path h="3987924" w="3962999">
                <a:moveTo>
                  <a:pt x="0" y="0"/>
                </a:moveTo>
                <a:lnTo>
                  <a:pt x="3963000" y="0"/>
                </a:lnTo>
                <a:lnTo>
                  <a:pt x="3963000" y="3987924"/>
                </a:lnTo>
                <a:lnTo>
                  <a:pt x="0" y="39879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93975"/>
            <a:ext cx="16230600" cy="8099051"/>
            <a:chOff x="0" y="0"/>
            <a:chExt cx="4274726" cy="2133083"/>
          </a:xfrm>
        </p:grpSpPr>
        <p:sp>
          <p:nvSpPr>
            <p:cNvPr name="Freeform 4" id="4"/>
            <p:cNvSpPr/>
            <p:nvPr/>
          </p:nvSpPr>
          <p:spPr>
            <a:xfrm flipH="false" flipV="false" rot="0">
              <a:off x="0" y="0"/>
              <a:ext cx="4274726" cy="2133083"/>
            </a:xfrm>
            <a:custGeom>
              <a:avLst/>
              <a:gdLst/>
              <a:ahLst/>
              <a:cxnLst/>
              <a:rect r="r" b="b" t="t" l="l"/>
              <a:pathLst>
                <a:path h="2133083" w="4274726">
                  <a:moveTo>
                    <a:pt x="0" y="0"/>
                  </a:moveTo>
                  <a:lnTo>
                    <a:pt x="4274726" y="0"/>
                  </a:lnTo>
                  <a:lnTo>
                    <a:pt x="4274726" y="2133083"/>
                  </a:lnTo>
                  <a:lnTo>
                    <a:pt x="0" y="2133083"/>
                  </a:lnTo>
                  <a:close/>
                </a:path>
              </a:pathLst>
            </a:custGeom>
            <a:solidFill>
              <a:srgbClr val="FFFFFF"/>
            </a:solidFill>
          </p:spPr>
        </p:sp>
        <p:sp>
          <p:nvSpPr>
            <p:cNvPr name="TextBox 5" id="5"/>
            <p:cNvSpPr txBox="true"/>
            <p:nvPr/>
          </p:nvSpPr>
          <p:spPr>
            <a:xfrm>
              <a:off x="0" y="-47625"/>
              <a:ext cx="4274726" cy="2180708"/>
            </a:xfrm>
            <a:prstGeom prst="rect">
              <a:avLst/>
            </a:prstGeom>
          </p:spPr>
          <p:txBody>
            <a:bodyPr anchor="ctr" rtlCol="false" tIns="50800" lIns="50800" bIns="50800" rIns="50800"/>
            <a:lstStyle/>
            <a:p>
              <a:pPr algn="ctr">
                <a:lnSpc>
                  <a:spcPts val="3560"/>
                </a:lnSpc>
              </a:pPr>
            </a:p>
          </p:txBody>
        </p:sp>
      </p:grpSp>
      <p:sp>
        <p:nvSpPr>
          <p:cNvPr name="Freeform 6" id="6"/>
          <p:cNvSpPr/>
          <p:nvPr/>
        </p:nvSpPr>
        <p:spPr>
          <a:xfrm flipH="false" flipV="false" rot="0">
            <a:off x="-157415" y="-579138"/>
            <a:ext cx="2711578" cy="2728632"/>
          </a:xfrm>
          <a:custGeom>
            <a:avLst/>
            <a:gdLst/>
            <a:ahLst/>
            <a:cxnLst/>
            <a:rect r="r" b="b" t="t" l="l"/>
            <a:pathLst>
              <a:path h="2728632" w="2711578">
                <a:moveTo>
                  <a:pt x="0" y="0"/>
                </a:moveTo>
                <a:lnTo>
                  <a:pt x="2711578" y="0"/>
                </a:lnTo>
                <a:lnTo>
                  <a:pt x="2711578" y="2728631"/>
                </a:lnTo>
                <a:lnTo>
                  <a:pt x="0" y="2728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7" id="7"/>
          <p:cNvGraphicFramePr>
            <a:graphicFrameLocks noGrp="true"/>
          </p:cNvGraphicFramePr>
          <p:nvPr/>
        </p:nvGraphicFramePr>
        <p:xfrm>
          <a:off x="1756469" y="2578296"/>
          <a:ext cx="14775063" cy="6359453"/>
        </p:xfrm>
        <a:graphic>
          <a:graphicData uri="http://schemas.openxmlformats.org/drawingml/2006/table">
            <a:tbl>
              <a:tblPr/>
              <a:tblGrid>
                <a:gridCol w="7438758"/>
                <a:gridCol w="7336304"/>
              </a:tblGrid>
              <a:tr h="1312790">
                <a:tc>
                  <a:txBody>
                    <a:bodyPr anchor="t" rtlCol="false"/>
                    <a:lstStyle/>
                    <a:p>
                      <a:pPr algn="ctr">
                        <a:lnSpc>
                          <a:spcPts val="3779"/>
                        </a:lnSpc>
                        <a:defRPr/>
                      </a:pPr>
                      <a:r>
                        <a:rPr lang="en-US" sz="2699" b="true">
                          <a:solidFill>
                            <a:srgbClr val="000000"/>
                          </a:solidFill>
                          <a:latin typeface="Inter Bold"/>
                          <a:ea typeface="Inter Bold"/>
                          <a:cs typeface="Inter Bold"/>
                          <a:sym typeface="Inter Bold"/>
                        </a:rPr>
                        <a:t>If This Threat Happens</a:t>
                      </a:r>
                      <a:endParaRPr lang="en-US" sz="1100"/>
                    </a:p>
                    <a:p>
                      <a:pPr algn="ctr">
                        <a:lnSpc>
                          <a:spcPts val="252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699" b="true">
                          <a:solidFill>
                            <a:srgbClr val="000000"/>
                          </a:solidFill>
                          <a:latin typeface="Inter Bold"/>
                          <a:ea typeface="Inter Bold"/>
                          <a:cs typeface="Inter Bold"/>
                          <a:sym typeface="Inter Bold"/>
                        </a:rPr>
                        <a:t>We Use This Control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1634">
                <a:tc>
                  <a:txBody>
                    <a:bodyPr anchor="t" rtlCol="false"/>
                    <a:lstStyle/>
                    <a:p>
                      <a:pPr algn="ctr">
                        <a:lnSpc>
                          <a:spcPts val="3779"/>
                        </a:lnSpc>
                        <a:defRPr/>
                      </a:pPr>
                      <a:r>
                        <a:rPr lang="en-US" sz="2699">
                          <a:solidFill>
                            <a:srgbClr val="000000"/>
                          </a:solidFill>
                          <a:latin typeface="Inter"/>
                          <a:ea typeface="Inter"/>
                          <a:cs typeface="Inter"/>
                          <a:sym typeface="Inter"/>
                        </a:rPr>
                        <a:t>Thief tries to steal a server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699">
                          <a:solidFill>
                            <a:srgbClr val="000000"/>
                          </a:solidFill>
                          <a:latin typeface="Inter"/>
                          <a:ea typeface="Inter"/>
                          <a:cs typeface="Inter"/>
                          <a:sym typeface="Inter"/>
                        </a:rPr>
                        <a:t>Biometric door locks and CCTV cameras.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94856">
                <a:tc>
                  <a:txBody>
                    <a:bodyPr anchor="t" rtlCol="false"/>
                    <a:lstStyle/>
                    <a:p>
                      <a:pPr algn="ctr">
                        <a:lnSpc>
                          <a:spcPts val="3779"/>
                        </a:lnSpc>
                        <a:defRPr/>
                      </a:pPr>
                      <a:r>
                        <a:rPr lang="en-US" sz="2699">
                          <a:solidFill>
                            <a:srgbClr val="000000"/>
                          </a:solidFill>
                          <a:latin typeface="Inter"/>
                          <a:ea typeface="Inter"/>
                          <a:cs typeface="Inter"/>
                          <a:sym typeface="Inter"/>
                        </a:rPr>
                        <a:t>Sudden city-wide blackout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699">
                          <a:solidFill>
                            <a:srgbClr val="000000"/>
                          </a:solidFill>
                          <a:latin typeface="Inter"/>
                          <a:ea typeface="Inter"/>
                          <a:cs typeface="Inter"/>
                          <a:sym typeface="Inter"/>
                        </a:rPr>
                        <a:t>UPS batteries and backup diesel generators.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5318">
                <a:tc>
                  <a:txBody>
                    <a:bodyPr anchor="t" rtlCol="false"/>
                    <a:lstStyle/>
                    <a:p>
                      <a:pPr algn="ctr">
                        <a:lnSpc>
                          <a:spcPts val="3779"/>
                        </a:lnSpc>
                        <a:defRPr/>
                      </a:pPr>
                      <a:r>
                        <a:rPr lang="en-US" sz="2699">
                          <a:solidFill>
                            <a:srgbClr val="000000"/>
                          </a:solidFill>
                          <a:latin typeface="Inter"/>
                          <a:ea typeface="Inter"/>
                          <a:cs typeface="Inter"/>
                          <a:sym typeface="Inter"/>
                        </a:rPr>
                        <a:t>Server overheats from heavy use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699">
                          <a:solidFill>
                            <a:srgbClr val="000000"/>
                          </a:solidFill>
                          <a:latin typeface="Inter"/>
                          <a:ea typeface="Inter"/>
                          <a:cs typeface="Inter"/>
                          <a:sym typeface="Inter"/>
                        </a:rPr>
                        <a:t>HVAC (Air conditioning) systems.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94856">
                <a:tc>
                  <a:txBody>
                    <a:bodyPr anchor="t" rtlCol="false"/>
                    <a:lstStyle/>
                    <a:p>
                      <a:pPr algn="ctr">
                        <a:lnSpc>
                          <a:spcPts val="3779"/>
                        </a:lnSpc>
                        <a:defRPr/>
                      </a:pPr>
                      <a:r>
                        <a:rPr lang="en-US" sz="2699">
                          <a:solidFill>
                            <a:srgbClr val="000000"/>
                          </a:solidFill>
                          <a:latin typeface="Inter"/>
                          <a:ea typeface="Inter"/>
                          <a:cs typeface="Inter"/>
                          <a:sym typeface="Inter"/>
                        </a:rPr>
                        <a:t>Electrical fire in the IT room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699">
                          <a:solidFill>
                            <a:srgbClr val="000000"/>
                          </a:solidFill>
                          <a:latin typeface="Inter"/>
                          <a:ea typeface="Inter"/>
                          <a:cs typeface="Inter"/>
                          <a:sym typeface="Inter"/>
                        </a:rPr>
                        <a:t>Gas-based fire suppression system (no water).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8" id="8"/>
          <p:cNvSpPr txBox="true"/>
          <p:nvPr/>
        </p:nvSpPr>
        <p:spPr>
          <a:xfrm rot="0">
            <a:off x="3230437" y="1110169"/>
            <a:ext cx="11827127" cy="1324138"/>
          </a:xfrm>
          <a:prstGeom prst="rect">
            <a:avLst/>
          </a:prstGeom>
        </p:spPr>
        <p:txBody>
          <a:bodyPr anchor="t" rtlCol="false" tIns="0" lIns="0" bIns="0" rIns="0">
            <a:spAutoFit/>
          </a:bodyPr>
          <a:lstStyle/>
          <a:p>
            <a:pPr algn="ctr" marL="0" indent="0" lvl="0">
              <a:lnSpc>
                <a:spcPts val="10239"/>
              </a:lnSpc>
              <a:spcBef>
                <a:spcPct val="0"/>
              </a:spcBef>
            </a:pPr>
            <a:r>
              <a:rPr lang="en-US" b="true" sz="7313">
                <a:solidFill>
                  <a:srgbClr val="8B5F0B"/>
                </a:solidFill>
                <a:latin typeface="Poppins Bold"/>
                <a:ea typeface="Poppins Bold"/>
                <a:cs typeface="Poppins Bold"/>
                <a:sym typeface="Poppins Bold"/>
              </a:rPr>
              <a:t>THREATS TO CONTROL</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FFD076"/>
        </a:solidFill>
      </p:bgPr>
    </p:bg>
    <p:spTree>
      <p:nvGrpSpPr>
        <p:cNvPr id="1" name=""/>
        <p:cNvGrpSpPr/>
        <p:nvPr/>
      </p:nvGrpSpPr>
      <p:grpSpPr>
        <a:xfrm>
          <a:off x="0" y="0"/>
          <a:ext cx="0" cy="0"/>
          <a:chOff x="0" y="0"/>
          <a:chExt cx="0" cy="0"/>
        </a:xfrm>
      </p:grpSpPr>
      <p:sp>
        <p:nvSpPr>
          <p:cNvPr name="Freeform 2" id="2"/>
          <p:cNvSpPr/>
          <p:nvPr/>
        </p:nvSpPr>
        <p:spPr>
          <a:xfrm flipH="false" flipV="false" rot="0">
            <a:off x="14950711" y="6943787"/>
            <a:ext cx="3962999" cy="3987924"/>
          </a:xfrm>
          <a:custGeom>
            <a:avLst/>
            <a:gdLst/>
            <a:ahLst/>
            <a:cxnLst/>
            <a:rect r="r" b="b" t="t" l="l"/>
            <a:pathLst>
              <a:path h="3987924" w="3962999">
                <a:moveTo>
                  <a:pt x="0" y="0"/>
                </a:moveTo>
                <a:lnTo>
                  <a:pt x="3963000" y="0"/>
                </a:lnTo>
                <a:lnTo>
                  <a:pt x="3963000" y="3987924"/>
                </a:lnTo>
                <a:lnTo>
                  <a:pt x="0" y="39879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7415" y="-579138"/>
            <a:ext cx="2711578" cy="2728632"/>
          </a:xfrm>
          <a:custGeom>
            <a:avLst/>
            <a:gdLst/>
            <a:ahLst/>
            <a:cxnLst/>
            <a:rect r="r" b="b" t="t" l="l"/>
            <a:pathLst>
              <a:path h="2728632" w="2711578">
                <a:moveTo>
                  <a:pt x="0" y="0"/>
                </a:moveTo>
                <a:lnTo>
                  <a:pt x="2711578" y="0"/>
                </a:lnTo>
                <a:lnTo>
                  <a:pt x="2711578" y="2728631"/>
                </a:lnTo>
                <a:lnTo>
                  <a:pt x="0" y="2728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230437" y="1110169"/>
            <a:ext cx="11827127" cy="1324138"/>
          </a:xfrm>
          <a:prstGeom prst="rect">
            <a:avLst/>
          </a:prstGeom>
        </p:spPr>
        <p:txBody>
          <a:bodyPr anchor="t" rtlCol="false" tIns="0" lIns="0" bIns="0" rIns="0">
            <a:spAutoFit/>
          </a:bodyPr>
          <a:lstStyle/>
          <a:p>
            <a:pPr algn="ctr" marL="0" indent="0" lvl="0">
              <a:lnSpc>
                <a:spcPts val="10239"/>
              </a:lnSpc>
              <a:spcBef>
                <a:spcPct val="0"/>
              </a:spcBef>
            </a:pPr>
            <a:r>
              <a:rPr lang="en-US" b="true" sz="7313">
                <a:solidFill>
                  <a:srgbClr val="FFFFFF"/>
                </a:solidFill>
                <a:latin typeface="Poppins Bold"/>
                <a:ea typeface="Poppins Bold"/>
                <a:cs typeface="Poppins Bold"/>
                <a:sym typeface="Poppins Bold"/>
              </a:rPr>
              <a:t>KEY TAKEWAYS</a:t>
            </a:r>
          </a:p>
        </p:txBody>
      </p:sp>
      <p:sp>
        <p:nvSpPr>
          <p:cNvPr name="TextBox 5" id="5"/>
          <p:cNvSpPr txBox="true"/>
          <p:nvPr/>
        </p:nvSpPr>
        <p:spPr>
          <a:xfrm rot="0">
            <a:off x="3727935" y="3288690"/>
            <a:ext cx="11490353" cy="4472305"/>
          </a:xfrm>
          <a:prstGeom prst="rect">
            <a:avLst/>
          </a:prstGeom>
        </p:spPr>
        <p:txBody>
          <a:bodyPr anchor="t" rtlCol="false" tIns="0" lIns="0" bIns="0" rIns="0">
            <a:spAutoFit/>
          </a:bodyPr>
          <a:lstStyle/>
          <a:p>
            <a:pPr algn="just">
              <a:lnSpc>
                <a:spcPts val="3919"/>
              </a:lnSpc>
            </a:pPr>
            <a:r>
              <a:rPr lang="en-US" sz="2799" b="true">
                <a:solidFill>
                  <a:srgbClr val="000000"/>
                </a:solidFill>
                <a:latin typeface="Poppins Bold"/>
                <a:ea typeface="Poppins Bold"/>
                <a:cs typeface="Poppins Bold"/>
                <a:sym typeface="Poppins Bold"/>
              </a:rPr>
              <a:t>Physical and environmental security must work hand-in-hand with cybersecurity. You cannot have strong software security if anyone can just walk in and steal the hard drive.</a:t>
            </a:r>
          </a:p>
          <a:p>
            <a:pPr algn="just">
              <a:lnSpc>
                <a:spcPts val="3919"/>
              </a:lnSpc>
              <a:spcBef>
                <a:spcPct val="0"/>
              </a:spcBef>
            </a:pPr>
            <a:r>
              <a:rPr lang="en-US" b="true" sz="2799">
                <a:solidFill>
                  <a:srgbClr val="000000"/>
                </a:solidFill>
                <a:latin typeface="Poppins Bold"/>
                <a:ea typeface="Poppins Bold"/>
                <a:cs typeface="Poppins Bold"/>
                <a:sym typeface="Poppins Bold"/>
              </a:rPr>
              <a:t>By understanding the threats like bad weather, power outages, and theft, and by setting up strong controls  like fing</a:t>
            </a:r>
            <a:r>
              <a:rPr lang="en-US" b="true" sz="2799">
                <a:solidFill>
                  <a:srgbClr val="000000"/>
                </a:solidFill>
                <a:latin typeface="Poppins Bold"/>
                <a:ea typeface="Poppins Bold"/>
                <a:cs typeface="Poppins Bold"/>
                <a:sym typeface="Poppins Bold"/>
              </a:rPr>
              <a:t>erprint </a:t>
            </a:r>
            <a:r>
              <a:rPr lang="en-US" b="true" sz="2799">
                <a:solidFill>
                  <a:srgbClr val="000000"/>
                </a:solidFill>
                <a:latin typeface="Poppins Bold"/>
                <a:ea typeface="Poppins Bold"/>
                <a:cs typeface="Poppins Bold"/>
                <a:sym typeface="Poppins Bold"/>
              </a:rPr>
              <a:t>scanners, UPS batteries, and cooling systems, we can make sure our IT infrastructure stays safe and operational 24/7.</a:t>
            </a:r>
          </a:p>
          <a:p>
            <a:pPr algn="just" marL="0" indent="0" lvl="0">
              <a:lnSpc>
                <a:spcPts val="3919"/>
              </a:lnSpc>
              <a:spcBef>
                <a:spcPct val="0"/>
              </a:spcBef>
            </a:pP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7639433"/>
            <a:ext cx="18288000" cy="2647567"/>
            <a:chOff x="0" y="0"/>
            <a:chExt cx="4816593" cy="697302"/>
          </a:xfrm>
        </p:grpSpPr>
        <p:sp>
          <p:nvSpPr>
            <p:cNvPr name="Freeform 3" id="3"/>
            <p:cNvSpPr/>
            <p:nvPr/>
          </p:nvSpPr>
          <p:spPr>
            <a:xfrm flipH="false" flipV="false" rot="0">
              <a:off x="0" y="0"/>
              <a:ext cx="4816592" cy="697302"/>
            </a:xfrm>
            <a:custGeom>
              <a:avLst/>
              <a:gdLst/>
              <a:ahLst/>
              <a:cxnLst/>
              <a:rect r="r" b="b" t="t" l="l"/>
              <a:pathLst>
                <a:path h="697302" w="4816592">
                  <a:moveTo>
                    <a:pt x="0" y="0"/>
                  </a:moveTo>
                  <a:lnTo>
                    <a:pt x="4816592" y="0"/>
                  </a:lnTo>
                  <a:lnTo>
                    <a:pt x="4816592" y="697302"/>
                  </a:lnTo>
                  <a:lnTo>
                    <a:pt x="0" y="697302"/>
                  </a:lnTo>
                  <a:close/>
                </a:path>
              </a:pathLst>
            </a:custGeom>
            <a:solidFill>
              <a:srgbClr val="FFD076"/>
            </a:solidFill>
          </p:spPr>
        </p:sp>
        <p:sp>
          <p:nvSpPr>
            <p:cNvPr name="TextBox 4" id="4"/>
            <p:cNvSpPr txBox="true"/>
            <p:nvPr/>
          </p:nvSpPr>
          <p:spPr>
            <a:xfrm>
              <a:off x="0" y="-47625"/>
              <a:ext cx="4816593" cy="744927"/>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2256205" y="1796162"/>
            <a:ext cx="14194690" cy="7113776"/>
            <a:chOff x="0" y="0"/>
            <a:chExt cx="3738519" cy="1873587"/>
          </a:xfrm>
        </p:grpSpPr>
        <p:sp>
          <p:nvSpPr>
            <p:cNvPr name="Freeform 6" id="6"/>
            <p:cNvSpPr/>
            <p:nvPr/>
          </p:nvSpPr>
          <p:spPr>
            <a:xfrm flipH="false" flipV="false" rot="0">
              <a:off x="0" y="0"/>
              <a:ext cx="3738519" cy="1873587"/>
            </a:xfrm>
            <a:custGeom>
              <a:avLst/>
              <a:gdLst/>
              <a:ahLst/>
              <a:cxnLst/>
              <a:rect r="r" b="b" t="t" l="l"/>
              <a:pathLst>
                <a:path h="1873587" w="3738519">
                  <a:moveTo>
                    <a:pt x="43633" y="0"/>
                  </a:moveTo>
                  <a:lnTo>
                    <a:pt x="3694886" y="0"/>
                  </a:lnTo>
                  <a:cubicBezTo>
                    <a:pt x="3718984" y="0"/>
                    <a:pt x="3738519" y="19535"/>
                    <a:pt x="3738519" y="43633"/>
                  </a:cubicBezTo>
                  <a:lnTo>
                    <a:pt x="3738519" y="1829954"/>
                  </a:lnTo>
                  <a:cubicBezTo>
                    <a:pt x="3738519" y="1854052"/>
                    <a:pt x="3718984" y="1873587"/>
                    <a:pt x="3694886" y="1873587"/>
                  </a:cubicBezTo>
                  <a:lnTo>
                    <a:pt x="43633" y="1873587"/>
                  </a:lnTo>
                  <a:cubicBezTo>
                    <a:pt x="32061" y="1873587"/>
                    <a:pt x="20962" y="1868990"/>
                    <a:pt x="12780" y="1860807"/>
                  </a:cubicBezTo>
                  <a:cubicBezTo>
                    <a:pt x="4597" y="1852625"/>
                    <a:pt x="0" y="1841526"/>
                    <a:pt x="0" y="1829954"/>
                  </a:cubicBezTo>
                  <a:lnTo>
                    <a:pt x="0" y="43633"/>
                  </a:lnTo>
                  <a:cubicBezTo>
                    <a:pt x="0" y="32061"/>
                    <a:pt x="4597" y="20962"/>
                    <a:pt x="12780" y="12780"/>
                  </a:cubicBezTo>
                  <a:cubicBezTo>
                    <a:pt x="20962" y="4597"/>
                    <a:pt x="32061" y="0"/>
                    <a:pt x="43633" y="0"/>
                  </a:cubicBezTo>
                  <a:close/>
                </a:path>
              </a:pathLst>
            </a:custGeom>
            <a:solidFill>
              <a:srgbClr val="646464"/>
            </a:solidFill>
          </p:spPr>
        </p:sp>
        <p:sp>
          <p:nvSpPr>
            <p:cNvPr name="TextBox 7" id="7"/>
            <p:cNvSpPr txBox="true"/>
            <p:nvPr/>
          </p:nvSpPr>
          <p:spPr>
            <a:xfrm>
              <a:off x="0" y="-47625"/>
              <a:ext cx="3738519" cy="1921212"/>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2046655" y="1586612"/>
            <a:ext cx="14194690" cy="7113776"/>
            <a:chOff x="0" y="0"/>
            <a:chExt cx="3738519" cy="1873587"/>
          </a:xfrm>
        </p:grpSpPr>
        <p:sp>
          <p:nvSpPr>
            <p:cNvPr name="Freeform 9" id="9"/>
            <p:cNvSpPr/>
            <p:nvPr/>
          </p:nvSpPr>
          <p:spPr>
            <a:xfrm flipH="false" flipV="false" rot="0">
              <a:off x="0" y="0"/>
              <a:ext cx="3738519" cy="1873587"/>
            </a:xfrm>
            <a:custGeom>
              <a:avLst/>
              <a:gdLst/>
              <a:ahLst/>
              <a:cxnLst/>
              <a:rect r="r" b="b" t="t" l="l"/>
              <a:pathLst>
                <a:path h="1873587" w="3738519">
                  <a:moveTo>
                    <a:pt x="43633" y="0"/>
                  </a:moveTo>
                  <a:lnTo>
                    <a:pt x="3694886" y="0"/>
                  </a:lnTo>
                  <a:cubicBezTo>
                    <a:pt x="3718984" y="0"/>
                    <a:pt x="3738519" y="19535"/>
                    <a:pt x="3738519" y="43633"/>
                  </a:cubicBezTo>
                  <a:lnTo>
                    <a:pt x="3738519" y="1829954"/>
                  </a:lnTo>
                  <a:cubicBezTo>
                    <a:pt x="3738519" y="1854052"/>
                    <a:pt x="3718984" y="1873587"/>
                    <a:pt x="3694886" y="1873587"/>
                  </a:cubicBezTo>
                  <a:lnTo>
                    <a:pt x="43633" y="1873587"/>
                  </a:lnTo>
                  <a:cubicBezTo>
                    <a:pt x="32061" y="1873587"/>
                    <a:pt x="20962" y="1868990"/>
                    <a:pt x="12780" y="1860807"/>
                  </a:cubicBezTo>
                  <a:cubicBezTo>
                    <a:pt x="4597" y="1852625"/>
                    <a:pt x="0" y="1841526"/>
                    <a:pt x="0" y="1829954"/>
                  </a:cubicBezTo>
                  <a:lnTo>
                    <a:pt x="0" y="43633"/>
                  </a:lnTo>
                  <a:cubicBezTo>
                    <a:pt x="0" y="32061"/>
                    <a:pt x="4597" y="20962"/>
                    <a:pt x="12780" y="12780"/>
                  </a:cubicBezTo>
                  <a:cubicBezTo>
                    <a:pt x="20962" y="4597"/>
                    <a:pt x="32061" y="0"/>
                    <a:pt x="43633" y="0"/>
                  </a:cubicBezTo>
                  <a:close/>
                </a:path>
              </a:pathLst>
            </a:custGeom>
            <a:solidFill>
              <a:srgbClr val="FFFFFF"/>
            </a:solidFill>
          </p:spPr>
        </p:sp>
        <p:sp>
          <p:nvSpPr>
            <p:cNvPr name="TextBox 10" id="10"/>
            <p:cNvSpPr txBox="true"/>
            <p:nvPr/>
          </p:nvSpPr>
          <p:spPr>
            <a:xfrm>
              <a:off x="0" y="-47625"/>
              <a:ext cx="3738519" cy="1921212"/>
            </a:xfrm>
            <a:prstGeom prst="rect">
              <a:avLst/>
            </a:prstGeom>
          </p:spPr>
          <p:txBody>
            <a:bodyPr anchor="ctr" rtlCol="false" tIns="50800" lIns="50800" bIns="50800" rIns="50800"/>
            <a:lstStyle/>
            <a:p>
              <a:pPr algn="ctr">
                <a:lnSpc>
                  <a:spcPts val="3560"/>
                </a:lnSpc>
              </a:pPr>
            </a:p>
          </p:txBody>
        </p:sp>
      </p:grpSp>
      <p:sp>
        <p:nvSpPr>
          <p:cNvPr name="Freeform 11" id="11"/>
          <p:cNvSpPr/>
          <p:nvPr/>
        </p:nvSpPr>
        <p:spPr>
          <a:xfrm flipH="false" flipV="false" rot="0">
            <a:off x="689942" y="660153"/>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4884631" y="7146243"/>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3583054" y="2171766"/>
            <a:ext cx="11121892" cy="5772018"/>
          </a:xfrm>
          <a:prstGeom prst="rect">
            <a:avLst/>
          </a:prstGeom>
        </p:spPr>
        <p:txBody>
          <a:bodyPr anchor="t" rtlCol="false" tIns="0" lIns="0" bIns="0" rIns="0">
            <a:spAutoFit/>
          </a:bodyPr>
          <a:lstStyle/>
          <a:p>
            <a:pPr algn="ctr" marL="0" indent="0" lvl="0">
              <a:lnSpc>
                <a:spcPts val="22087"/>
              </a:lnSpc>
            </a:pPr>
            <a:r>
              <a:rPr lang="en-US" b="true" sz="18406">
                <a:solidFill>
                  <a:srgbClr val="8B5F0B"/>
                </a:solidFill>
                <a:latin typeface="Poppins Bold"/>
                <a:ea typeface="Poppins Bold"/>
                <a:cs typeface="Poppins Bold"/>
                <a:sym typeface="Poppins Bold"/>
              </a:rPr>
              <a:t>THANK YOU</a:t>
            </a:r>
          </a:p>
        </p:txBody>
      </p:sp>
      <p:sp>
        <p:nvSpPr>
          <p:cNvPr name="TextBox 14" id="14"/>
          <p:cNvSpPr txBox="true"/>
          <p:nvPr/>
        </p:nvSpPr>
        <p:spPr>
          <a:xfrm rot="0">
            <a:off x="6262591" y="9157588"/>
            <a:ext cx="5762818" cy="567911"/>
          </a:xfrm>
          <a:prstGeom prst="rect">
            <a:avLst/>
          </a:prstGeom>
        </p:spPr>
        <p:txBody>
          <a:bodyPr anchor="t" rtlCol="false" tIns="0" lIns="0" bIns="0" rIns="0">
            <a:spAutoFit/>
          </a:bodyPr>
          <a:lstStyle/>
          <a:p>
            <a:pPr algn="ctr" marL="0" indent="0" lvl="0">
              <a:lnSpc>
                <a:spcPts val="4397"/>
              </a:lnSpc>
              <a:spcBef>
                <a:spcPct val="0"/>
              </a:spcBef>
            </a:pPr>
            <a:r>
              <a:rPr lang="en-US" sz="3141">
                <a:solidFill>
                  <a:srgbClr val="000000"/>
                </a:solidFill>
                <a:latin typeface="Poppins"/>
                <a:ea typeface="Poppins"/>
                <a:cs typeface="Poppins"/>
                <a:sym typeface="Poppins"/>
              </a:rPr>
              <a:t>August 10</a:t>
            </a:r>
            <a:r>
              <a:rPr lang="en-US" sz="3141">
                <a:solidFill>
                  <a:srgbClr val="000000"/>
                </a:solidFill>
                <a:latin typeface="Poppins"/>
                <a:ea typeface="Poppins"/>
                <a:cs typeface="Poppins"/>
                <a:sym typeface="Poppins"/>
              </a:rPr>
              <a:t>,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DAHRfH7syjc</dc:identifier>
  <dcterms:modified xsi:type="dcterms:W3CDTF">2011-08-01T06:04:30Z</dcterms:modified>
  <cp:revision>1</cp:revision>
  <dc:title>Group 5_Presentation</dc:title>
</cp:coreProperties>
</file>