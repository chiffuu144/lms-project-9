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18288000" cy="10287000"/>
  <p:notesSz cx="6858000" cy="9144000"/>
  <p:embeddedFontLst>
    <p:embeddedFont>
      <p:font typeface="Cooper Hewitt Bold" charset="1" panose="00000000000000000000"/>
      <p:regular r:id="rId54"/>
    </p:embeddedFont>
    <p:embeddedFont>
      <p:font typeface="Cooper Hewitt" charset="1" panose="00000000000000000000"/>
      <p:regular r:id="rId55"/>
    </p:embeddedFont>
    <p:embeddedFont>
      <p:font typeface="DM Sans" charset="1" panose="00000000000000000000"/>
      <p:regular r:id="rId56"/>
    </p:embeddedFont>
    <p:embeddedFont>
      <p:font typeface="DM Sans Bold" charset="1" panose="00000000000000000000"/>
      <p:regular r:id="rId57"/>
    </p:embeddedFont>
    <p:embeddedFont>
      <p:font typeface="DM Sans Italics" charset="1" panose="00000000000000000000"/>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notesMasters/notesMaster1.xml" Type="http://schemas.openxmlformats.org/officeDocument/2006/relationships/notesMaster"/><Relationship Id="rId59" Target="theme/theme2.xml" Type="http://schemas.openxmlformats.org/officeDocument/2006/relationships/theme"/><Relationship Id="rId6" Target="slides/slide1.xml" Type="http://schemas.openxmlformats.org/officeDocument/2006/relationships/slide"/><Relationship Id="rId60" Target="notesSlides/notesSlide1.xml" Type="http://schemas.openxmlformats.org/officeDocument/2006/relationships/notesSlide"/><Relationship Id="rId61" Target="notesSlides/notesSlide2.xml" Type="http://schemas.openxmlformats.org/officeDocument/2006/relationships/notesSlide"/><Relationship Id="rId62" Target="notesSlides/notesSlide3.xml" Type="http://schemas.openxmlformats.org/officeDocument/2006/relationships/notesSlide"/><Relationship Id="rId63" Target="notesSlides/notesSlide4.xml" Type="http://schemas.openxmlformats.org/officeDocument/2006/relationships/notesSlide"/><Relationship Id="rId64" Target="notesSlides/notesSlide5.xml" Type="http://schemas.openxmlformats.org/officeDocument/2006/relationships/notesSlide"/><Relationship Id="rId65" Target="notesSlides/notesSlide6.xml" Type="http://schemas.openxmlformats.org/officeDocument/2006/relationships/notesSlide"/><Relationship Id="rId66" Target="notesSlides/notesSlide7.xml" Type="http://schemas.openxmlformats.org/officeDocument/2006/relationships/notesSlide"/><Relationship Id="rId67" Target="notesSlides/notesSlide8.xml" Type="http://schemas.openxmlformats.org/officeDocument/2006/relationships/notesSlide"/><Relationship Id="rId68" Target="fonts/font68.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Business Continuity Plan or BCP</a:t>
            </a:r>
          </a:p>
          <a:p>
            <a:r>
              <a:rPr lang="en-US"/>
              <a:t/>
            </a:r>
          </a:p>
          <a:p>
            <a:r>
              <a:rPr lang="en-US"/>
              <a:t>For the first type of contingency plan, we have **Business Continuity Plan, or BCP**.</a:t>
            </a:r>
          </a:p>
          <a:p>
            <a:r>
              <a:rPr lang="en-US"/>
              <a:t/>
            </a:r>
          </a:p>
          <a:p>
            <a:r>
              <a:rPr lang="en-US"/>
              <a:t>So, ano ba ang Business Continuity Plan?</a:t>
            </a:r>
          </a:p>
          <a:p>
            <a:r>
              <a:rPr lang="en-US"/>
              <a:t/>
            </a:r>
          </a:p>
          <a:p>
            <a:r>
              <a:rPr lang="en-US"/>
              <a:t>A **Business Continuity Plan** is a plan that helps an organization **continue its important or essential business activities kapag may disruption or unexpected problem na nangyari**. For example, magkaroon ng natural disaster, power outage, system failure, cyberattack, or any situation na maaaring makaapekto sa normal operations ng isang organization.</a:t>
            </a:r>
          </a:p>
          <a:p>
            <a:r>
              <a:rPr lang="en-US"/>
              <a:t/>
            </a:r>
          </a:p>
          <a:p>
            <a:r>
              <a:rPr lang="en-US"/>
              <a:t>The main goal of BCP is to make sure na **hindi totally titigil ang business operations** kapag may disruption. Instead, may prepared procedures ang organization para maipagpatuloy ang mga pinaka-importanteng activities habang inaayos pa yung problem hanggang sa makabalik na sila sa normal operations.</a:t>
            </a:r>
          </a:p>
          <a:p>
            <a:r>
              <a:rPr lang="en-US"/>
              <a:t/>
            </a:r>
          </a:p>
          <a:p>
            <a:r>
              <a:rPr lang="en-US"/>
              <a:t>Ang BCP ay mainly **focused on sustaining business functions during and after a disruption**. Ibig sabihin, hindi lang siya ginagamit habang nangyayari ang emergency. Tinitingnan din nito kung paano magpapatuloy ang operations pagkatapos ng disruption hanggang sa maging stable ulit ang organization.</a:t>
            </a:r>
          </a:p>
          <a:p>
            <a:r>
              <a:rPr lang="en-US"/>
              <a:t/>
            </a:r>
          </a:p>
          <a:p>
            <a:r>
              <a:rPr lang="en-US"/>
              <a:t>The BCP can also cover **all key business processes**, pero maaari rin itong gawin para sa **specific business process** lamang. For example, kung ang isang company ay highly dependent sa online system nila, puwedeng magkaroon ng specific continuity plan para sa kanilang IT or online services.</a:t>
            </a:r>
          </a:p>
          <a:p>
            <a:r>
              <a:rPr lang="en-US"/>
              <a:t/>
            </a:r>
          </a:p>
          <a:p>
            <a:r>
              <a:rPr lang="en-US"/>
              <a:t>Another important purpose of BCP is to help organizations prepare for different disruptions that can affect their **operations, employees, facilities, technology, and other critical resources**.</a:t>
            </a:r>
          </a:p>
          <a:p>
            <a:r>
              <a:rPr lang="en-US"/>
              <a:t/>
            </a:r>
          </a:p>
          <a:p>
            <a:r>
              <a:rPr lang="en-US"/>
              <a:t>For example, kung magkaroon ng earthquake at hindi magamit ang office building, dapat may plan ang company kung saan magtatrabaho ang employees. Kung magkaroon naman ng system failure, dapat may alternative process para maipagpatuloy pa rin ang important business activities.</a:t>
            </a:r>
          </a:p>
          <a:p>
            <a:r>
              <a:rPr lang="en-US"/>
              <a:t/>
            </a:r>
          </a:p>
          <a:p>
            <a:r>
              <a:rPr lang="en-US"/>
              <a:t>Basically, ang BCP ay nag-e-establish ng **procedures and actions** na dapat sundin ng organization during a disruption. This helps them **continue their critical operations and minimize the impact or interruption** sa business.</a:t>
            </a:r>
          </a:p>
          <a:p>
            <a:r>
              <a:rPr lang="en-US"/>
              <a:t/>
            </a:r>
          </a:p>
          <a:p>
            <a:r>
              <a:rPr lang="en-US"/>
              <a:t>Lastly, based on the provided document, the **Business Continuity Plan is also part of the Certification and Accreditation process**. This means na kasama ang BCP sa mga procedures na ginagamit to make sure that an organization is properly prepared and has measures in place to maintain its important operations during disruptions.</a:t>
            </a:r>
          </a:p>
          <a:p>
            <a:r>
              <a:rPr lang="en-US"/>
              <a:t/>
            </a:r>
          </a:p>
          <a:p>
            <a:r>
              <a:rPr lang="en-US"/>
              <a:t>So, in simple terms, **BCP is about making sure that the business can continue operating even when something unexpected happens, until normal operations can be fully restored.**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Business Recovery Plan or BRP</a:t>
            </a:r>
          </a:p>
          <a:p>
            <a:r>
              <a:rPr lang="en-US"/>
              <a:t/>
            </a:r>
          </a:p>
          <a:p>
            <a:r>
              <a:rPr lang="en-US"/>
              <a:t>Next, we have the **Business Recovery Plan, or BRP**.</a:t>
            </a:r>
          </a:p>
          <a:p>
            <a:r>
              <a:rPr lang="en-US"/>
              <a:t/>
            </a:r>
          </a:p>
          <a:p>
            <a:r>
              <a:rPr lang="en-US"/>
              <a:t>So, ang main purpose ng **Business Recovery Plan** is to help an organization **quickly restore its business activities after a major disruption and return to normal operations**.</a:t>
            </a:r>
          </a:p>
          <a:p>
            <a:r>
              <a:rPr lang="en-US"/>
              <a:t/>
            </a:r>
          </a:p>
          <a:p>
            <a:r>
              <a:rPr lang="en-US"/>
              <a:t>Unlike the Business Continuity Plan na focused sa pagpapatuloy ng important business activities during a disruption, ang **BRP naman ay mas focused sa recovery or pagbalik ng business sa normal after the emergency or disruption**.</a:t>
            </a:r>
          </a:p>
          <a:p>
            <a:r>
              <a:rPr lang="en-US"/>
              <a:t/>
            </a:r>
          </a:p>
          <a:p>
            <a:r>
              <a:rPr lang="en-US"/>
              <a:t>For example, kung magkaroon ng major disaster at maapektuhan ang operations ng isang company, the Business Recovery Plan provides the **procedures and actions** na kailangan gawin para mabilis na ma-resume ang kanilang business activities.</a:t>
            </a:r>
          </a:p>
          <a:p>
            <a:r>
              <a:rPr lang="en-US"/>
              <a:t/>
            </a:r>
          </a:p>
          <a:p>
            <a:r>
              <a:rPr lang="en-US"/>
              <a:t>Kasama rin sa recovery plan ang pag-identify kung **ano ang mga procedures na kailangan gawin, sino ang responsible personnel, anong resources ang kailangan, at gaano katagal ang expected timeframe para sa recovery**.</a:t>
            </a:r>
          </a:p>
          <a:p>
            <a:r>
              <a:rPr lang="en-US"/>
              <a:t/>
            </a:r>
          </a:p>
          <a:p>
            <a:r>
              <a:rPr lang="en-US"/>
              <a:t>So basically, hindi lang sinasabi ng BRP na "kailangan nating bumalik sa normal." It also helps identify **kung paano ito gagawin, sino ang gagawa, ano ang kailangan, at kailan dapat matapos**.</a:t>
            </a:r>
          </a:p>
          <a:p>
            <a:r>
              <a:rPr lang="en-US"/>
              <a:t/>
            </a:r>
          </a:p>
          <a:p>
            <a:r>
              <a:rPr lang="en-US"/>
              <a:t>A Business Recovery Plan also considers different types of disruptions that could affect an organization.</a:t>
            </a:r>
          </a:p>
          <a:p>
            <a:r>
              <a:rPr lang="en-US"/>
              <a:t/>
            </a:r>
          </a:p>
          <a:p>
            <a:r>
              <a:rPr lang="en-US"/>
              <a:t>First is **hardware or software failure**. For example, masira ang computers, servers, or magkaroon ng problem sa important software na ginagamit ng company.</a:t>
            </a:r>
          </a:p>
          <a:p>
            <a:r>
              <a:rPr lang="en-US"/>
              <a:t/>
            </a:r>
          </a:p>
          <a:p>
            <a:r>
              <a:rPr lang="en-US"/>
              <a:t>Second is **cyberattacks**. These are attacks that can damage systems, steal data, or prevent employees from accessing important business systems.</a:t>
            </a:r>
          </a:p>
          <a:p>
            <a:r>
              <a:rPr lang="en-US"/>
              <a:t/>
            </a:r>
          </a:p>
          <a:p>
            <a:r>
              <a:rPr lang="en-US"/>
              <a:t>Third is **backup problems**. Halimbawa, hindi available or corrupted ang backup data na kailangan sana para ma-restore ang important files and systems.</a:t>
            </a:r>
          </a:p>
          <a:p>
            <a:r>
              <a:rPr lang="en-US"/>
              <a:t/>
            </a:r>
          </a:p>
          <a:p>
            <a:r>
              <a:rPr lang="en-US"/>
              <a:t>Fourth is **human error**. Sometimes, disruptions can happen because of mistakes made by employees, such as accidentally deleting important data or changing an important system configuration.</a:t>
            </a:r>
          </a:p>
          <a:p>
            <a:r>
              <a:rPr lang="en-US"/>
              <a:t/>
            </a:r>
          </a:p>
          <a:p>
            <a:r>
              <a:rPr lang="en-US"/>
              <a:t>And lastly, **natural disasters**, such as earthquakes, typhoons, floods, or fires, which can damage facilities, equipment, and other resources needed by the organization.</a:t>
            </a:r>
          </a:p>
          <a:p>
            <a:r>
              <a:rPr lang="en-US"/>
              <a:t/>
            </a:r>
          </a:p>
          <a:p>
            <a:r>
              <a:rPr lang="en-US"/>
              <a:t>Now, let's talk about the **objectives of a Business Recovery Plan**.</a:t>
            </a:r>
          </a:p>
          <a:p>
            <a:r>
              <a:rPr lang="en-US"/>
              <a:t/>
            </a:r>
          </a:p>
          <a:p>
            <a:r>
              <a:rPr lang="en-US"/>
              <a:t>First, it aims to **minimize the impact of a crisis**. Ibig sabihin, sinusubukan nitong bawasan kung gaano kalaki ang damage or effect ng disruption sa organization.</a:t>
            </a:r>
          </a:p>
          <a:p>
            <a:r>
              <a:rPr lang="en-US"/>
              <a:t/>
            </a:r>
          </a:p>
          <a:p>
            <a:r>
              <a:rPr lang="en-US"/>
              <a:t>Second, it aims to **reduce business interruption time**. The organization wants to restore its activities as quickly as possible para hindi matagal na ma-stop ang operations.</a:t>
            </a:r>
          </a:p>
          <a:p>
            <a:r>
              <a:rPr lang="en-US"/>
              <a:t/>
            </a:r>
          </a:p>
          <a:p>
            <a:r>
              <a:rPr lang="en-US"/>
              <a:t>Third, it **supports the organization's recovery** by providing clear procedures, responsibilities, resources, and actions that need to be followed.</a:t>
            </a:r>
          </a:p>
          <a:p>
            <a:r>
              <a:rPr lang="en-US"/>
              <a:t/>
            </a:r>
          </a:p>
          <a:p>
            <a:r>
              <a:rPr lang="en-US"/>
              <a:t>And lastly, the goal is to **return the organization to a normal level of operation as quickly as possible**.</a:t>
            </a:r>
          </a:p>
          <a:p>
            <a:r>
              <a:rPr lang="en-US"/>
              <a:t/>
            </a:r>
          </a:p>
          <a:p>
            <a:r>
              <a:rPr lang="en-US"/>
              <a:t>So, in simple terms, **Business Recovery Plan is all about getting the business back on its feet after a major disruption**. It provides a clear plan on what needs to be done so the organization can recover quickly and return to normal operations.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Continuity of Operations Plan or COOP</a:t>
            </a:r>
          </a:p>
          <a:p>
            <a:r>
              <a:rPr lang="en-US"/>
              <a:t/>
            </a:r>
          </a:p>
          <a:p>
            <a:r>
              <a:rPr lang="en-US"/>
              <a:t>Next, we have the **Continuity of Operations Plan, or COOP**.</a:t>
            </a:r>
          </a:p>
          <a:p>
            <a:r>
              <a:rPr lang="en-US"/>
              <a:t/>
            </a:r>
          </a:p>
          <a:p>
            <a:r>
              <a:rPr lang="en-US"/>
              <a:t>The main purpose of COOP is to **ensure that an organization can continue its essential functions and services kahit disrupted or unavailable ang normal operations**.</a:t>
            </a:r>
          </a:p>
          <a:p>
            <a:r>
              <a:rPr lang="en-US"/>
              <a:t/>
            </a:r>
          </a:p>
          <a:p>
            <a:r>
              <a:rPr lang="en-US"/>
              <a:t>So, ang focus ng COOP is making sure na kahit may unexpected problem or disruption, **tuloy pa rin ang pinaka-importanteng functions ng organization**.</a:t>
            </a:r>
          </a:p>
          <a:p>
            <a:r>
              <a:rPr lang="en-US"/>
              <a:t/>
            </a:r>
          </a:p>
          <a:p>
            <a:r>
              <a:rPr lang="en-US"/>
              <a:t>For example, kung hindi magamit ang main office dahil sa isang disaster, kailangan pa rin ma-continue ang essential services ng organization. Hindi ibig sabihin na kapag hindi available ang normal facility, completely titigil na rin ang operations.</a:t>
            </a:r>
          </a:p>
          <a:p>
            <a:r>
              <a:rPr lang="en-US"/>
              <a:t/>
            </a:r>
          </a:p>
          <a:p>
            <a:r>
              <a:rPr lang="en-US"/>
              <a:t>COOP helps ensure that the organization can continue providing its **essential services and core capabilities**. These are the functions na kailangan talagang ma-maintain dahil important sila sa organization and sa mga taong umaasa sa services nito.</a:t>
            </a:r>
          </a:p>
          <a:p>
            <a:r>
              <a:rPr lang="en-US"/>
              <a:t/>
            </a:r>
          </a:p>
          <a:p>
            <a:r>
              <a:rPr lang="en-US"/>
              <a:t>Importante rin dito ang **leadership and teamwork**. Kailangan mag-work together ang leaders and employees para ma-maintain ang essential functions and continuity ng organization. Hindi lang isang department ang responsible dito because different people and resources are needed to keep operations going.</a:t>
            </a:r>
          </a:p>
          <a:p>
            <a:r>
              <a:rPr lang="en-US"/>
              <a:t/>
            </a:r>
          </a:p>
          <a:p>
            <a:r>
              <a:rPr lang="en-US"/>
              <a:t>COOP can also support operations kapag **normal facilities or procedures are disrupted**. For example, kung hindi available ang main office or hindi magamit ang usual process, the organization should have alternative arrangements para maipagpatuloy pa rin ang essential functions.</a:t>
            </a:r>
          </a:p>
          <a:p>
            <a:r>
              <a:rPr lang="en-US"/>
              <a:t/>
            </a:r>
          </a:p>
          <a:p>
            <a:r>
              <a:rPr lang="en-US"/>
              <a:t>One example is using an **alternate location**. Kung hindi magamit ang main facility, maaaring lumipat temporarily sa another location kung saan maaaring ipagpatuloy ang important operations.</a:t>
            </a:r>
          </a:p>
          <a:p>
            <a:r>
              <a:rPr lang="en-US"/>
              <a:t/>
            </a:r>
          </a:p>
          <a:p>
            <a:r>
              <a:rPr lang="en-US"/>
              <a:t>Now, important din na malaman ang difference between **COOP and Emergency Operations Plan or EOP**.</a:t>
            </a:r>
          </a:p>
          <a:p>
            <a:r>
              <a:rPr lang="en-US"/>
              <a:t/>
            </a:r>
          </a:p>
          <a:p>
            <a:r>
              <a:rPr lang="en-US"/>
              <a:t>Ang **EOP** is more focused on **responding to an emergency**. For example, ano ang immediate actions na kailangan gawin kapag may emergency.</a:t>
            </a:r>
          </a:p>
          <a:p>
            <a:r>
              <a:rPr lang="en-US"/>
              <a:t/>
            </a:r>
          </a:p>
          <a:p>
            <a:r>
              <a:rPr lang="en-US"/>
              <a:t>While ang **COOP** naman is focused on **maintaining essential operations during the disruption**. So, after or while responding to the emergency, COOP makes sure na patuloy pa rin ang important functions and services ng organization.</a:t>
            </a:r>
          </a:p>
          <a:p>
            <a:r>
              <a:rPr lang="en-US"/>
              <a:t/>
            </a:r>
          </a:p>
          <a:p>
            <a:r>
              <a:rPr lang="en-US"/>
              <a:t>In simple terms, **COOP is about keeping the organization running even when normal operations are disrupted**.</a:t>
            </a:r>
          </a:p>
          <a:p>
            <a:r>
              <a:rPr lang="en-US"/>
              <a:t/>
            </a:r>
          </a:p>
          <a:p>
            <a:r>
              <a:rPr lang="en-US"/>
              <a:t>### Continuity of Support Plan or COS</a:t>
            </a:r>
          </a:p>
          <a:p>
            <a:r>
              <a:rPr lang="en-US"/>
              <a:t/>
            </a:r>
          </a:p>
          <a:p>
            <a:r>
              <a:rPr lang="en-US"/>
              <a:t>Next is the **Continuity of Support Plan, or COS**.</a:t>
            </a:r>
          </a:p>
          <a:p>
            <a:r>
              <a:rPr lang="en-US"/>
              <a:t/>
            </a:r>
          </a:p>
          <a:p>
            <a:r>
              <a:rPr lang="en-US"/>
              <a:t>The main purpose of COS is to **keep the support and services for major applications running even when normal operations are disrupted**.</a:t>
            </a:r>
          </a:p>
          <a:p>
            <a:r>
              <a:rPr lang="en-US"/>
              <a:t/>
            </a:r>
          </a:p>
          <a:p>
            <a:r>
              <a:rPr lang="en-US"/>
              <a:t>So, ang focus naman ng COS is not necessarily the entire organization. Instead, it focuses on the **support and services needed by major or important applications**.</a:t>
            </a:r>
          </a:p>
          <a:p>
            <a:r>
              <a:rPr lang="en-US"/>
              <a:t/>
            </a:r>
          </a:p>
          <a:p>
            <a:r>
              <a:rPr lang="en-US"/>
              <a:t>For example, may isang application na ginagamit ng organization every day para sa important business activities. Kahit gumagana pa yung application itself, magiging useless ito kung wala itong technical support, resources, network services, or other supporting services.</a:t>
            </a:r>
          </a:p>
          <a:p>
            <a:r>
              <a:rPr lang="en-US"/>
              <a:t/>
            </a:r>
          </a:p>
          <a:p>
            <a:r>
              <a:rPr lang="en-US"/>
              <a:t>That's why COS makes sure that **important applications continue to receive the technical support and resources they need during a disruption**.</a:t>
            </a:r>
          </a:p>
          <a:p>
            <a:r>
              <a:rPr lang="en-US"/>
              <a:t/>
            </a:r>
          </a:p>
          <a:p>
            <a:r>
              <a:rPr lang="en-US"/>
              <a:t>It also helps prevent critical applications from becoming **unusable because their supporting services are unavailable**.</a:t>
            </a:r>
          </a:p>
          <a:p>
            <a:r>
              <a:rPr lang="en-US"/>
              <a:t/>
            </a:r>
          </a:p>
          <a:p>
            <a:r>
              <a:rPr lang="en-US"/>
              <a:t>For example, kung may important system na ginagamit para sa daily operations pero nawawala ang technical support needed to maintain it, possible na hindi mag-function properly ang system. Through COS, may plan kung paano ipagpapatuloy ang necessary support kahit may disruption.</a:t>
            </a:r>
          </a:p>
          <a:p>
            <a:r>
              <a:rPr lang="en-US"/>
              <a:t/>
            </a:r>
          </a:p>
          <a:p>
            <a:r>
              <a:rPr lang="en-US"/>
              <a:t>COS also supports the continued operation of applications that are **important to the organization's daily activities**. This means that the organization identifies which applications are critical and makes sure that the necessary support for those applications is available.</a:t>
            </a:r>
          </a:p>
          <a:p>
            <a:r>
              <a:rPr lang="en-US"/>
              <a:t/>
            </a:r>
          </a:p>
          <a:p>
            <a:r>
              <a:rPr lang="en-US"/>
              <a:t>Lastly, COS ensures that the **necessary support remains available until normal services can be restored**.</a:t>
            </a:r>
          </a:p>
          <a:p>
            <a:r>
              <a:rPr lang="en-US"/>
              <a:t/>
            </a:r>
          </a:p>
          <a:p>
            <a:r>
              <a:rPr lang="en-US"/>
              <a:t>So, in simple terms, **COS is about making sure that important applications don't stop working just because their supporting services are disrupted**. It provides continuity of the technical support and resources needed until normal services are back.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Crisis Communications Plan</a:t>
            </a:r>
          </a:p>
          <a:p>
            <a:r>
              <a:rPr lang="en-US"/>
              <a:t/>
            </a:r>
          </a:p>
          <a:p>
            <a:r>
              <a:rPr lang="en-US"/>
              <a:t>Next, we have the **Crisis Communications Plan**.</a:t>
            </a:r>
          </a:p>
          <a:p>
            <a:r>
              <a:rPr lang="en-US"/>
              <a:t/>
            </a:r>
          </a:p>
          <a:p>
            <a:r>
              <a:rPr lang="en-US"/>
              <a:t>The main purpose of this plan is to **make sure that the right information reaches the right people at the right time during a crisis**.</a:t>
            </a:r>
          </a:p>
          <a:p>
            <a:r>
              <a:rPr lang="en-US"/>
              <a:t/>
            </a:r>
          </a:p>
          <a:p>
            <a:r>
              <a:rPr lang="en-US"/>
              <a:t>Kapag may crisis or emergency, very important ang communication because people need to know **what is happening, what they should do, and what actions they need to take**.</a:t>
            </a:r>
          </a:p>
          <a:p>
            <a:r>
              <a:rPr lang="en-US"/>
              <a:t/>
            </a:r>
          </a:p>
          <a:p>
            <a:r>
              <a:rPr lang="en-US"/>
              <a:t>The Crisis Communications Plan establishes **how an organization will communicate before, during, and after a crisis**. So, hindi lang siya prepared kapag nagsimula na ang emergency. May communication procedures na dapat ready beforehand, during the crisis, and even after the situation has been handled.</a:t>
            </a:r>
          </a:p>
          <a:p>
            <a:r>
              <a:rPr lang="en-US"/>
              <a:t/>
            </a:r>
          </a:p>
          <a:p>
            <a:r>
              <a:rPr lang="en-US"/>
              <a:t>It also identifies **who is responsible for communicating and who should receive the information**.</a:t>
            </a:r>
          </a:p>
          <a:p>
            <a:r>
              <a:rPr lang="en-US"/>
              <a:t/>
            </a:r>
          </a:p>
          <a:p>
            <a:r>
              <a:rPr lang="en-US"/>
              <a:t>For example, may designated person or team na responsible sa pag-release ng official information. At the same time, kailangan din malaman kung sino ang dapat makatanggap ng information, whether employees, customers, the public, or other stakeholders.</a:t>
            </a:r>
          </a:p>
          <a:p>
            <a:r>
              <a:rPr lang="en-US"/>
              <a:t/>
            </a:r>
          </a:p>
          <a:p>
            <a:r>
              <a:rPr lang="en-US"/>
              <a:t>The plan also provides a clear process for **collecting, reviewing, preparing, and sharing information**.</a:t>
            </a:r>
          </a:p>
          <a:p>
            <a:r>
              <a:rPr lang="en-US"/>
              <a:t/>
            </a:r>
          </a:p>
          <a:p>
            <a:r>
              <a:rPr lang="en-US"/>
              <a:t>Meaning, bago mag-release ng information, kailangan muna itong ma-check and ma-review para maiwasan ang wrong or incomplete information.</a:t>
            </a:r>
          </a:p>
          <a:p>
            <a:r>
              <a:rPr lang="en-US"/>
              <a:t/>
            </a:r>
          </a:p>
          <a:p>
            <a:r>
              <a:rPr lang="en-US"/>
              <a:t>This helps ensure that the information released during a crisis is **accurate, clear, and consistent**.</a:t>
            </a:r>
          </a:p>
          <a:p>
            <a:r>
              <a:rPr lang="en-US"/>
              <a:t/>
            </a:r>
          </a:p>
          <a:p>
            <a:r>
              <a:rPr lang="en-US"/>
              <a:t>Importante ito kasi kapag may crisis, mabilis kumalat ang information, especially through social media. Kung hindi clear or accurate ang information, puwedeng magkaroon ng confusion or misinformation.</a:t>
            </a:r>
          </a:p>
          <a:p>
            <a:r>
              <a:rPr lang="en-US"/>
              <a:t/>
            </a:r>
          </a:p>
          <a:p>
            <a:r>
              <a:rPr lang="en-US"/>
              <a:t>Communication during a crisis may involve different groups, such as **employees, customers, the public, emergency responders, and other important stakeholders**.</a:t>
            </a:r>
          </a:p>
          <a:p>
            <a:r>
              <a:rPr lang="en-US"/>
              <a:t/>
            </a:r>
          </a:p>
          <a:p>
            <a:r>
              <a:rPr lang="en-US"/>
              <a:t>For example, employees may need instructions about their safety, while customers may need updates about the availability of services.</a:t>
            </a:r>
          </a:p>
          <a:p>
            <a:r>
              <a:rPr lang="en-US"/>
              <a:t/>
            </a:r>
          </a:p>
          <a:p>
            <a:r>
              <a:rPr lang="en-US"/>
              <a:t>Lastly, the Crisis Communications Plan helps an organization **provide timely information and reduce confusion or misinformation during a crisis**.</a:t>
            </a:r>
          </a:p>
          <a:p>
            <a:r>
              <a:rPr lang="en-US"/>
              <a:t/>
            </a:r>
          </a:p>
          <a:p>
            <a:r>
              <a:rPr lang="en-US"/>
              <a:t>So, in simple terms, **this plan makes sure that during a crisis, people receive accurate information from the right source at the right time**.</a:t>
            </a:r>
          </a:p>
          <a:p>
            <a:r>
              <a:rPr lang="en-US"/>
              <a:t/>
            </a:r>
          </a:p>
          <a:p>
            <a:r>
              <a:rPr lang="en-US"/>
              <a:t>### Cyber Incident Response Plan or CIRP</a:t>
            </a:r>
          </a:p>
          <a:p>
            <a:r>
              <a:rPr lang="en-US"/>
              <a:t/>
            </a:r>
          </a:p>
          <a:p>
            <a:r>
              <a:rPr lang="en-US"/>
              <a:t>Next, we have the **Cyber Incident Response Plan, or CIRP**.</a:t>
            </a:r>
          </a:p>
          <a:p>
            <a:r>
              <a:rPr lang="en-US"/>
              <a:t/>
            </a:r>
          </a:p>
          <a:p>
            <a:r>
              <a:rPr lang="en-US"/>
              <a:t>The main purpose of CIRP is to provide a **clear and organized way for an organization to respond to and manage cyber incidents**.</a:t>
            </a:r>
          </a:p>
          <a:p>
            <a:r>
              <a:rPr lang="en-US"/>
              <a:t/>
            </a:r>
          </a:p>
          <a:p>
            <a:r>
              <a:rPr lang="en-US"/>
              <a:t>So, kapag may cyberattack or cybersecurity incident, hindi dapat mag-panic or gumawa ng random actions ang organization. Instead, they should have a structured plan that tells them **what to do, who should do it, and when they should take action**.</a:t>
            </a:r>
          </a:p>
          <a:p>
            <a:r>
              <a:rPr lang="en-US"/>
              <a:t/>
            </a:r>
          </a:p>
          <a:p>
            <a:r>
              <a:rPr lang="en-US"/>
              <a:t>The CIRP provides a **structured approach for responding to cybersecurity incidents**. It defines the actions that an organization should take kapag may cyberattack or security incident.</a:t>
            </a:r>
          </a:p>
          <a:p>
            <a:r>
              <a:rPr lang="en-US"/>
              <a:t/>
            </a:r>
          </a:p>
          <a:p>
            <a:r>
              <a:rPr lang="en-US"/>
              <a:t>For example, kung may unauthorized access, malware, data breach, or another type of cyber incident, the organization needs to follow specific procedures to properly handle the situation.</a:t>
            </a:r>
          </a:p>
          <a:p>
            <a:r>
              <a:rPr lang="en-US"/>
              <a:t/>
            </a:r>
          </a:p>
          <a:p>
            <a:r>
              <a:rPr lang="en-US"/>
              <a:t>One important purpose of CIRP is to help the organization **identify, contain, and manage the incident**.</a:t>
            </a:r>
          </a:p>
          <a:p>
            <a:r>
              <a:rPr lang="en-US"/>
              <a:t/>
            </a:r>
          </a:p>
          <a:p>
            <a:r>
              <a:rPr lang="en-US"/>
              <a:t>First, they need to identify kung ano ang nangyari and which systems or data are affected. Then, they need to contain the incident para hindi na ito kumalat to other systems. After that, they can manage the situation and take the necessary steps to resolve it.</a:t>
            </a:r>
          </a:p>
          <a:p>
            <a:r>
              <a:rPr lang="en-US"/>
              <a:t/>
            </a:r>
          </a:p>
          <a:p>
            <a:r>
              <a:rPr lang="en-US"/>
              <a:t>CIRP also establishes **responsibilities** so that the appropriate people know **what to do and when to act**.</a:t>
            </a:r>
          </a:p>
          <a:p>
            <a:r>
              <a:rPr lang="en-US"/>
              <a:t/>
            </a:r>
          </a:p>
          <a:p>
            <a:r>
              <a:rPr lang="en-US"/>
              <a:t>For example, the IT or security team may be responsible for investigating and containing the incident, while management may be responsible for making important decisions and coordinating with other stakeholders.</a:t>
            </a:r>
          </a:p>
          <a:p>
            <a:r>
              <a:rPr lang="en-US"/>
              <a:t/>
            </a:r>
          </a:p>
          <a:p>
            <a:r>
              <a:rPr lang="en-US"/>
              <a:t>Another goal of CIRP is to **reduce the potential damage, disruption, and loss of data** caused by a cyber incident.</a:t>
            </a:r>
          </a:p>
          <a:p>
            <a:r>
              <a:rPr lang="en-US"/>
              <a:t/>
            </a:r>
          </a:p>
          <a:p>
            <a:r>
              <a:rPr lang="en-US"/>
              <a:t>The faster and more organized the response, the greater the chance na mababawasan ang impact ng cyberattack sa organization.</a:t>
            </a:r>
          </a:p>
          <a:p>
            <a:r>
              <a:rPr lang="en-US"/>
              <a:t/>
            </a:r>
          </a:p>
          <a:p>
            <a:r>
              <a:rPr lang="en-US"/>
              <a:t>Lastly, CIRP supports the organization's **recovery** and helps restore affected systems after the incident.</a:t>
            </a:r>
          </a:p>
          <a:p>
            <a:r>
              <a:rPr lang="en-US"/>
              <a:t/>
            </a:r>
          </a:p>
          <a:p>
            <a:r>
              <a:rPr lang="en-US"/>
              <a:t>Once the threat has been handled, the organization needs to recover the affected systems and return them to normal operation.</a:t>
            </a:r>
          </a:p>
          <a:p>
            <a:r>
              <a:rPr lang="en-US"/>
              <a:t/>
            </a:r>
          </a:p>
          <a:p>
            <a:r>
              <a:rPr lang="en-US"/>
              <a:t>So, in simple terms, **CIRP is a plan that guides an organization on what to do before, during, and after a cyber incident so they can control the situation, minimize the damage, and recover their systems properly**.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Disaster Recovery Plan or DRP</a:t>
            </a:r>
          </a:p>
          <a:p>
            <a:r>
              <a:rPr lang="en-US"/>
              <a:t/>
            </a:r>
          </a:p>
          <a:p>
            <a:r>
              <a:rPr lang="en-US"/>
              <a:t>Next, we have the **Disaster Recovery Plan, or DRP**.</a:t>
            </a:r>
          </a:p>
          <a:p>
            <a:r>
              <a:rPr lang="en-US"/>
              <a:t/>
            </a:r>
          </a:p>
          <a:p>
            <a:r>
              <a:rPr lang="en-US"/>
              <a:t>The main purpose of a **Disaster Recovery Plan** is to help an organization **restore its critical IT systems, data, and services after a major disaster or disruption**.</a:t>
            </a:r>
          </a:p>
          <a:p>
            <a:r>
              <a:rPr lang="en-US"/>
              <a:t/>
            </a:r>
          </a:p>
          <a:p>
            <a:r>
              <a:rPr lang="en-US"/>
              <a:t>So, kapag may major disaster na nag-cause ng malaking problem sa organization, ang DRP ang nagsisilbing guide kung paano nila maibabalik ang kanilang important systems and services.</a:t>
            </a:r>
          </a:p>
          <a:p>
            <a:r>
              <a:rPr lang="en-US"/>
              <a:t/>
            </a:r>
          </a:p>
          <a:p>
            <a:r>
              <a:rPr lang="en-US"/>
              <a:t>The DRP provides a **structured approach for recovering IT systems and business operations** after a major disruption. Meaning, may step-by-step or organized procedures na kailangang sundin instead na basta-basta lang mag-restore ng systems.</a:t>
            </a:r>
          </a:p>
          <a:p>
            <a:r>
              <a:rPr lang="en-US"/>
              <a:t/>
            </a:r>
          </a:p>
          <a:p>
            <a:r>
              <a:rPr lang="en-US"/>
              <a:t>The main focus of DRP is restoring important **data, applications, systems, and technology infrastructure**.</a:t>
            </a:r>
          </a:p>
          <a:p>
            <a:r>
              <a:rPr lang="en-US"/>
              <a:t/>
            </a:r>
          </a:p>
          <a:p>
            <a:r>
              <a:rPr lang="en-US"/>
              <a:t>For example, kung nawala or naging inaccessible ang important company data because of a disaster, kailangan may process kung paano ito mare-recover. Ganun din sa applications and IT systems na ginagamit for daily business operations.</a:t>
            </a:r>
          </a:p>
          <a:p>
            <a:r>
              <a:rPr lang="en-US"/>
              <a:t/>
            </a:r>
          </a:p>
          <a:p>
            <a:r>
              <a:rPr lang="en-US"/>
              <a:t>DRP also helps an organization respond when a disaster **prevents access to its normal operations**.</a:t>
            </a:r>
          </a:p>
          <a:p>
            <a:r>
              <a:rPr lang="en-US"/>
              <a:t/>
            </a:r>
          </a:p>
          <a:p>
            <a:r>
              <a:rPr lang="en-US"/>
              <a:t>For example, kung hindi accessible ang main office or data center dahil sa fire, flood, earthquake, or another major incident, the organization needs to have a plan for how they can restore their IT services and continue recovering their operations.</a:t>
            </a:r>
          </a:p>
          <a:p>
            <a:r>
              <a:rPr lang="en-US"/>
              <a:t/>
            </a:r>
          </a:p>
          <a:p>
            <a:r>
              <a:rPr lang="en-US"/>
              <a:t>The plan also identifies the **procedures and resources needed to restore critical systems and services**.</a:t>
            </a:r>
          </a:p>
          <a:p>
            <a:r>
              <a:rPr lang="en-US"/>
              <a:t/>
            </a:r>
          </a:p>
          <a:p>
            <a:r>
              <a:rPr lang="en-US"/>
              <a:t>This means dapat alam ng organization kung ano ang kailangan nila for recovery, such as backup data, hardware, software, personnel, and other technology resources.</a:t>
            </a:r>
          </a:p>
          <a:p>
            <a:r>
              <a:rPr lang="en-US"/>
              <a:t/>
            </a:r>
          </a:p>
          <a:p>
            <a:r>
              <a:rPr lang="en-US"/>
              <a:t>Another important purpose of DRP is to **reduce downtime and data loss** following a disaster.</a:t>
            </a:r>
          </a:p>
          <a:p>
            <a:r>
              <a:rPr lang="en-US"/>
              <a:t/>
            </a:r>
          </a:p>
          <a:p>
            <a:r>
              <a:rPr lang="en-US"/>
              <a:t>The less time na unavailable ang systems, the less impact it can have on the organization's operations. At the same time, having proper recovery procedures can help minimize the amount of important data that may be lost.</a:t>
            </a:r>
          </a:p>
          <a:p>
            <a:r>
              <a:rPr lang="en-US"/>
              <a:t/>
            </a:r>
          </a:p>
          <a:p>
            <a:r>
              <a:rPr lang="en-US"/>
              <a:t>Lastly, the DRP supports the organization in **returning to normal operations as quickly and safely as possible**.</a:t>
            </a:r>
          </a:p>
          <a:p>
            <a:r>
              <a:rPr lang="en-US"/>
              <a:t/>
            </a:r>
          </a:p>
          <a:p>
            <a:r>
              <a:rPr lang="en-US"/>
              <a:t>So, in simple terms, **Disaster Recovery Plan is mainly focused on recovering critical IT systems, data, and services after a major disaster so the organization can get back to normal operations.**</a:t>
            </a:r>
          </a:p>
          <a:p>
            <a:r>
              <a:rPr lang="en-US"/>
              <a:t/>
            </a:r>
          </a:p>
          <a:p>
            <a:r>
              <a:rPr lang="en-US"/>
              <a:t/>
            </a:r>
          </a:p>
          <a:p>
            <a:r>
              <a:rPr lang="en-US"/>
              <a:t>### Occupant Emergency Plan or OEP</a:t>
            </a:r>
          </a:p>
          <a:p>
            <a:r>
              <a:rPr lang="en-US"/>
              <a:t/>
            </a:r>
          </a:p>
          <a:p>
            <a:r>
              <a:rPr lang="en-US"/>
              <a:t>Next, we have the **Occupant Emergency Plan, or OEP**.</a:t>
            </a:r>
          </a:p>
          <a:p>
            <a:r>
              <a:rPr lang="en-US"/>
              <a:t/>
            </a:r>
          </a:p>
          <a:p>
            <a:r>
              <a:rPr lang="en-US"/>
              <a:t>The main purpose of an **Occupant Emergency Plan** is to provide **clear procedures that help protect people, property, and the environment during an emergency**.</a:t>
            </a:r>
          </a:p>
          <a:p>
            <a:r>
              <a:rPr lang="en-US"/>
              <a:t/>
            </a:r>
          </a:p>
          <a:p>
            <a:r>
              <a:rPr lang="en-US"/>
              <a:t>Unlike the Disaster Recovery Plan, which mainly focuses on IT systems, data, and services, ang OEP naman ay more focused on the **people inside a facility and their safety during an emergency**.</a:t>
            </a:r>
          </a:p>
          <a:p>
            <a:r>
              <a:rPr lang="en-US"/>
              <a:t/>
            </a:r>
          </a:p>
          <a:p>
            <a:r>
              <a:rPr lang="en-US"/>
              <a:t>The OEP provides procedures for **people inside a facility when an emergency or potential threat occurs**.</a:t>
            </a:r>
          </a:p>
          <a:p>
            <a:r>
              <a:rPr lang="en-US"/>
              <a:t/>
            </a:r>
          </a:p>
          <a:p>
            <a:r>
              <a:rPr lang="en-US"/>
              <a:t>For example, kung may fire alarm, hazardous incident, security threat, or another emergency inside the building, the occupants need to know kung ano ang tamang actions na dapat nilang gawin.</a:t>
            </a:r>
          </a:p>
          <a:p>
            <a:r>
              <a:rPr lang="en-US"/>
              <a:t/>
            </a:r>
          </a:p>
          <a:p>
            <a:r>
              <a:rPr lang="en-US"/>
              <a:t>The main focus of OEP is to **protect the health and safety of personnel**.</a:t>
            </a:r>
          </a:p>
          <a:p>
            <a:r>
              <a:rPr lang="en-US"/>
              <a:t/>
            </a:r>
          </a:p>
          <a:p>
            <a:r>
              <a:rPr lang="en-US"/>
              <a:t>So, priority dito ang people. The plan helps make sure na employees, visitors, and other people inside the facility know how to respond and where they should go when an emergency happens.</a:t>
            </a:r>
          </a:p>
          <a:p>
            <a:r>
              <a:rPr lang="en-US"/>
              <a:t/>
            </a:r>
          </a:p>
          <a:p>
            <a:r>
              <a:rPr lang="en-US"/>
              <a:t>The OEP may also address threats that could affect **people, the environment, or property**.</a:t>
            </a:r>
          </a:p>
          <a:p>
            <a:r>
              <a:rPr lang="en-US"/>
              <a:t/>
            </a:r>
          </a:p>
          <a:p>
            <a:r>
              <a:rPr lang="en-US"/>
              <a:t>For example, a hazardous chemical incident could potentially harm people and the environment, while a fire could damage the building and other property.</a:t>
            </a:r>
          </a:p>
          <a:p>
            <a:r>
              <a:rPr lang="en-US"/>
              <a:t/>
            </a:r>
          </a:p>
          <a:p>
            <a:r>
              <a:rPr lang="en-US"/>
              <a:t>It also provides guidance on the **appropriate actions occupants should take during an emergency**.</a:t>
            </a:r>
          </a:p>
          <a:p>
            <a:r>
              <a:rPr lang="en-US"/>
              <a:t/>
            </a:r>
          </a:p>
          <a:p>
            <a:r>
              <a:rPr lang="en-US"/>
              <a:t>This can include things like following evacuation procedures, going to designated safe areas, following emergency instructions, or responding according to the type of threat.</a:t>
            </a:r>
          </a:p>
          <a:p>
            <a:r>
              <a:rPr lang="en-US"/>
              <a:t/>
            </a:r>
          </a:p>
          <a:p>
            <a:r>
              <a:rPr lang="en-US"/>
              <a:t>The OEP helps an organization respond in an **organized and coordinated manner** when a facility is threatened.</a:t>
            </a:r>
          </a:p>
          <a:p>
            <a:r>
              <a:rPr lang="en-US"/>
              <a:t/>
            </a:r>
          </a:p>
          <a:p>
            <a:r>
              <a:rPr lang="en-US"/>
              <a:t>Instead na magkagulo or everyone acts differently, there are established procedures that people can follow. This makes the response more organized and can help protect everyone inside the facility.</a:t>
            </a:r>
          </a:p>
          <a:p>
            <a:r>
              <a:rPr lang="en-US"/>
              <a:t/>
            </a:r>
          </a:p>
          <a:p>
            <a:r>
              <a:rPr lang="en-US"/>
              <a:t>Lastly, an OEP can include procedures for different situations such as **fires, hazardous incidents, security threats, and other facility emergencies**.</a:t>
            </a:r>
          </a:p>
          <a:p>
            <a:r>
              <a:rPr lang="en-US"/>
              <a:t/>
            </a:r>
          </a:p>
          <a:p>
            <a:r>
              <a:rPr lang="en-US"/>
              <a:t>So, in simple terms, **Occupant Emergency Plan is focused on protecting the people inside a facility and guiding them on what to do when an emergency or threat occurs**.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Responding to Events</a:t>
            </a:r>
          </a:p>
          <a:p>
            <a:r>
              <a:rPr lang="en-US"/>
              <a:t/>
            </a:r>
          </a:p>
          <a:p>
            <a:r>
              <a:rPr lang="en-US"/>
              <a:t>Next, we have **Responding to Events**.</a:t>
            </a:r>
          </a:p>
          <a:p>
            <a:r>
              <a:rPr lang="en-US"/>
              <a:t/>
            </a:r>
          </a:p>
          <a:p>
            <a:r>
              <a:rPr lang="en-US"/>
              <a:t>So, ano ba ang ibig sabihin ng responding to events?</a:t>
            </a:r>
          </a:p>
          <a:p>
            <a:r>
              <a:rPr lang="en-US"/>
              <a:t/>
            </a:r>
          </a:p>
          <a:p>
            <a:r>
              <a:rPr lang="en-US"/>
              <a:t>An **event** is something that can interrupt the normal operations of an organization or affect its **systems, data, facilities, or personnel**.</a:t>
            </a:r>
          </a:p>
          <a:p>
            <a:r>
              <a:rPr lang="en-US"/>
              <a:t/>
            </a:r>
          </a:p>
          <a:p>
            <a:r>
              <a:rPr lang="en-US"/>
              <a:t>For example, magkaroon ng system failure, cyberattack, natural disaster, power outage, or any other unexpected situation na maaaring makaapekto sa normal activities ng organization.</a:t>
            </a:r>
          </a:p>
          <a:p>
            <a:r>
              <a:rPr lang="en-US"/>
              <a:t/>
            </a:r>
          </a:p>
          <a:p>
            <a:r>
              <a:rPr lang="en-US"/>
              <a:t>When an event happens, **responding to the event means taking planned and organized actions to control the situation**.</a:t>
            </a:r>
          </a:p>
          <a:p>
            <a:r>
              <a:rPr lang="en-US"/>
              <a:t/>
            </a:r>
          </a:p>
          <a:p>
            <a:r>
              <a:rPr lang="en-US"/>
              <a:t>Ibig sabihin, hindi dapat basta-basta lang kumilos ang organization. Instead, kailangan nilang sundin ang mga procedures and plans na ginawa beforehand para ma-handle nang maayos ang situation.</a:t>
            </a:r>
          </a:p>
          <a:p>
            <a:r>
              <a:rPr lang="en-US"/>
              <a:t/>
            </a:r>
          </a:p>
          <a:p>
            <a:r>
              <a:rPr lang="en-US"/>
              <a:t>First, the organization needs to **determine what happened**.</a:t>
            </a:r>
          </a:p>
          <a:p>
            <a:r>
              <a:rPr lang="en-US"/>
              <a:t/>
            </a:r>
          </a:p>
          <a:p>
            <a:r>
              <a:rPr lang="en-US"/>
              <a:t>Kailangan nilang malaman kung ano ang cause ng event, ano ang affected, and gaano kalaki ang impact nito sa organization.</a:t>
            </a:r>
          </a:p>
          <a:p>
            <a:r>
              <a:rPr lang="en-US"/>
              <a:t/>
            </a:r>
          </a:p>
          <a:p>
            <a:r>
              <a:rPr lang="en-US"/>
              <a:t>After identifying the situation, they need to **respond to the impact**. This means taking the necessary actions to control the problem and prevent it from becoming worse.</a:t>
            </a:r>
          </a:p>
          <a:p>
            <a:r>
              <a:rPr lang="en-US"/>
              <a:t/>
            </a:r>
          </a:p>
          <a:p>
            <a:r>
              <a:rPr lang="en-US"/>
              <a:t>At the same time, the organization should try to **maintain its essential operations**. Kahit may disruption, kailangan pa ring ipagpatuloy ang mga pinaka-importanteng functions and services kung possible.</a:t>
            </a:r>
          </a:p>
          <a:p>
            <a:r>
              <a:rPr lang="en-US"/>
              <a:t/>
            </a:r>
          </a:p>
          <a:p>
            <a:r>
              <a:rPr lang="en-US"/>
              <a:t>After that, the organization needs to **recover the affected services**. Once the situation is controlled, they can start restoring systems, data, facilities, or other services that were affected by the event.</a:t>
            </a:r>
          </a:p>
          <a:p>
            <a:r>
              <a:rPr lang="en-US"/>
              <a:t/>
            </a:r>
          </a:p>
          <a:p>
            <a:r>
              <a:rPr lang="en-US"/>
              <a:t>A well-planned response is important because it helps **reduce damage, minimize disruption, and shorten the recovery time**.</a:t>
            </a:r>
          </a:p>
          <a:p>
            <a:r>
              <a:rPr lang="en-US"/>
              <a:t/>
            </a:r>
          </a:p>
          <a:p>
            <a:r>
              <a:rPr lang="en-US"/>
              <a:t>So, in simple terms, **responding to events is about knowing what happened, taking the right actions, keeping essential operations running, and recovering affected services as quickly and effectively as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 Identify and Assess the Event</a:t>
            </a:r>
          </a:p>
          <a:p>
            <a:r>
              <a:rPr lang="en-US"/>
              <a:t/>
            </a:r>
          </a:p>
          <a:p>
            <a:r>
              <a:rPr lang="en-US"/>
              <a:t>Next, we have **Identify and Assess the Event**.</a:t>
            </a:r>
          </a:p>
          <a:p>
            <a:r>
              <a:rPr lang="en-US"/>
              <a:t/>
            </a:r>
          </a:p>
          <a:p>
            <a:r>
              <a:rPr lang="en-US"/>
              <a:t>The first thing that an organization needs to do when an event happens is to **identify and assess the situation**. Basically, kailangan muna nilang malaman kung ano talaga ang nangyari bago sila mag-decide kung ano ang next action.</a:t>
            </a:r>
          </a:p>
          <a:p>
            <a:r>
              <a:rPr lang="en-US"/>
              <a:t/>
            </a:r>
          </a:p>
          <a:p>
            <a:r>
              <a:rPr lang="en-US"/>
              <a:t>First, they need to **determine what happened and when the event occurred**.</a:t>
            </a:r>
          </a:p>
          <a:p>
            <a:r>
              <a:rPr lang="en-US"/>
              <a:t/>
            </a:r>
          </a:p>
          <a:p>
            <a:r>
              <a:rPr lang="en-US"/>
              <a:t>Kailangan nilang malaman kung ano ang incident or problem, at kung kailan ito nagsimula. This is important because knowing the time and details of the event can help the organization understand the situation better.</a:t>
            </a:r>
          </a:p>
          <a:p>
            <a:r>
              <a:rPr lang="en-US"/>
              <a:t/>
            </a:r>
          </a:p>
          <a:p>
            <a:r>
              <a:rPr lang="en-US"/>
              <a:t>Next, they need to **identify the systems, services, facilities, information, or people that may be affected**.</a:t>
            </a:r>
          </a:p>
          <a:p>
            <a:r>
              <a:rPr lang="en-US"/>
              <a:t/>
            </a:r>
          </a:p>
          <a:p>
            <a:r>
              <a:rPr lang="en-US"/>
              <a:t>For example, kung may system failure, kailangan nilang malaman kung anong system ang affected. Kung may disaster naman sa isang facility, kailangan nilang malaman kung anong area, equipment, information, or personnel ang maaaring maapektuhan.</a:t>
            </a:r>
          </a:p>
          <a:p>
            <a:r>
              <a:rPr lang="en-US"/>
              <a:t/>
            </a:r>
          </a:p>
          <a:p>
            <a:r>
              <a:rPr lang="en-US"/>
              <a:t>After that, they need to **determine the severity and potential impact of the event**.</a:t>
            </a:r>
          </a:p>
          <a:p>
            <a:r>
              <a:rPr lang="en-US"/>
              <a:t/>
            </a:r>
          </a:p>
          <a:p>
            <a:r>
              <a:rPr lang="en-US"/>
              <a:t>Meaning, kailangan nilang malaman kung gaano kalaki ang effect ng event sa organization. Is it a minor problem that can be handled easily, or is it a serious incident that can affect critical operations?</a:t>
            </a:r>
          </a:p>
          <a:p>
            <a:r>
              <a:rPr lang="en-US"/>
              <a:t/>
            </a:r>
          </a:p>
          <a:p>
            <a:r>
              <a:rPr lang="en-US"/>
              <a:t>They also need to **gather and analyze the available information before deciding how to respond**.</a:t>
            </a:r>
          </a:p>
          <a:p>
            <a:r>
              <a:rPr lang="en-US"/>
              <a:t/>
            </a:r>
          </a:p>
          <a:p>
            <a:r>
              <a:rPr lang="en-US"/>
              <a:t>Hindi dapat agad gumawa ng decision without enough information. Kailangan munang i-check ang available facts and details para mas accurate ang assessment and mas appropriate ang magiging response.</a:t>
            </a:r>
          </a:p>
          <a:p>
            <a:r>
              <a:rPr lang="en-US"/>
              <a:t/>
            </a:r>
          </a:p>
          <a:p>
            <a:r>
              <a:rPr lang="en-US"/>
              <a:t>Lastly, the organization needs to **determine whether the event requires the activation of a contingency or incident response plan**.</a:t>
            </a:r>
          </a:p>
          <a:p>
            <a:r>
              <a:rPr lang="en-US"/>
              <a:t/>
            </a:r>
          </a:p>
          <a:p>
            <a:r>
              <a:rPr lang="en-US"/>
              <a:t>So, based sa assessment, they need to decide kung normal procedure lang ba ang kailangan or kung kailangan nang i-activate ang isang specific plan, such as a contingency plan or incident response plan.</a:t>
            </a:r>
          </a:p>
          <a:p>
            <a:r>
              <a:rPr lang="en-US"/>
              <a:t/>
            </a:r>
          </a:p>
          <a:p>
            <a:r>
              <a:rPr lang="en-US"/>
              <a:t>For example, kung simple system issue lang, baka regular troubleshooting lang ang kailangan. Pero kung major cyberattack or disaster na ang nangyari, possible na kailangan nang i-activate ang appropriate response plan.</a:t>
            </a:r>
          </a:p>
          <a:p>
            <a:r>
              <a:rPr lang="en-US"/>
              <a:t/>
            </a:r>
          </a:p>
          <a:p>
            <a:r>
              <a:rPr lang="en-US"/>
              <a:t>So, in simple terms, **Identify and Assess the Event means understanding what happened, determining what is affected and how serious it is, gathering the necessary information, and deciding whether a response plan needs to be activated.**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3. Activate the Response Plan</a:t>
            </a:r>
          </a:p>
          <a:p>
            <a:r>
              <a:rPr lang="en-US"/>
              <a:t/>
            </a:r>
          </a:p>
          <a:p>
            <a:r>
              <a:rPr lang="en-US"/>
              <a:t>Next, we have **Activate the Response Plan**.</a:t>
            </a:r>
          </a:p>
          <a:p>
            <a:r>
              <a:rPr lang="en-US"/>
              <a:t/>
            </a:r>
          </a:p>
          <a:p>
            <a:r>
              <a:rPr lang="en-US"/>
              <a:t>After identifying and assessing the event, the next step is to **activate the appropriate response plan** if the situation requires it.</a:t>
            </a:r>
          </a:p>
          <a:p>
            <a:r>
              <a:rPr lang="en-US"/>
              <a:t/>
            </a:r>
          </a:p>
          <a:p>
            <a:r>
              <a:rPr lang="en-US"/>
              <a:t>First, the organization needs to **take appropriate action to control and manage the incident**.</a:t>
            </a:r>
          </a:p>
          <a:p>
            <a:r>
              <a:rPr lang="en-US"/>
              <a:t/>
            </a:r>
          </a:p>
          <a:p>
            <a:r>
              <a:rPr lang="en-US"/>
              <a:t>Ibig sabihin, once na-confirm na may serious incident, kailangan nang gumawa ng immediate and proper actions para ma-control ang situation at maiwasan na lumala pa ang problem.</a:t>
            </a:r>
          </a:p>
          <a:p>
            <a:r>
              <a:rPr lang="en-US"/>
              <a:t/>
            </a:r>
          </a:p>
          <a:p>
            <a:r>
              <a:rPr lang="en-US"/>
              <a:t>Next, the organization should **follow the procedures established in the response plan**.</a:t>
            </a:r>
          </a:p>
          <a:p>
            <a:r>
              <a:rPr lang="en-US"/>
              <a:t/>
            </a:r>
          </a:p>
          <a:p>
            <a:r>
              <a:rPr lang="en-US"/>
              <a:t>Hindi dapat basta-basta gumawa ng sariling actions. Instead, they should follow the procedures that were already prepared by the organization. This helps make sure na organized and consistent ang response.</a:t>
            </a:r>
          </a:p>
          <a:p>
            <a:r>
              <a:rPr lang="en-US"/>
              <a:t/>
            </a:r>
          </a:p>
          <a:p>
            <a:r>
              <a:rPr lang="en-US"/>
              <a:t>Another important step is to **assign responsibilities to the appropriate personnel or response team**.</a:t>
            </a:r>
          </a:p>
          <a:p>
            <a:r>
              <a:rPr lang="en-US"/>
              <a:t/>
            </a:r>
          </a:p>
          <a:p>
            <a:r>
              <a:rPr lang="en-US"/>
              <a:t>Kailangan malinaw kung sino ang gagawa ng bawat task. For example, may mga personnel na responsible for handling the technical problem, while others may be responsible for communication or coordination.</a:t>
            </a:r>
          </a:p>
          <a:p>
            <a:r>
              <a:rPr lang="en-US"/>
              <a:t/>
            </a:r>
          </a:p>
          <a:p>
            <a:r>
              <a:rPr lang="en-US"/>
              <a:t>Next, the organization needs to **protect critical systems, information, resources, and personnel from further harm**.</a:t>
            </a:r>
          </a:p>
          <a:p>
            <a:r>
              <a:rPr lang="en-US"/>
              <a:t/>
            </a:r>
          </a:p>
          <a:p>
            <a:r>
              <a:rPr lang="en-US"/>
              <a:t>So, habang nire-respond nila ang incident, kailangan din nilang protektahan kung ano man ang important resources ng organization. For example, kung may cyber incident, they need to protect important systems and information from further damage or unauthorized access.</a:t>
            </a:r>
          </a:p>
          <a:p>
            <a:r>
              <a:rPr lang="en-US"/>
              <a:t/>
            </a:r>
          </a:p>
          <a:p>
            <a:r>
              <a:rPr lang="en-US"/>
              <a:t>Lastly, they need to **coordinate response activities and keep relevant people informed**.</a:t>
            </a:r>
          </a:p>
          <a:p>
            <a:r>
              <a:rPr lang="en-US"/>
              <a:t/>
            </a:r>
          </a:p>
          <a:p>
            <a:r>
              <a:rPr lang="en-US"/>
              <a:t>Meaning, dapat nagtutulungan ang different teams and departments involved in the response. At the same time, important people should receive updates about the situation so they know what is happening and what actions are being taken.</a:t>
            </a:r>
          </a:p>
          <a:p>
            <a:r>
              <a:rPr lang="en-US"/>
              <a:t/>
            </a:r>
          </a:p>
          <a:p>
            <a:r>
              <a:rPr lang="en-US"/>
              <a:t>So, in simple terms, **Activate the Response Plan means putting the prepared response procedures into action, assigning the right people, protecting important resources, and coordinating everyone involved to properly control the incident.**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png" Type="http://schemas.openxmlformats.org/officeDocument/2006/relationships/image"/><Relationship Id="rId7" Target="../embeddings/oleObject1.bin" Type="http://schemas.openxmlformats.org/officeDocument/2006/relationships/oleObjec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690160" y="-4280409"/>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63679" y="1477992"/>
            <a:ext cx="16750390" cy="5568613"/>
          </a:xfrm>
          <a:prstGeom prst="rect">
            <a:avLst/>
          </a:prstGeom>
        </p:spPr>
        <p:txBody>
          <a:bodyPr anchor="t" rtlCol="false" tIns="0" lIns="0" bIns="0" rIns="0">
            <a:spAutoFit/>
          </a:bodyPr>
          <a:lstStyle/>
          <a:p>
            <a:pPr algn="l">
              <a:lnSpc>
                <a:spcPts val="10699"/>
              </a:lnSpc>
            </a:pPr>
            <a:r>
              <a:rPr lang="en-US" sz="7642" b="true">
                <a:solidFill>
                  <a:srgbClr val="343434"/>
                </a:solidFill>
                <a:latin typeface="Cooper Hewitt Bold"/>
                <a:ea typeface="Cooper Hewitt Bold"/>
                <a:cs typeface="Cooper Hewitt Bold"/>
                <a:sym typeface="Cooper Hewitt Bold"/>
              </a:rPr>
              <a:t>X. CONTINGENCY PLANNING </a:t>
            </a:r>
          </a:p>
          <a:p>
            <a:pPr algn="l">
              <a:lnSpc>
                <a:spcPts val="10699"/>
              </a:lnSpc>
            </a:pPr>
            <a:r>
              <a:rPr lang="en-US" sz="7642" b="true">
                <a:solidFill>
                  <a:srgbClr val="343434"/>
                </a:solidFill>
                <a:latin typeface="Cooper Hewitt Bold"/>
                <a:ea typeface="Cooper Hewitt Bold"/>
                <a:cs typeface="Cooper Hewitt Bold"/>
                <a:sym typeface="Cooper Hewitt Bold"/>
              </a:rPr>
              <a:t>XI. SECURITY EDUCATION, TRAINING, AND AWARENESS</a:t>
            </a:r>
          </a:p>
          <a:p>
            <a:pPr algn="l">
              <a:lnSpc>
                <a:spcPts val="10699"/>
              </a:lnSpc>
            </a:pPr>
          </a:p>
        </p:txBody>
      </p:sp>
      <p:sp>
        <p:nvSpPr>
          <p:cNvPr name="TextBox 4" id="4"/>
          <p:cNvSpPr txBox="true"/>
          <p:nvPr/>
        </p:nvSpPr>
        <p:spPr>
          <a:xfrm rot="0">
            <a:off x="570528" y="5496323"/>
            <a:ext cx="11471689" cy="1187206"/>
          </a:xfrm>
          <a:prstGeom prst="rect">
            <a:avLst/>
          </a:prstGeom>
        </p:spPr>
        <p:txBody>
          <a:bodyPr anchor="t" rtlCol="false" tIns="0" lIns="0" bIns="0" rIns="0">
            <a:spAutoFit/>
          </a:bodyPr>
          <a:lstStyle/>
          <a:p>
            <a:pPr algn="l">
              <a:lnSpc>
                <a:spcPts val="8325"/>
              </a:lnSpc>
            </a:pPr>
            <a:r>
              <a:rPr lang="en-US" sz="5946">
                <a:solidFill>
                  <a:srgbClr val="343434"/>
                </a:solidFill>
                <a:latin typeface="Cooper Hewitt"/>
                <a:ea typeface="Cooper Hewitt"/>
                <a:cs typeface="Cooper Hewitt"/>
                <a:sym typeface="Cooper Hewitt"/>
              </a:rPr>
              <a:t>IT PROFESSIONAL ELECTIVE 3 </a:t>
            </a:r>
          </a:p>
        </p:txBody>
      </p:sp>
      <p:sp>
        <p:nvSpPr>
          <p:cNvPr name="TextBox 5" id="5"/>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6" id="6"/>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7" id="7"/>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8" id="8"/>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9" id="9"/>
          <p:cNvSpPr txBox="true"/>
          <p:nvPr/>
        </p:nvSpPr>
        <p:spPr>
          <a:xfrm rot="0">
            <a:off x="651448" y="7911737"/>
            <a:ext cx="8364446" cy="1508765"/>
          </a:xfrm>
          <a:prstGeom prst="rect">
            <a:avLst/>
          </a:prstGeom>
        </p:spPr>
        <p:txBody>
          <a:bodyPr anchor="t" rtlCol="false" tIns="0" lIns="0" bIns="0" rIns="0">
            <a:spAutoFit/>
          </a:bodyPr>
          <a:lstStyle/>
          <a:p>
            <a:pPr algn="just">
              <a:lnSpc>
                <a:spcPts val="6187"/>
              </a:lnSpc>
            </a:pPr>
            <a:r>
              <a:rPr lang="en-US" sz="4419">
                <a:solidFill>
                  <a:srgbClr val="343434"/>
                </a:solidFill>
                <a:latin typeface="DM Sans"/>
                <a:ea typeface="DM Sans"/>
                <a:cs typeface="DM Sans"/>
                <a:sym typeface="DM Sans"/>
              </a:rPr>
              <a:t>GROUP 6</a:t>
            </a:r>
          </a:p>
          <a:p>
            <a:pPr algn="just">
              <a:lnSpc>
                <a:spcPts val="6187"/>
              </a:lnSpc>
            </a:pPr>
            <a:r>
              <a:rPr lang="en-US" sz="4419">
                <a:solidFill>
                  <a:srgbClr val="343434"/>
                </a:solidFill>
                <a:latin typeface="DM Sans"/>
                <a:ea typeface="DM Sans"/>
                <a:cs typeface="DM Sans"/>
                <a:sym typeface="DM Sans"/>
              </a:rPr>
              <a:t>BSIT-NS-4A-T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1982112"/>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DEVELOPING A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079688" y="4456288"/>
            <a:ext cx="7919078" cy="2844498"/>
          </a:xfrm>
          <a:prstGeom prst="rect">
            <a:avLst/>
          </a:prstGeom>
        </p:spPr>
        <p:txBody>
          <a:bodyPr anchor="t" rtlCol="false" tIns="0" lIns="0" bIns="0" rIns="0">
            <a:spAutoFit/>
          </a:bodyPr>
          <a:lstStyle/>
          <a:p>
            <a:pPr algn="just">
              <a:lnSpc>
                <a:spcPts val="2880"/>
              </a:lnSpc>
            </a:pPr>
            <a:r>
              <a:rPr lang="en-US" sz="2057">
                <a:solidFill>
                  <a:srgbClr val="343434"/>
                </a:solidFill>
                <a:latin typeface="DM Sans"/>
                <a:ea typeface="DM Sans"/>
                <a:cs typeface="DM Sans"/>
                <a:sym typeface="DM Sans"/>
              </a:rPr>
              <a:t>A contingency plan is a structured backup plan that prepares an organization, team, or project for unexpected events.</a:t>
            </a:r>
          </a:p>
          <a:p>
            <a:pPr algn="just">
              <a:lnSpc>
                <a:spcPts val="2880"/>
              </a:lnSpc>
            </a:pPr>
            <a:r>
              <a:rPr lang="en-US" sz="2057">
                <a:solidFill>
                  <a:srgbClr val="343434"/>
                </a:solidFill>
                <a:latin typeface="DM Sans"/>
                <a:ea typeface="DM Sans"/>
                <a:cs typeface="DM Sans"/>
                <a:sym typeface="DM Sans"/>
              </a:rPr>
              <a:t>It focuses on:</a:t>
            </a:r>
          </a:p>
          <a:p>
            <a:pPr algn="just" marL="444168" indent="-222084" lvl="1">
              <a:lnSpc>
                <a:spcPts val="2880"/>
              </a:lnSpc>
              <a:buFont typeface="Arial"/>
              <a:buChar char="•"/>
            </a:pPr>
            <a:r>
              <a:rPr lang="en-US" sz="2057">
                <a:solidFill>
                  <a:srgbClr val="343434"/>
                </a:solidFill>
                <a:latin typeface="DM Sans"/>
                <a:ea typeface="DM Sans"/>
                <a:cs typeface="DM Sans"/>
                <a:sym typeface="DM Sans"/>
              </a:rPr>
              <a:t>Preparing for possible problems before they happen</a:t>
            </a:r>
          </a:p>
          <a:p>
            <a:pPr algn="just" marL="444168" indent="-222084" lvl="1">
              <a:lnSpc>
                <a:spcPts val="2880"/>
              </a:lnSpc>
              <a:buFont typeface="Arial"/>
              <a:buChar char="•"/>
            </a:pPr>
            <a:r>
              <a:rPr lang="en-US" sz="2057">
                <a:solidFill>
                  <a:srgbClr val="343434"/>
                </a:solidFill>
                <a:latin typeface="DM Sans"/>
                <a:ea typeface="DM Sans"/>
                <a:cs typeface="DM Sans"/>
                <a:sym typeface="DM Sans"/>
              </a:rPr>
              <a:t>Reducing the effects of unexpected events</a:t>
            </a:r>
          </a:p>
          <a:p>
            <a:pPr algn="just" marL="444168" indent="-222084" lvl="1">
              <a:lnSpc>
                <a:spcPts val="2880"/>
              </a:lnSpc>
              <a:buFont typeface="Arial"/>
              <a:buChar char="•"/>
            </a:pPr>
            <a:r>
              <a:rPr lang="en-US" sz="2057">
                <a:solidFill>
                  <a:srgbClr val="343434"/>
                </a:solidFill>
                <a:latin typeface="DM Sans"/>
                <a:ea typeface="DM Sans"/>
                <a:cs typeface="DM Sans"/>
                <a:sym typeface="DM Sans"/>
              </a:rPr>
              <a:t>Providing clear actions during emergencies</a:t>
            </a:r>
          </a:p>
          <a:p>
            <a:pPr algn="just" marL="444168" indent="-222084" lvl="1">
              <a:lnSpc>
                <a:spcPts val="2880"/>
              </a:lnSpc>
              <a:buFont typeface="Arial"/>
              <a:buChar char="•"/>
            </a:pPr>
            <a:r>
              <a:rPr lang="en-US" sz="2057">
                <a:solidFill>
                  <a:srgbClr val="343434"/>
                </a:solidFill>
                <a:latin typeface="DM Sans"/>
                <a:ea typeface="DM Sans"/>
                <a:cs typeface="DM Sans"/>
                <a:sym typeface="DM Sans"/>
              </a:rPr>
              <a:t>Helping operations continue despite disruptions</a:t>
            </a:r>
          </a:p>
          <a:p>
            <a:pPr algn="just">
              <a:lnSpc>
                <a:spcPts val="2880"/>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2" id="12"/>
          <p:cNvSpPr txBox="true"/>
          <p:nvPr/>
        </p:nvSpPr>
        <p:spPr>
          <a:xfrm rot="0">
            <a:off x="1659532" y="8720416"/>
            <a:ext cx="16301017" cy="661709"/>
          </a:xfrm>
          <a:prstGeom prst="rect">
            <a:avLst/>
          </a:prstGeom>
        </p:spPr>
        <p:txBody>
          <a:bodyPr anchor="t" rtlCol="false" tIns="0" lIns="0" bIns="0" rIns="0">
            <a:spAutoFit/>
          </a:bodyPr>
          <a:lstStyle/>
          <a:p>
            <a:pPr algn="just">
              <a:lnSpc>
                <a:spcPts val="2752"/>
              </a:lnSpc>
            </a:pPr>
            <a:r>
              <a:rPr lang="en-US" sz="1966">
                <a:solidFill>
                  <a:srgbClr val="343434"/>
                </a:solidFill>
                <a:latin typeface="DM Sans"/>
                <a:ea typeface="DM Sans"/>
                <a:cs typeface="DM Sans"/>
                <a:sym typeface="DM Sans"/>
              </a:rPr>
              <a:t>Main Goal:</a:t>
            </a:r>
          </a:p>
          <a:p>
            <a:pPr algn="just">
              <a:lnSpc>
                <a:spcPts val="2752"/>
              </a:lnSpc>
            </a:pPr>
            <a:r>
              <a:rPr lang="en-US" sz="1966">
                <a:solidFill>
                  <a:srgbClr val="343434"/>
                </a:solidFill>
                <a:latin typeface="DM Sans"/>
                <a:ea typeface="DM Sans"/>
                <a:cs typeface="DM Sans"/>
                <a:sym typeface="DM Sans"/>
              </a:rPr>
              <a:t> To make sure that people know what to do, who should do it, and how to respond when the original plan cannot be followed.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1987812"/>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WHAT IS A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108263" y="3797561"/>
            <a:ext cx="7905885" cy="3910031"/>
          </a:xfrm>
          <a:prstGeom prst="rect">
            <a:avLst/>
          </a:prstGeom>
        </p:spPr>
        <p:txBody>
          <a:bodyPr anchor="t" rtlCol="false" tIns="0" lIns="0" bIns="0" rIns="0">
            <a:spAutoFit/>
          </a:bodyPr>
          <a:lstStyle/>
          <a:p>
            <a:pPr algn="just">
              <a:lnSpc>
                <a:spcPts val="2875"/>
              </a:lnSpc>
            </a:pPr>
            <a:r>
              <a:rPr lang="en-US" sz="2053">
                <a:solidFill>
                  <a:srgbClr val="343434"/>
                </a:solidFill>
                <a:latin typeface="DM Sans"/>
                <a:ea typeface="DM Sans"/>
                <a:cs typeface="DM Sans"/>
                <a:sym typeface="DM Sans"/>
              </a:rPr>
              <a:t>A contingency plan is a set of actions and procedures prepared in advance to deal with unexpected situations.</a:t>
            </a:r>
          </a:p>
          <a:p>
            <a:pPr algn="just">
              <a:lnSpc>
                <a:spcPts val="2875"/>
              </a:lnSpc>
            </a:pPr>
            <a:r>
              <a:rPr lang="en-US" sz="2053">
                <a:solidFill>
                  <a:srgbClr val="343434"/>
                </a:solidFill>
                <a:latin typeface="DM Sans"/>
                <a:ea typeface="DM Sans"/>
                <a:cs typeface="DM Sans"/>
                <a:sym typeface="DM Sans"/>
              </a:rPr>
              <a:t>Instead of waiting for a problem to happen, an organization prepares possible solutions beforehand.</a:t>
            </a:r>
          </a:p>
          <a:p>
            <a:pPr algn="just">
              <a:lnSpc>
                <a:spcPts val="2875"/>
              </a:lnSpc>
            </a:pPr>
            <a:r>
              <a:rPr lang="en-US" sz="2053">
                <a:solidFill>
                  <a:srgbClr val="343434"/>
                </a:solidFill>
                <a:latin typeface="DM Sans"/>
                <a:ea typeface="DM Sans"/>
                <a:cs typeface="DM Sans"/>
                <a:sym typeface="DM Sans"/>
              </a:rPr>
              <a:t>A contingency plan answers:</a:t>
            </a:r>
          </a:p>
          <a:p>
            <a:pPr algn="just" marL="443428" indent="-221714" lvl="1">
              <a:lnSpc>
                <a:spcPts val="2875"/>
              </a:lnSpc>
              <a:buFont typeface="Arial"/>
              <a:buChar char="•"/>
            </a:pPr>
            <a:r>
              <a:rPr lang="en-US" sz="2053">
                <a:solidFill>
                  <a:srgbClr val="343434"/>
                </a:solidFill>
                <a:latin typeface="DM Sans"/>
                <a:ea typeface="DM Sans"/>
                <a:cs typeface="DM Sans"/>
                <a:sym typeface="DM Sans"/>
              </a:rPr>
              <a:t>What coul</a:t>
            </a:r>
            <a:r>
              <a:rPr lang="en-US" sz="2053">
                <a:solidFill>
                  <a:srgbClr val="343434"/>
                </a:solidFill>
                <a:latin typeface="DM Sans"/>
                <a:ea typeface="DM Sans"/>
                <a:cs typeface="DM Sans"/>
                <a:sym typeface="DM Sans"/>
              </a:rPr>
              <a:t>d go wrong?</a:t>
            </a:r>
          </a:p>
          <a:p>
            <a:pPr algn="just" marL="443428" indent="-221714" lvl="1">
              <a:lnSpc>
                <a:spcPts val="2875"/>
              </a:lnSpc>
              <a:buFont typeface="Arial"/>
              <a:buChar char="•"/>
            </a:pPr>
            <a:r>
              <a:rPr lang="en-US" sz="2053">
                <a:solidFill>
                  <a:srgbClr val="343434"/>
                </a:solidFill>
                <a:latin typeface="DM Sans"/>
                <a:ea typeface="DM Sans"/>
                <a:cs typeface="DM Sans"/>
                <a:sym typeface="DM Sans"/>
              </a:rPr>
              <a:t>What should we do if it happens?</a:t>
            </a:r>
          </a:p>
          <a:p>
            <a:pPr algn="just" marL="443428" indent="-221714" lvl="1">
              <a:lnSpc>
                <a:spcPts val="2875"/>
              </a:lnSpc>
              <a:buFont typeface="Arial"/>
              <a:buChar char="•"/>
            </a:pPr>
            <a:r>
              <a:rPr lang="en-US" sz="2053">
                <a:solidFill>
                  <a:srgbClr val="343434"/>
                </a:solidFill>
                <a:latin typeface="DM Sans"/>
                <a:ea typeface="DM Sans"/>
                <a:cs typeface="DM Sans"/>
                <a:sym typeface="DM Sans"/>
              </a:rPr>
              <a:t>Wh</a:t>
            </a:r>
            <a:r>
              <a:rPr lang="en-US" sz="2053">
                <a:solidFill>
                  <a:srgbClr val="343434"/>
                </a:solidFill>
                <a:latin typeface="DM Sans"/>
                <a:ea typeface="DM Sans"/>
                <a:cs typeface="DM Sans"/>
                <a:sym typeface="DM Sans"/>
              </a:rPr>
              <a:t>o will be responsible?</a:t>
            </a:r>
          </a:p>
          <a:p>
            <a:pPr algn="just" marL="443428" indent="-221714" lvl="1">
              <a:lnSpc>
                <a:spcPts val="2875"/>
              </a:lnSpc>
              <a:buFont typeface="Arial"/>
              <a:buChar char="•"/>
            </a:pPr>
            <a:r>
              <a:rPr lang="en-US" sz="2053">
                <a:solidFill>
                  <a:srgbClr val="343434"/>
                </a:solidFill>
                <a:latin typeface="DM Sans"/>
                <a:ea typeface="DM Sans"/>
                <a:cs typeface="DM Sans"/>
                <a:sym typeface="DM Sans"/>
              </a:rPr>
              <a:t>What resources will we need?</a:t>
            </a:r>
          </a:p>
          <a:p>
            <a:pPr algn="just" marL="443428" indent="-221714" lvl="1">
              <a:lnSpc>
                <a:spcPts val="2875"/>
              </a:lnSpc>
              <a:buFont typeface="Arial"/>
              <a:buChar char="•"/>
            </a:pPr>
            <a:r>
              <a:rPr lang="en-US" sz="2053">
                <a:solidFill>
                  <a:srgbClr val="343434"/>
                </a:solidFill>
                <a:latin typeface="DM Sans"/>
                <a:ea typeface="DM Sans"/>
                <a:cs typeface="DM Sans"/>
                <a:sym typeface="DM Sans"/>
              </a:rPr>
              <a:t>How can we continue our operations?</a:t>
            </a:r>
          </a:p>
          <a:p>
            <a:pPr algn="just">
              <a:lnSpc>
                <a:spcPts val="2875"/>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2" id="12"/>
          <p:cNvSpPr txBox="true"/>
          <p:nvPr/>
        </p:nvSpPr>
        <p:spPr>
          <a:xfrm rot="0">
            <a:off x="1222563" y="8707387"/>
            <a:ext cx="16350080" cy="1003249"/>
          </a:xfrm>
          <a:prstGeom prst="rect">
            <a:avLst/>
          </a:prstGeom>
        </p:spPr>
        <p:txBody>
          <a:bodyPr anchor="t" rtlCol="false" tIns="0" lIns="0" bIns="0" rIns="0">
            <a:spAutoFit/>
          </a:bodyPr>
          <a:lstStyle/>
          <a:p>
            <a:pPr algn="just">
              <a:lnSpc>
                <a:spcPts val="2752"/>
              </a:lnSpc>
            </a:pPr>
            <a:r>
              <a:rPr lang="en-US" sz="1966">
                <a:solidFill>
                  <a:srgbClr val="343434"/>
                </a:solidFill>
                <a:latin typeface="DM Sans"/>
                <a:ea typeface="DM Sans"/>
                <a:cs typeface="DM Sans"/>
                <a:sym typeface="DM Sans"/>
              </a:rPr>
              <a:t>Example:</a:t>
            </a:r>
          </a:p>
          <a:p>
            <a:pPr algn="just">
              <a:lnSpc>
                <a:spcPts val="2752"/>
              </a:lnSpc>
            </a:pPr>
            <a:r>
              <a:rPr lang="en-US" sz="1966">
                <a:solidFill>
                  <a:srgbClr val="343434"/>
                </a:solidFill>
                <a:latin typeface="DM Sans"/>
                <a:ea typeface="DM Sans"/>
                <a:cs typeface="DM Sans"/>
                <a:sym typeface="DM Sans"/>
              </a:rPr>
              <a:t> If a company's main computer system stops working, its contingency plan may include using a backup server and restoring important data from a backup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1987812"/>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IMPORTANCE OF A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146363" y="3797561"/>
            <a:ext cx="7703580" cy="4863299"/>
          </a:xfrm>
          <a:prstGeom prst="rect">
            <a:avLst/>
          </a:prstGeom>
        </p:spPr>
        <p:txBody>
          <a:bodyPr anchor="t" rtlCol="false" tIns="0" lIns="0" bIns="0" rIns="0">
            <a:spAutoFit/>
          </a:bodyPr>
          <a:lstStyle/>
          <a:p>
            <a:pPr algn="just">
              <a:lnSpc>
                <a:spcPts val="2801"/>
              </a:lnSpc>
            </a:pPr>
            <a:r>
              <a:rPr lang="en-US" sz="2001">
                <a:solidFill>
                  <a:srgbClr val="343434"/>
                </a:solidFill>
                <a:latin typeface="DM Sans"/>
                <a:ea typeface="DM Sans"/>
                <a:cs typeface="DM Sans"/>
                <a:sym typeface="DM Sans"/>
              </a:rPr>
              <a:t>Developing a contingency plan is important because unexpected events can interrupt normal activities.</a:t>
            </a:r>
          </a:p>
          <a:p>
            <a:pPr algn="just">
              <a:lnSpc>
                <a:spcPts val="2801"/>
              </a:lnSpc>
            </a:pPr>
            <a:r>
              <a:rPr lang="en-US" sz="2001">
                <a:solidFill>
                  <a:srgbClr val="343434"/>
                </a:solidFill>
                <a:latin typeface="DM Sans"/>
                <a:ea typeface="DM Sans"/>
                <a:cs typeface="DM Sans"/>
                <a:sym typeface="DM Sans"/>
              </a:rPr>
              <a:t>Benefits include:</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Reduces losses by preparing solutions in advance.</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Minimizes downtime so operations can resume quickly.</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Provides clear responsibilities so everyone knows their role.</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Protects important resources suc</a:t>
            </a:r>
            <a:r>
              <a:rPr lang="en-US" sz="2001">
                <a:solidFill>
                  <a:srgbClr val="343434"/>
                </a:solidFill>
                <a:latin typeface="DM Sans"/>
                <a:ea typeface="DM Sans"/>
                <a:cs typeface="DM Sans"/>
                <a:sym typeface="DM Sans"/>
              </a:rPr>
              <a:t>h as data, equipment, an</a:t>
            </a:r>
            <a:r>
              <a:rPr lang="en-US" sz="2001">
                <a:solidFill>
                  <a:srgbClr val="343434"/>
                </a:solidFill>
                <a:latin typeface="DM Sans"/>
                <a:ea typeface="DM Sans"/>
                <a:cs typeface="DM Sans"/>
                <a:sym typeface="DM Sans"/>
              </a:rPr>
              <a:t>d documents.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Improves decision-making during stressful situations.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Increases preparedness for emergencies and unexpected problems.</a:t>
            </a:r>
          </a:p>
          <a:p>
            <a:pPr algn="just">
              <a:lnSpc>
                <a:spcPts val="2801"/>
              </a:lnSpc>
            </a:pPr>
            <a:r>
              <a:rPr lang="en-US" sz="2001">
                <a:solidFill>
                  <a:srgbClr val="343434"/>
                </a:solidFill>
                <a:latin typeface="DM Sans"/>
                <a:ea typeface="DM Sans"/>
                <a:cs typeface="DM Sans"/>
                <a:sym typeface="DM Sans"/>
              </a:rPr>
              <a:t>A well-prepared plan can help an organization respond quickly, calmly, and effectively.</a:t>
            </a:r>
          </a:p>
          <a:p>
            <a:pPr algn="just">
              <a:lnSpc>
                <a:spcPts val="2801"/>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1987812"/>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IDENTIFY POSSIBLE RISKS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146363" y="3376356"/>
            <a:ext cx="7703580" cy="3820476"/>
          </a:xfrm>
          <a:prstGeom prst="rect">
            <a:avLst/>
          </a:prstGeom>
        </p:spPr>
        <p:txBody>
          <a:bodyPr anchor="t" rtlCol="false" tIns="0" lIns="0" bIns="0" rIns="0">
            <a:spAutoFit/>
          </a:bodyPr>
          <a:lstStyle/>
          <a:p>
            <a:pPr algn="just">
              <a:lnSpc>
                <a:spcPts val="2801"/>
              </a:lnSpc>
            </a:pPr>
            <a:r>
              <a:rPr lang="en-US" sz="2001">
                <a:solidFill>
                  <a:srgbClr val="343434"/>
                </a:solidFill>
                <a:latin typeface="DM Sans"/>
                <a:ea typeface="DM Sans"/>
                <a:cs typeface="DM Sans"/>
                <a:sym typeface="DM Sans"/>
              </a:rPr>
              <a:t>Common risks include:</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Power outages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Internet or network failure</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Equipment breakdown</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Natural disasters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Data loss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Cybersecurity incidents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Shor</a:t>
            </a:r>
            <a:r>
              <a:rPr lang="en-US" sz="2001">
                <a:solidFill>
                  <a:srgbClr val="343434"/>
                </a:solidFill>
                <a:latin typeface="DM Sans"/>
                <a:ea typeface="DM Sans"/>
                <a:cs typeface="DM Sans"/>
                <a:sym typeface="DM Sans"/>
              </a:rPr>
              <a:t>tage of</a:t>
            </a:r>
            <a:r>
              <a:rPr lang="en-US" sz="2001">
                <a:solidFill>
                  <a:srgbClr val="343434"/>
                </a:solidFill>
                <a:latin typeface="DM Sans"/>
                <a:ea typeface="DM Sans"/>
                <a:cs typeface="DM Sans"/>
                <a:sym typeface="DM Sans"/>
              </a:rPr>
              <a:t> employees or staff</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Supplier or delivery problems</a:t>
            </a:r>
          </a:p>
          <a:p>
            <a:pPr algn="just" marL="432081" indent="-216040" lvl="1">
              <a:lnSpc>
                <a:spcPts val="2801"/>
              </a:lnSpc>
              <a:buFont typeface="Arial"/>
              <a:buChar char="•"/>
            </a:pPr>
            <a:r>
              <a:rPr lang="en-US" sz="2001">
                <a:solidFill>
                  <a:srgbClr val="343434"/>
                </a:solidFill>
                <a:latin typeface="DM Sans"/>
                <a:ea typeface="DM Sans"/>
                <a:cs typeface="DM Sans"/>
                <a:sym typeface="DM Sans"/>
              </a:rPr>
              <a:t>Un</a:t>
            </a:r>
            <a:r>
              <a:rPr lang="en-US" sz="2001">
                <a:solidFill>
                  <a:srgbClr val="343434"/>
                </a:solidFill>
                <a:latin typeface="DM Sans"/>
                <a:ea typeface="DM Sans"/>
                <a:cs typeface="DM Sans"/>
                <a:sym typeface="DM Sans"/>
              </a:rPr>
              <a:t>expected financial difficulties</a:t>
            </a:r>
          </a:p>
          <a:p>
            <a:pPr algn="just">
              <a:lnSpc>
                <a:spcPts val="2801"/>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2" id="12"/>
          <p:cNvSpPr txBox="true"/>
          <p:nvPr/>
        </p:nvSpPr>
        <p:spPr>
          <a:xfrm rot="0">
            <a:off x="1028700" y="7215882"/>
            <a:ext cx="7703580" cy="1758917"/>
          </a:xfrm>
          <a:prstGeom prst="rect">
            <a:avLst/>
          </a:prstGeom>
        </p:spPr>
        <p:txBody>
          <a:bodyPr anchor="t" rtlCol="false" tIns="0" lIns="0" bIns="0" rIns="0">
            <a:spAutoFit/>
          </a:bodyPr>
          <a:lstStyle/>
          <a:p>
            <a:pPr algn="just">
              <a:lnSpc>
                <a:spcPts val="2801"/>
              </a:lnSpc>
            </a:pPr>
            <a:r>
              <a:rPr lang="en-US" sz="2001">
                <a:solidFill>
                  <a:srgbClr val="343434"/>
                </a:solidFill>
                <a:latin typeface="DM Sans"/>
                <a:ea typeface="DM Sans"/>
                <a:cs typeface="DM Sans"/>
                <a:sym typeface="DM Sans"/>
              </a:rPr>
              <a:t>Important Questions:</a:t>
            </a:r>
          </a:p>
          <a:p>
            <a:pPr algn="l" marL="432081" indent="-216040" lvl="1">
              <a:lnSpc>
                <a:spcPts val="2801"/>
              </a:lnSpc>
              <a:buFont typeface="Arial"/>
              <a:buChar char="•"/>
            </a:pPr>
            <a:r>
              <a:rPr lang="en-US" sz="2001">
                <a:solidFill>
                  <a:srgbClr val="343434"/>
                </a:solidFill>
                <a:latin typeface="DM Sans"/>
                <a:ea typeface="DM Sans"/>
                <a:cs typeface="DM Sans"/>
                <a:sym typeface="DM Sans"/>
              </a:rPr>
              <a:t>“What could go wrong?”</a:t>
            </a:r>
          </a:p>
          <a:p>
            <a:pPr algn="l" marL="432081" indent="-216040" lvl="1">
              <a:lnSpc>
                <a:spcPts val="2801"/>
              </a:lnSpc>
              <a:buFont typeface="Arial"/>
              <a:buChar char="•"/>
            </a:pPr>
            <a:r>
              <a:rPr lang="en-US" sz="2001">
                <a:solidFill>
                  <a:srgbClr val="343434"/>
                </a:solidFill>
                <a:latin typeface="DM Sans"/>
                <a:ea typeface="DM Sans"/>
                <a:cs typeface="DM Sans"/>
                <a:sym typeface="DM Sans"/>
              </a:rPr>
              <a:t>“How likely is it to happen?”</a:t>
            </a:r>
          </a:p>
          <a:p>
            <a:pPr algn="l" marL="432081" indent="-216040" lvl="1">
              <a:lnSpc>
                <a:spcPts val="2801"/>
              </a:lnSpc>
              <a:buFont typeface="Arial"/>
              <a:buChar char="•"/>
            </a:pPr>
            <a:r>
              <a:rPr lang="en-US" sz="2001">
                <a:solidFill>
                  <a:srgbClr val="343434"/>
                </a:solidFill>
                <a:latin typeface="DM Sans"/>
                <a:ea typeface="DM Sans"/>
                <a:cs typeface="DM Sans"/>
                <a:sym typeface="DM Sans"/>
              </a:rPr>
              <a:t>“How much damage could it cause?”</a:t>
            </a:r>
          </a:p>
          <a:p>
            <a:pPr algn="just">
              <a:lnSpc>
                <a:spcPts val="2801"/>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75510"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1949712"/>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DEVELOP THE ACTION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205464" y="3111761"/>
            <a:ext cx="7703580" cy="4515692"/>
          </a:xfrm>
          <a:prstGeom prst="rect">
            <a:avLst/>
          </a:prstGeom>
        </p:spPr>
        <p:txBody>
          <a:bodyPr anchor="t" rtlCol="false" tIns="0" lIns="0" bIns="0" rIns="0">
            <a:spAutoFit/>
          </a:bodyPr>
          <a:lstStyle/>
          <a:p>
            <a:pPr algn="just">
              <a:lnSpc>
                <a:spcPts val="2801"/>
              </a:lnSpc>
            </a:pPr>
            <a:r>
              <a:rPr lang="en-US" sz="2001">
                <a:solidFill>
                  <a:srgbClr val="343434"/>
                </a:solidFill>
                <a:latin typeface="DM Sans"/>
                <a:ea typeface="DM Sans"/>
                <a:cs typeface="DM Sans"/>
                <a:sym typeface="DM Sans"/>
              </a:rPr>
              <a:t>An action plan should identify:</a:t>
            </a:r>
          </a:p>
          <a:p>
            <a:pPr algn="just">
              <a:lnSpc>
                <a:spcPts val="2801"/>
              </a:lnSpc>
            </a:pPr>
            <a:r>
              <a:rPr lang="en-US" sz="2001">
                <a:solidFill>
                  <a:srgbClr val="343434"/>
                </a:solidFill>
                <a:latin typeface="DM Sans"/>
                <a:ea typeface="DM Sans"/>
                <a:cs typeface="DM Sans"/>
                <a:sym typeface="DM Sans"/>
              </a:rPr>
              <a:t>1. The Problem</a:t>
            </a:r>
          </a:p>
          <a:p>
            <a:pPr algn="just">
              <a:lnSpc>
                <a:spcPts val="2801"/>
              </a:lnSpc>
            </a:pPr>
            <a:r>
              <a:rPr lang="en-US" sz="2001">
                <a:solidFill>
                  <a:srgbClr val="343434"/>
                </a:solidFill>
                <a:latin typeface="DM Sans"/>
                <a:ea typeface="DM Sans"/>
                <a:cs typeface="DM Sans"/>
                <a:sym typeface="DM Sans"/>
              </a:rPr>
              <a:t> What unexpected event has occurred?</a:t>
            </a:r>
          </a:p>
          <a:p>
            <a:pPr algn="just">
              <a:lnSpc>
                <a:spcPts val="2801"/>
              </a:lnSpc>
            </a:pPr>
            <a:r>
              <a:rPr lang="en-US" sz="2001">
                <a:solidFill>
                  <a:srgbClr val="343434"/>
                </a:solidFill>
                <a:latin typeface="DM Sans"/>
                <a:ea typeface="DM Sans"/>
                <a:cs typeface="DM Sans"/>
                <a:sym typeface="DM Sans"/>
              </a:rPr>
              <a:t>2. Th</a:t>
            </a:r>
            <a:r>
              <a:rPr lang="en-US" sz="2001">
                <a:solidFill>
                  <a:srgbClr val="343434"/>
                </a:solidFill>
                <a:latin typeface="DM Sans"/>
                <a:ea typeface="DM Sans"/>
                <a:cs typeface="DM Sans"/>
                <a:sym typeface="DM Sans"/>
              </a:rPr>
              <a:t>e Action</a:t>
            </a:r>
          </a:p>
          <a:p>
            <a:pPr algn="just">
              <a:lnSpc>
                <a:spcPts val="2801"/>
              </a:lnSpc>
            </a:pPr>
            <a:r>
              <a:rPr lang="en-US" sz="2001">
                <a:solidFill>
                  <a:srgbClr val="343434"/>
                </a:solidFill>
                <a:latin typeface="DM Sans"/>
                <a:ea typeface="DM Sans"/>
                <a:cs typeface="DM Sans"/>
                <a:sym typeface="DM Sans"/>
              </a:rPr>
              <a:t> What steps should be taken to handle it?</a:t>
            </a:r>
          </a:p>
          <a:p>
            <a:pPr algn="just">
              <a:lnSpc>
                <a:spcPts val="2801"/>
              </a:lnSpc>
            </a:pPr>
            <a:r>
              <a:rPr lang="en-US" sz="2001">
                <a:solidFill>
                  <a:srgbClr val="343434"/>
                </a:solidFill>
                <a:latin typeface="DM Sans"/>
                <a:ea typeface="DM Sans"/>
                <a:cs typeface="DM Sans"/>
                <a:sym typeface="DM Sans"/>
              </a:rPr>
              <a:t>3. The Responsible Person</a:t>
            </a:r>
          </a:p>
          <a:p>
            <a:pPr algn="just">
              <a:lnSpc>
                <a:spcPts val="2801"/>
              </a:lnSpc>
            </a:pPr>
            <a:r>
              <a:rPr lang="en-US" sz="2001">
                <a:solidFill>
                  <a:srgbClr val="343434"/>
                </a:solidFill>
                <a:latin typeface="DM Sans"/>
                <a:ea typeface="DM Sans"/>
                <a:cs typeface="DM Sans"/>
                <a:sym typeface="DM Sans"/>
              </a:rPr>
              <a:t> Who</a:t>
            </a:r>
            <a:r>
              <a:rPr lang="en-US" sz="2001">
                <a:solidFill>
                  <a:srgbClr val="343434"/>
                </a:solidFill>
                <a:latin typeface="DM Sans"/>
                <a:ea typeface="DM Sans"/>
                <a:cs typeface="DM Sans"/>
                <a:sym typeface="DM Sans"/>
              </a:rPr>
              <a:t> will carry out the necessary actions?</a:t>
            </a:r>
          </a:p>
          <a:p>
            <a:pPr algn="just">
              <a:lnSpc>
                <a:spcPts val="2801"/>
              </a:lnSpc>
            </a:pPr>
            <a:r>
              <a:rPr lang="en-US" sz="2001">
                <a:solidFill>
                  <a:srgbClr val="343434"/>
                </a:solidFill>
                <a:latin typeface="DM Sans"/>
                <a:ea typeface="DM Sans"/>
                <a:cs typeface="DM Sans"/>
                <a:sym typeface="DM Sans"/>
              </a:rPr>
              <a:t>4. T</a:t>
            </a:r>
            <a:r>
              <a:rPr lang="en-US" sz="2001">
                <a:solidFill>
                  <a:srgbClr val="343434"/>
                </a:solidFill>
                <a:latin typeface="DM Sans"/>
                <a:ea typeface="DM Sans"/>
                <a:cs typeface="DM Sans"/>
                <a:sym typeface="DM Sans"/>
              </a:rPr>
              <a:t>he Resources Needed</a:t>
            </a:r>
          </a:p>
          <a:p>
            <a:pPr algn="just">
              <a:lnSpc>
                <a:spcPts val="2801"/>
              </a:lnSpc>
            </a:pPr>
            <a:r>
              <a:rPr lang="en-US" sz="2001">
                <a:solidFill>
                  <a:srgbClr val="343434"/>
                </a:solidFill>
                <a:latin typeface="DM Sans"/>
                <a:ea typeface="DM Sans"/>
                <a:cs typeface="DM Sans"/>
                <a:sym typeface="DM Sans"/>
              </a:rPr>
              <a:t> Wha</a:t>
            </a:r>
            <a:r>
              <a:rPr lang="en-US" sz="2001">
                <a:solidFill>
                  <a:srgbClr val="343434"/>
                </a:solidFill>
                <a:latin typeface="DM Sans"/>
                <a:ea typeface="DM Sans"/>
                <a:cs typeface="DM Sans"/>
                <a:sym typeface="DM Sans"/>
              </a:rPr>
              <a:t>t equipment, infor</a:t>
            </a:r>
            <a:r>
              <a:rPr lang="en-US" sz="2001">
                <a:solidFill>
                  <a:srgbClr val="343434"/>
                </a:solidFill>
                <a:latin typeface="DM Sans"/>
                <a:ea typeface="DM Sans"/>
                <a:cs typeface="DM Sans"/>
                <a:sym typeface="DM Sans"/>
              </a:rPr>
              <a:t>mation, or backup resources are required?</a:t>
            </a:r>
          </a:p>
          <a:p>
            <a:pPr algn="just">
              <a:lnSpc>
                <a:spcPts val="2801"/>
              </a:lnSpc>
            </a:pPr>
            <a:r>
              <a:rPr lang="en-US" sz="2001">
                <a:solidFill>
                  <a:srgbClr val="343434"/>
                </a:solidFill>
                <a:latin typeface="DM Sans"/>
                <a:ea typeface="DM Sans"/>
                <a:cs typeface="DM Sans"/>
                <a:sym typeface="DM Sans"/>
              </a:rPr>
              <a:t>5. Th</a:t>
            </a:r>
            <a:r>
              <a:rPr lang="en-US" sz="2001">
                <a:solidFill>
                  <a:srgbClr val="343434"/>
                </a:solidFill>
                <a:latin typeface="DM Sans"/>
                <a:ea typeface="DM Sans"/>
                <a:cs typeface="DM Sans"/>
                <a:sym typeface="DM Sans"/>
              </a:rPr>
              <a:t>e Alternative Solution</a:t>
            </a:r>
          </a:p>
          <a:p>
            <a:pPr algn="just">
              <a:lnSpc>
                <a:spcPts val="2801"/>
              </a:lnSpc>
            </a:pPr>
            <a:r>
              <a:rPr lang="en-US" sz="2001">
                <a:solidFill>
                  <a:srgbClr val="343434"/>
                </a:solidFill>
                <a:latin typeface="DM Sans"/>
                <a:ea typeface="DM Sans"/>
                <a:cs typeface="DM Sans"/>
                <a:sym typeface="DM Sans"/>
              </a:rPr>
              <a:t> What should be done if the first solution does not work?</a:t>
            </a:r>
          </a:p>
          <a:p>
            <a:pPr algn="just">
              <a:lnSpc>
                <a:spcPts val="2801"/>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2" id="12"/>
          <p:cNvSpPr txBox="true"/>
          <p:nvPr/>
        </p:nvSpPr>
        <p:spPr>
          <a:xfrm rot="0">
            <a:off x="1735732" y="7579828"/>
            <a:ext cx="7703580" cy="2082438"/>
          </a:xfrm>
          <a:prstGeom prst="rect">
            <a:avLst/>
          </a:prstGeom>
        </p:spPr>
        <p:txBody>
          <a:bodyPr anchor="t" rtlCol="false" tIns="0" lIns="0" bIns="0" rIns="0">
            <a:spAutoFit/>
          </a:bodyPr>
          <a:lstStyle/>
          <a:p>
            <a:pPr algn="just">
              <a:lnSpc>
                <a:spcPts val="2801"/>
              </a:lnSpc>
            </a:pPr>
            <a:r>
              <a:rPr lang="en-US" sz="2001">
                <a:solidFill>
                  <a:srgbClr val="343434"/>
                </a:solidFill>
                <a:latin typeface="DM Sans"/>
                <a:ea typeface="DM Sans"/>
                <a:cs typeface="DM Sans"/>
                <a:sym typeface="DM Sans"/>
              </a:rPr>
              <a:t>Example:</a:t>
            </a:r>
          </a:p>
          <a:p>
            <a:pPr algn="just">
              <a:lnSpc>
                <a:spcPts val="2801"/>
              </a:lnSpc>
            </a:pPr>
            <a:r>
              <a:rPr lang="en-US" sz="2001">
                <a:solidFill>
                  <a:srgbClr val="343434"/>
                </a:solidFill>
                <a:latin typeface="DM Sans"/>
                <a:ea typeface="DM Sans"/>
                <a:cs typeface="DM Sans"/>
                <a:sym typeface="DM Sans"/>
              </a:rPr>
              <a:t>Problem: Internet connection fails</a:t>
            </a:r>
          </a:p>
          <a:p>
            <a:pPr algn="just">
              <a:lnSpc>
                <a:spcPts val="2801"/>
              </a:lnSpc>
            </a:pPr>
            <a:r>
              <a:rPr lang="en-US" sz="2001">
                <a:solidFill>
                  <a:srgbClr val="343434"/>
                </a:solidFill>
                <a:latin typeface="DM Sans"/>
                <a:ea typeface="DM Sans"/>
                <a:cs typeface="DM Sans"/>
                <a:sym typeface="DM Sans"/>
              </a:rPr>
              <a:t> →</a:t>
            </a:r>
            <a:r>
              <a:rPr lang="en-US" sz="2001">
                <a:solidFill>
                  <a:srgbClr val="343434"/>
                </a:solidFill>
                <a:latin typeface="DM Sans"/>
                <a:ea typeface="DM Sans"/>
                <a:cs typeface="DM Sans"/>
                <a:sym typeface="DM Sans"/>
              </a:rPr>
              <a:t> Action: Switch to a backup connection</a:t>
            </a:r>
          </a:p>
          <a:p>
            <a:pPr algn="just">
              <a:lnSpc>
                <a:spcPts val="2801"/>
              </a:lnSpc>
            </a:pPr>
            <a:r>
              <a:rPr lang="en-US" sz="2001">
                <a:solidFill>
                  <a:srgbClr val="343434"/>
                </a:solidFill>
                <a:latin typeface="DM Sans"/>
                <a:ea typeface="DM Sans"/>
                <a:cs typeface="DM Sans"/>
                <a:sym typeface="DM Sans"/>
              </a:rPr>
              <a:t> → Responsible Person:</a:t>
            </a:r>
            <a:r>
              <a:rPr lang="en-US" sz="2001">
                <a:solidFill>
                  <a:srgbClr val="343434"/>
                </a:solidFill>
                <a:latin typeface="DM Sans"/>
                <a:ea typeface="DM Sans"/>
                <a:cs typeface="DM Sans"/>
                <a:sym typeface="DM Sans"/>
              </a:rPr>
              <a:t> IT</a:t>
            </a:r>
            <a:r>
              <a:rPr lang="en-US" sz="2001">
                <a:solidFill>
                  <a:srgbClr val="343434"/>
                </a:solidFill>
                <a:latin typeface="DM Sans"/>
                <a:ea typeface="DM Sans"/>
                <a:cs typeface="DM Sans"/>
                <a:sym typeface="DM Sans"/>
              </a:rPr>
              <a:t> staf</a:t>
            </a:r>
            <a:r>
              <a:rPr lang="en-US" sz="2001">
                <a:solidFill>
                  <a:srgbClr val="343434"/>
                </a:solidFill>
                <a:latin typeface="DM Sans"/>
                <a:ea typeface="DM Sans"/>
                <a:cs typeface="DM Sans"/>
                <a:sym typeface="DM Sans"/>
              </a:rPr>
              <a:t>f</a:t>
            </a:r>
          </a:p>
          <a:p>
            <a:pPr algn="just">
              <a:lnSpc>
                <a:spcPts val="2801"/>
              </a:lnSpc>
            </a:pPr>
            <a:r>
              <a:rPr lang="en-US" sz="2001">
                <a:solidFill>
                  <a:srgbClr val="343434"/>
                </a:solidFill>
                <a:latin typeface="DM Sans"/>
                <a:ea typeface="DM Sans"/>
                <a:cs typeface="DM Sans"/>
                <a:sym typeface="DM Sans"/>
              </a:rPr>
              <a:t> →</a:t>
            </a:r>
            <a:r>
              <a:rPr lang="en-US" sz="2001">
                <a:solidFill>
                  <a:srgbClr val="343434"/>
                </a:solidFill>
                <a:latin typeface="DM Sans"/>
                <a:ea typeface="DM Sans"/>
                <a:cs typeface="DM Sans"/>
                <a:sym typeface="DM Sans"/>
              </a:rPr>
              <a:t> Alternative: Use a mobile hotspot</a:t>
            </a:r>
          </a:p>
          <a:p>
            <a:pPr algn="just">
              <a:lnSpc>
                <a:spcPts val="280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550763" y="3578679"/>
            <a:ext cx="7651978" cy="4720996"/>
          </a:xfrm>
          <a:custGeom>
            <a:avLst/>
            <a:gdLst/>
            <a:ahLst/>
            <a:cxnLst/>
            <a:rect r="r" b="b" t="t" l="l"/>
            <a:pathLst>
              <a:path h="4720996" w="7651978">
                <a:moveTo>
                  <a:pt x="0" y="0"/>
                </a:moveTo>
                <a:lnTo>
                  <a:pt x="7651978" y="0"/>
                </a:lnTo>
                <a:lnTo>
                  <a:pt x="7651978" y="4720996"/>
                </a:lnTo>
                <a:lnTo>
                  <a:pt x="0" y="4720996"/>
                </a:lnTo>
                <a:lnTo>
                  <a:pt x="0" y="0"/>
                </a:lnTo>
                <a:close/>
              </a:path>
            </a:pathLst>
          </a:custGeom>
          <a:blipFill>
            <a:blip r:embed="rId6"/>
            <a:stretch>
              <a:fillRect l="0" t="-39169" r="0" b="-3129"/>
            </a:stretch>
          </a:blipFill>
        </p:spPr>
      </p:sp>
      <p:sp>
        <p:nvSpPr>
          <p:cNvPr name="TextBox 5" id="5"/>
          <p:cNvSpPr txBox="true"/>
          <p:nvPr/>
        </p:nvSpPr>
        <p:spPr>
          <a:xfrm rot="0">
            <a:off x="1237865" y="1512307"/>
            <a:ext cx="15531960" cy="22764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KEY STEPS IN DEVELOPING A CONTINGENCY PLAN</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300265" y="3903081"/>
            <a:ext cx="7703580" cy="4515692"/>
          </a:xfrm>
          <a:prstGeom prst="rect">
            <a:avLst/>
          </a:prstGeom>
        </p:spPr>
        <p:txBody>
          <a:bodyPr anchor="t" rtlCol="false" tIns="0" lIns="0" bIns="0" rIns="0">
            <a:spAutoFit/>
          </a:bodyPr>
          <a:lstStyle/>
          <a:p>
            <a:pPr algn="just">
              <a:lnSpc>
                <a:spcPts val="2801"/>
              </a:lnSpc>
            </a:pPr>
            <a:r>
              <a:rPr lang="en-US" sz="2001">
                <a:solidFill>
                  <a:srgbClr val="343434"/>
                </a:solidFill>
                <a:latin typeface="DM Sans"/>
                <a:ea typeface="DM Sans"/>
                <a:cs typeface="DM Sans"/>
                <a:sym typeface="DM Sans"/>
              </a:rPr>
              <a:t>An action plan should identify:</a:t>
            </a:r>
          </a:p>
          <a:p>
            <a:pPr algn="just">
              <a:lnSpc>
                <a:spcPts val="2801"/>
              </a:lnSpc>
            </a:pPr>
            <a:r>
              <a:rPr lang="en-US" sz="2001">
                <a:solidFill>
                  <a:srgbClr val="343434"/>
                </a:solidFill>
                <a:latin typeface="DM Sans"/>
                <a:ea typeface="DM Sans"/>
                <a:cs typeface="DM Sans"/>
                <a:sym typeface="DM Sans"/>
              </a:rPr>
              <a:t>1. The Problem</a:t>
            </a:r>
          </a:p>
          <a:p>
            <a:pPr algn="just">
              <a:lnSpc>
                <a:spcPts val="2801"/>
              </a:lnSpc>
            </a:pPr>
            <a:r>
              <a:rPr lang="en-US" sz="2001">
                <a:solidFill>
                  <a:srgbClr val="343434"/>
                </a:solidFill>
                <a:latin typeface="DM Sans"/>
                <a:ea typeface="DM Sans"/>
                <a:cs typeface="DM Sans"/>
                <a:sym typeface="DM Sans"/>
              </a:rPr>
              <a:t> What unexpected event has occurred?</a:t>
            </a:r>
          </a:p>
          <a:p>
            <a:pPr algn="just">
              <a:lnSpc>
                <a:spcPts val="2801"/>
              </a:lnSpc>
            </a:pPr>
            <a:r>
              <a:rPr lang="en-US" sz="2001">
                <a:solidFill>
                  <a:srgbClr val="343434"/>
                </a:solidFill>
                <a:latin typeface="DM Sans"/>
                <a:ea typeface="DM Sans"/>
                <a:cs typeface="DM Sans"/>
                <a:sym typeface="DM Sans"/>
              </a:rPr>
              <a:t>2. Th</a:t>
            </a:r>
            <a:r>
              <a:rPr lang="en-US" sz="2001">
                <a:solidFill>
                  <a:srgbClr val="343434"/>
                </a:solidFill>
                <a:latin typeface="DM Sans"/>
                <a:ea typeface="DM Sans"/>
                <a:cs typeface="DM Sans"/>
                <a:sym typeface="DM Sans"/>
              </a:rPr>
              <a:t>e Action</a:t>
            </a:r>
          </a:p>
          <a:p>
            <a:pPr algn="just">
              <a:lnSpc>
                <a:spcPts val="2801"/>
              </a:lnSpc>
            </a:pPr>
            <a:r>
              <a:rPr lang="en-US" sz="2001">
                <a:solidFill>
                  <a:srgbClr val="343434"/>
                </a:solidFill>
                <a:latin typeface="DM Sans"/>
                <a:ea typeface="DM Sans"/>
                <a:cs typeface="DM Sans"/>
                <a:sym typeface="DM Sans"/>
              </a:rPr>
              <a:t> What steps should be taken to handle it?</a:t>
            </a:r>
          </a:p>
          <a:p>
            <a:pPr algn="just">
              <a:lnSpc>
                <a:spcPts val="2801"/>
              </a:lnSpc>
            </a:pPr>
            <a:r>
              <a:rPr lang="en-US" sz="2001">
                <a:solidFill>
                  <a:srgbClr val="343434"/>
                </a:solidFill>
                <a:latin typeface="DM Sans"/>
                <a:ea typeface="DM Sans"/>
                <a:cs typeface="DM Sans"/>
                <a:sym typeface="DM Sans"/>
              </a:rPr>
              <a:t>3. The Responsible Person</a:t>
            </a:r>
          </a:p>
          <a:p>
            <a:pPr algn="just">
              <a:lnSpc>
                <a:spcPts val="2801"/>
              </a:lnSpc>
            </a:pPr>
            <a:r>
              <a:rPr lang="en-US" sz="2001">
                <a:solidFill>
                  <a:srgbClr val="343434"/>
                </a:solidFill>
                <a:latin typeface="DM Sans"/>
                <a:ea typeface="DM Sans"/>
                <a:cs typeface="DM Sans"/>
                <a:sym typeface="DM Sans"/>
              </a:rPr>
              <a:t> Who</a:t>
            </a:r>
            <a:r>
              <a:rPr lang="en-US" sz="2001">
                <a:solidFill>
                  <a:srgbClr val="343434"/>
                </a:solidFill>
                <a:latin typeface="DM Sans"/>
                <a:ea typeface="DM Sans"/>
                <a:cs typeface="DM Sans"/>
                <a:sym typeface="DM Sans"/>
              </a:rPr>
              <a:t> will carry out the necessary actions?</a:t>
            </a:r>
          </a:p>
          <a:p>
            <a:pPr algn="just">
              <a:lnSpc>
                <a:spcPts val="2801"/>
              </a:lnSpc>
            </a:pPr>
            <a:r>
              <a:rPr lang="en-US" sz="2001">
                <a:solidFill>
                  <a:srgbClr val="343434"/>
                </a:solidFill>
                <a:latin typeface="DM Sans"/>
                <a:ea typeface="DM Sans"/>
                <a:cs typeface="DM Sans"/>
                <a:sym typeface="DM Sans"/>
              </a:rPr>
              <a:t>4. T</a:t>
            </a:r>
            <a:r>
              <a:rPr lang="en-US" sz="2001">
                <a:solidFill>
                  <a:srgbClr val="343434"/>
                </a:solidFill>
                <a:latin typeface="DM Sans"/>
                <a:ea typeface="DM Sans"/>
                <a:cs typeface="DM Sans"/>
                <a:sym typeface="DM Sans"/>
              </a:rPr>
              <a:t>he Resources Needed</a:t>
            </a:r>
          </a:p>
          <a:p>
            <a:pPr algn="just">
              <a:lnSpc>
                <a:spcPts val="2801"/>
              </a:lnSpc>
            </a:pPr>
            <a:r>
              <a:rPr lang="en-US" sz="2001">
                <a:solidFill>
                  <a:srgbClr val="343434"/>
                </a:solidFill>
                <a:latin typeface="DM Sans"/>
                <a:ea typeface="DM Sans"/>
                <a:cs typeface="DM Sans"/>
                <a:sym typeface="DM Sans"/>
              </a:rPr>
              <a:t> Wha</a:t>
            </a:r>
            <a:r>
              <a:rPr lang="en-US" sz="2001">
                <a:solidFill>
                  <a:srgbClr val="343434"/>
                </a:solidFill>
                <a:latin typeface="DM Sans"/>
                <a:ea typeface="DM Sans"/>
                <a:cs typeface="DM Sans"/>
                <a:sym typeface="DM Sans"/>
              </a:rPr>
              <a:t>t equipment, infor</a:t>
            </a:r>
            <a:r>
              <a:rPr lang="en-US" sz="2001">
                <a:solidFill>
                  <a:srgbClr val="343434"/>
                </a:solidFill>
                <a:latin typeface="DM Sans"/>
                <a:ea typeface="DM Sans"/>
                <a:cs typeface="DM Sans"/>
                <a:sym typeface="DM Sans"/>
              </a:rPr>
              <a:t>mation, or backup resources are required?</a:t>
            </a:r>
          </a:p>
          <a:p>
            <a:pPr algn="just">
              <a:lnSpc>
                <a:spcPts val="2801"/>
              </a:lnSpc>
            </a:pPr>
            <a:r>
              <a:rPr lang="en-US" sz="2001">
                <a:solidFill>
                  <a:srgbClr val="343434"/>
                </a:solidFill>
                <a:latin typeface="DM Sans"/>
                <a:ea typeface="DM Sans"/>
                <a:cs typeface="DM Sans"/>
                <a:sym typeface="DM Sans"/>
              </a:rPr>
              <a:t>5. Th</a:t>
            </a:r>
            <a:r>
              <a:rPr lang="en-US" sz="2001">
                <a:solidFill>
                  <a:srgbClr val="343434"/>
                </a:solidFill>
                <a:latin typeface="DM Sans"/>
                <a:ea typeface="DM Sans"/>
                <a:cs typeface="DM Sans"/>
                <a:sym typeface="DM Sans"/>
              </a:rPr>
              <a:t>e Alternative Solution</a:t>
            </a:r>
          </a:p>
          <a:p>
            <a:pPr algn="just">
              <a:lnSpc>
                <a:spcPts val="2801"/>
              </a:lnSpc>
            </a:pPr>
            <a:r>
              <a:rPr lang="en-US" sz="2001">
                <a:solidFill>
                  <a:srgbClr val="343434"/>
                </a:solidFill>
                <a:latin typeface="DM Sans"/>
                <a:ea typeface="DM Sans"/>
                <a:cs typeface="DM Sans"/>
                <a:sym typeface="DM Sans"/>
              </a:rPr>
              <a:t> What should be done if the first solution does not work?</a:t>
            </a:r>
          </a:p>
          <a:p>
            <a:pPr algn="just">
              <a:lnSpc>
                <a:spcPts val="2801"/>
              </a:lnSpc>
            </a:pPr>
          </a:p>
        </p:txBody>
      </p:sp>
      <p:sp>
        <p:nvSpPr>
          <p:cNvPr name="TextBox 12" id="12"/>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75510"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12393" y="1584429"/>
            <a:ext cx="13181515"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DIFFERENT TYPES OF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343678" y="3586584"/>
            <a:ext cx="17339534" cy="4159000"/>
          </a:xfrm>
          <a:prstGeom prst="rect">
            <a:avLst/>
          </a:prstGeom>
        </p:spPr>
        <p:txBody>
          <a:bodyPr anchor="t" rtlCol="false" tIns="0" lIns="0" bIns="0" rIns="0">
            <a:spAutoFit/>
          </a:bodyPr>
          <a:lstStyle/>
          <a:p>
            <a:pPr algn="l" marL="574073" indent="-287036" lvl="1">
              <a:lnSpc>
                <a:spcPts val="3722"/>
              </a:lnSpc>
              <a:buFont typeface="Arial"/>
              <a:buChar char="•"/>
            </a:pPr>
            <a:r>
              <a:rPr lang="en-US" sz="2658">
                <a:solidFill>
                  <a:srgbClr val="343434"/>
                </a:solidFill>
                <a:latin typeface="DM Sans"/>
                <a:ea typeface="DM Sans"/>
                <a:cs typeface="DM Sans"/>
                <a:sym typeface="DM Sans"/>
              </a:rPr>
              <a:t>A Business Continuity Plan helps an organization keep essential business activities operating when a disruption occurs and continue them until normal operations can be restored.</a:t>
            </a:r>
          </a:p>
          <a:p>
            <a:pPr algn="just" marL="1148146" indent="-382715" lvl="2">
              <a:lnSpc>
                <a:spcPts val="3722"/>
              </a:lnSpc>
              <a:buFont typeface="Arial"/>
              <a:buChar char="⚬"/>
            </a:pPr>
            <a:r>
              <a:rPr lang="en-US" sz="2658">
                <a:solidFill>
                  <a:srgbClr val="343434"/>
                </a:solidFill>
                <a:latin typeface="DM Sans"/>
                <a:ea typeface="DM Sans"/>
                <a:cs typeface="DM Sans"/>
                <a:sym typeface="DM Sans"/>
              </a:rPr>
              <a:t>Focuses on sustaining business functions during and after a disruption.</a:t>
            </a:r>
          </a:p>
          <a:p>
            <a:pPr algn="just" marL="1148146" indent="-382715" lvl="2">
              <a:lnSpc>
                <a:spcPts val="3722"/>
              </a:lnSpc>
              <a:buFont typeface="Arial"/>
              <a:buChar char="⚬"/>
            </a:pPr>
            <a:r>
              <a:rPr lang="en-US" sz="2658">
                <a:solidFill>
                  <a:srgbClr val="343434"/>
                </a:solidFill>
                <a:latin typeface="DM Sans"/>
                <a:ea typeface="DM Sans"/>
                <a:cs typeface="DM Sans"/>
                <a:sym typeface="DM Sans"/>
              </a:rPr>
              <a:t>May address all key business processes or be developed for a specific business process.</a:t>
            </a:r>
          </a:p>
          <a:p>
            <a:pPr algn="just" marL="1148146" indent="-382715" lvl="2">
              <a:lnSpc>
                <a:spcPts val="3722"/>
              </a:lnSpc>
              <a:buFont typeface="Arial"/>
              <a:buChar char="⚬"/>
            </a:pPr>
            <a:r>
              <a:rPr lang="en-US" sz="2658">
                <a:solidFill>
                  <a:srgbClr val="343434"/>
                </a:solidFill>
                <a:latin typeface="DM Sans"/>
                <a:ea typeface="DM Sans"/>
                <a:cs typeface="DM Sans"/>
                <a:sym typeface="DM Sans"/>
              </a:rPr>
              <a:t>Helps organizations prepare for disruptions that could affect their operations, employees, facilities, technology, and other critical resources.</a:t>
            </a:r>
          </a:p>
          <a:p>
            <a:pPr algn="just" marL="1148146" indent="-382715" lvl="2">
              <a:lnSpc>
                <a:spcPts val="3722"/>
              </a:lnSpc>
              <a:buFont typeface="Arial"/>
              <a:buChar char="⚬"/>
            </a:pPr>
            <a:r>
              <a:rPr lang="en-US" sz="2658">
                <a:solidFill>
                  <a:srgbClr val="343434"/>
                </a:solidFill>
                <a:latin typeface="DM Sans"/>
                <a:ea typeface="DM Sans"/>
                <a:cs typeface="DM Sans"/>
                <a:sym typeface="DM Sans"/>
              </a:rPr>
              <a:t>A BCP establishes procedures that help an organization continue critical operations and minimize disruption.</a:t>
            </a:r>
          </a:p>
          <a:p>
            <a:pPr algn="just" marL="1148146" indent="-382715" lvl="2">
              <a:lnSpc>
                <a:spcPts val="3722"/>
              </a:lnSpc>
              <a:buFont typeface="Arial"/>
              <a:buChar char="⚬"/>
            </a:pPr>
            <a:r>
              <a:rPr lang="en-US" sz="2658">
                <a:solidFill>
                  <a:srgbClr val="343434"/>
                </a:solidFill>
                <a:latin typeface="DM Sans"/>
                <a:ea typeface="DM Sans"/>
                <a:cs typeface="DM Sans"/>
                <a:sym typeface="DM Sans"/>
              </a:rPr>
              <a:t>It is part of the Certification and Accreditation process according to the provided document.</a:t>
            </a:r>
          </a:p>
        </p:txBody>
      </p:sp>
      <p:sp>
        <p:nvSpPr>
          <p:cNvPr name="TextBox 12" id="12"/>
          <p:cNvSpPr txBox="true"/>
          <p:nvPr/>
        </p:nvSpPr>
        <p:spPr>
          <a:xfrm rot="0">
            <a:off x="80250" y="2383259"/>
            <a:ext cx="9750248"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BUSINESS CONTINUITY PLAN (BCP)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DIFFERENT TYPES OF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308126" y="3474198"/>
            <a:ext cx="17428157" cy="3054173"/>
          </a:xfrm>
          <a:prstGeom prst="rect">
            <a:avLst/>
          </a:prstGeom>
        </p:spPr>
        <p:txBody>
          <a:bodyPr anchor="t" rtlCol="false" tIns="0" lIns="0" bIns="0" rIns="0">
            <a:spAutoFit/>
          </a:bodyPr>
          <a:lstStyle/>
          <a:p>
            <a:pPr algn="l" marL="540577" indent="-270289" lvl="1">
              <a:lnSpc>
                <a:spcPts val="3505"/>
              </a:lnSpc>
              <a:buFont typeface="Arial"/>
              <a:buChar char="•"/>
            </a:pPr>
            <a:r>
              <a:rPr lang="en-US" sz="2503">
                <a:solidFill>
                  <a:srgbClr val="343434"/>
                </a:solidFill>
                <a:latin typeface="DM Sans"/>
                <a:ea typeface="DM Sans"/>
                <a:cs typeface="DM Sans"/>
                <a:sym typeface="DM Sans"/>
              </a:rPr>
              <a:t>To help an organization quickly restore its business acti</a:t>
            </a:r>
            <a:r>
              <a:rPr lang="en-US" sz="2503">
                <a:solidFill>
                  <a:srgbClr val="343434"/>
                </a:solidFill>
                <a:latin typeface="DM Sans"/>
                <a:ea typeface="DM Sans"/>
                <a:cs typeface="DM Sans"/>
                <a:sym typeface="DM Sans"/>
              </a:rPr>
              <a:t>vities after a major disruption and return to normal operations.</a:t>
            </a:r>
          </a:p>
          <a:p>
            <a:pPr algn="just" marL="1081154" indent="-360385" lvl="2">
              <a:lnSpc>
                <a:spcPts val="3505"/>
              </a:lnSpc>
              <a:buFont typeface="Arial"/>
              <a:buChar char="⚬"/>
            </a:pPr>
            <a:r>
              <a:rPr lang="en-US" sz="2503">
                <a:solidFill>
                  <a:srgbClr val="343434"/>
                </a:solidFill>
                <a:latin typeface="DM Sans"/>
                <a:ea typeface="DM Sans"/>
                <a:cs typeface="DM Sans"/>
                <a:sym typeface="DM Sans"/>
              </a:rPr>
              <a:t>Focuses on restoring business processes after an emergency.</a:t>
            </a:r>
          </a:p>
          <a:p>
            <a:pPr algn="just" marL="1081154" indent="-360385" lvl="2">
              <a:lnSpc>
                <a:spcPts val="3505"/>
              </a:lnSpc>
              <a:buFont typeface="Arial"/>
              <a:buChar char="⚬"/>
            </a:pPr>
            <a:r>
              <a:rPr lang="en-US" sz="2503">
                <a:solidFill>
                  <a:srgbClr val="343434"/>
                </a:solidFill>
                <a:latin typeface="DM Sans"/>
                <a:ea typeface="DM Sans"/>
                <a:cs typeface="DM Sans"/>
                <a:sym typeface="DM Sans"/>
              </a:rPr>
              <a:t>Provides procedures and actions for quickly resuming business activities following a major disaster.</a:t>
            </a:r>
          </a:p>
          <a:p>
            <a:pPr algn="just" marL="1081154" indent="-360385" lvl="2">
              <a:lnSpc>
                <a:spcPts val="3505"/>
              </a:lnSpc>
              <a:buFont typeface="Arial"/>
              <a:buChar char="⚬"/>
            </a:pPr>
            <a:r>
              <a:rPr lang="en-US" sz="2503">
                <a:solidFill>
                  <a:srgbClr val="343434"/>
                </a:solidFill>
                <a:latin typeface="DM Sans"/>
                <a:ea typeface="DM Sans"/>
                <a:cs typeface="DM Sans"/>
                <a:sym typeface="DM Sans"/>
              </a:rPr>
              <a:t>A recovery plan may identify the procedures, responsible personnel, resources, and timeframes needed for recovery.</a:t>
            </a:r>
          </a:p>
          <a:p>
            <a:pPr algn="just">
              <a:lnSpc>
                <a:spcPts val="3505"/>
              </a:lnSpc>
            </a:pPr>
          </a:p>
        </p:txBody>
      </p:sp>
      <p:sp>
        <p:nvSpPr>
          <p:cNvPr name="TextBox 12" id="12"/>
          <p:cNvSpPr txBox="true"/>
          <p:nvPr/>
        </p:nvSpPr>
        <p:spPr>
          <a:xfrm rot="0">
            <a:off x="67377" y="2449168"/>
            <a:ext cx="9750248"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BUSINESS RECOVERY PLAN (BRP)</a:t>
            </a:r>
          </a:p>
        </p:txBody>
      </p:sp>
      <p:sp>
        <p:nvSpPr>
          <p:cNvPr name="TextBox 13" id="13"/>
          <p:cNvSpPr txBox="true"/>
          <p:nvPr/>
        </p:nvSpPr>
        <p:spPr>
          <a:xfrm rot="0">
            <a:off x="308126" y="6287621"/>
            <a:ext cx="8491342" cy="3472274"/>
          </a:xfrm>
          <a:prstGeom prst="rect">
            <a:avLst/>
          </a:prstGeom>
        </p:spPr>
        <p:txBody>
          <a:bodyPr anchor="t" rtlCol="false" tIns="0" lIns="0" bIns="0" rIns="0">
            <a:spAutoFit/>
          </a:bodyPr>
          <a:lstStyle/>
          <a:p>
            <a:pPr algn="l" marL="1078130" indent="-359377" lvl="2">
              <a:lnSpc>
                <a:spcPts val="3495"/>
              </a:lnSpc>
              <a:buFont typeface="Arial"/>
              <a:buChar char="⚬"/>
            </a:pPr>
            <a:r>
              <a:rPr lang="en-US" sz="2496">
                <a:solidFill>
                  <a:srgbClr val="343434"/>
                </a:solidFill>
                <a:latin typeface="DM Sans"/>
                <a:ea typeface="DM Sans"/>
                <a:cs typeface="DM Sans"/>
                <a:sym typeface="DM Sans"/>
              </a:rPr>
              <a:t>A recovery plan considers possibl</a:t>
            </a:r>
            <a:r>
              <a:rPr lang="en-US" sz="2496">
                <a:solidFill>
                  <a:srgbClr val="343434"/>
                </a:solidFill>
                <a:latin typeface="DM Sans"/>
                <a:ea typeface="DM Sans"/>
                <a:cs typeface="DM Sans"/>
                <a:sym typeface="DM Sans"/>
              </a:rPr>
              <a:t>e disruptions such as:</a:t>
            </a:r>
          </a:p>
          <a:p>
            <a:pPr algn="just" marL="1617195" indent="-404299" lvl="3">
              <a:lnSpc>
                <a:spcPts val="3495"/>
              </a:lnSpc>
              <a:buFont typeface="Arial"/>
              <a:buChar char="￭"/>
            </a:pPr>
            <a:r>
              <a:rPr lang="en-US" sz="2496">
                <a:solidFill>
                  <a:srgbClr val="343434"/>
                </a:solidFill>
                <a:latin typeface="DM Sans"/>
                <a:ea typeface="DM Sans"/>
                <a:cs typeface="DM Sans"/>
                <a:sym typeface="DM Sans"/>
              </a:rPr>
              <a:t>Hardware or software failure</a:t>
            </a:r>
          </a:p>
          <a:p>
            <a:pPr algn="just" marL="1617195" indent="-404299" lvl="3">
              <a:lnSpc>
                <a:spcPts val="3495"/>
              </a:lnSpc>
              <a:buFont typeface="Arial"/>
              <a:buChar char="￭"/>
            </a:pPr>
            <a:r>
              <a:rPr lang="en-US" sz="2496">
                <a:solidFill>
                  <a:srgbClr val="343434"/>
                </a:solidFill>
                <a:latin typeface="DM Sans"/>
                <a:ea typeface="DM Sans"/>
                <a:cs typeface="DM Sans"/>
                <a:sym typeface="DM Sans"/>
              </a:rPr>
              <a:t>Cyberattacks</a:t>
            </a:r>
          </a:p>
          <a:p>
            <a:pPr algn="just" marL="1617195" indent="-404299" lvl="3">
              <a:lnSpc>
                <a:spcPts val="3495"/>
              </a:lnSpc>
              <a:buFont typeface="Arial"/>
              <a:buChar char="￭"/>
            </a:pPr>
            <a:r>
              <a:rPr lang="en-US" sz="2496">
                <a:solidFill>
                  <a:srgbClr val="343434"/>
                </a:solidFill>
                <a:latin typeface="DM Sans"/>
                <a:ea typeface="DM Sans"/>
                <a:cs typeface="DM Sans"/>
                <a:sym typeface="DM Sans"/>
              </a:rPr>
              <a:t>Ba</a:t>
            </a:r>
            <a:r>
              <a:rPr lang="en-US" sz="2496">
                <a:solidFill>
                  <a:srgbClr val="343434"/>
                </a:solidFill>
                <a:latin typeface="DM Sans"/>
                <a:ea typeface="DM Sans"/>
                <a:cs typeface="DM Sans"/>
                <a:sym typeface="DM Sans"/>
              </a:rPr>
              <a:t>ckup problems</a:t>
            </a:r>
          </a:p>
          <a:p>
            <a:pPr algn="just" marL="1617195" indent="-404299" lvl="3">
              <a:lnSpc>
                <a:spcPts val="3495"/>
              </a:lnSpc>
              <a:buFont typeface="Arial"/>
              <a:buChar char="￭"/>
            </a:pPr>
            <a:r>
              <a:rPr lang="en-US" sz="2496">
                <a:solidFill>
                  <a:srgbClr val="343434"/>
                </a:solidFill>
                <a:latin typeface="DM Sans"/>
                <a:ea typeface="DM Sans"/>
                <a:cs typeface="DM Sans"/>
                <a:sym typeface="DM Sans"/>
              </a:rPr>
              <a:t>Human error</a:t>
            </a:r>
          </a:p>
          <a:p>
            <a:pPr algn="just" marL="1617195" indent="-404299" lvl="3">
              <a:lnSpc>
                <a:spcPts val="3495"/>
              </a:lnSpc>
              <a:buFont typeface="Arial"/>
              <a:buChar char="￭"/>
            </a:pPr>
            <a:r>
              <a:rPr lang="en-US" sz="2496">
                <a:solidFill>
                  <a:srgbClr val="343434"/>
                </a:solidFill>
                <a:latin typeface="DM Sans"/>
                <a:ea typeface="DM Sans"/>
                <a:cs typeface="DM Sans"/>
                <a:sym typeface="DM Sans"/>
              </a:rPr>
              <a:t>Natural disasters</a:t>
            </a:r>
          </a:p>
          <a:p>
            <a:pPr algn="just">
              <a:lnSpc>
                <a:spcPts val="3495"/>
              </a:lnSpc>
            </a:pPr>
          </a:p>
        </p:txBody>
      </p:sp>
      <p:sp>
        <p:nvSpPr>
          <p:cNvPr name="TextBox 14" id="14"/>
          <p:cNvSpPr txBox="true"/>
          <p:nvPr/>
        </p:nvSpPr>
        <p:spPr>
          <a:xfrm rot="0">
            <a:off x="7851100" y="6287621"/>
            <a:ext cx="9408200" cy="3034957"/>
          </a:xfrm>
          <a:prstGeom prst="rect">
            <a:avLst/>
          </a:prstGeom>
        </p:spPr>
        <p:txBody>
          <a:bodyPr anchor="t" rtlCol="false" tIns="0" lIns="0" bIns="0" rIns="0">
            <a:spAutoFit/>
          </a:bodyPr>
          <a:lstStyle/>
          <a:p>
            <a:pPr algn="l" marL="1077658" indent="-359219" lvl="2">
              <a:lnSpc>
                <a:spcPts val="3494"/>
              </a:lnSpc>
              <a:buFont typeface="Arial"/>
              <a:buChar char="⚬"/>
            </a:pPr>
            <a:r>
              <a:rPr lang="en-US" sz="2495">
                <a:solidFill>
                  <a:srgbClr val="343434"/>
                </a:solidFill>
                <a:latin typeface="DM Sans"/>
                <a:ea typeface="DM Sans"/>
                <a:cs typeface="DM Sans"/>
                <a:sym typeface="DM Sans"/>
              </a:rPr>
              <a:t>Its objectives include:</a:t>
            </a:r>
          </a:p>
          <a:p>
            <a:pPr algn="l" marL="1616487" indent="-404122" lvl="3">
              <a:lnSpc>
                <a:spcPts val="3494"/>
              </a:lnSpc>
              <a:buFont typeface="Arial"/>
              <a:buChar char="￭"/>
            </a:pPr>
            <a:r>
              <a:rPr lang="en-US" sz="2495">
                <a:solidFill>
                  <a:srgbClr val="343434"/>
                </a:solidFill>
                <a:latin typeface="DM Sans"/>
                <a:ea typeface="DM Sans"/>
                <a:cs typeface="DM Sans"/>
                <a:sym typeface="DM Sans"/>
              </a:rPr>
              <a:t>Minimizing the impact of a crisis</a:t>
            </a:r>
          </a:p>
          <a:p>
            <a:pPr algn="l" marL="1616487" indent="-404122" lvl="3">
              <a:lnSpc>
                <a:spcPts val="3494"/>
              </a:lnSpc>
              <a:buFont typeface="Arial"/>
              <a:buChar char="￭"/>
            </a:pPr>
            <a:r>
              <a:rPr lang="en-US" sz="2495">
                <a:solidFill>
                  <a:srgbClr val="343434"/>
                </a:solidFill>
                <a:latin typeface="DM Sans"/>
                <a:ea typeface="DM Sans"/>
                <a:cs typeface="DM Sans"/>
                <a:sym typeface="DM Sans"/>
              </a:rPr>
              <a:t>Reducing busin</a:t>
            </a:r>
            <a:r>
              <a:rPr lang="en-US" sz="2495">
                <a:solidFill>
                  <a:srgbClr val="343434"/>
                </a:solidFill>
                <a:latin typeface="DM Sans"/>
                <a:ea typeface="DM Sans"/>
                <a:cs typeface="DM Sans"/>
                <a:sym typeface="DM Sans"/>
              </a:rPr>
              <a:t>ess interruption time</a:t>
            </a:r>
          </a:p>
          <a:p>
            <a:pPr algn="l" marL="1616487" indent="-404122" lvl="3">
              <a:lnSpc>
                <a:spcPts val="3494"/>
              </a:lnSpc>
              <a:buFont typeface="Arial"/>
              <a:buChar char="￭"/>
            </a:pPr>
            <a:r>
              <a:rPr lang="en-US" sz="2495">
                <a:solidFill>
                  <a:srgbClr val="343434"/>
                </a:solidFill>
                <a:latin typeface="DM Sans"/>
                <a:ea typeface="DM Sans"/>
                <a:cs typeface="DM Sans"/>
                <a:sym typeface="DM Sans"/>
              </a:rPr>
              <a:t>Supporting the organization's recovery</a:t>
            </a:r>
          </a:p>
          <a:p>
            <a:pPr algn="l" marL="1616487" indent="-404122" lvl="3">
              <a:lnSpc>
                <a:spcPts val="3494"/>
              </a:lnSpc>
              <a:buFont typeface="Arial"/>
              <a:buChar char="￭"/>
            </a:pPr>
            <a:r>
              <a:rPr lang="en-US" sz="2495">
                <a:solidFill>
                  <a:srgbClr val="343434"/>
                </a:solidFill>
                <a:latin typeface="DM Sans"/>
                <a:ea typeface="DM Sans"/>
                <a:cs typeface="DM Sans"/>
                <a:sym typeface="DM Sans"/>
              </a:rPr>
              <a:t>Returning the organization to a</a:t>
            </a:r>
            <a:r>
              <a:rPr lang="en-US" sz="2495">
                <a:solidFill>
                  <a:srgbClr val="343434"/>
                </a:solidFill>
                <a:latin typeface="DM Sans"/>
                <a:ea typeface="DM Sans"/>
                <a:cs typeface="DM Sans"/>
                <a:sym typeface="DM Sans"/>
              </a:rPr>
              <a:t> normal level of operation as quickly as possible</a:t>
            </a:r>
          </a:p>
          <a:p>
            <a:pPr algn="just">
              <a:lnSpc>
                <a:spcPts val="349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03735"/>
            <a:ext cx="19258069" cy="19258069"/>
          </a:xfrm>
          <a:custGeom>
            <a:avLst/>
            <a:gdLst/>
            <a:ahLst/>
            <a:cxnLst/>
            <a:rect r="r" b="b" t="t" l="l"/>
            <a:pathLst>
              <a:path h="19258069" w="19258069">
                <a:moveTo>
                  <a:pt x="0" y="0"/>
                </a:moveTo>
                <a:lnTo>
                  <a:pt x="19258070" y="0"/>
                </a:lnTo>
                <a:lnTo>
                  <a:pt x="19258070" y="19258069"/>
                </a:lnTo>
                <a:lnTo>
                  <a:pt x="0" y="19258069"/>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DIFFERENT TYPES OF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67377" y="2985935"/>
            <a:ext cx="9076623" cy="759015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43434"/>
                </a:solidFill>
                <a:latin typeface="DM Sans"/>
                <a:ea typeface="DM Sans"/>
                <a:cs typeface="DM Sans"/>
                <a:sym typeface="DM Sans"/>
              </a:rPr>
              <a:t>To ensure that</a:t>
            </a:r>
            <a:r>
              <a:rPr lang="en-US" sz="2299">
                <a:solidFill>
                  <a:srgbClr val="343434"/>
                </a:solidFill>
                <a:latin typeface="DM Sans"/>
                <a:ea typeface="DM Sans"/>
                <a:cs typeface="DM Sans"/>
                <a:sym typeface="DM Sans"/>
              </a:rPr>
              <a:t> an organization can continue its essential functions and services even when normal</a:t>
            </a:r>
            <a:r>
              <a:rPr lang="en-US" sz="2299">
                <a:solidFill>
                  <a:srgbClr val="343434"/>
                </a:solidFill>
                <a:latin typeface="DM Sans"/>
                <a:ea typeface="DM Sans"/>
                <a:cs typeface="DM Sans"/>
                <a:sym typeface="DM Sans"/>
              </a:rPr>
              <a:t> operations are disrupted. </a:t>
            </a:r>
          </a:p>
          <a:p>
            <a:pPr algn="l" marL="993138" indent="-331046" lvl="2">
              <a:lnSpc>
                <a:spcPts val="3219"/>
              </a:lnSpc>
              <a:buFont typeface="Arial"/>
              <a:buChar char="⚬"/>
            </a:pPr>
            <a:r>
              <a:rPr lang="en-US" sz="2299">
                <a:solidFill>
                  <a:srgbClr val="343434"/>
                </a:solidFill>
                <a:latin typeface="DM Sans"/>
                <a:ea typeface="DM Sans"/>
                <a:cs typeface="DM Sans"/>
                <a:sym typeface="DM Sans"/>
              </a:rPr>
              <a:t>Focuses on the organization's ability to continue essential functions during a disruption to normal operations.</a:t>
            </a:r>
          </a:p>
          <a:p>
            <a:pPr algn="l" marL="993138" indent="-331046" lvl="2">
              <a:lnSpc>
                <a:spcPts val="3219"/>
              </a:lnSpc>
              <a:buFont typeface="Arial"/>
              <a:buChar char="⚬"/>
            </a:pPr>
            <a:r>
              <a:rPr lang="en-US" sz="2299">
                <a:solidFill>
                  <a:srgbClr val="343434"/>
                </a:solidFill>
                <a:latin typeface="DM Sans"/>
                <a:ea typeface="DM Sans"/>
                <a:cs typeface="DM Sans"/>
                <a:sym typeface="DM Sans"/>
              </a:rPr>
              <a:t>Ensures the organization can continue providing essential services and core capabilities.</a:t>
            </a:r>
          </a:p>
          <a:p>
            <a:pPr algn="l" marL="993138" indent="-331046" lvl="2">
              <a:lnSpc>
                <a:spcPts val="3219"/>
              </a:lnSpc>
              <a:buFont typeface="Arial"/>
              <a:buChar char="⚬"/>
            </a:pPr>
            <a:r>
              <a:rPr lang="en-US" sz="2299">
                <a:solidFill>
                  <a:srgbClr val="343434"/>
                </a:solidFill>
                <a:latin typeface="DM Sans"/>
                <a:ea typeface="DM Sans"/>
                <a:cs typeface="DM Sans"/>
                <a:sym typeface="DM Sans"/>
              </a:rPr>
              <a:t>Requires the leadership and organization to work together to maintain essential functions and continuity.</a:t>
            </a:r>
          </a:p>
          <a:p>
            <a:pPr algn="l" marL="993138" indent="-331046" lvl="2">
              <a:lnSpc>
                <a:spcPts val="3219"/>
              </a:lnSpc>
              <a:buFont typeface="Arial"/>
              <a:buChar char="⚬"/>
            </a:pPr>
            <a:r>
              <a:rPr lang="en-US" sz="2299">
                <a:solidFill>
                  <a:srgbClr val="343434"/>
                </a:solidFill>
                <a:latin typeface="DM Sans"/>
                <a:ea typeface="DM Sans"/>
                <a:cs typeface="DM Sans"/>
                <a:sym typeface="DM Sans"/>
              </a:rPr>
              <a:t>COOP can support operations when normal facilities or procedures are disrupted.</a:t>
            </a:r>
          </a:p>
          <a:p>
            <a:pPr algn="l" marL="993138" indent="-331046" lvl="2">
              <a:lnSpc>
                <a:spcPts val="3219"/>
              </a:lnSpc>
              <a:buFont typeface="Arial"/>
              <a:buChar char="⚬"/>
            </a:pPr>
            <a:r>
              <a:rPr lang="en-US" sz="2299">
                <a:solidFill>
                  <a:srgbClr val="343434"/>
                </a:solidFill>
                <a:latin typeface="DM Sans"/>
                <a:ea typeface="DM Sans"/>
                <a:cs typeface="DM Sans"/>
                <a:sym typeface="DM Sans"/>
              </a:rPr>
              <a:t>An alternate location may be used to allow essential functions to continue when normal operations are unavailable.</a:t>
            </a:r>
          </a:p>
          <a:p>
            <a:pPr algn="l" marL="993138" indent="-331046" lvl="2">
              <a:lnSpc>
                <a:spcPts val="3219"/>
              </a:lnSpc>
              <a:buFont typeface="Arial"/>
              <a:buChar char="⚬"/>
            </a:pPr>
            <a:r>
              <a:rPr lang="en-US" sz="2299">
                <a:solidFill>
                  <a:srgbClr val="343434"/>
                </a:solidFill>
                <a:latin typeface="DM Sans"/>
                <a:ea typeface="DM Sans"/>
                <a:cs typeface="DM Sans"/>
                <a:sym typeface="DM Sans"/>
              </a:rPr>
              <a:t>COOP is different from an Emergency Operations Plan (EOP). An EOP focuses more directly on responding to an emergency, while COOP focuses on maintaining essential operations during the disruption.</a:t>
            </a:r>
          </a:p>
          <a:p>
            <a:pPr algn="l">
              <a:lnSpc>
                <a:spcPts val="3219"/>
              </a:lnSpc>
            </a:pPr>
          </a:p>
        </p:txBody>
      </p:sp>
      <p:sp>
        <p:nvSpPr>
          <p:cNvPr name="TextBox 12" id="12"/>
          <p:cNvSpPr txBox="true"/>
          <p:nvPr/>
        </p:nvSpPr>
        <p:spPr>
          <a:xfrm rot="0">
            <a:off x="-164390" y="2331885"/>
            <a:ext cx="9916187" cy="7016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343434"/>
                </a:solidFill>
                <a:latin typeface="Cooper Hewitt"/>
                <a:ea typeface="Cooper Hewitt"/>
                <a:cs typeface="Cooper Hewitt"/>
                <a:sym typeface="Cooper Hewitt"/>
              </a:rPr>
              <a:t>CONTINUITY OF OPERATIONS PLAN (COOP)</a:t>
            </a:r>
          </a:p>
        </p:txBody>
      </p:sp>
      <p:sp>
        <p:nvSpPr>
          <p:cNvPr name="TextBox 13" id="13"/>
          <p:cNvSpPr txBox="true"/>
          <p:nvPr/>
        </p:nvSpPr>
        <p:spPr>
          <a:xfrm rot="0">
            <a:off x="8796463" y="2333793"/>
            <a:ext cx="10350113" cy="7016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343434"/>
                </a:solidFill>
                <a:latin typeface="Cooper Hewitt"/>
                <a:ea typeface="Cooper Hewitt"/>
                <a:cs typeface="Cooper Hewitt"/>
                <a:sym typeface="Cooper Hewitt"/>
              </a:rPr>
              <a:t>CONTINUITY OF SUPPORT PLAN (COS)</a:t>
            </a:r>
          </a:p>
        </p:txBody>
      </p:sp>
      <p:sp>
        <p:nvSpPr>
          <p:cNvPr name="TextBox 14" id="14"/>
          <p:cNvSpPr txBox="true"/>
          <p:nvPr/>
        </p:nvSpPr>
        <p:spPr>
          <a:xfrm rot="0">
            <a:off x="9096396" y="3024035"/>
            <a:ext cx="9076623" cy="518985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43434"/>
                </a:solidFill>
                <a:latin typeface="DM Sans"/>
                <a:ea typeface="DM Sans"/>
                <a:cs typeface="DM Sans"/>
                <a:sym typeface="DM Sans"/>
              </a:rPr>
              <a:t>To k</a:t>
            </a:r>
            <a:r>
              <a:rPr lang="en-US" sz="2299">
                <a:solidFill>
                  <a:srgbClr val="343434"/>
                </a:solidFill>
                <a:latin typeface="DM Sans"/>
                <a:ea typeface="DM Sans"/>
                <a:cs typeface="DM Sans"/>
                <a:sym typeface="DM Sans"/>
              </a:rPr>
              <a:t>eep</a:t>
            </a:r>
            <a:r>
              <a:rPr lang="en-US" sz="2299">
                <a:solidFill>
                  <a:srgbClr val="343434"/>
                </a:solidFill>
                <a:latin typeface="DM Sans"/>
                <a:ea typeface="DM Sans"/>
                <a:cs typeface="DM Sans"/>
                <a:sym typeface="DM Sans"/>
              </a:rPr>
              <a:t> the support and services for major applications running when normal operations are disrupted.</a:t>
            </a:r>
          </a:p>
          <a:p>
            <a:pPr algn="l" marL="993138" indent="-331046" lvl="2">
              <a:lnSpc>
                <a:spcPts val="3219"/>
              </a:lnSpc>
              <a:buFont typeface="Arial"/>
              <a:buChar char="⚬"/>
            </a:pPr>
            <a:r>
              <a:rPr lang="en-US" sz="2299">
                <a:solidFill>
                  <a:srgbClr val="343434"/>
                </a:solidFill>
                <a:latin typeface="DM Sans"/>
                <a:ea typeface="DM Sans"/>
                <a:cs typeface="DM Sans"/>
                <a:sym typeface="DM Sans"/>
              </a:rPr>
              <a:t>Focuses on continuing the support and services needed by major applications.</a:t>
            </a:r>
          </a:p>
          <a:p>
            <a:pPr algn="l" marL="993138" indent="-331046" lvl="2">
              <a:lnSpc>
                <a:spcPts val="3219"/>
              </a:lnSpc>
              <a:buFont typeface="Arial"/>
              <a:buChar char="⚬"/>
            </a:pPr>
            <a:r>
              <a:rPr lang="en-US" sz="2299">
                <a:solidFill>
                  <a:srgbClr val="343434"/>
                </a:solidFill>
                <a:latin typeface="DM Sans"/>
                <a:ea typeface="DM Sans"/>
                <a:cs typeface="DM Sans"/>
                <a:sym typeface="DM Sans"/>
              </a:rPr>
              <a:t>Makes sure important applications can still receive the technical support and resources they need during a disruption.</a:t>
            </a:r>
          </a:p>
          <a:p>
            <a:pPr algn="l" marL="993138" indent="-331046" lvl="2">
              <a:lnSpc>
                <a:spcPts val="3219"/>
              </a:lnSpc>
              <a:buFont typeface="Arial"/>
              <a:buChar char="⚬"/>
            </a:pPr>
            <a:r>
              <a:rPr lang="en-US" sz="2299">
                <a:solidFill>
                  <a:srgbClr val="343434"/>
                </a:solidFill>
                <a:latin typeface="DM Sans"/>
                <a:ea typeface="DM Sans"/>
                <a:cs typeface="DM Sans"/>
                <a:sym typeface="DM Sans"/>
              </a:rPr>
              <a:t>Helps prevent critical applications from becoming unusable because their supporting services are unavailable.</a:t>
            </a:r>
          </a:p>
          <a:p>
            <a:pPr algn="l" marL="993138" indent="-331046" lvl="2">
              <a:lnSpc>
                <a:spcPts val="3219"/>
              </a:lnSpc>
              <a:buFont typeface="Arial"/>
              <a:buChar char="⚬"/>
            </a:pPr>
            <a:r>
              <a:rPr lang="en-US" sz="2299">
                <a:solidFill>
                  <a:srgbClr val="343434"/>
                </a:solidFill>
                <a:latin typeface="DM Sans"/>
                <a:ea typeface="DM Sans"/>
                <a:cs typeface="DM Sans"/>
                <a:sym typeface="DM Sans"/>
              </a:rPr>
              <a:t>Supports the continued operation of applications that are important to the organization's daily activities.</a:t>
            </a:r>
          </a:p>
          <a:p>
            <a:pPr algn="l" marL="993138" indent="-331046" lvl="2">
              <a:lnSpc>
                <a:spcPts val="3219"/>
              </a:lnSpc>
              <a:buFont typeface="Arial"/>
              <a:buChar char="⚬"/>
            </a:pPr>
            <a:r>
              <a:rPr lang="en-US" sz="2299">
                <a:solidFill>
                  <a:srgbClr val="343434"/>
                </a:solidFill>
                <a:latin typeface="DM Sans"/>
                <a:ea typeface="DM Sans"/>
                <a:cs typeface="DM Sans"/>
                <a:sym typeface="DM Sans"/>
              </a:rPr>
              <a:t>Ensures that the necessary support is available until normal services can be restored.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03735"/>
            <a:ext cx="19258069" cy="19258069"/>
          </a:xfrm>
          <a:custGeom>
            <a:avLst/>
            <a:gdLst/>
            <a:ahLst/>
            <a:cxnLst/>
            <a:rect r="r" b="b" t="t" l="l"/>
            <a:pathLst>
              <a:path h="19258069" w="19258069">
                <a:moveTo>
                  <a:pt x="0" y="0"/>
                </a:moveTo>
                <a:lnTo>
                  <a:pt x="19258070" y="0"/>
                </a:lnTo>
                <a:lnTo>
                  <a:pt x="19258070" y="19258069"/>
                </a:lnTo>
                <a:lnTo>
                  <a:pt x="0" y="19258069"/>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DIFFERENT TYPES OF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67377" y="2985935"/>
            <a:ext cx="8795909" cy="6663698"/>
          </a:xfrm>
          <a:prstGeom prst="rect">
            <a:avLst/>
          </a:prstGeom>
        </p:spPr>
        <p:txBody>
          <a:bodyPr anchor="t" rtlCol="false" tIns="0" lIns="0" bIns="0" rIns="0">
            <a:spAutoFit/>
          </a:bodyPr>
          <a:lstStyle/>
          <a:p>
            <a:pPr algn="l" marL="517997" indent="-258999" lvl="1">
              <a:lnSpc>
                <a:spcPts val="3358"/>
              </a:lnSpc>
              <a:buFont typeface="Arial"/>
              <a:buChar char="•"/>
            </a:pPr>
            <a:r>
              <a:rPr lang="en-US" sz="2399">
                <a:solidFill>
                  <a:srgbClr val="343434"/>
                </a:solidFill>
                <a:latin typeface="DM Sans"/>
                <a:ea typeface="DM Sans"/>
                <a:cs typeface="DM Sans"/>
                <a:sym typeface="DM Sans"/>
              </a:rPr>
              <a:t>To make sure the right</a:t>
            </a:r>
            <a:r>
              <a:rPr lang="en-US" sz="2399">
                <a:solidFill>
                  <a:srgbClr val="343434"/>
                </a:solidFill>
                <a:latin typeface="DM Sans"/>
                <a:ea typeface="DM Sans"/>
                <a:cs typeface="DM Sans"/>
                <a:sym typeface="DM Sans"/>
              </a:rPr>
              <a:t> information reaches the right people at the right time</a:t>
            </a:r>
            <a:r>
              <a:rPr lang="en-US" sz="2399">
                <a:solidFill>
                  <a:srgbClr val="343434"/>
                </a:solidFill>
                <a:latin typeface="DM Sans"/>
                <a:ea typeface="DM Sans"/>
                <a:cs typeface="DM Sans"/>
                <a:sym typeface="DM Sans"/>
              </a:rPr>
              <a:t> during a crisis.</a:t>
            </a:r>
          </a:p>
          <a:p>
            <a:pPr algn="l" marL="1035995" indent="-345332" lvl="2">
              <a:lnSpc>
                <a:spcPts val="3358"/>
              </a:lnSpc>
              <a:buFont typeface="Arial"/>
              <a:buChar char="⚬"/>
            </a:pPr>
            <a:r>
              <a:rPr lang="en-US" sz="2399">
                <a:solidFill>
                  <a:srgbClr val="343434"/>
                </a:solidFill>
                <a:latin typeface="DM Sans"/>
                <a:ea typeface="DM Sans"/>
                <a:cs typeface="DM Sans"/>
                <a:sym typeface="DM Sans"/>
              </a:rPr>
              <a:t>Establishes how an organization will communicate before, during, and after a crisis.</a:t>
            </a:r>
          </a:p>
          <a:p>
            <a:pPr algn="l" marL="1035995" indent="-345332" lvl="2">
              <a:lnSpc>
                <a:spcPts val="3358"/>
              </a:lnSpc>
              <a:buFont typeface="Arial"/>
              <a:buChar char="⚬"/>
            </a:pPr>
            <a:r>
              <a:rPr lang="en-US" sz="2399">
                <a:solidFill>
                  <a:srgbClr val="343434"/>
                </a:solidFill>
                <a:latin typeface="DM Sans"/>
                <a:ea typeface="DM Sans"/>
                <a:cs typeface="DM Sans"/>
                <a:sym typeface="DM Sans"/>
              </a:rPr>
              <a:t>Ide</a:t>
            </a:r>
            <a:r>
              <a:rPr lang="en-US" sz="2399">
                <a:solidFill>
                  <a:srgbClr val="343434"/>
                </a:solidFill>
                <a:latin typeface="DM Sans"/>
                <a:ea typeface="DM Sans"/>
                <a:cs typeface="DM Sans"/>
                <a:sym typeface="DM Sans"/>
              </a:rPr>
              <a:t>ntifies who is responsible for communicating and who should receive the information.</a:t>
            </a:r>
          </a:p>
          <a:p>
            <a:pPr algn="l" marL="1035995" indent="-345332" lvl="2">
              <a:lnSpc>
                <a:spcPts val="3358"/>
              </a:lnSpc>
              <a:buFont typeface="Arial"/>
              <a:buChar char="⚬"/>
            </a:pPr>
            <a:r>
              <a:rPr lang="en-US" sz="2399">
                <a:solidFill>
                  <a:srgbClr val="343434"/>
                </a:solidFill>
                <a:latin typeface="DM Sans"/>
                <a:ea typeface="DM Sans"/>
                <a:cs typeface="DM Sans"/>
                <a:sym typeface="DM Sans"/>
              </a:rPr>
              <a:t>Prov</a:t>
            </a:r>
            <a:r>
              <a:rPr lang="en-US" sz="2399">
                <a:solidFill>
                  <a:srgbClr val="343434"/>
                </a:solidFill>
                <a:latin typeface="DM Sans"/>
                <a:ea typeface="DM Sans"/>
                <a:cs typeface="DM Sans"/>
                <a:sym typeface="DM Sans"/>
              </a:rPr>
              <a:t>ides a clear process for collecting, reviewing, preparing, and sharing information.</a:t>
            </a:r>
          </a:p>
          <a:p>
            <a:pPr algn="l" marL="1035995" indent="-345332" lvl="2">
              <a:lnSpc>
                <a:spcPts val="3358"/>
              </a:lnSpc>
              <a:buFont typeface="Arial"/>
              <a:buChar char="⚬"/>
            </a:pPr>
            <a:r>
              <a:rPr lang="en-US" sz="2399">
                <a:solidFill>
                  <a:srgbClr val="343434"/>
                </a:solidFill>
                <a:latin typeface="DM Sans"/>
                <a:ea typeface="DM Sans"/>
                <a:cs typeface="DM Sans"/>
                <a:sym typeface="DM Sans"/>
              </a:rPr>
              <a:t>Helps ensure that information released during a crisis is accurate, clear, and consistent.</a:t>
            </a:r>
          </a:p>
          <a:p>
            <a:pPr algn="l" marL="1035995" indent="-345332" lvl="2">
              <a:lnSpc>
                <a:spcPts val="3358"/>
              </a:lnSpc>
              <a:buFont typeface="Arial"/>
              <a:buChar char="⚬"/>
            </a:pPr>
            <a:r>
              <a:rPr lang="en-US" sz="2399">
                <a:solidFill>
                  <a:srgbClr val="343434"/>
                </a:solidFill>
                <a:latin typeface="DM Sans"/>
                <a:ea typeface="DM Sans"/>
                <a:cs typeface="DM Sans"/>
                <a:sym typeface="DM Sans"/>
              </a:rPr>
              <a:t>Communication may involve employees, customers, the public, emergency responders, and other important stakeholders.</a:t>
            </a:r>
          </a:p>
          <a:p>
            <a:pPr algn="l" marL="1035995" indent="-345332" lvl="2">
              <a:lnSpc>
                <a:spcPts val="3358"/>
              </a:lnSpc>
              <a:buFont typeface="Arial"/>
              <a:buChar char="⚬"/>
            </a:pPr>
            <a:r>
              <a:rPr lang="en-US" sz="2399">
                <a:solidFill>
                  <a:srgbClr val="343434"/>
                </a:solidFill>
                <a:latin typeface="DM Sans"/>
                <a:ea typeface="DM Sans"/>
                <a:cs typeface="DM Sans"/>
                <a:sym typeface="DM Sans"/>
              </a:rPr>
              <a:t>Helps an organization provide timely information and reduce confusion or misinformation during a crisis.</a:t>
            </a:r>
          </a:p>
          <a:p>
            <a:pPr algn="l">
              <a:lnSpc>
                <a:spcPts val="3358"/>
              </a:lnSpc>
            </a:pPr>
          </a:p>
        </p:txBody>
      </p:sp>
      <p:sp>
        <p:nvSpPr>
          <p:cNvPr name="TextBox 12" id="12"/>
          <p:cNvSpPr txBox="true"/>
          <p:nvPr/>
        </p:nvSpPr>
        <p:spPr>
          <a:xfrm rot="0">
            <a:off x="-164390" y="2331885"/>
            <a:ext cx="9916187" cy="7016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343434"/>
                </a:solidFill>
                <a:latin typeface="Cooper Hewitt"/>
                <a:ea typeface="Cooper Hewitt"/>
                <a:cs typeface="Cooper Hewitt"/>
                <a:sym typeface="Cooper Hewitt"/>
              </a:rPr>
              <a:t>CRISIS COMMUNICATIONS PLAN</a:t>
            </a:r>
          </a:p>
        </p:txBody>
      </p:sp>
      <p:sp>
        <p:nvSpPr>
          <p:cNvPr name="TextBox 13" id="13"/>
          <p:cNvSpPr txBox="true"/>
          <p:nvPr/>
        </p:nvSpPr>
        <p:spPr>
          <a:xfrm rot="0">
            <a:off x="8672690" y="2382900"/>
            <a:ext cx="10350113" cy="7016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343434"/>
                </a:solidFill>
                <a:latin typeface="Cooper Hewitt"/>
                <a:ea typeface="Cooper Hewitt"/>
                <a:cs typeface="Cooper Hewitt"/>
                <a:sym typeface="Cooper Hewitt"/>
              </a:rPr>
              <a:t> CYBER INCIDENT RESPONSE PLAN (CIRP)</a:t>
            </a:r>
          </a:p>
        </p:txBody>
      </p:sp>
      <p:sp>
        <p:nvSpPr>
          <p:cNvPr name="TextBox 14" id="14"/>
          <p:cNvSpPr txBox="true"/>
          <p:nvPr/>
        </p:nvSpPr>
        <p:spPr>
          <a:xfrm rot="0">
            <a:off x="8863285" y="3131774"/>
            <a:ext cx="9158015" cy="5878039"/>
          </a:xfrm>
          <a:prstGeom prst="rect">
            <a:avLst/>
          </a:prstGeom>
        </p:spPr>
        <p:txBody>
          <a:bodyPr anchor="t" rtlCol="false" tIns="0" lIns="0" bIns="0" rIns="0">
            <a:spAutoFit/>
          </a:bodyPr>
          <a:lstStyle/>
          <a:p>
            <a:pPr algn="l" marL="523238" indent="-261619" lvl="1">
              <a:lnSpc>
                <a:spcPts val="3392"/>
              </a:lnSpc>
              <a:buFont typeface="Arial"/>
              <a:buChar char="•"/>
            </a:pPr>
            <a:r>
              <a:rPr lang="en-US" sz="2423">
                <a:solidFill>
                  <a:srgbClr val="343434"/>
                </a:solidFill>
                <a:latin typeface="DM Sans"/>
                <a:ea typeface="DM Sans"/>
                <a:cs typeface="DM Sans"/>
                <a:sym typeface="DM Sans"/>
              </a:rPr>
              <a:t>To </a:t>
            </a:r>
            <a:r>
              <a:rPr lang="en-US" sz="2423">
                <a:solidFill>
                  <a:srgbClr val="343434"/>
                </a:solidFill>
                <a:latin typeface="DM Sans"/>
                <a:ea typeface="DM Sans"/>
                <a:cs typeface="DM Sans"/>
                <a:sym typeface="DM Sans"/>
              </a:rPr>
              <a:t>provide a</a:t>
            </a:r>
            <a:r>
              <a:rPr lang="en-US" sz="2423">
                <a:solidFill>
                  <a:srgbClr val="343434"/>
                </a:solidFill>
                <a:latin typeface="DM Sans"/>
                <a:ea typeface="DM Sans"/>
                <a:cs typeface="DM Sans"/>
                <a:sym typeface="DM Sans"/>
              </a:rPr>
              <a:t> clear and organized way for an organization to respond to and manage cyber incidents.</a:t>
            </a:r>
          </a:p>
          <a:p>
            <a:pPr algn="l" marL="1046476" indent="-348825" lvl="2">
              <a:lnSpc>
                <a:spcPts val="3392"/>
              </a:lnSpc>
              <a:buFont typeface="Arial"/>
              <a:buChar char="⚬"/>
            </a:pPr>
            <a:r>
              <a:rPr lang="en-US" sz="2423">
                <a:solidFill>
                  <a:srgbClr val="343434"/>
                </a:solidFill>
                <a:latin typeface="DM Sans"/>
                <a:ea typeface="DM Sans"/>
                <a:cs typeface="DM Sans"/>
                <a:sym typeface="DM Sans"/>
              </a:rPr>
              <a:t>Provides a structured approach for responding to cybersecurity incidents.</a:t>
            </a:r>
          </a:p>
          <a:p>
            <a:pPr algn="l" marL="1046476" indent="-348825" lvl="2">
              <a:lnSpc>
                <a:spcPts val="3392"/>
              </a:lnSpc>
              <a:buFont typeface="Arial"/>
              <a:buChar char="⚬"/>
            </a:pPr>
            <a:r>
              <a:rPr lang="en-US" sz="2423">
                <a:solidFill>
                  <a:srgbClr val="343434"/>
                </a:solidFill>
                <a:latin typeface="DM Sans"/>
                <a:ea typeface="DM Sans"/>
                <a:cs typeface="DM Sans"/>
                <a:sym typeface="DM Sans"/>
              </a:rPr>
              <a:t>Defines the actions an organization should take when a cyberattack or security incident occurs.</a:t>
            </a:r>
          </a:p>
          <a:p>
            <a:pPr algn="l" marL="1046476" indent="-348825" lvl="2">
              <a:lnSpc>
                <a:spcPts val="3392"/>
              </a:lnSpc>
              <a:buFont typeface="Arial"/>
              <a:buChar char="⚬"/>
            </a:pPr>
            <a:r>
              <a:rPr lang="en-US" sz="2423">
                <a:solidFill>
                  <a:srgbClr val="343434"/>
                </a:solidFill>
                <a:latin typeface="DM Sans"/>
                <a:ea typeface="DM Sans"/>
                <a:cs typeface="DM Sans"/>
                <a:sym typeface="DM Sans"/>
              </a:rPr>
              <a:t>Helps the organization identify, contain, and manage the incident.</a:t>
            </a:r>
          </a:p>
          <a:p>
            <a:pPr algn="l" marL="1046476" indent="-348825" lvl="2">
              <a:lnSpc>
                <a:spcPts val="3392"/>
              </a:lnSpc>
              <a:buFont typeface="Arial"/>
              <a:buChar char="⚬"/>
            </a:pPr>
            <a:r>
              <a:rPr lang="en-US" sz="2423">
                <a:solidFill>
                  <a:srgbClr val="343434"/>
                </a:solidFill>
                <a:latin typeface="DM Sans"/>
                <a:ea typeface="DM Sans"/>
                <a:cs typeface="DM Sans"/>
                <a:sym typeface="DM Sans"/>
              </a:rPr>
              <a:t>Establishes responsibilities so the appropriate people know what to do and when to act.</a:t>
            </a:r>
          </a:p>
          <a:p>
            <a:pPr algn="l" marL="1046476" indent="-348825" lvl="2">
              <a:lnSpc>
                <a:spcPts val="3392"/>
              </a:lnSpc>
              <a:buFont typeface="Arial"/>
              <a:buChar char="⚬"/>
            </a:pPr>
            <a:r>
              <a:rPr lang="en-US" sz="2423">
                <a:solidFill>
                  <a:srgbClr val="343434"/>
                </a:solidFill>
                <a:latin typeface="DM Sans"/>
                <a:ea typeface="DM Sans"/>
                <a:cs typeface="DM Sans"/>
                <a:sym typeface="DM Sans"/>
              </a:rPr>
              <a:t>Hel</a:t>
            </a:r>
            <a:r>
              <a:rPr lang="en-US" sz="2423">
                <a:solidFill>
                  <a:srgbClr val="343434"/>
                </a:solidFill>
                <a:latin typeface="DM Sans"/>
                <a:ea typeface="DM Sans"/>
                <a:cs typeface="DM Sans"/>
                <a:sym typeface="DM Sans"/>
              </a:rPr>
              <a:t>ps reduce the potential damage, disruption, and loss of data caused by a cyber incident.</a:t>
            </a:r>
          </a:p>
          <a:p>
            <a:pPr algn="l" marL="1046476" indent="-348825" lvl="2">
              <a:lnSpc>
                <a:spcPts val="3392"/>
              </a:lnSpc>
              <a:buFont typeface="Arial"/>
              <a:buChar char="⚬"/>
            </a:pPr>
            <a:r>
              <a:rPr lang="en-US" sz="2423">
                <a:solidFill>
                  <a:srgbClr val="343434"/>
                </a:solidFill>
                <a:latin typeface="DM Sans"/>
                <a:ea typeface="DM Sans"/>
                <a:cs typeface="DM Sans"/>
                <a:sym typeface="DM Sans"/>
              </a:rPr>
              <a:t>Supports the organization's recovery and helps restore affected systems after the incident.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03735"/>
            <a:ext cx="19258069" cy="19258069"/>
          </a:xfrm>
          <a:custGeom>
            <a:avLst/>
            <a:gdLst/>
            <a:ahLst/>
            <a:cxnLst/>
            <a:rect r="r" b="b" t="t" l="l"/>
            <a:pathLst>
              <a:path h="19258069" w="19258069">
                <a:moveTo>
                  <a:pt x="0" y="0"/>
                </a:moveTo>
                <a:lnTo>
                  <a:pt x="19258070" y="0"/>
                </a:lnTo>
                <a:lnTo>
                  <a:pt x="19258070" y="19258069"/>
                </a:lnTo>
                <a:lnTo>
                  <a:pt x="0" y="19258069"/>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DIFFERENT TYPES OF CONTINGENCY PLAN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67377" y="2985935"/>
            <a:ext cx="8795909" cy="6663698"/>
          </a:xfrm>
          <a:prstGeom prst="rect">
            <a:avLst/>
          </a:prstGeom>
        </p:spPr>
        <p:txBody>
          <a:bodyPr anchor="t" rtlCol="false" tIns="0" lIns="0" bIns="0" rIns="0">
            <a:spAutoFit/>
          </a:bodyPr>
          <a:lstStyle/>
          <a:p>
            <a:pPr algn="l" marL="517997" indent="-258999" lvl="1">
              <a:lnSpc>
                <a:spcPts val="3358"/>
              </a:lnSpc>
              <a:buFont typeface="Arial"/>
              <a:buChar char="•"/>
            </a:pPr>
            <a:r>
              <a:rPr lang="en-US" sz="2399">
                <a:solidFill>
                  <a:srgbClr val="343434"/>
                </a:solidFill>
                <a:latin typeface="DM Sans"/>
                <a:ea typeface="DM Sans"/>
                <a:cs typeface="DM Sans"/>
                <a:sym typeface="DM Sans"/>
              </a:rPr>
              <a:t>To help</a:t>
            </a:r>
            <a:r>
              <a:rPr lang="en-US" sz="2399">
                <a:solidFill>
                  <a:srgbClr val="343434"/>
                </a:solidFill>
                <a:latin typeface="DM Sans"/>
                <a:ea typeface="DM Sans"/>
                <a:cs typeface="DM Sans"/>
                <a:sym typeface="DM Sans"/>
              </a:rPr>
              <a:t> an organization restore critical IT systems, data, and services after a major</a:t>
            </a:r>
            <a:r>
              <a:rPr lang="en-US" sz="2399">
                <a:solidFill>
                  <a:srgbClr val="343434"/>
                </a:solidFill>
                <a:latin typeface="DM Sans"/>
                <a:ea typeface="DM Sans"/>
                <a:cs typeface="DM Sans"/>
                <a:sym typeface="DM Sans"/>
              </a:rPr>
              <a:t> disaster or disruption.</a:t>
            </a:r>
          </a:p>
          <a:p>
            <a:pPr algn="l" marL="1035995" indent="-345332" lvl="2">
              <a:lnSpc>
                <a:spcPts val="3358"/>
              </a:lnSpc>
              <a:buFont typeface="Arial"/>
              <a:buChar char="⚬"/>
            </a:pPr>
            <a:r>
              <a:rPr lang="en-US" sz="2399">
                <a:solidFill>
                  <a:srgbClr val="343434"/>
                </a:solidFill>
                <a:latin typeface="DM Sans"/>
                <a:ea typeface="DM Sans"/>
                <a:cs typeface="DM Sans"/>
                <a:sym typeface="DM Sans"/>
              </a:rPr>
              <a:t>Provides a structured approach for recovering IT systems and business operations after a major disruption.</a:t>
            </a:r>
          </a:p>
          <a:p>
            <a:pPr algn="l" marL="1035995" indent="-345332" lvl="2">
              <a:lnSpc>
                <a:spcPts val="3358"/>
              </a:lnSpc>
              <a:buFont typeface="Arial"/>
              <a:buChar char="⚬"/>
            </a:pPr>
            <a:r>
              <a:rPr lang="en-US" sz="2399">
                <a:solidFill>
                  <a:srgbClr val="343434"/>
                </a:solidFill>
                <a:latin typeface="DM Sans"/>
                <a:ea typeface="DM Sans"/>
                <a:cs typeface="DM Sans"/>
                <a:sym typeface="DM Sans"/>
              </a:rPr>
              <a:t>Focus</a:t>
            </a:r>
            <a:r>
              <a:rPr lang="en-US" sz="2399">
                <a:solidFill>
                  <a:srgbClr val="343434"/>
                </a:solidFill>
                <a:latin typeface="DM Sans"/>
                <a:ea typeface="DM Sans"/>
                <a:cs typeface="DM Sans"/>
                <a:sym typeface="DM Sans"/>
              </a:rPr>
              <a:t>es on restoring important data, applications, systems, and technology infrastructure.</a:t>
            </a:r>
          </a:p>
          <a:p>
            <a:pPr algn="l" marL="1035995" indent="-345332" lvl="2">
              <a:lnSpc>
                <a:spcPts val="3358"/>
              </a:lnSpc>
              <a:buFont typeface="Arial"/>
              <a:buChar char="⚬"/>
            </a:pPr>
            <a:r>
              <a:rPr lang="en-US" sz="2399">
                <a:solidFill>
                  <a:srgbClr val="343434"/>
                </a:solidFill>
                <a:latin typeface="DM Sans"/>
                <a:ea typeface="DM Sans"/>
                <a:cs typeface="DM Sans"/>
                <a:sym typeface="DM Sans"/>
              </a:rPr>
              <a:t>Helps an organization respond when a disaster prevents access to its normal operations.</a:t>
            </a:r>
          </a:p>
          <a:p>
            <a:pPr algn="l" marL="1035995" indent="-345332" lvl="2">
              <a:lnSpc>
                <a:spcPts val="3358"/>
              </a:lnSpc>
              <a:buFont typeface="Arial"/>
              <a:buChar char="⚬"/>
            </a:pPr>
            <a:r>
              <a:rPr lang="en-US" sz="2399">
                <a:solidFill>
                  <a:srgbClr val="343434"/>
                </a:solidFill>
                <a:latin typeface="DM Sans"/>
                <a:ea typeface="DM Sans"/>
                <a:cs typeface="DM Sans"/>
                <a:sym typeface="DM Sans"/>
              </a:rPr>
              <a:t>Identifies the procedures and resources needed to restore critical systems and services.</a:t>
            </a:r>
          </a:p>
          <a:p>
            <a:pPr algn="l" marL="1035995" indent="-345332" lvl="2">
              <a:lnSpc>
                <a:spcPts val="3358"/>
              </a:lnSpc>
              <a:buFont typeface="Arial"/>
              <a:buChar char="⚬"/>
            </a:pPr>
            <a:r>
              <a:rPr lang="en-US" sz="2399">
                <a:solidFill>
                  <a:srgbClr val="343434"/>
                </a:solidFill>
                <a:latin typeface="DM Sans"/>
                <a:ea typeface="DM Sans"/>
                <a:cs typeface="DM Sans"/>
                <a:sym typeface="DM Sans"/>
              </a:rPr>
              <a:t>Helps reduce the amount of downtime and data loss following a disaster.</a:t>
            </a:r>
          </a:p>
          <a:p>
            <a:pPr algn="l" marL="1035995" indent="-345332" lvl="2">
              <a:lnSpc>
                <a:spcPts val="3358"/>
              </a:lnSpc>
              <a:buFont typeface="Arial"/>
              <a:buChar char="⚬"/>
            </a:pPr>
            <a:r>
              <a:rPr lang="en-US" sz="2399">
                <a:solidFill>
                  <a:srgbClr val="343434"/>
                </a:solidFill>
                <a:latin typeface="DM Sans"/>
                <a:ea typeface="DM Sans"/>
                <a:cs typeface="DM Sans"/>
                <a:sym typeface="DM Sans"/>
              </a:rPr>
              <a:t>Supports the organization in returning to normal operations as quickly and safely as possible.</a:t>
            </a:r>
          </a:p>
          <a:p>
            <a:pPr algn="l">
              <a:lnSpc>
                <a:spcPts val="3358"/>
              </a:lnSpc>
            </a:pPr>
          </a:p>
        </p:txBody>
      </p:sp>
      <p:sp>
        <p:nvSpPr>
          <p:cNvPr name="TextBox 12" id="12"/>
          <p:cNvSpPr txBox="true"/>
          <p:nvPr/>
        </p:nvSpPr>
        <p:spPr>
          <a:xfrm rot="0">
            <a:off x="-164390" y="2331885"/>
            <a:ext cx="9916187" cy="7016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343434"/>
                </a:solidFill>
                <a:latin typeface="Cooper Hewitt"/>
                <a:ea typeface="Cooper Hewitt"/>
                <a:cs typeface="Cooper Hewitt"/>
                <a:sym typeface="Cooper Hewitt"/>
              </a:rPr>
              <a:t>DISASTER RECOVERY PLAN (DRP)</a:t>
            </a:r>
          </a:p>
        </p:txBody>
      </p:sp>
      <p:sp>
        <p:nvSpPr>
          <p:cNvPr name="TextBox 13" id="13"/>
          <p:cNvSpPr txBox="true"/>
          <p:nvPr/>
        </p:nvSpPr>
        <p:spPr>
          <a:xfrm rot="0">
            <a:off x="8672690" y="2382900"/>
            <a:ext cx="10350113" cy="701675"/>
          </a:xfrm>
          <a:prstGeom prst="rect">
            <a:avLst/>
          </a:prstGeom>
        </p:spPr>
        <p:txBody>
          <a:bodyPr anchor="t" rtlCol="false" tIns="0" lIns="0" bIns="0" rIns="0">
            <a:spAutoFit/>
          </a:bodyPr>
          <a:lstStyle/>
          <a:p>
            <a:pPr algn="l" marL="755651" indent="-377825" lvl="1">
              <a:lnSpc>
                <a:spcPts val="4900"/>
              </a:lnSpc>
              <a:buAutoNum type="arabicPeriod" startAt="1"/>
            </a:pPr>
            <a:r>
              <a:rPr lang="en-US" sz="3500">
                <a:solidFill>
                  <a:srgbClr val="343434"/>
                </a:solidFill>
                <a:latin typeface="Cooper Hewitt"/>
                <a:ea typeface="Cooper Hewitt"/>
                <a:cs typeface="Cooper Hewitt"/>
                <a:sym typeface="Cooper Hewitt"/>
              </a:rPr>
              <a:t>OCCUPANT EMERGENCY PLAN (OEP)</a:t>
            </a:r>
          </a:p>
        </p:txBody>
      </p:sp>
      <p:sp>
        <p:nvSpPr>
          <p:cNvPr name="TextBox 14" id="14"/>
          <p:cNvSpPr txBox="true"/>
          <p:nvPr/>
        </p:nvSpPr>
        <p:spPr>
          <a:xfrm rot="0">
            <a:off x="8863285" y="3131774"/>
            <a:ext cx="9158015" cy="6299575"/>
          </a:xfrm>
          <a:prstGeom prst="rect">
            <a:avLst/>
          </a:prstGeom>
        </p:spPr>
        <p:txBody>
          <a:bodyPr anchor="t" rtlCol="false" tIns="0" lIns="0" bIns="0" rIns="0">
            <a:spAutoFit/>
          </a:bodyPr>
          <a:lstStyle/>
          <a:p>
            <a:pPr algn="l" marL="523238" indent="-261619" lvl="1">
              <a:lnSpc>
                <a:spcPts val="3392"/>
              </a:lnSpc>
              <a:buFont typeface="Arial"/>
              <a:buChar char="•"/>
            </a:pPr>
            <a:r>
              <a:rPr lang="en-US" sz="2423">
                <a:solidFill>
                  <a:srgbClr val="343434"/>
                </a:solidFill>
                <a:latin typeface="DM Sans"/>
                <a:ea typeface="DM Sans"/>
                <a:cs typeface="DM Sans"/>
                <a:sym typeface="DM Sans"/>
              </a:rPr>
              <a:t>To </a:t>
            </a:r>
            <a:r>
              <a:rPr lang="en-US" sz="2423">
                <a:solidFill>
                  <a:srgbClr val="343434"/>
                </a:solidFill>
                <a:latin typeface="DM Sans"/>
                <a:ea typeface="DM Sans"/>
                <a:cs typeface="DM Sans"/>
                <a:sym typeface="DM Sans"/>
              </a:rPr>
              <a:t>provide </a:t>
            </a:r>
            <a:r>
              <a:rPr lang="en-US" sz="2423">
                <a:solidFill>
                  <a:srgbClr val="343434"/>
                </a:solidFill>
                <a:latin typeface="DM Sans"/>
                <a:ea typeface="DM Sans"/>
                <a:cs typeface="DM Sans"/>
                <a:sym typeface="DM Sans"/>
              </a:rPr>
              <a:t>clear procedures that help protect people, property, and the environment during an emergency.</a:t>
            </a:r>
          </a:p>
          <a:p>
            <a:pPr algn="l" marL="1046476" indent="-348825" lvl="2">
              <a:lnSpc>
                <a:spcPts val="3392"/>
              </a:lnSpc>
              <a:buFont typeface="Arial"/>
              <a:buChar char="⚬"/>
            </a:pPr>
            <a:r>
              <a:rPr lang="en-US" sz="2423">
                <a:solidFill>
                  <a:srgbClr val="343434"/>
                </a:solidFill>
                <a:latin typeface="DM Sans"/>
                <a:ea typeface="DM Sans"/>
                <a:cs typeface="DM Sans"/>
                <a:sym typeface="DM Sans"/>
              </a:rPr>
              <a:t>Provides procedures for people inside a facility when an emergency or potential threat occurs.</a:t>
            </a:r>
          </a:p>
          <a:p>
            <a:pPr algn="l" marL="1046476" indent="-348825" lvl="2">
              <a:lnSpc>
                <a:spcPts val="3392"/>
              </a:lnSpc>
              <a:buFont typeface="Arial"/>
              <a:buChar char="⚬"/>
            </a:pPr>
            <a:r>
              <a:rPr lang="en-US" sz="2423">
                <a:solidFill>
                  <a:srgbClr val="343434"/>
                </a:solidFill>
                <a:latin typeface="DM Sans"/>
                <a:ea typeface="DM Sans"/>
                <a:cs typeface="DM Sans"/>
                <a:sym typeface="DM Sans"/>
              </a:rPr>
              <a:t>Focus</a:t>
            </a:r>
            <a:r>
              <a:rPr lang="en-US" sz="2423">
                <a:solidFill>
                  <a:srgbClr val="343434"/>
                </a:solidFill>
                <a:latin typeface="DM Sans"/>
                <a:ea typeface="DM Sans"/>
                <a:cs typeface="DM Sans"/>
                <a:sym typeface="DM Sans"/>
              </a:rPr>
              <a:t>es on protecting the health and safety of personnel.</a:t>
            </a:r>
          </a:p>
          <a:p>
            <a:pPr algn="l" marL="1046476" indent="-348825" lvl="2">
              <a:lnSpc>
                <a:spcPts val="3392"/>
              </a:lnSpc>
              <a:buFont typeface="Arial"/>
              <a:buChar char="⚬"/>
            </a:pPr>
            <a:r>
              <a:rPr lang="en-US" sz="2423">
                <a:solidFill>
                  <a:srgbClr val="343434"/>
                </a:solidFill>
                <a:latin typeface="DM Sans"/>
                <a:ea typeface="DM Sans"/>
                <a:cs typeface="DM Sans"/>
                <a:sym typeface="DM Sans"/>
              </a:rPr>
              <a:t>May address threats that could affect people, the environment, or property.</a:t>
            </a:r>
          </a:p>
          <a:p>
            <a:pPr algn="l" marL="1046476" indent="-348825" lvl="2">
              <a:lnSpc>
                <a:spcPts val="3392"/>
              </a:lnSpc>
              <a:buFont typeface="Arial"/>
              <a:buChar char="⚬"/>
            </a:pPr>
            <a:r>
              <a:rPr lang="en-US" sz="2423">
                <a:solidFill>
                  <a:srgbClr val="343434"/>
                </a:solidFill>
                <a:latin typeface="DM Sans"/>
                <a:ea typeface="DM Sans"/>
                <a:cs typeface="DM Sans"/>
                <a:sym typeface="DM Sans"/>
              </a:rPr>
              <a:t>Provides guidance on the appropriate actions occupants should take during an emergency.</a:t>
            </a:r>
          </a:p>
          <a:p>
            <a:pPr algn="l" marL="1046476" indent="-348825" lvl="2">
              <a:lnSpc>
                <a:spcPts val="3392"/>
              </a:lnSpc>
              <a:buFont typeface="Arial"/>
              <a:buChar char="⚬"/>
            </a:pPr>
            <a:r>
              <a:rPr lang="en-US" sz="2423">
                <a:solidFill>
                  <a:srgbClr val="343434"/>
                </a:solidFill>
                <a:latin typeface="DM Sans"/>
                <a:ea typeface="DM Sans"/>
                <a:cs typeface="DM Sans"/>
                <a:sym typeface="DM Sans"/>
              </a:rPr>
              <a:t>Hel</a:t>
            </a:r>
            <a:r>
              <a:rPr lang="en-US" sz="2423">
                <a:solidFill>
                  <a:srgbClr val="343434"/>
                </a:solidFill>
                <a:latin typeface="DM Sans"/>
                <a:ea typeface="DM Sans"/>
                <a:cs typeface="DM Sans"/>
                <a:sym typeface="DM Sans"/>
              </a:rPr>
              <a:t>ps an organization respond in an organized and coordinated manner when a facility is threatened.</a:t>
            </a:r>
          </a:p>
          <a:p>
            <a:pPr algn="l" marL="1046476" indent="-348825" lvl="2">
              <a:lnSpc>
                <a:spcPts val="3392"/>
              </a:lnSpc>
              <a:buFont typeface="Arial"/>
              <a:buChar char="⚬"/>
            </a:pPr>
            <a:r>
              <a:rPr lang="en-US" sz="2423">
                <a:solidFill>
                  <a:srgbClr val="343434"/>
                </a:solidFill>
                <a:latin typeface="DM Sans"/>
                <a:ea typeface="DM Sans"/>
                <a:cs typeface="DM Sans"/>
                <a:sym typeface="DM Sans"/>
              </a:rPr>
              <a:t>Can include procedures for situations such as fires, hazardous incidents, security threats, or other facility emergencies.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RESPONDING TO EVENTS.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834647" y="3451040"/>
            <a:ext cx="16618706" cy="4725476"/>
          </a:xfrm>
          <a:prstGeom prst="rect">
            <a:avLst/>
          </a:prstGeom>
        </p:spPr>
        <p:txBody>
          <a:bodyPr anchor="t" rtlCol="false" tIns="0" lIns="0" bIns="0" rIns="0">
            <a:spAutoFit/>
          </a:bodyPr>
          <a:lstStyle/>
          <a:p>
            <a:pPr algn="l" marL="733330" indent="-366665" lvl="1">
              <a:lnSpc>
                <a:spcPts val="4755"/>
              </a:lnSpc>
              <a:buFont typeface="Arial"/>
              <a:buChar char="•"/>
            </a:pPr>
            <a:r>
              <a:rPr lang="en-US" sz="3396">
                <a:solidFill>
                  <a:srgbClr val="343434"/>
                </a:solidFill>
                <a:latin typeface="DM Sans"/>
                <a:ea typeface="DM Sans"/>
                <a:cs typeface="DM Sans"/>
                <a:sym typeface="DM Sans"/>
              </a:rPr>
              <a:t>An event can interrupt an organization's normal operations or affect its systems, data, facil</a:t>
            </a:r>
            <a:r>
              <a:rPr lang="en-US" sz="3396">
                <a:solidFill>
                  <a:srgbClr val="343434"/>
                </a:solidFill>
                <a:latin typeface="DM Sans"/>
                <a:ea typeface="DM Sans"/>
                <a:cs typeface="DM Sans"/>
                <a:sym typeface="DM Sans"/>
              </a:rPr>
              <a:t>ities, or personnel.</a:t>
            </a:r>
          </a:p>
          <a:p>
            <a:pPr algn="l" marL="733330" indent="-366665" lvl="1">
              <a:lnSpc>
                <a:spcPts val="4755"/>
              </a:lnSpc>
              <a:buFont typeface="Arial"/>
              <a:buChar char="•"/>
            </a:pPr>
            <a:r>
              <a:rPr lang="en-US" sz="3396">
                <a:solidFill>
                  <a:srgbClr val="343434"/>
                </a:solidFill>
                <a:latin typeface="DM Sans"/>
                <a:ea typeface="DM Sans"/>
                <a:cs typeface="DM Sans"/>
                <a:sym typeface="DM Sans"/>
              </a:rPr>
              <a:t>Responding to an event involves taking planned and organized actions to control the situation.</a:t>
            </a:r>
          </a:p>
          <a:p>
            <a:pPr algn="l" marL="733330" indent="-366665" lvl="1">
              <a:lnSpc>
                <a:spcPts val="4755"/>
              </a:lnSpc>
              <a:buFont typeface="Arial"/>
              <a:buChar char="•"/>
            </a:pPr>
            <a:r>
              <a:rPr lang="en-US" sz="3396">
                <a:solidFill>
                  <a:srgbClr val="343434"/>
                </a:solidFill>
                <a:latin typeface="DM Sans"/>
                <a:ea typeface="DM Sans"/>
                <a:cs typeface="DM Sans"/>
                <a:sym typeface="DM Sans"/>
              </a:rPr>
              <a:t>Th</a:t>
            </a:r>
            <a:r>
              <a:rPr lang="en-US" sz="3396">
                <a:solidFill>
                  <a:srgbClr val="343434"/>
                </a:solidFill>
                <a:latin typeface="DM Sans"/>
                <a:ea typeface="DM Sans"/>
                <a:cs typeface="DM Sans"/>
                <a:sym typeface="DM Sans"/>
              </a:rPr>
              <a:t>e organization must determine what happened, respond to the impact, maintain essential operations, and recover affected services.</a:t>
            </a:r>
          </a:p>
          <a:p>
            <a:pPr algn="l" marL="733330" indent="-366665" lvl="1">
              <a:lnSpc>
                <a:spcPts val="4755"/>
              </a:lnSpc>
              <a:buFont typeface="Arial"/>
              <a:buChar char="•"/>
            </a:pPr>
            <a:r>
              <a:rPr lang="en-US" sz="3396">
                <a:solidFill>
                  <a:srgbClr val="343434"/>
                </a:solidFill>
                <a:latin typeface="DM Sans"/>
                <a:ea typeface="DM Sans"/>
                <a:cs typeface="DM Sans"/>
                <a:sym typeface="DM Sans"/>
              </a:rPr>
              <a:t>A well-planned response helps reduce damage, disruption, and recovery time.</a:t>
            </a:r>
          </a:p>
          <a:p>
            <a:pPr algn="just">
              <a:lnSpc>
                <a:spcPts val="4755"/>
              </a:lnSpc>
            </a:pPr>
          </a:p>
        </p:txBody>
      </p:sp>
      <p:sp>
        <p:nvSpPr>
          <p:cNvPr name="TextBox 12" id="12"/>
          <p:cNvSpPr txBox="true"/>
          <p:nvPr/>
        </p:nvSpPr>
        <p:spPr>
          <a:xfrm rot="0">
            <a:off x="850576" y="2353259"/>
            <a:ext cx="9750248"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 RESPONDING TO EVENTS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RESPONDING TO EVENTS.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943713" y="3237016"/>
            <a:ext cx="16787888" cy="5515164"/>
          </a:xfrm>
          <a:prstGeom prst="rect">
            <a:avLst/>
          </a:prstGeom>
        </p:spPr>
        <p:txBody>
          <a:bodyPr anchor="t" rtlCol="false" tIns="0" lIns="0" bIns="0" rIns="0">
            <a:spAutoFit/>
          </a:bodyPr>
          <a:lstStyle/>
          <a:p>
            <a:pPr algn="l" marL="759445" indent="-379722" lvl="1">
              <a:lnSpc>
                <a:spcPts val="4924"/>
              </a:lnSpc>
              <a:buFont typeface="Arial"/>
              <a:buChar char="•"/>
            </a:pPr>
            <a:r>
              <a:rPr lang="en-US" sz="3517">
                <a:solidFill>
                  <a:srgbClr val="343434"/>
                </a:solidFill>
                <a:latin typeface="DM Sans"/>
                <a:ea typeface="DM Sans"/>
                <a:cs typeface="DM Sans"/>
                <a:sym typeface="DM Sans"/>
              </a:rPr>
              <a:t>Identify and Assess the Event</a:t>
            </a:r>
          </a:p>
          <a:p>
            <a:pPr algn="l" marL="759445" indent="-379722" lvl="1">
              <a:lnSpc>
                <a:spcPts val="4924"/>
              </a:lnSpc>
              <a:buFont typeface="Arial"/>
              <a:buChar char="•"/>
            </a:pPr>
            <a:r>
              <a:rPr lang="en-US" sz="3517">
                <a:solidFill>
                  <a:srgbClr val="343434"/>
                </a:solidFill>
                <a:latin typeface="DM Sans"/>
                <a:ea typeface="DM Sans"/>
                <a:cs typeface="DM Sans"/>
                <a:sym typeface="DM Sans"/>
              </a:rPr>
              <a:t>Determine what happened and when the event occurred.</a:t>
            </a:r>
          </a:p>
          <a:p>
            <a:pPr algn="l" marL="759445" indent="-379722" lvl="1">
              <a:lnSpc>
                <a:spcPts val="4924"/>
              </a:lnSpc>
              <a:buFont typeface="Arial"/>
              <a:buChar char="•"/>
            </a:pPr>
            <a:r>
              <a:rPr lang="en-US" sz="3517">
                <a:solidFill>
                  <a:srgbClr val="343434"/>
                </a:solidFill>
                <a:latin typeface="DM Sans"/>
                <a:ea typeface="DM Sans"/>
                <a:cs typeface="DM Sans"/>
                <a:sym typeface="DM Sans"/>
              </a:rPr>
              <a:t>Identify the systems, services, facil</a:t>
            </a:r>
            <a:r>
              <a:rPr lang="en-US" sz="3517">
                <a:solidFill>
                  <a:srgbClr val="343434"/>
                </a:solidFill>
                <a:latin typeface="DM Sans"/>
                <a:ea typeface="DM Sans"/>
                <a:cs typeface="DM Sans"/>
                <a:sym typeface="DM Sans"/>
              </a:rPr>
              <a:t>ities, information, or people that may be affected.</a:t>
            </a:r>
          </a:p>
          <a:p>
            <a:pPr algn="l" marL="759445" indent="-379722" lvl="1">
              <a:lnSpc>
                <a:spcPts val="4924"/>
              </a:lnSpc>
              <a:buFont typeface="Arial"/>
              <a:buChar char="•"/>
            </a:pPr>
            <a:r>
              <a:rPr lang="en-US" sz="3517">
                <a:solidFill>
                  <a:srgbClr val="343434"/>
                </a:solidFill>
                <a:latin typeface="DM Sans"/>
                <a:ea typeface="DM Sans"/>
                <a:cs typeface="DM Sans"/>
                <a:sym typeface="DM Sans"/>
              </a:rPr>
              <a:t>Determine the severity and potential impact of the event.</a:t>
            </a:r>
          </a:p>
          <a:p>
            <a:pPr algn="l" marL="759445" indent="-379722" lvl="1">
              <a:lnSpc>
                <a:spcPts val="4924"/>
              </a:lnSpc>
              <a:buFont typeface="Arial"/>
              <a:buChar char="•"/>
            </a:pPr>
            <a:r>
              <a:rPr lang="en-US" sz="3517">
                <a:solidFill>
                  <a:srgbClr val="343434"/>
                </a:solidFill>
                <a:latin typeface="DM Sans"/>
                <a:ea typeface="DM Sans"/>
                <a:cs typeface="DM Sans"/>
                <a:sym typeface="DM Sans"/>
              </a:rPr>
              <a:t>Gather and analyze available information before deciding how to respond.</a:t>
            </a:r>
          </a:p>
          <a:p>
            <a:pPr algn="l" marL="759445" indent="-379722" lvl="1">
              <a:lnSpc>
                <a:spcPts val="4924"/>
              </a:lnSpc>
              <a:buFont typeface="Arial"/>
              <a:buChar char="•"/>
            </a:pPr>
            <a:r>
              <a:rPr lang="en-US" sz="3517">
                <a:solidFill>
                  <a:srgbClr val="343434"/>
                </a:solidFill>
                <a:latin typeface="DM Sans"/>
                <a:ea typeface="DM Sans"/>
                <a:cs typeface="DM Sans"/>
                <a:sym typeface="DM Sans"/>
              </a:rPr>
              <a:t>Determine whether the event requires the activation of a contingency or incid</a:t>
            </a:r>
            <a:r>
              <a:rPr lang="en-US" sz="3517">
                <a:solidFill>
                  <a:srgbClr val="343434"/>
                </a:solidFill>
                <a:latin typeface="DM Sans"/>
                <a:ea typeface="DM Sans"/>
                <a:cs typeface="DM Sans"/>
                <a:sym typeface="DM Sans"/>
              </a:rPr>
              <a:t>ent response plan.</a:t>
            </a:r>
          </a:p>
          <a:p>
            <a:pPr algn="just">
              <a:lnSpc>
                <a:spcPts val="4924"/>
              </a:lnSpc>
            </a:pPr>
          </a:p>
        </p:txBody>
      </p:sp>
      <p:sp>
        <p:nvSpPr>
          <p:cNvPr name="TextBox 12" id="12"/>
          <p:cNvSpPr txBox="true"/>
          <p:nvPr/>
        </p:nvSpPr>
        <p:spPr>
          <a:xfrm rot="0">
            <a:off x="1095975" y="2358108"/>
            <a:ext cx="9750248" cy="793750"/>
          </a:xfrm>
          <a:prstGeom prst="rect">
            <a:avLst/>
          </a:prstGeom>
        </p:spPr>
        <p:txBody>
          <a:bodyPr anchor="t" rtlCol="false" tIns="0" lIns="0" bIns="0" rIns="0">
            <a:spAutoFit/>
          </a:bodyPr>
          <a:lstStyle/>
          <a:p>
            <a:pPr algn="l">
              <a:lnSpc>
                <a:spcPts val="5599"/>
              </a:lnSpc>
            </a:pPr>
            <a:r>
              <a:rPr lang="en-US" sz="3999">
                <a:solidFill>
                  <a:srgbClr val="343434"/>
                </a:solidFill>
                <a:latin typeface="Cooper Hewitt"/>
                <a:ea typeface="Cooper Hewitt"/>
                <a:cs typeface="Cooper Hewitt"/>
                <a:sym typeface="Cooper Hewitt"/>
              </a:rPr>
              <a:t> 2. IDENTIFY AND ASSESS THE EVENT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RESPONDING TO EVENTS.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SACAY</a:t>
            </a:r>
          </a:p>
        </p:txBody>
      </p:sp>
      <p:sp>
        <p:nvSpPr>
          <p:cNvPr name="TextBox 11" id="11"/>
          <p:cNvSpPr txBox="true"/>
          <p:nvPr/>
        </p:nvSpPr>
        <p:spPr>
          <a:xfrm rot="0">
            <a:off x="943713" y="3386982"/>
            <a:ext cx="16787888" cy="4286650"/>
          </a:xfrm>
          <a:prstGeom prst="rect">
            <a:avLst/>
          </a:prstGeom>
        </p:spPr>
        <p:txBody>
          <a:bodyPr anchor="t" rtlCol="false" tIns="0" lIns="0" bIns="0" rIns="0">
            <a:spAutoFit/>
          </a:bodyPr>
          <a:lstStyle/>
          <a:p>
            <a:pPr algn="l" marL="759445" indent="-379722" lvl="1">
              <a:lnSpc>
                <a:spcPts val="4924"/>
              </a:lnSpc>
              <a:buFont typeface="Arial"/>
              <a:buChar char="•"/>
            </a:pPr>
            <a:r>
              <a:rPr lang="en-US" sz="3517">
                <a:solidFill>
                  <a:srgbClr val="343434"/>
                </a:solidFill>
                <a:latin typeface="DM Sans"/>
                <a:ea typeface="DM Sans"/>
                <a:cs typeface="DM Sans"/>
                <a:sym typeface="DM Sans"/>
              </a:rPr>
              <a:t>Take appropriate action to control and manage the incident.</a:t>
            </a:r>
          </a:p>
          <a:p>
            <a:pPr algn="l" marL="759445" indent="-379722" lvl="1">
              <a:lnSpc>
                <a:spcPts val="4924"/>
              </a:lnSpc>
              <a:buFont typeface="Arial"/>
              <a:buChar char="•"/>
            </a:pPr>
            <a:r>
              <a:rPr lang="en-US" sz="3517">
                <a:solidFill>
                  <a:srgbClr val="343434"/>
                </a:solidFill>
                <a:latin typeface="DM Sans"/>
                <a:ea typeface="DM Sans"/>
                <a:cs typeface="DM Sans"/>
                <a:sym typeface="DM Sans"/>
              </a:rPr>
              <a:t>Follow the procedures establ</a:t>
            </a:r>
            <a:r>
              <a:rPr lang="en-US" sz="3517">
                <a:solidFill>
                  <a:srgbClr val="343434"/>
                </a:solidFill>
                <a:latin typeface="DM Sans"/>
                <a:ea typeface="DM Sans"/>
                <a:cs typeface="DM Sans"/>
                <a:sym typeface="DM Sans"/>
              </a:rPr>
              <a:t>ished in the organization's response plan.</a:t>
            </a:r>
          </a:p>
          <a:p>
            <a:pPr algn="l" marL="759445" indent="-379722" lvl="1">
              <a:lnSpc>
                <a:spcPts val="4924"/>
              </a:lnSpc>
              <a:buFont typeface="Arial"/>
              <a:buChar char="•"/>
            </a:pPr>
            <a:r>
              <a:rPr lang="en-US" sz="3517">
                <a:solidFill>
                  <a:srgbClr val="343434"/>
                </a:solidFill>
                <a:latin typeface="DM Sans"/>
                <a:ea typeface="DM Sans"/>
                <a:cs typeface="DM Sans"/>
                <a:sym typeface="DM Sans"/>
              </a:rPr>
              <a:t>Ass</a:t>
            </a:r>
            <a:r>
              <a:rPr lang="en-US" sz="3517">
                <a:solidFill>
                  <a:srgbClr val="343434"/>
                </a:solidFill>
                <a:latin typeface="DM Sans"/>
                <a:ea typeface="DM Sans"/>
                <a:cs typeface="DM Sans"/>
                <a:sym typeface="DM Sans"/>
              </a:rPr>
              <a:t>ign responsibilities to the appropriate personnel or response team.</a:t>
            </a:r>
          </a:p>
          <a:p>
            <a:pPr algn="l" marL="759445" indent="-379722" lvl="1">
              <a:lnSpc>
                <a:spcPts val="4924"/>
              </a:lnSpc>
              <a:buFont typeface="Arial"/>
              <a:buChar char="•"/>
            </a:pPr>
            <a:r>
              <a:rPr lang="en-US" sz="3517">
                <a:solidFill>
                  <a:srgbClr val="343434"/>
                </a:solidFill>
                <a:latin typeface="DM Sans"/>
                <a:ea typeface="DM Sans"/>
                <a:cs typeface="DM Sans"/>
                <a:sym typeface="DM Sans"/>
              </a:rPr>
              <a:t>Protect critical systems, information, resources, and personnel from further harm.</a:t>
            </a:r>
          </a:p>
          <a:p>
            <a:pPr algn="l" marL="759445" indent="-379722" lvl="1">
              <a:lnSpc>
                <a:spcPts val="4924"/>
              </a:lnSpc>
              <a:buFont typeface="Arial"/>
              <a:buChar char="•"/>
            </a:pPr>
            <a:r>
              <a:rPr lang="en-US" sz="3517">
                <a:solidFill>
                  <a:srgbClr val="343434"/>
                </a:solidFill>
                <a:latin typeface="DM Sans"/>
                <a:ea typeface="DM Sans"/>
                <a:cs typeface="DM Sans"/>
                <a:sym typeface="DM Sans"/>
              </a:rPr>
              <a:t>Coordinate response activities and keep rel</a:t>
            </a:r>
            <a:r>
              <a:rPr lang="en-US" sz="3517">
                <a:solidFill>
                  <a:srgbClr val="343434"/>
                </a:solidFill>
                <a:latin typeface="DM Sans"/>
                <a:ea typeface="DM Sans"/>
                <a:cs typeface="DM Sans"/>
                <a:sym typeface="DM Sans"/>
              </a:rPr>
              <a:t>evant people informed.</a:t>
            </a:r>
          </a:p>
          <a:p>
            <a:pPr algn="just">
              <a:lnSpc>
                <a:spcPts val="4924"/>
              </a:lnSpc>
            </a:pPr>
          </a:p>
        </p:txBody>
      </p:sp>
      <p:sp>
        <p:nvSpPr>
          <p:cNvPr name="TextBox 12" id="12"/>
          <p:cNvSpPr txBox="true"/>
          <p:nvPr/>
        </p:nvSpPr>
        <p:spPr>
          <a:xfrm rot="0">
            <a:off x="836942" y="2421426"/>
            <a:ext cx="9750248"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 ACTIVATE THE RESPONSE PLAN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RESPONDING TO EVENTS.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1" id="11"/>
          <p:cNvSpPr txBox="true"/>
          <p:nvPr/>
        </p:nvSpPr>
        <p:spPr>
          <a:xfrm rot="0">
            <a:off x="943713" y="3386982"/>
            <a:ext cx="16787888" cy="4900907"/>
          </a:xfrm>
          <a:prstGeom prst="rect">
            <a:avLst/>
          </a:prstGeom>
        </p:spPr>
        <p:txBody>
          <a:bodyPr anchor="t" rtlCol="false" tIns="0" lIns="0" bIns="0" rIns="0">
            <a:spAutoFit/>
          </a:bodyPr>
          <a:lstStyle/>
          <a:p>
            <a:pPr algn="l" marL="759445" indent="-379722" lvl="1">
              <a:lnSpc>
                <a:spcPts val="4924"/>
              </a:lnSpc>
              <a:buFont typeface="Arial"/>
              <a:buChar char="•"/>
            </a:pPr>
            <a:r>
              <a:rPr lang="en-US" sz="3517">
                <a:solidFill>
                  <a:srgbClr val="343434"/>
                </a:solidFill>
                <a:latin typeface="DM Sans"/>
                <a:ea typeface="DM Sans"/>
                <a:cs typeface="DM Sans"/>
                <a:sym typeface="DM Sans"/>
              </a:rPr>
              <a:t>Take steps to prevent the event from causing additional damage or disruption.</a:t>
            </a:r>
          </a:p>
          <a:p>
            <a:pPr algn="l" marL="759445" indent="-379722" lvl="1">
              <a:lnSpc>
                <a:spcPts val="4924"/>
              </a:lnSpc>
              <a:buFont typeface="Arial"/>
              <a:buChar char="•"/>
            </a:pPr>
            <a:r>
              <a:rPr lang="en-US" sz="3517">
                <a:solidFill>
                  <a:srgbClr val="343434"/>
                </a:solidFill>
                <a:latin typeface="DM Sans"/>
                <a:ea typeface="DM Sans"/>
                <a:cs typeface="DM Sans"/>
                <a:sym typeface="DM Sans"/>
              </a:rPr>
              <a:t>Is</a:t>
            </a:r>
            <a:r>
              <a:rPr lang="en-US" sz="3517">
                <a:solidFill>
                  <a:srgbClr val="343434"/>
                </a:solidFill>
                <a:latin typeface="DM Sans"/>
                <a:ea typeface="DM Sans"/>
                <a:cs typeface="DM Sans"/>
                <a:sym typeface="DM Sans"/>
              </a:rPr>
              <a:t>olate affected sy</a:t>
            </a:r>
            <a:r>
              <a:rPr lang="en-US" sz="3517">
                <a:solidFill>
                  <a:srgbClr val="343434"/>
                </a:solidFill>
                <a:latin typeface="DM Sans"/>
                <a:ea typeface="DM Sans"/>
                <a:cs typeface="DM Sans"/>
                <a:sym typeface="DM Sans"/>
              </a:rPr>
              <a:t>stems or resources when nece</a:t>
            </a:r>
            <a:r>
              <a:rPr lang="en-US" sz="3517">
                <a:solidFill>
                  <a:srgbClr val="343434"/>
                </a:solidFill>
                <a:latin typeface="DM Sans"/>
                <a:ea typeface="DM Sans"/>
                <a:cs typeface="DM Sans"/>
                <a:sym typeface="DM Sans"/>
              </a:rPr>
              <a:t>ssa</a:t>
            </a:r>
            <a:r>
              <a:rPr lang="en-US" sz="3517">
                <a:solidFill>
                  <a:srgbClr val="343434"/>
                </a:solidFill>
                <a:latin typeface="DM Sans"/>
                <a:ea typeface="DM Sans"/>
                <a:cs typeface="DM Sans"/>
                <a:sym typeface="DM Sans"/>
              </a:rPr>
              <a:t>ry.</a:t>
            </a:r>
          </a:p>
          <a:p>
            <a:pPr algn="l" marL="759445" indent="-379722" lvl="1">
              <a:lnSpc>
                <a:spcPts val="4924"/>
              </a:lnSpc>
              <a:buFont typeface="Arial"/>
              <a:buChar char="•"/>
            </a:pPr>
            <a:r>
              <a:rPr lang="en-US" sz="3517">
                <a:solidFill>
                  <a:srgbClr val="343434"/>
                </a:solidFill>
                <a:latin typeface="DM Sans"/>
                <a:ea typeface="DM Sans"/>
                <a:cs typeface="DM Sans"/>
                <a:sym typeface="DM Sans"/>
              </a:rPr>
              <a:t>Use alternative procedures, systems, equipment, or locations when normal operations are unavailable.</a:t>
            </a:r>
          </a:p>
          <a:p>
            <a:pPr algn="l" marL="759445" indent="-379722" lvl="1">
              <a:lnSpc>
                <a:spcPts val="4924"/>
              </a:lnSpc>
              <a:buFont typeface="Arial"/>
              <a:buChar char="•"/>
            </a:pPr>
            <a:r>
              <a:rPr lang="en-US" sz="3517">
                <a:solidFill>
                  <a:srgbClr val="343434"/>
                </a:solidFill>
                <a:latin typeface="DM Sans"/>
                <a:ea typeface="DM Sans"/>
                <a:cs typeface="DM Sans"/>
                <a:sym typeface="DM Sans"/>
              </a:rPr>
              <a:t>Continue essential business and IT functions whenever possibl</a:t>
            </a:r>
            <a:r>
              <a:rPr lang="en-US" sz="3517">
                <a:solidFill>
                  <a:srgbClr val="343434"/>
                </a:solidFill>
                <a:latin typeface="DM Sans"/>
                <a:ea typeface="DM Sans"/>
                <a:cs typeface="DM Sans"/>
                <a:sym typeface="DM Sans"/>
              </a:rPr>
              <a:t>e.</a:t>
            </a:r>
          </a:p>
          <a:p>
            <a:pPr algn="l" marL="759445" indent="-379722" lvl="1">
              <a:lnSpc>
                <a:spcPts val="4924"/>
              </a:lnSpc>
              <a:buFont typeface="Arial"/>
              <a:buChar char="•"/>
            </a:pPr>
            <a:r>
              <a:rPr lang="en-US" sz="3517">
                <a:solidFill>
                  <a:srgbClr val="343434"/>
                </a:solidFill>
                <a:latin typeface="DM Sans"/>
                <a:ea typeface="DM Sans"/>
                <a:cs typeface="DM Sans"/>
                <a:sym typeface="DM Sans"/>
              </a:rPr>
              <a:t>Maintain communication and coordination throughout the response.</a:t>
            </a:r>
          </a:p>
          <a:p>
            <a:pPr algn="just">
              <a:lnSpc>
                <a:spcPts val="4924"/>
              </a:lnSpc>
            </a:pPr>
          </a:p>
        </p:txBody>
      </p:sp>
      <p:sp>
        <p:nvSpPr>
          <p:cNvPr name="TextBox 12" id="12"/>
          <p:cNvSpPr txBox="true"/>
          <p:nvPr/>
        </p:nvSpPr>
        <p:spPr>
          <a:xfrm rot="0">
            <a:off x="836942" y="2421426"/>
            <a:ext cx="12695040"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CONTAIN THE IMPACT AND MAINTAIN OPERATIONS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RESPONDING TO EVENTS.</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2" id="12"/>
          <p:cNvSpPr txBox="true"/>
          <p:nvPr/>
        </p:nvSpPr>
        <p:spPr>
          <a:xfrm rot="0">
            <a:off x="943713" y="3386982"/>
            <a:ext cx="16787888" cy="4286650"/>
          </a:xfrm>
          <a:prstGeom prst="rect">
            <a:avLst/>
          </a:prstGeom>
        </p:spPr>
        <p:txBody>
          <a:bodyPr anchor="t" rtlCol="false" tIns="0" lIns="0" bIns="0" rIns="0">
            <a:spAutoFit/>
          </a:bodyPr>
          <a:lstStyle/>
          <a:p>
            <a:pPr algn="l" marL="759445" indent="-379722" lvl="1">
              <a:lnSpc>
                <a:spcPts val="4924"/>
              </a:lnSpc>
              <a:buFont typeface="Arial"/>
              <a:buChar char="•"/>
            </a:pPr>
            <a:r>
              <a:rPr lang="en-US" sz="3517">
                <a:solidFill>
                  <a:srgbClr val="343434"/>
                </a:solidFill>
                <a:latin typeface="DM Sans"/>
                <a:ea typeface="DM Sans"/>
                <a:cs typeface="DM Sans"/>
                <a:sym typeface="DM Sans"/>
              </a:rPr>
              <a:t>Restore affected systems, applications, data, and services.</a:t>
            </a:r>
          </a:p>
          <a:p>
            <a:pPr algn="l" marL="759445" indent="-379722" lvl="1">
              <a:lnSpc>
                <a:spcPts val="4924"/>
              </a:lnSpc>
              <a:buFont typeface="Arial"/>
              <a:buChar char="•"/>
            </a:pPr>
            <a:r>
              <a:rPr lang="en-US" sz="3517">
                <a:solidFill>
                  <a:srgbClr val="343434"/>
                </a:solidFill>
                <a:latin typeface="DM Sans"/>
                <a:ea typeface="DM Sans"/>
                <a:cs typeface="DM Sans"/>
                <a:sym typeface="DM Sans"/>
              </a:rPr>
              <a:t>Rec</a:t>
            </a:r>
            <a:r>
              <a:rPr lang="en-US" sz="3517">
                <a:solidFill>
                  <a:srgbClr val="343434"/>
                </a:solidFill>
                <a:latin typeface="DM Sans"/>
                <a:ea typeface="DM Sans"/>
                <a:cs typeface="DM Sans"/>
                <a:sym typeface="DM Sans"/>
              </a:rPr>
              <a:t>over from backups or u</a:t>
            </a:r>
            <a:r>
              <a:rPr lang="en-US" sz="3517">
                <a:solidFill>
                  <a:srgbClr val="343434"/>
                </a:solidFill>
                <a:latin typeface="DM Sans"/>
                <a:ea typeface="DM Sans"/>
                <a:cs typeface="DM Sans"/>
                <a:sym typeface="DM Sans"/>
              </a:rPr>
              <a:t>se other available recovery resources when nece</a:t>
            </a:r>
            <a:r>
              <a:rPr lang="en-US" sz="3517">
                <a:solidFill>
                  <a:srgbClr val="343434"/>
                </a:solidFill>
                <a:latin typeface="DM Sans"/>
                <a:ea typeface="DM Sans"/>
                <a:cs typeface="DM Sans"/>
                <a:sym typeface="DM Sans"/>
              </a:rPr>
              <a:t>ssa</a:t>
            </a:r>
            <a:r>
              <a:rPr lang="en-US" sz="3517">
                <a:solidFill>
                  <a:srgbClr val="343434"/>
                </a:solidFill>
                <a:latin typeface="DM Sans"/>
                <a:ea typeface="DM Sans"/>
                <a:cs typeface="DM Sans"/>
                <a:sym typeface="DM Sans"/>
              </a:rPr>
              <a:t>ry.</a:t>
            </a:r>
          </a:p>
          <a:p>
            <a:pPr algn="l" marL="759445" indent="-379722" lvl="1">
              <a:lnSpc>
                <a:spcPts val="4924"/>
              </a:lnSpc>
              <a:buFont typeface="Arial"/>
              <a:buChar char="•"/>
            </a:pPr>
            <a:r>
              <a:rPr lang="en-US" sz="3517">
                <a:solidFill>
                  <a:srgbClr val="343434"/>
                </a:solidFill>
                <a:latin typeface="DM Sans"/>
                <a:ea typeface="DM Sans"/>
                <a:cs typeface="DM Sans"/>
                <a:sym typeface="DM Sans"/>
              </a:rPr>
              <a:t>V</a:t>
            </a:r>
            <a:r>
              <a:rPr lang="en-US" sz="3517">
                <a:solidFill>
                  <a:srgbClr val="343434"/>
                </a:solidFill>
                <a:latin typeface="DM Sans"/>
                <a:ea typeface="DM Sans"/>
                <a:cs typeface="DM Sans"/>
                <a:sym typeface="DM Sans"/>
              </a:rPr>
              <a:t>erify that restored systems are working correctly and securely.</a:t>
            </a:r>
          </a:p>
          <a:p>
            <a:pPr algn="l" marL="759445" indent="-379722" lvl="1">
              <a:lnSpc>
                <a:spcPts val="4924"/>
              </a:lnSpc>
              <a:buFont typeface="Arial"/>
              <a:buChar char="•"/>
            </a:pPr>
            <a:r>
              <a:rPr lang="en-US" sz="3517">
                <a:solidFill>
                  <a:srgbClr val="343434"/>
                </a:solidFill>
                <a:latin typeface="DM Sans"/>
                <a:ea typeface="DM Sans"/>
                <a:cs typeface="DM Sans"/>
                <a:sym typeface="DM Sans"/>
              </a:rPr>
              <a:t>Gradually return affected operations to their normal environm</a:t>
            </a:r>
            <a:r>
              <a:rPr lang="en-US" sz="3517">
                <a:solidFill>
                  <a:srgbClr val="343434"/>
                </a:solidFill>
                <a:latin typeface="DM Sans"/>
                <a:ea typeface="DM Sans"/>
                <a:cs typeface="DM Sans"/>
                <a:sym typeface="DM Sans"/>
              </a:rPr>
              <a:t>ent.</a:t>
            </a:r>
          </a:p>
          <a:p>
            <a:pPr algn="l" marL="759445" indent="-379722" lvl="1">
              <a:lnSpc>
                <a:spcPts val="4924"/>
              </a:lnSpc>
              <a:buFont typeface="Arial"/>
              <a:buChar char="•"/>
            </a:pPr>
            <a:r>
              <a:rPr lang="en-US" sz="3517">
                <a:solidFill>
                  <a:srgbClr val="343434"/>
                </a:solidFill>
                <a:latin typeface="DM Sans"/>
                <a:ea typeface="DM Sans"/>
                <a:cs typeface="DM Sans"/>
                <a:sym typeface="DM Sans"/>
              </a:rPr>
              <a:t>Co</a:t>
            </a:r>
            <a:r>
              <a:rPr lang="en-US" sz="3517">
                <a:solidFill>
                  <a:srgbClr val="343434"/>
                </a:solidFill>
                <a:latin typeface="DM Sans"/>
                <a:ea typeface="DM Sans"/>
                <a:cs typeface="DM Sans"/>
                <a:sym typeface="DM Sans"/>
              </a:rPr>
              <a:t>ntinue monitoring to ensure that the problem has been resolved.</a:t>
            </a:r>
          </a:p>
          <a:p>
            <a:pPr algn="just">
              <a:lnSpc>
                <a:spcPts val="4924"/>
              </a:lnSpc>
            </a:pPr>
          </a:p>
        </p:txBody>
      </p:sp>
      <p:sp>
        <p:nvSpPr>
          <p:cNvPr name="TextBox 13" id="13"/>
          <p:cNvSpPr txBox="true"/>
          <p:nvPr/>
        </p:nvSpPr>
        <p:spPr>
          <a:xfrm rot="0">
            <a:off x="836942" y="2421426"/>
            <a:ext cx="12695040"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RECOVER AND RESTORE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100932" y="157370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RESPONDING TO EVENTS.</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MALLO</a:t>
            </a:r>
          </a:p>
        </p:txBody>
      </p:sp>
      <p:sp>
        <p:nvSpPr>
          <p:cNvPr name="TextBox 12" id="12"/>
          <p:cNvSpPr txBox="true"/>
          <p:nvPr/>
        </p:nvSpPr>
        <p:spPr>
          <a:xfrm rot="0">
            <a:off x="943713" y="3386982"/>
            <a:ext cx="16787888" cy="3672394"/>
          </a:xfrm>
          <a:prstGeom prst="rect">
            <a:avLst/>
          </a:prstGeom>
        </p:spPr>
        <p:txBody>
          <a:bodyPr anchor="t" rtlCol="false" tIns="0" lIns="0" bIns="0" rIns="0">
            <a:spAutoFit/>
          </a:bodyPr>
          <a:lstStyle/>
          <a:p>
            <a:pPr algn="l" marL="759445" indent="-379722" lvl="1">
              <a:lnSpc>
                <a:spcPts val="4924"/>
              </a:lnSpc>
              <a:buFont typeface="Arial"/>
              <a:buChar char="•"/>
            </a:pPr>
            <a:r>
              <a:rPr lang="en-US" sz="3517">
                <a:solidFill>
                  <a:srgbClr val="343434"/>
                </a:solidFill>
                <a:latin typeface="DM Sans"/>
                <a:ea typeface="DM Sans"/>
                <a:cs typeface="DM Sans"/>
                <a:sym typeface="DM Sans"/>
              </a:rPr>
              <a:t>Resume normal business and IT operations after </a:t>
            </a:r>
            <a:r>
              <a:rPr lang="en-US" sz="3517">
                <a:solidFill>
                  <a:srgbClr val="343434"/>
                </a:solidFill>
                <a:latin typeface="DM Sans"/>
                <a:ea typeface="DM Sans"/>
                <a:cs typeface="DM Sans"/>
                <a:sym typeface="DM Sans"/>
              </a:rPr>
              <a:t>the situation has been controlled.</a:t>
            </a:r>
          </a:p>
          <a:p>
            <a:pPr algn="l" marL="759445" indent="-379722" lvl="1">
              <a:lnSpc>
                <a:spcPts val="4924"/>
              </a:lnSpc>
              <a:buFont typeface="Arial"/>
              <a:buChar char="•"/>
            </a:pPr>
            <a:r>
              <a:rPr lang="en-US" sz="3517">
                <a:solidFill>
                  <a:srgbClr val="343434"/>
                </a:solidFill>
                <a:latin typeface="DM Sans"/>
                <a:ea typeface="DM Sans"/>
                <a:cs typeface="DM Sans"/>
                <a:sym typeface="DM Sans"/>
              </a:rPr>
              <a:t>Confi</a:t>
            </a:r>
            <a:r>
              <a:rPr lang="en-US" sz="3517">
                <a:solidFill>
                  <a:srgbClr val="343434"/>
                </a:solidFill>
                <a:latin typeface="DM Sans"/>
                <a:ea typeface="DM Sans"/>
                <a:cs typeface="DM Sans"/>
                <a:sym typeface="DM Sans"/>
              </a:rPr>
              <a:t>rm that critical systems and services are functioning properly.</a:t>
            </a:r>
          </a:p>
          <a:p>
            <a:pPr algn="l" marL="759445" indent="-379722" lvl="1">
              <a:lnSpc>
                <a:spcPts val="4924"/>
              </a:lnSpc>
              <a:buFont typeface="Arial"/>
              <a:buChar char="•"/>
            </a:pPr>
            <a:r>
              <a:rPr lang="en-US" sz="3517">
                <a:solidFill>
                  <a:srgbClr val="343434"/>
                </a:solidFill>
                <a:latin typeface="DM Sans"/>
                <a:ea typeface="DM Sans"/>
                <a:cs typeface="DM Sans"/>
                <a:sym typeface="DM Sans"/>
              </a:rPr>
              <a:t>Moni</a:t>
            </a:r>
            <a:r>
              <a:rPr lang="en-US" sz="3517">
                <a:solidFill>
                  <a:srgbClr val="343434"/>
                </a:solidFill>
                <a:latin typeface="DM Sans"/>
                <a:ea typeface="DM Sans"/>
                <a:cs typeface="DM Sans"/>
                <a:sym typeface="DM Sans"/>
              </a:rPr>
              <a:t>tor operations for remaining or recurring probl</a:t>
            </a:r>
            <a:r>
              <a:rPr lang="en-US" sz="3517">
                <a:solidFill>
                  <a:srgbClr val="343434"/>
                </a:solidFill>
                <a:latin typeface="DM Sans"/>
                <a:ea typeface="DM Sans"/>
                <a:cs typeface="DM Sans"/>
                <a:sym typeface="DM Sans"/>
              </a:rPr>
              <a:t>ems.</a:t>
            </a:r>
          </a:p>
          <a:p>
            <a:pPr algn="l" marL="759445" indent="-379722" lvl="1">
              <a:lnSpc>
                <a:spcPts val="4924"/>
              </a:lnSpc>
              <a:buFont typeface="Arial"/>
              <a:buChar char="•"/>
            </a:pPr>
            <a:r>
              <a:rPr lang="en-US" sz="3517">
                <a:solidFill>
                  <a:srgbClr val="343434"/>
                </a:solidFill>
                <a:latin typeface="DM Sans"/>
                <a:ea typeface="DM Sans"/>
                <a:cs typeface="DM Sans"/>
                <a:sym typeface="DM Sans"/>
              </a:rPr>
              <a:t>Docume</a:t>
            </a:r>
            <a:r>
              <a:rPr lang="en-US" sz="3517">
                <a:solidFill>
                  <a:srgbClr val="343434"/>
                </a:solidFill>
                <a:latin typeface="DM Sans"/>
                <a:ea typeface="DM Sans"/>
                <a:cs typeface="DM Sans"/>
                <a:sym typeface="DM Sans"/>
              </a:rPr>
              <a:t>nt the actions taken and the results of the response.</a:t>
            </a:r>
          </a:p>
          <a:p>
            <a:pPr algn="just">
              <a:lnSpc>
                <a:spcPts val="4924"/>
              </a:lnSpc>
            </a:pPr>
          </a:p>
        </p:txBody>
      </p:sp>
      <p:sp>
        <p:nvSpPr>
          <p:cNvPr name="TextBox 13" id="13"/>
          <p:cNvSpPr txBox="true"/>
          <p:nvPr/>
        </p:nvSpPr>
        <p:spPr>
          <a:xfrm rot="0">
            <a:off x="836942" y="2421426"/>
            <a:ext cx="12695040" cy="793750"/>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343434"/>
                </a:solidFill>
                <a:latin typeface="Cooper Hewitt"/>
                <a:ea typeface="Cooper Hewitt"/>
                <a:cs typeface="Cooper Hewitt"/>
                <a:sym typeface="Cooper Hewitt"/>
              </a:rPr>
              <a:t>RETURN TO NORMAL OPERATIONS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43713" y="200029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HUMAN FACTORY IN SECURITY</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MAGDAYO</a:t>
            </a:r>
          </a:p>
        </p:txBody>
      </p:sp>
      <p:sp>
        <p:nvSpPr>
          <p:cNvPr name="TextBox 12" id="12"/>
          <p:cNvSpPr txBox="true"/>
          <p:nvPr/>
        </p:nvSpPr>
        <p:spPr>
          <a:xfrm rot="0">
            <a:off x="943713" y="3386982"/>
            <a:ext cx="16787888" cy="6129421"/>
          </a:xfrm>
          <a:prstGeom prst="rect">
            <a:avLst/>
          </a:prstGeom>
        </p:spPr>
        <p:txBody>
          <a:bodyPr anchor="t" rtlCol="false" tIns="0" lIns="0" bIns="0" rIns="0">
            <a:spAutoFit/>
          </a:bodyPr>
          <a:lstStyle/>
          <a:p>
            <a:pPr algn="l" marL="759445" indent="-379722" lvl="1">
              <a:lnSpc>
                <a:spcPts val="4924"/>
              </a:lnSpc>
              <a:buFont typeface="Arial"/>
              <a:buChar char="•"/>
            </a:pPr>
            <a:r>
              <a:rPr lang="en-US" sz="3517">
                <a:solidFill>
                  <a:srgbClr val="343434"/>
                </a:solidFill>
                <a:latin typeface="DM Sans"/>
                <a:ea typeface="DM Sans"/>
                <a:cs typeface="DM Sans"/>
                <a:sym typeface="DM Sans"/>
              </a:rPr>
              <a:t>Human factors refer to how people's actions, decisions, and behaviors can affec</a:t>
            </a:r>
            <a:r>
              <a:rPr lang="en-US" sz="3517">
                <a:solidFill>
                  <a:srgbClr val="343434"/>
                </a:solidFill>
                <a:latin typeface="DM Sans"/>
                <a:ea typeface="DM Sans"/>
                <a:cs typeface="DM Sans"/>
                <a:sym typeface="DM Sans"/>
              </a:rPr>
              <a:t>t information security.</a:t>
            </a:r>
          </a:p>
          <a:p>
            <a:pPr algn="l" marL="759445" indent="-379722" lvl="1">
              <a:lnSpc>
                <a:spcPts val="4924"/>
              </a:lnSpc>
              <a:buFont typeface="Arial"/>
              <a:buChar char="•"/>
            </a:pPr>
            <a:r>
              <a:rPr lang="en-US" sz="3517">
                <a:solidFill>
                  <a:srgbClr val="343434"/>
                </a:solidFill>
                <a:latin typeface="DM Sans"/>
                <a:ea typeface="DM Sans"/>
                <a:cs typeface="DM Sans"/>
                <a:sym typeface="DM Sans"/>
              </a:rPr>
              <a:t>Even</a:t>
            </a:r>
            <a:r>
              <a:rPr lang="en-US" sz="3517">
                <a:solidFill>
                  <a:srgbClr val="343434"/>
                </a:solidFill>
                <a:latin typeface="DM Sans"/>
                <a:ea typeface="DM Sans"/>
                <a:cs typeface="DM Sans"/>
                <a:sym typeface="DM Sans"/>
              </a:rPr>
              <a:t> with strong security systems, human mistakes can create vulnerabilities.</a:t>
            </a:r>
          </a:p>
          <a:p>
            <a:pPr algn="l" marL="759445" indent="-379722" lvl="1">
              <a:lnSpc>
                <a:spcPts val="4924"/>
              </a:lnSpc>
              <a:buFont typeface="Arial"/>
              <a:buChar char="•"/>
            </a:pPr>
            <a:r>
              <a:rPr lang="en-US" sz="3517">
                <a:solidFill>
                  <a:srgbClr val="343434"/>
                </a:solidFill>
                <a:latin typeface="DM Sans"/>
                <a:ea typeface="DM Sans"/>
                <a:cs typeface="DM Sans"/>
                <a:sym typeface="DM Sans"/>
              </a:rPr>
              <a:t>Employees and users are often considered an importa</a:t>
            </a:r>
            <a:r>
              <a:rPr lang="en-US" sz="3517">
                <a:solidFill>
                  <a:srgbClr val="343434"/>
                </a:solidFill>
                <a:latin typeface="DM Sans"/>
                <a:ea typeface="DM Sans"/>
                <a:cs typeface="DM Sans"/>
                <a:sym typeface="DM Sans"/>
              </a:rPr>
              <a:t>n</a:t>
            </a:r>
            <a:r>
              <a:rPr lang="en-US" sz="3517">
                <a:solidFill>
                  <a:srgbClr val="343434"/>
                </a:solidFill>
                <a:latin typeface="DM Sans"/>
                <a:ea typeface="DM Sans"/>
                <a:cs typeface="DM Sans"/>
                <a:sym typeface="DM Sans"/>
              </a:rPr>
              <a:t>t part of an organization's security.</a:t>
            </a:r>
          </a:p>
          <a:p>
            <a:pPr algn="l" marL="759445" indent="-379722" lvl="1">
              <a:lnSpc>
                <a:spcPts val="4924"/>
              </a:lnSpc>
              <a:buFont typeface="Arial"/>
              <a:buChar char="•"/>
            </a:pPr>
            <a:r>
              <a:rPr lang="en-US" sz="3517">
                <a:solidFill>
                  <a:srgbClr val="343434"/>
                </a:solidFill>
                <a:latin typeface="DM Sans"/>
                <a:ea typeface="DM Sans"/>
                <a:cs typeface="DM Sans"/>
                <a:sym typeface="DM Sans"/>
              </a:rPr>
              <a:t>Security awareness helps reduce risks caused by human error</a:t>
            </a:r>
            <a:r>
              <a:rPr lang="en-US" sz="3517">
                <a:solidFill>
                  <a:srgbClr val="343434"/>
                </a:solidFill>
                <a:latin typeface="DM Sans"/>
                <a:ea typeface="DM Sans"/>
                <a:cs typeface="DM Sans"/>
                <a:sym typeface="DM Sans"/>
              </a:rPr>
              <a:t>.</a:t>
            </a:r>
          </a:p>
          <a:p>
            <a:pPr algn="l" marL="759445" indent="-379722" lvl="1">
              <a:lnSpc>
                <a:spcPts val="4924"/>
              </a:lnSpc>
              <a:buFont typeface="Arial"/>
              <a:buChar char="•"/>
            </a:pPr>
            <a:r>
              <a:rPr lang="en-US" sz="3517">
                <a:solidFill>
                  <a:srgbClr val="343434"/>
                </a:solidFill>
                <a:latin typeface="DM Sans"/>
                <a:ea typeface="DM Sans"/>
                <a:cs typeface="DM Sans"/>
                <a:sym typeface="DM Sans"/>
              </a:rPr>
              <a:t>Key idea: People ca</a:t>
            </a:r>
            <a:r>
              <a:rPr lang="en-US" sz="3517">
                <a:solidFill>
                  <a:srgbClr val="343434"/>
                </a:solidFill>
                <a:latin typeface="DM Sans"/>
                <a:ea typeface="DM Sans"/>
                <a:cs typeface="DM Sans"/>
                <a:sym typeface="DM Sans"/>
              </a:rPr>
              <a:t>n be both the strongest defense and the weakest link in cybersecurity.</a:t>
            </a:r>
          </a:p>
          <a:p>
            <a:pPr algn="just">
              <a:lnSpc>
                <a:spcPts val="4924"/>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43713" y="200029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HUMAN FACTORY IN SECURITY</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MAGDAYO</a:t>
            </a:r>
          </a:p>
        </p:txBody>
      </p:sp>
      <p:sp>
        <p:nvSpPr>
          <p:cNvPr name="TextBox 12" id="12"/>
          <p:cNvSpPr txBox="true"/>
          <p:nvPr/>
        </p:nvSpPr>
        <p:spPr>
          <a:xfrm rot="0">
            <a:off x="750056" y="3106231"/>
            <a:ext cx="16787888" cy="7180769"/>
          </a:xfrm>
          <a:prstGeom prst="rect">
            <a:avLst/>
          </a:prstGeom>
        </p:spPr>
        <p:txBody>
          <a:bodyPr anchor="t" rtlCol="false" tIns="0" lIns="0" bIns="0" rIns="0">
            <a:spAutoFit/>
          </a:bodyPr>
          <a:lstStyle/>
          <a:p>
            <a:pPr algn="l">
              <a:lnSpc>
                <a:spcPts val="4784"/>
              </a:lnSpc>
            </a:pPr>
            <a:r>
              <a:rPr lang="en-US" sz="3417">
                <a:solidFill>
                  <a:srgbClr val="343434"/>
                </a:solidFill>
                <a:latin typeface="DM Sans"/>
                <a:ea typeface="DM Sans"/>
                <a:cs typeface="DM Sans"/>
                <a:sym typeface="DM Sans"/>
              </a:rPr>
              <a:t>Why Human Factors Matter?</a:t>
            </a:r>
          </a:p>
          <a:p>
            <a:pPr algn="l" marL="737855" indent="-368927" lvl="1">
              <a:lnSpc>
                <a:spcPts val="4784"/>
              </a:lnSpc>
              <a:buFont typeface="Arial"/>
              <a:buChar char="•"/>
            </a:pPr>
            <a:r>
              <a:rPr lang="en-US" sz="3417">
                <a:solidFill>
                  <a:srgbClr val="343434"/>
                </a:solidFill>
                <a:latin typeface="DM Sans"/>
                <a:ea typeface="DM Sans"/>
                <a:cs typeface="DM Sans"/>
                <a:sym typeface="DM Sans"/>
              </a:rPr>
              <a:t>Many security incidents involve human mistakes or poor decisions.</a:t>
            </a:r>
          </a:p>
          <a:p>
            <a:pPr algn="l" marL="737855" indent="-368927" lvl="1">
              <a:lnSpc>
                <a:spcPts val="4784"/>
              </a:lnSpc>
              <a:buFont typeface="Arial"/>
              <a:buChar char="•"/>
            </a:pPr>
            <a:r>
              <a:rPr lang="en-US" sz="3417">
                <a:solidFill>
                  <a:srgbClr val="343434"/>
                </a:solidFill>
                <a:latin typeface="DM Sans"/>
                <a:ea typeface="DM Sans"/>
                <a:cs typeface="DM Sans"/>
                <a:sym typeface="DM Sans"/>
              </a:rPr>
              <a:t>Users may accidentally:</a:t>
            </a:r>
          </a:p>
          <a:p>
            <a:pPr algn="l">
              <a:lnSpc>
                <a:spcPts val="4784"/>
              </a:lnSpc>
            </a:pPr>
            <a:r>
              <a:rPr lang="en-US" sz="3417">
                <a:solidFill>
                  <a:srgbClr val="343434"/>
                </a:solidFill>
                <a:latin typeface="DM Sans"/>
                <a:ea typeface="DM Sans"/>
                <a:cs typeface="DM Sans"/>
                <a:sym typeface="DM Sans"/>
              </a:rPr>
              <a:t>       - </a:t>
            </a:r>
            <a:r>
              <a:rPr lang="en-US" sz="3417">
                <a:solidFill>
                  <a:srgbClr val="343434"/>
                </a:solidFill>
                <a:latin typeface="DM Sans"/>
                <a:ea typeface="DM Sans"/>
                <a:cs typeface="DM Sans"/>
                <a:sym typeface="DM Sans"/>
              </a:rPr>
              <a:t>Click malicious links</a:t>
            </a:r>
          </a:p>
          <a:p>
            <a:pPr algn="l">
              <a:lnSpc>
                <a:spcPts val="4784"/>
              </a:lnSpc>
            </a:pPr>
            <a:r>
              <a:rPr lang="en-US" sz="3417">
                <a:solidFill>
                  <a:srgbClr val="343434"/>
                </a:solidFill>
                <a:latin typeface="DM Sans"/>
                <a:ea typeface="DM Sans"/>
                <a:cs typeface="DM Sans"/>
                <a:sym typeface="DM Sans"/>
              </a:rPr>
              <a:t>       - </a:t>
            </a:r>
            <a:r>
              <a:rPr lang="en-US" sz="3417">
                <a:solidFill>
                  <a:srgbClr val="343434"/>
                </a:solidFill>
                <a:latin typeface="DM Sans"/>
                <a:ea typeface="DM Sans"/>
                <a:cs typeface="DM Sans"/>
                <a:sym typeface="DM Sans"/>
              </a:rPr>
              <a:t>Share sensi</a:t>
            </a:r>
            <a:r>
              <a:rPr lang="en-US" sz="3417">
                <a:solidFill>
                  <a:srgbClr val="343434"/>
                </a:solidFill>
                <a:latin typeface="DM Sans"/>
                <a:ea typeface="DM Sans"/>
                <a:cs typeface="DM Sans"/>
                <a:sym typeface="DM Sans"/>
              </a:rPr>
              <a:t>tive information</a:t>
            </a:r>
          </a:p>
          <a:p>
            <a:pPr algn="l">
              <a:lnSpc>
                <a:spcPts val="4784"/>
              </a:lnSpc>
            </a:pPr>
            <a:r>
              <a:rPr lang="en-US" sz="3417">
                <a:solidFill>
                  <a:srgbClr val="343434"/>
                </a:solidFill>
                <a:latin typeface="DM Sans"/>
                <a:ea typeface="DM Sans"/>
                <a:cs typeface="DM Sans"/>
                <a:sym typeface="DM Sans"/>
              </a:rPr>
              <a:t>       - </a:t>
            </a:r>
            <a:r>
              <a:rPr lang="en-US" sz="3417">
                <a:solidFill>
                  <a:srgbClr val="343434"/>
                </a:solidFill>
                <a:latin typeface="DM Sans"/>
                <a:ea typeface="DM Sans"/>
                <a:cs typeface="DM Sans"/>
                <a:sym typeface="DM Sans"/>
              </a:rPr>
              <a:t>Use weak passwords</a:t>
            </a:r>
          </a:p>
          <a:p>
            <a:pPr algn="l">
              <a:lnSpc>
                <a:spcPts val="4784"/>
              </a:lnSpc>
            </a:pPr>
            <a:r>
              <a:rPr lang="en-US" sz="3417">
                <a:solidFill>
                  <a:srgbClr val="343434"/>
                </a:solidFill>
                <a:latin typeface="DM Sans"/>
                <a:ea typeface="DM Sans"/>
                <a:cs typeface="DM Sans"/>
                <a:sym typeface="DM Sans"/>
              </a:rPr>
              <a:t>       - </a:t>
            </a:r>
            <a:r>
              <a:rPr lang="en-US" sz="3417">
                <a:solidFill>
                  <a:srgbClr val="343434"/>
                </a:solidFill>
                <a:latin typeface="DM Sans"/>
                <a:ea typeface="DM Sans"/>
                <a:cs typeface="DM Sans"/>
                <a:sym typeface="DM Sans"/>
              </a:rPr>
              <a:t>Download unsafe files</a:t>
            </a:r>
          </a:p>
          <a:p>
            <a:pPr algn="l">
              <a:lnSpc>
                <a:spcPts val="4784"/>
              </a:lnSpc>
            </a:pPr>
            <a:r>
              <a:rPr lang="en-US" sz="3417">
                <a:solidFill>
                  <a:srgbClr val="343434"/>
                </a:solidFill>
                <a:latin typeface="DM Sans"/>
                <a:ea typeface="DM Sans"/>
                <a:cs typeface="DM Sans"/>
                <a:sym typeface="DM Sans"/>
              </a:rPr>
              <a:t>       - L</a:t>
            </a:r>
            <a:r>
              <a:rPr lang="en-US" sz="3417">
                <a:solidFill>
                  <a:srgbClr val="343434"/>
                </a:solidFill>
                <a:latin typeface="DM Sans"/>
                <a:ea typeface="DM Sans"/>
                <a:cs typeface="DM Sans"/>
                <a:sym typeface="DM Sans"/>
              </a:rPr>
              <a:t>eave devices unattended</a:t>
            </a:r>
          </a:p>
          <a:p>
            <a:pPr algn="l" marL="737855" indent="-368927" lvl="1">
              <a:lnSpc>
                <a:spcPts val="4784"/>
              </a:lnSpc>
              <a:buFont typeface="Arial"/>
              <a:buChar char="•"/>
            </a:pPr>
            <a:r>
              <a:rPr lang="en-US" sz="3417">
                <a:solidFill>
                  <a:srgbClr val="343434"/>
                </a:solidFill>
                <a:latin typeface="DM Sans"/>
                <a:ea typeface="DM Sans"/>
                <a:cs typeface="DM Sans"/>
                <a:sym typeface="DM Sans"/>
              </a:rPr>
              <a:t>Lack of security awareness can make organizations more vulnerable to attacks.</a:t>
            </a:r>
          </a:p>
          <a:p>
            <a:pPr algn="l" marL="737855" indent="-368927" lvl="1">
              <a:lnSpc>
                <a:spcPts val="4784"/>
              </a:lnSpc>
              <a:buFont typeface="Arial"/>
              <a:buChar char="•"/>
            </a:pPr>
            <a:r>
              <a:rPr lang="en-US" sz="3417">
                <a:solidFill>
                  <a:srgbClr val="343434"/>
                </a:solidFill>
                <a:latin typeface="DM Sans"/>
                <a:ea typeface="DM Sans"/>
                <a:cs typeface="DM Sans"/>
                <a:sym typeface="DM Sans"/>
              </a:rPr>
              <a:t>Example: An employee clicks a fake</a:t>
            </a:r>
            <a:r>
              <a:rPr lang="en-US" sz="3417">
                <a:solidFill>
                  <a:srgbClr val="343434"/>
                </a:solidFill>
                <a:latin typeface="DM Sans"/>
                <a:ea typeface="DM Sans"/>
                <a:cs typeface="DM Sans"/>
                <a:sym typeface="DM Sans"/>
              </a:rPr>
              <a:t> email link a</a:t>
            </a:r>
            <a:r>
              <a:rPr lang="en-US" sz="3417">
                <a:solidFill>
                  <a:srgbClr val="343434"/>
                </a:solidFill>
                <a:latin typeface="DM Sans"/>
                <a:ea typeface="DM Sans"/>
                <a:cs typeface="DM Sans"/>
                <a:sym typeface="DM Sans"/>
              </a:rPr>
              <a:t>nd unknowingly gives an attacker access to their account.</a:t>
            </a:r>
          </a:p>
          <a:p>
            <a:pPr algn="just">
              <a:lnSpc>
                <a:spcPts val="4784"/>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43713" y="200029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HUMAN FACTORY IN SECURITY</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MAGDAYO</a:t>
            </a:r>
          </a:p>
        </p:txBody>
      </p:sp>
      <p:sp>
        <p:nvSpPr>
          <p:cNvPr name="TextBox 12" id="12"/>
          <p:cNvSpPr txBox="true"/>
          <p:nvPr/>
        </p:nvSpPr>
        <p:spPr>
          <a:xfrm rot="0">
            <a:off x="943713" y="3106231"/>
            <a:ext cx="16787888" cy="7180769"/>
          </a:xfrm>
          <a:prstGeom prst="rect">
            <a:avLst/>
          </a:prstGeom>
        </p:spPr>
        <p:txBody>
          <a:bodyPr anchor="t" rtlCol="false" tIns="0" lIns="0" bIns="0" rIns="0">
            <a:spAutoFit/>
          </a:bodyPr>
          <a:lstStyle/>
          <a:p>
            <a:pPr algn="l">
              <a:lnSpc>
                <a:spcPts val="4784"/>
              </a:lnSpc>
            </a:pPr>
            <a:r>
              <a:rPr lang="en-US" sz="3417">
                <a:solidFill>
                  <a:srgbClr val="343434"/>
                </a:solidFill>
                <a:latin typeface="DM Sans"/>
                <a:ea typeface="DM Sans"/>
                <a:cs typeface="DM Sans"/>
                <a:sym typeface="DM Sans"/>
              </a:rPr>
              <a:t>Common Human Security Risks</a:t>
            </a:r>
          </a:p>
          <a:p>
            <a:pPr algn="l">
              <a:lnSpc>
                <a:spcPts val="4784"/>
              </a:lnSpc>
            </a:pPr>
            <a:r>
              <a:rPr lang="en-US" sz="3417">
                <a:solidFill>
                  <a:srgbClr val="343434"/>
                </a:solidFill>
                <a:latin typeface="DM Sans"/>
                <a:ea typeface="DM Sans"/>
                <a:cs typeface="DM Sans"/>
                <a:sym typeface="DM Sans"/>
              </a:rPr>
              <a:t>1. Weak Passwords</a:t>
            </a:r>
          </a:p>
          <a:p>
            <a:pPr algn="l" marL="737855" indent="-368927" lvl="1">
              <a:lnSpc>
                <a:spcPts val="4784"/>
              </a:lnSpc>
              <a:buFont typeface="Arial"/>
              <a:buChar char="•"/>
            </a:pPr>
            <a:r>
              <a:rPr lang="en-US" sz="3417">
                <a:solidFill>
                  <a:srgbClr val="343434"/>
                </a:solidFill>
                <a:latin typeface="DM Sans"/>
                <a:ea typeface="DM Sans"/>
                <a:cs typeface="DM Sans"/>
                <a:sym typeface="DM Sans"/>
              </a:rPr>
              <a:t>Using</a:t>
            </a:r>
            <a:r>
              <a:rPr lang="en-US" sz="3417">
                <a:solidFill>
                  <a:srgbClr val="343434"/>
                </a:solidFill>
                <a:latin typeface="DM Sans"/>
                <a:ea typeface="DM Sans"/>
                <a:cs typeface="DM Sans"/>
                <a:sym typeface="DM Sans"/>
              </a:rPr>
              <a:t> s</a:t>
            </a:r>
            <a:r>
              <a:rPr lang="en-US" sz="3417">
                <a:solidFill>
                  <a:srgbClr val="343434"/>
                </a:solidFill>
                <a:latin typeface="DM Sans"/>
                <a:ea typeface="DM Sans"/>
                <a:cs typeface="DM Sans"/>
                <a:sym typeface="DM Sans"/>
              </a:rPr>
              <a:t>imple</a:t>
            </a:r>
            <a:r>
              <a:rPr lang="en-US" sz="3417">
                <a:solidFill>
                  <a:srgbClr val="343434"/>
                </a:solidFill>
                <a:latin typeface="DM Sans"/>
                <a:ea typeface="DM Sans"/>
                <a:cs typeface="DM Sans"/>
                <a:sym typeface="DM Sans"/>
              </a:rPr>
              <a:t> or </a:t>
            </a:r>
            <a:r>
              <a:rPr lang="en-US" sz="3417">
                <a:solidFill>
                  <a:srgbClr val="343434"/>
                </a:solidFill>
                <a:latin typeface="DM Sans"/>
                <a:ea typeface="DM Sans"/>
                <a:cs typeface="DM Sans"/>
                <a:sym typeface="DM Sans"/>
              </a:rPr>
              <a:t>repe</a:t>
            </a:r>
            <a:r>
              <a:rPr lang="en-US" sz="3417">
                <a:solidFill>
                  <a:srgbClr val="343434"/>
                </a:solidFill>
                <a:latin typeface="DM Sans"/>
                <a:ea typeface="DM Sans"/>
                <a:cs typeface="DM Sans"/>
                <a:sym typeface="DM Sans"/>
              </a:rPr>
              <a:t>ated passwords.</a:t>
            </a:r>
          </a:p>
          <a:p>
            <a:pPr algn="l">
              <a:lnSpc>
                <a:spcPts val="4784"/>
              </a:lnSpc>
            </a:pPr>
            <a:r>
              <a:rPr lang="en-US" sz="3417">
                <a:solidFill>
                  <a:srgbClr val="343434"/>
                </a:solidFill>
                <a:latin typeface="DM Sans"/>
                <a:ea typeface="DM Sans"/>
                <a:cs typeface="DM Sans"/>
                <a:sym typeface="DM Sans"/>
              </a:rPr>
              <a:t>2.</a:t>
            </a:r>
            <a:r>
              <a:rPr lang="en-US" sz="3417">
                <a:solidFill>
                  <a:srgbClr val="343434"/>
                </a:solidFill>
                <a:latin typeface="DM Sans"/>
                <a:ea typeface="DM Sans"/>
                <a:cs typeface="DM Sans"/>
                <a:sym typeface="DM Sans"/>
              </a:rPr>
              <a:t> Phishing</a:t>
            </a:r>
          </a:p>
          <a:p>
            <a:pPr algn="l" marL="737855" indent="-368927" lvl="1">
              <a:lnSpc>
                <a:spcPts val="4784"/>
              </a:lnSpc>
              <a:buFont typeface="Arial"/>
              <a:buChar char="•"/>
            </a:pPr>
            <a:r>
              <a:rPr lang="en-US" sz="3417">
                <a:solidFill>
                  <a:srgbClr val="343434"/>
                </a:solidFill>
                <a:latin typeface="DM Sans"/>
                <a:ea typeface="DM Sans"/>
                <a:cs typeface="DM Sans"/>
                <a:sym typeface="DM Sans"/>
              </a:rPr>
              <a:t>Resp</a:t>
            </a:r>
            <a:r>
              <a:rPr lang="en-US" sz="3417">
                <a:solidFill>
                  <a:srgbClr val="343434"/>
                </a:solidFill>
                <a:latin typeface="DM Sans"/>
                <a:ea typeface="DM Sans"/>
                <a:cs typeface="DM Sans"/>
                <a:sym typeface="DM Sans"/>
              </a:rPr>
              <a:t>onding to fake emails,</a:t>
            </a:r>
            <a:r>
              <a:rPr lang="en-US" sz="3417">
                <a:solidFill>
                  <a:srgbClr val="343434"/>
                </a:solidFill>
                <a:latin typeface="DM Sans"/>
                <a:ea typeface="DM Sans"/>
                <a:cs typeface="DM Sans"/>
                <a:sym typeface="DM Sans"/>
              </a:rPr>
              <a:t> m</a:t>
            </a:r>
            <a:r>
              <a:rPr lang="en-US" sz="3417">
                <a:solidFill>
                  <a:srgbClr val="343434"/>
                </a:solidFill>
                <a:latin typeface="DM Sans"/>
                <a:ea typeface="DM Sans"/>
                <a:cs typeface="DM Sans"/>
                <a:sym typeface="DM Sans"/>
              </a:rPr>
              <a:t>essages, or websites.</a:t>
            </a:r>
          </a:p>
          <a:p>
            <a:pPr algn="l">
              <a:lnSpc>
                <a:spcPts val="4784"/>
              </a:lnSpc>
            </a:pPr>
            <a:r>
              <a:rPr lang="en-US" sz="3417">
                <a:solidFill>
                  <a:srgbClr val="343434"/>
                </a:solidFill>
                <a:latin typeface="DM Sans"/>
                <a:ea typeface="DM Sans"/>
                <a:cs typeface="DM Sans"/>
                <a:sym typeface="DM Sans"/>
              </a:rPr>
              <a:t>3. Social Engineering</a:t>
            </a:r>
          </a:p>
          <a:p>
            <a:pPr algn="l" marL="737855" indent="-368927" lvl="1">
              <a:lnSpc>
                <a:spcPts val="4784"/>
              </a:lnSpc>
              <a:buFont typeface="Arial"/>
              <a:buChar char="•"/>
            </a:pPr>
            <a:r>
              <a:rPr lang="en-US" sz="3417">
                <a:solidFill>
                  <a:srgbClr val="343434"/>
                </a:solidFill>
                <a:latin typeface="DM Sans"/>
                <a:ea typeface="DM Sans"/>
                <a:cs typeface="DM Sans"/>
                <a:sym typeface="DM Sans"/>
              </a:rPr>
              <a:t>Att</a:t>
            </a:r>
            <a:r>
              <a:rPr lang="en-US" sz="3417">
                <a:solidFill>
                  <a:srgbClr val="343434"/>
                </a:solidFill>
                <a:latin typeface="DM Sans"/>
                <a:ea typeface="DM Sans"/>
                <a:cs typeface="DM Sans"/>
                <a:sym typeface="DM Sans"/>
              </a:rPr>
              <a:t>ackers manipulate people into revealing information.</a:t>
            </a:r>
          </a:p>
          <a:p>
            <a:pPr algn="l">
              <a:lnSpc>
                <a:spcPts val="4784"/>
              </a:lnSpc>
            </a:pPr>
            <a:r>
              <a:rPr lang="en-US" sz="3417">
                <a:solidFill>
                  <a:srgbClr val="343434"/>
                </a:solidFill>
                <a:latin typeface="DM Sans"/>
                <a:ea typeface="DM Sans"/>
                <a:cs typeface="DM Sans"/>
                <a:sym typeface="DM Sans"/>
              </a:rPr>
              <a:t>4.</a:t>
            </a:r>
            <a:r>
              <a:rPr lang="en-US" sz="3417">
                <a:solidFill>
                  <a:srgbClr val="343434"/>
                </a:solidFill>
                <a:latin typeface="DM Sans"/>
                <a:ea typeface="DM Sans"/>
                <a:cs typeface="DM Sans"/>
                <a:sym typeface="DM Sans"/>
              </a:rPr>
              <a:t> Insider Threats</a:t>
            </a:r>
          </a:p>
          <a:p>
            <a:pPr algn="l" marL="737855" indent="-368927" lvl="1">
              <a:lnSpc>
                <a:spcPts val="4784"/>
              </a:lnSpc>
              <a:buFont typeface="Arial"/>
              <a:buChar char="•"/>
            </a:pPr>
            <a:r>
              <a:rPr lang="en-US" sz="3417">
                <a:solidFill>
                  <a:srgbClr val="343434"/>
                </a:solidFill>
                <a:latin typeface="DM Sans"/>
                <a:ea typeface="DM Sans"/>
                <a:cs typeface="DM Sans"/>
                <a:sym typeface="DM Sans"/>
              </a:rPr>
              <a:t>Employees int</a:t>
            </a:r>
            <a:r>
              <a:rPr lang="en-US" sz="3417">
                <a:solidFill>
                  <a:srgbClr val="343434"/>
                </a:solidFill>
                <a:latin typeface="DM Sans"/>
                <a:ea typeface="DM Sans"/>
                <a:cs typeface="DM Sans"/>
                <a:sym typeface="DM Sans"/>
              </a:rPr>
              <a:t>entionally</a:t>
            </a:r>
            <a:r>
              <a:rPr lang="en-US" sz="3417">
                <a:solidFill>
                  <a:srgbClr val="343434"/>
                </a:solidFill>
                <a:latin typeface="DM Sans"/>
                <a:ea typeface="DM Sans"/>
                <a:cs typeface="DM Sans"/>
                <a:sym typeface="DM Sans"/>
              </a:rPr>
              <a:t> or accidentally expose sensitive data.</a:t>
            </a:r>
          </a:p>
          <a:p>
            <a:pPr algn="l">
              <a:lnSpc>
                <a:spcPts val="4784"/>
              </a:lnSpc>
            </a:pPr>
            <a:r>
              <a:rPr lang="en-US" sz="3417">
                <a:solidFill>
                  <a:srgbClr val="343434"/>
                </a:solidFill>
                <a:latin typeface="DM Sans"/>
                <a:ea typeface="DM Sans"/>
                <a:cs typeface="DM Sans"/>
                <a:sym typeface="DM Sans"/>
              </a:rPr>
              <a:t>5. Negligence</a:t>
            </a:r>
          </a:p>
          <a:p>
            <a:pPr algn="l" marL="737855" indent="-368927" lvl="1">
              <a:lnSpc>
                <a:spcPts val="4784"/>
              </a:lnSpc>
              <a:buFont typeface="Arial"/>
              <a:buChar char="•"/>
            </a:pPr>
            <a:r>
              <a:rPr lang="en-US" sz="3417">
                <a:solidFill>
                  <a:srgbClr val="343434"/>
                </a:solidFill>
                <a:latin typeface="DM Sans"/>
                <a:ea typeface="DM Sans"/>
                <a:cs typeface="DM Sans"/>
                <a:sym typeface="DM Sans"/>
              </a:rPr>
              <a:t>Ignoring security policies or leaving devices unsecured.</a:t>
            </a:r>
          </a:p>
          <a:p>
            <a:pPr algn="just">
              <a:lnSpc>
                <a:spcPts val="4784"/>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43713" y="200029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HUMAN FACTORY IN SECURITY</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MAGDAYO</a:t>
            </a:r>
          </a:p>
        </p:txBody>
      </p:sp>
      <p:sp>
        <p:nvSpPr>
          <p:cNvPr name="TextBox 12" id="12"/>
          <p:cNvSpPr txBox="true"/>
          <p:nvPr/>
        </p:nvSpPr>
        <p:spPr>
          <a:xfrm rot="0">
            <a:off x="1085154" y="3731335"/>
            <a:ext cx="8352687" cy="6954708"/>
          </a:xfrm>
          <a:prstGeom prst="rect">
            <a:avLst/>
          </a:prstGeom>
        </p:spPr>
        <p:txBody>
          <a:bodyPr anchor="t" rtlCol="false" tIns="0" lIns="0" bIns="0" rIns="0">
            <a:spAutoFit/>
          </a:bodyPr>
          <a:lstStyle/>
          <a:p>
            <a:pPr algn="l" marL="716266" indent="-358133" lvl="1">
              <a:lnSpc>
                <a:spcPts val="4644"/>
              </a:lnSpc>
              <a:buFont typeface="Arial"/>
              <a:buChar char="•"/>
            </a:pPr>
            <a:r>
              <a:rPr lang="en-US" sz="3317">
                <a:solidFill>
                  <a:srgbClr val="343434"/>
                </a:solidFill>
                <a:latin typeface="DM Sans"/>
                <a:ea typeface="DM Sans"/>
                <a:cs typeface="DM Sans"/>
                <a:sym typeface="DM Sans"/>
              </a:rPr>
              <a:t>Social engineering</a:t>
            </a:r>
            <a:r>
              <a:rPr lang="en-US" sz="3317">
                <a:solidFill>
                  <a:srgbClr val="343434"/>
                </a:solidFill>
                <a:latin typeface="DM Sans"/>
                <a:ea typeface="DM Sans"/>
                <a:cs typeface="DM Sans"/>
                <a:sym typeface="DM Sans"/>
              </a:rPr>
              <a:t> exploits hu</a:t>
            </a:r>
            <a:r>
              <a:rPr lang="en-US" sz="3317">
                <a:solidFill>
                  <a:srgbClr val="343434"/>
                </a:solidFill>
                <a:latin typeface="DM Sans"/>
                <a:ea typeface="DM Sans"/>
                <a:cs typeface="DM Sans"/>
                <a:sym typeface="DM Sans"/>
              </a:rPr>
              <a:t>man</a:t>
            </a:r>
            <a:r>
              <a:rPr lang="en-US" sz="3317">
                <a:solidFill>
                  <a:srgbClr val="343434"/>
                </a:solidFill>
                <a:latin typeface="DM Sans"/>
                <a:ea typeface="DM Sans"/>
                <a:cs typeface="DM Sans"/>
                <a:sym typeface="DM Sans"/>
              </a:rPr>
              <a:t> trust </a:t>
            </a:r>
            <a:r>
              <a:rPr lang="en-US" sz="3317">
                <a:solidFill>
                  <a:srgbClr val="343434"/>
                </a:solidFill>
                <a:latin typeface="DM Sans"/>
                <a:ea typeface="DM Sans"/>
                <a:cs typeface="DM Sans"/>
                <a:sym typeface="DM Sans"/>
              </a:rPr>
              <a:t>rather th</a:t>
            </a:r>
            <a:r>
              <a:rPr lang="en-US" sz="3317">
                <a:solidFill>
                  <a:srgbClr val="343434"/>
                </a:solidFill>
                <a:latin typeface="DM Sans"/>
                <a:ea typeface="DM Sans"/>
                <a:cs typeface="DM Sans"/>
                <a:sym typeface="DM Sans"/>
              </a:rPr>
              <a:t>an technical weaknesses.</a:t>
            </a:r>
          </a:p>
          <a:p>
            <a:pPr algn="l" marL="716266" indent="-358133" lvl="1">
              <a:lnSpc>
                <a:spcPts val="4644"/>
              </a:lnSpc>
              <a:buFont typeface="Arial"/>
              <a:buChar char="•"/>
            </a:pPr>
            <a:r>
              <a:rPr lang="en-US" sz="3317">
                <a:solidFill>
                  <a:srgbClr val="343434"/>
                </a:solidFill>
                <a:latin typeface="DM Sans"/>
                <a:ea typeface="DM Sans"/>
                <a:cs typeface="DM Sans"/>
                <a:sym typeface="DM Sans"/>
              </a:rPr>
              <a:t>Attackers may prete</a:t>
            </a:r>
            <a:r>
              <a:rPr lang="en-US" sz="3317">
                <a:solidFill>
                  <a:srgbClr val="343434"/>
                </a:solidFill>
                <a:latin typeface="DM Sans"/>
                <a:ea typeface="DM Sans"/>
                <a:cs typeface="DM Sans"/>
                <a:sym typeface="DM Sans"/>
              </a:rPr>
              <a:t>nd to be:</a:t>
            </a:r>
          </a:p>
          <a:p>
            <a:pPr algn="l" marL="1432531" indent="-477510" lvl="2">
              <a:lnSpc>
                <a:spcPts val="4644"/>
              </a:lnSpc>
              <a:buFont typeface="Arial"/>
              <a:buChar char="⚬"/>
            </a:pPr>
            <a:r>
              <a:rPr lang="en-US" sz="3317">
                <a:solidFill>
                  <a:srgbClr val="343434"/>
                </a:solidFill>
                <a:latin typeface="DM Sans"/>
                <a:ea typeface="DM Sans"/>
                <a:cs typeface="DM Sans"/>
                <a:sym typeface="DM Sans"/>
              </a:rPr>
              <a:t>IT staff</a:t>
            </a:r>
          </a:p>
          <a:p>
            <a:pPr algn="l" marL="1432531" indent="-477510" lvl="2">
              <a:lnSpc>
                <a:spcPts val="4644"/>
              </a:lnSpc>
              <a:buFont typeface="Arial"/>
              <a:buChar char="⚬"/>
            </a:pPr>
            <a:r>
              <a:rPr lang="en-US" sz="3317">
                <a:solidFill>
                  <a:srgbClr val="343434"/>
                </a:solidFill>
                <a:latin typeface="DM Sans"/>
                <a:ea typeface="DM Sans"/>
                <a:cs typeface="DM Sans"/>
                <a:sym typeface="DM Sans"/>
              </a:rPr>
              <a:t>Managers</a:t>
            </a:r>
          </a:p>
          <a:p>
            <a:pPr algn="l" marL="1432531" indent="-477510" lvl="2">
              <a:lnSpc>
                <a:spcPts val="4644"/>
              </a:lnSpc>
              <a:buFont typeface="Arial"/>
              <a:buChar char="⚬"/>
            </a:pPr>
            <a:r>
              <a:rPr lang="en-US" sz="3317">
                <a:solidFill>
                  <a:srgbClr val="343434"/>
                </a:solidFill>
                <a:latin typeface="DM Sans"/>
                <a:ea typeface="DM Sans"/>
                <a:cs typeface="DM Sans"/>
                <a:sym typeface="DM Sans"/>
              </a:rPr>
              <a:t>Bank representatives</a:t>
            </a:r>
          </a:p>
          <a:p>
            <a:pPr algn="l" marL="1432531" indent="-477510" lvl="2">
              <a:lnSpc>
                <a:spcPts val="4644"/>
              </a:lnSpc>
              <a:buFont typeface="Arial"/>
              <a:buChar char="⚬"/>
            </a:pPr>
            <a:r>
              <a:rPr lang="en-US" sz="3317">
                <a:solidFill>
                  <a:srgbClr val="343434"/>
                </a:solidFill>
                <a:latin typeface="DM Sans"/>
                <a:ea typeface="DM Sans"/>
                <a:cs typeface="DM Sans"/>
                <a:sym typeface="DM Sans"/>
              </a:rPr>
              <a:t>Customers or suppliers</a:t>
            </a:r>
          </a:p>
          <a:p>
            <a:pPr algn="l">
              <a:lnSpc>
                <a:spcPts val="4644"/>
              </a:lnSpc>
            </a:pPr>
          </a:p>
          <a:p>
            <a:pPr algn="l">
              <a:lnSpc>
                <a:spcPts val="4644"/>
              </a:lnSpc>
            </a:pPr>
          </a:p>
          <a:p>
            <a:pPr algn="l">
              <a:lnSpc>
                <a:spcPts val="4644"/>
              </a:lnSpc>
            </a:pPr>
          </a:p>
          <a:p>
            <a:pPr algn="just">
              <a:lnSpc>
                <a:spcPts val="4644"/>
              </a:lnSpc>
            </a:pPr>
          </a:p>
        </p:txBody>
      </p:sp>
      <p:sp>
        <p:nvSpPr>
          <p:cNvPr name="TextBox 13" id="13"/>
          <p:cNvSpPr txBox="true"/>
          <p:nvPr/>
        </p:nvSpPr>
        <p:spPr>
          <a:xfrm rot="0">
            <a:off x="9296400" y="3721810"/>
            <a:ext cx="8352687" cy="6280973"/>
          </a:xfrm>
          <a:prstGeom prst="rect">
            <a:avLst/>
          </a:prstGeom>
        </p:spPr>
        <p:txBody>
          <a:bodyPr anchor="t" rtlCol="false" tIns="0" lIns="0" bIns="0" rIns="0">
            <a:spAutoFit/>
          </a:bodyPr>
          <a:lstStyle/>
          <a:p>
            <a:pPr algn="l" marL="694676" indent="-347338" lvl="1">
              <a:lnSpc>
                <a:spcPts val="4504"/>
              </a:lnSpc>
              <a:buFont typeface="Arial"/>
              <a:buChar char="•"/>
            </a:pPr>
            <a:r>
              <a:rPr lang="en-US" sz="3217">
                <a:solidFill>
                  <a:srgbClr val="343434"/>
                </a:solidFill>
                <a:latin typeface="DM Sans"/>
                <a:ea typeface="DM Sans"/>
                <a:cs typeface="DM Sans"/>
                <a:sym typeface="DM Sans"/>
              </a:rPr>
              <a:t>Common techniques include:</a:t>
            </a:r>
          </a:p>
          <a:p>
            <a:pPr algn="l" marL="1389352" indent="-463117" lvl="2">
              <a:lnSpc>
                <a:spcPts val="4504"/>
              </a:lnSpc>
              <a:buFont typeface="Arial"/>
              <a:buChar char="⚬"/>
            </a:pPr>
            <a:r>
              <a:rPr lang="en-US" sz="3217">
                <a:solidFill>
                  <a:srgbClr val="343434"/>
                </a:solidFill>
                <a:latin typeface="DM Sans"/>
                <a:ea typeface="DM Sans"/>
                <a:cs typeface="DM Sans"/>
                <a:sym typeface="DM Sans"/>
              </a:rPr>
              <a:t>Phishing</a:t>
            </a:r>
          </a:p>
          <a:p>
            <a:pPr algn="l" marL="1389352" indent="-463117" lvl="2">
              <a:lnSpc>
                <a:spcPts val="4504"/>
              </a:lnSpc>
              <a:buFont typeface="Arial"/>
              <a:buChar char="⚬"/>
            </a:pPr>
            <a:r>
              <a:rPr lang="en-US" sz="3217">
                <a:solidFill>
                  <a:srgbClr val="343434"/>
                </a:solidFill>
                <a:latin typeface="DM Sans"/>
                <a:ea typeface="DM Sans"/>
                <a:cs typeface="DM Sans"/>
                <a:sym typeface="DM Sans"/>
              </a:rPr>
              <a:t>Pretexting</a:t>
            </a:r>
          </a:p>
          <a:p>
            <a:pPr algn="l" marL="1389352" indent="-463117" lvl="2">
              <a:lnSpc>
                <a:spcPts val="4504"/>
              </a:lnSpc>
              <a:buFont typeface="Arial"/>
              <a:buChar char="⚬"/>
            </a:pPr>
            <a:r>
              <a:rPr lang="en-US" sz="3217">
                <a:solidFill>
                  <a:srgbClr val="343434"/>
                </a:solidFill>
                <a:latin typeface="DM Sans"/>
                <a:ea typeface="DM Sans"/>
                <a:cs typeface="DM Sans"/>
                <a:sym typeface="DM Sans"/>
              </a:rPr>
              <a:t>Baiting</a:t>
            </a:r>
          </a:p>
          <a:p>
            <a:pPr algn="l" marL="1389352" indent="-463117" lvl="2">
              <a:lnSpc>
                <a:spcPts val="4504"/>
              </a:lnSpc>
              <a:buFont typeface="Arial"/>
              <a:buChar char="⚬"/>
            </a:pPr>
            <a:r>
              <a:rPr lang="en-US" sz="3217">
                <a:solidFill>
                  <a:srgbClr val="343434"/>
                </a:solidFill>
                <a:latin typeface="DM Sans"/>
                <a:ea typeface="DM Sans"/>
                <a:cs typeface="DM Sans"/>
                <a:sym typeface="DM Sans"/>
              </a:rPr>
              <a:t>Impersonation</a:t>
            </a:r>
          </a:p>
          <a:p>
            <a:pPr algn="l">
              <a:lnSpc>
                <a:spcPts val="4504"/>
              </a:lnSpc>
            </a:pPr>
            <a:r>
              <a:rPr lang="en-US" sz="3217">
                <a:solidFill>
                  <a:srgbClr val="343434"/>
                </a:solidFill>
                <a:latin typeface="DM Sans"/>
                <a:ea typeface="DM Sans"/>
                <a:cs typeface="DM Sans"/>
                <a:sym typeface="DM Sans"/>
              </a:rPr>
              <a:t>How to respond:</a:t>
            </a:r>
          </a:p>
          <a:p>
            <a:pPr algn="l" marL="694676" indent="-347338" lvl="1">
              <a:lnSpc>
                <a:spcPts val="4504"/>
              </a:lnSpc>
              <a:buFont typeface="Arial"/>
              <a:buChar char="•"/>
            </a:pPr>
            <a:r>
              <a:rPr lang="en-US" sz="3217">
                <a:solidFill>
                  <a:srgbClr val="343434"/>
                </a:solidFill>
                <a:latin typeface="DM Sans"/>
                <a:ea typeface="DM Sans"/>
                <a:cs typeface="DM Sans"/>
                <a:sym typeface="DM Sans"/>
              </a:rPr>
              <a:t>Verify the person's</a:t>
            </a:r>
            <a:r>
              <a:rPr lang="en-US" sz="3217">
                <a:solidFill>
                  <a:srgbClr val="343434"/>
                </a:solidFill>
                <a:latin typeface="DM Sans"/>
                <a:ea typeface="DM Sans"/>
                <a:cs typeface="DM Sans"/>
                <a:sym typeface="DM Sans"/>
              </a:rPr>
              <a:t> identity.</a:t>
            </a:r>
          </a:p>
          <a:p>
            <a:pPr algn="l" marL="694676" indent="-347338" lvl="1">
              <a:lnSpc>
                <a:spcPts val="4504"/>
              </a:lnSpc>
              <a:buFont typeface="Arial"/>
              <a:buChar char="•"/>
            </a:pPr>
            <a:r>
              <a:rPr lang="en-US" sz="3217">
                <a:solidFill>
                  <a:srgbClr val="343434"/>
                </a:solidFill>
                <a:latin typeface="DM Sans"/>
                <a:ea typeface="DM Sans"/>
                <a:cs typeface="DM Sans"/>
                <a:sym typeface="DM Sans"/>
              </a:rPr>
              <a:t>Do </a:t>
            </a:r>
            <a:r>
              <a:rPr lang="en-US" sz="3217">
                <a:solidFill>
                  <a:srgbClr val="343434"/>
                </a:solidFill>
                <a:latin typeface="DM Sans"/>
                <a:ea typeface="DM Sans"/>
                <a:cs typeface="DM Sans"/>
                <a:sym typeface="DM Sans"/>
              </a:rPr>
              <a:t>no</a:t>
            </a:r>
            <a:r>
              <a:rPr lang="en-US" sz="3217">
                <a:solidFill>
                  <a:srgbClr val="343434"/>
                </a:solidFill>
                <a:latin typeface="DM Sans"/>
                <a:ea typeface="DM Sans"/>
                <a:cs typeface="DM Sans"/>
                <a:sym typeface="DM Sans"/>
              </a:rPr>
              <a:t>t immedi</a:t>
            </a:r>
            <a:r>
              <a:rPr lang="en-US" sz="3217">
                <a:solidFill>
                  <a:srgbClr val="343434"/>
                </a:solidFill>
                <a:latin typeface="DM Sans"/>
                <a:ea typeface="DM Sans"/>
                <a:cs typeface="DM Sans"/>
                <a:sym typeface="DM Sans"/>
              </a:rPr>
              <a:t>ately provide co</a:t>
            </a:r>
            <a:r>
              <a:rPr lang="en-US" sz="3217">
                <a:solidFill>
                  <a:srgbClr val="343434"/>
                </a:solidFill>
                <a:latin typeface="DM Sans"/>
                <a:ea typeface="DM Sans"/>
                <a:cs typeface="DM Sans"/>
                <a:sym typeface="DM Sans"/>
              </a:rPr>
              <a:t>nfidential info</a:t>
            </a:r>
            <a:r>
              <a:rPr lang="en-US" sz="3217">
                <a:solidFill>
                  <a:srgbClr val="343434"/>
                </a:solidFill>
                <a:latin typeface="DM Sans"/>
                <a:ea typeface="DM Sans"/>
                <a:cs typeface="DM Sans"/>
                <a:sym typeface="DM Sans"/>
              </a:rPr>
              <a:t>rmati</a:t>
            </a:r>
            <a:r>
              <a:rPr lang="en-US" sz="3217">
                <a:solidFill>
                  <a:srgbClr val="343434"/>
                </a:solidFill>
                <a:latin typeface="DM Sans"/>
                <a:ea typeface="DM Sans"/>
                <a:cs typeface="DM Sans"/>
                <a:sym typeface="DM Sans"/>
              </a:rPr>
              <a:t>on.</a:t>
            </a:r>
          </a:p>
          <a:p>
            <a:pPr algn="l" marL="694676" indent="-347338" lvl="1">
              <a:lnSpc>
                <a:spcPts val="4504"/>
              </a:lnSpc>
              <a:buFont typeface="Arial"/>
              <a:buChar char="•"/>
            </a:pPr>
            <a:r>
              <a:rPr lang="en-US" sz="3217">
                <a:solidFill>
                  <a:srgbClr val="343434"/>
                </a:solidFill>
                <a:latin typeface="DM Sans"/>
                <a:ea typeface="DM Sans"/>
                <a:cs typeface="DM Sans"/>
                <a:sym typeface="DM Sans"/>
              </a:rPr>
              <a:t>R</a:t>
            </a:r>
            <a:r>
              <a:rPr lang="en-US" sz="3217">
                <a:solidFill>
                  <a:srgbClr val="343434"/>
                </a:solidFill>
                <a:latin typeface="DM Sans"/>
                <a:ea typeface="DM Sans"/>
                <a:cs typeface="DM Sans"/>
                <a:sym typeface="DM Sans"/>
              </a:rPr>
              <a:t>eport suspicious requests.</a:t>
            </a:r>
          </a:p>
          <a:p>
            <a:pPr algn="just">
              <a:lnSpc>
                <a:spcPts val="4504"/>
              </a:lnSpc>
            </a:pPr>
          </a:p>
        </p:txBody>
      </p:sp>
      <p:sp>
        <p:nvSpPr>
          <p:cNvPr name="TextBox 14" id="14"/>
          <p:cNvSpPr txBox="true"/>
          <p:nvPr/>
        </p:nvSpPr>
        <p:spPr>
          <a:xfrm rot="0">
            <a:off x="4967657" y="3049734"/>
            <a:ext cx="8352687" cy="1144458"/>
          </a:xfrm>
          <a:prstGeom prst="rect">
            <a:avLst/>
          </a:prstGeom>
        </p:spPr>
        <p:txBody>
          <a:bodyPr anchor="t" rtlCol="false" tIns="0" lIns="0" bIns="0" rIns="0">
            <a:spAutoFit/>
          </a:bodyPr>
          <a:lstStyle/>
          <a:p>
            <a:pPr algn="l">
              <a:lnSpc>
                <a:spcPts val="4644"/>
              </a:lnSpc>
            </a:pPr>
            <a:r>
              <a:rPr lang="en-US" sz="3317">
                <a:solidFill>
                  <a:srgbClr val="343434"/>
                </a:solidFill>
                <a:latin typeface="DM Sans"/>
                <a:ea typeface="DM Sans"/>
                <a:cs typeface="DM Sans"/>
                <a:sym typeface="DM Sans"/>
              </a:rPr>
              <a:t>Social Engineering and Human Behavior</a:t>
            </a:r>
          </a:p>
          <a:p>
            <a:pPr algn="just">
              <a:lnSpc>
                <a:spcPts val="4644"/>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43713" y="200029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HUMAN FACTORY IN SECURITY</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MAGDAYO</a:t>
            </a:r>
          </a:p>
        </p:txBody>
      </p:sp>
      <p:sp>
        <p:nvSpPr>
          <p:cNvPr name="TextBox 12" id="12"/>
          <p:cNvSpPr txBox="true"/>
          <p:nvPr/>
        </p:nvSpPr>
        <p:spPr>
          <a:xfrm rot="0">
            <a:off x="943713" y="3096706"/>
            <a:ext cx="16787888" cy="6797229"/>
          </a:xfrm>
          <a:prstGeom prst="rect">
            <a:avLst/>
          </a:prstGeom>
        </p:spPr>
        <p:txBody>
          <a:bodyPr anchor="t" rtlCol="false" tIns="0" lIns="0" bIns="0" rIns="0">
            <a:spAutoFit/>
          </a:bodyPr>
          <a:lstStyle/>
          <a:p>
            <a:pPr algn="l">
              <a:lnSpc>
                <a:spcPts val="4924"/>
              </a:lnSpc>
            </a:pPr>
            <a:r>
              <a:rPr lang="en-US" sz="3517">
                <a:solidFill>
                  <a:srgbClr val="343434"/>
                </a:solidFill>
                <a:latin typeface="DM Sans"/>
                <a:ea typeface="DM Sans"/>
                <a:cs typeface="DM Sans"/>
                <a:sym typeface="DM Sans"/>
              </a:rPr>
              <a:t>Reducing Human-Related Security Risks</a:t>
            </a:r>
          </a:p>
          <a:p>
            <a:pPr algn="l">
              <a:lnSpc>
                <a:spcPts val="4924"/>
              </a:lnSpc>
            </a:pPr>
            <a:r>
              <a:rPr lang="en-US" sz="3517">
                <a:solidFill>
                  <a:srgbClr val="343434"/>
                </a:solidFill>
                <a:latin typeface="DM Sans"/>
                <a:ea typeface="DM Sans"/>
                <a:cs typeface="DM Sans"/>
                <a:sym typeface="DM Sans"/>
              </a:rPr>
              <a:t>Org</a:t>
            </a:r>
            <a:r>
              <a:rPr lang="en-US" sz="3517">
                <a:solidFill>
                  <a:srgbClr val="343434"/>
                </a:solidFill>
                <a:latin typeface="DM Sans"/>
                <a:ea typeface="DM Sans"/>
                <a:cs typeface="DM Sans"/>
                <a:sym typeface="DM Sans"/>
              </a:rPr>
              <a:t>anizations can</a:t>
            </a:r>
            <a:r>
              <a:rPr lang="en-US" sz="3517">
                <a:solidFill>
                  <a:srgbClr val="343434"/>
                </a:solidFill>
                <a:latin typeface="DM Sans"/>
                <a:ea typeface="DM Sans"/>
                <a:cs typeface="DM Sans"/>
                <a:sym typeface="DM Sans"/>
              </a:rPr>
              <a:t> reduc</a:t>
            </a:r>
            <a:r>
              <a:rPr lang="en-US" sz="3517">
                <a:solidFill>
                  <a:srgbClr val="343434"/>
                </a:solidFill>
                <a:latin typeface="DM Sans"/>
                <a:ea typeface="DM Sans"/>
                <a:cs typeface="DM Sans"/>
                <a:sym typeface="DM Sans"/>
              </a:rPr>
              <a:t>e</a:t>
            </a:r>
            <a:r>
              <a:rPr lang="en-US" sz="3517">
                <a:solidFill>
                  <a:srgbClr val="343434"/>
                </a:solidFill>
                <a:latin typeface="DM Sans"/>
                <a:ea typeface="DM Sans"/>
                <a:cs typeface="DM Sans"/>
                <a:sym typeface="DM Sans"/>
              </a:rPr>
              <a:t> human-</a:t>
            </a:r>
            <a:r>
              <a:rPr lang="en-US" sz="3517">
                <a:solidFill>
                  <a:srgbClr val="343434"/>
                </a:solidFill>
                <a:latin typeface="DM Sans"/>
                <a:ea typeface="DM Sans"/>
                <a:cs typeface="DM Sans"/>
                <a:sym typeface="DM Sans"/>
              </a:rPr>
              <a:t>rel</a:t>
            </a:r>
            <a:r>
              <a:rPr lang="en-US" sz="3517">
                <a:solidFill>
                  <a:srgbClr val="343434"/>
                </a:solidFill>
                <a:latin typeface="DM Sans"/>
                <a:ea typeface="DM Sans"/>
                <a:cs typeface="DM Sans"/>
                <a:sym typeface="DM Sans"/>
              </a:rPr>
              <a:t>ated risks by:</a:t>
            </a:r>
          </a:p>
          <a:p>
            <a:pPr algn="l" marL="759444" indent="-379722" lvl="1">
              <a:lnSpc>
                <a:spcPts val="4924"/>
              </a:lnSpc>
              <a:buFont typeface="Arial"/>
              <a:buChar char="•"/>
            </a:pPr>
            <a:r>
              <a:rPr lang="en-US" sz="3517">
                <a:solidFill>
                  <a:srgbClr val="343434"/>
                </a:solidFill>
                <a:latin typeface="DM Sans"/>
                <a:ea typeface="DM Sans"/>
                <a:cs typeface="DM Sans"/>
                <a:sym typeface="DM Sans"/>
              </a:rPr>
              <a:t>Pr</a:t>
            </a:r>
            <a:r>
              <a:rPr lang="en-US" sz="3517">
                <a:solidFill>
                  <a:srgbClr val="343434"/>
                </a:solidFill>
                <a:latin typeface="DM Sans"/>
                <a:ea typeface="DM Sans"/>
                <a:cs typeface="DM Sans"/>
                <a:sym typeface="DM Sans"/>
              </a:rPr>
              <a:t>oviding regular</a:t>
            </a:r>
            <a:r>
              <a:rPr lang="en-US" sz="3517">
                <a:solidFill>
                  <a:srgbClr val="343434"/>
                </a:solidFill>
                <a:latin typeface="DM Sans"/>
                <a:ea typeface="DM Sans"/>
                <a:cs typeface="DM Sans"/>
                <a:sym typeface="DM Sans"/>
              </a:rPr>
              <a:t> </a:t>
            </a:r>
            <a:r>
              <a:rPr lang="en-US" sz="3517">
                <a:solidFill>
                  <a:srgbClr val="343434"/>
                </a:solidFill>
                <a:latin typeface="DM Sans"/>
                <a:ea typeface="DM Sans"/>
                <a:cs typeface="DM Sans"/>
                <a:sym typeface="DM Sans"/>
              </a:rPr>
              <a:t>security awareness training</a:t>
            </a:r>
          </a:p>
          <a:p>
            <a:pPr algn="l" marL="759444" indent="-379722" lvl="1">
              <a:lnSpc>
                <a:spcPts val="4924"/>
              </a:lnSpc>
              <a:buFont typeface="Arial"/>
              <a:buChar char="•"/>
            </a:pPr>
            <a:r>
              <a:rPr lang="en-US" sz="3517">
                <a:solidFill>
                  <a:srgbClr val="343434"/>
                </a:solidFill>
                <a:latin typeface="DM Sans"/>
                <a:ea typeface="DM Sans"/>
                <a:cs typeface="DM Sans"/>
                <a:sym typeface="DM Sans"/>
              </a:rPr>
              <a:t>Enforcing s</a:t>
            </a:r>
            <a:r>
              <a:rPr lang="en-US" sz="3517">
                <a:solidFill>
                  <a:srgbClr val="343434"/>
                </a:solidFill>
                <a:latin typeface="DM Sans"/>
                <a:ea typeface="DM Sans"/>
                <a:cs typeface="DM Sans"/>
                <a:sym typeface="DM Sans"/>
              </a:rPr>
              <a:t>t</a:t>
            </a:r>
            <a:r>
              <a:rPr lang="en-US" sz="3517">
                <a:solidFill>
                  <a:srgbClr val="343434"/>
                </a:solidFill>
                <a:latin typeface="DM Sans"/>
                <a:ea typeface="DM Sans"/>
                <a:cs typeface="DM Sans"/>
                <a:sym typeface="DM Sans"/>
              </a:rPr>
              <a:t>rong password policies</a:t>
            </a:r>
          </a:p>
          <a:p>
            <a:pPr algn="l" marL="759444" indent="-379722" lvl="1">
              <a:lnSpc>
                <a:spcPts val="4924"/>
              </a:lnSpc>
              <a:buFont typeface="Arial"/>
              <a:buChar char="•"/>
            </a:pPr>
            <a:r>
              <a:rPr lang="en-US" sz="3517">
                <a:solidFill>
                  <a:srgbClr val="343434"/>
                </a:solidFill>
                <a:latin typeface="DM Sans"/>
                <a:ea typeface="DM Sans"/>
                <a:cs typeface="DM Sans"/>
                <a:sym typeface="DM Sans"/>
              </a:rPr>
              <a:t>Using multi-factor authentication (MFA)</a:t>
            </a:r>
          </a:p>
          <a:p>
            <a:pPr algn="l" marL="759444" indent="-379722" lvl="1">
              <a:lnSpc>
                <a:spcPts val="4924"/>
              </a:lnSpc>
              <a:buFont typeface="Arial"/>
              <a:buChar char="•"/>
            </a:pPr>
            <a:r>
              <a:rPr lang="en-US" sz="3517">
                <a:solidFill>
                  <a:srgbClr val="343434"/>
                </a:solidFill>
                <a:latin typeface="DM Sans"/>
                <a:ea typeface="DM Sans"/>
                <a:cs typeface="DM Sans"/>
                <a:sym typeface="DM Sans"/>
              </a:rPr>
              <a:t>T</a:t>
            </a:r>
            <a:r>
              <a:rPr lang="en-US" sz="3517">
                <a:solidFill>
                  <a:srgbClr val="343434"/>
                </a:solidFill>
                <a:latin typeface="DM Sans"/>
                <a:ea typeface="DM Sans"/>
                <a:cs typeface="DM Sans"/>
                <a:sym typeface="DM Sans"/>
              </a:rPr>
              <a:t>eaching employees h</a:t>
            </a:r>
            <a:r>
              <a:rPr lang="en-US" sz="3517">
                <a:solidFill>
                  <a:srgbClr val="343434"/>
                </a:solidFill>
                <a:latin typeface="DM Sans"/>
                <a:ea typeface="DM Sans"/>
                <a:cs typeface="DM Sans"/>
                <a:sym typeface="DM Sans"/>
              </a:rPr>
              <a:t>ow</a:t>
            </a:r>
            <a:r>
              <a:rPr lang="en-US" sz="3517">
                <a:solidFill>
                  <a:srgbClr val="343434"/>
                </a:solidFill>
                <a:latin typeface="DM Sans"/>
                <a:ea typeface="DM Sans"/>
                <a:cs typeface="DM Sans"/>
                <a:sym typeface="DM Sans"/>
              </a:rPr>
              <a:t> to identify phishing</a:t>
            </a:r>
          </a:p>
          <a:p>
            <a:pPr algn="l" marL="759444" indent="-379722" lvl="1">
              <a:lnSpc>
                <a:spcPts val="4924"/>
              </a:lnSpc>
              <a:buFont typeface="Arial"/>
              <a:buChar char="•"/>
            </a:pPr>
            <a:r>
              <a:rPr lang="en-US" sz="3517">
                <a:solidFill>
                  <a:srgbClr val="343434"/>
                </a:solidFill>
                <a:latin typeface="DM Sans"/>
                <a:ea typeface="DM Sans"/>
                <a:cs typeface="DM Sans"/>
                <a:sym typeface="DM Sans"/>
              </a:rPr>
              <a:t>Limiting access to sensitive information</a:t>
            </a:r>
          </a:p>
          <a:p>
            <a:pPr algn="l" marL="759444" indent="-379722" lvl="1">
              <a:lnSpc>
                <a:spcPts val="4924"/>
              </a:lnSpc>
              <a:buFont typeface="Arial"/>
              <a:buChar char="•"/>
            </a:pPr>
            <a:r>
              <a:rPr lang="en-US" sz="3517">
                <a:solidFill>
                  <a:srgbClr val="343434"/>
                </a:solidFill>
                <a:latin typeface="DM Sans"/>
                <a:ea typeface="DM Sans"/>
                <a:cs typeface="DM Sans"/>
                <a:sym typeface="DM Sans"/>
              </a:rPr>
              <a:t>C</a:t>
            </a:r>
            <a:r>
              <a:rPr lang="en-US" sz="3517">
                <a:solidFill>
                  <a:srgbClr val="343434"/>
                </a:solidFill>
                <a:latin typeface="DM Sans"/>
                <a:ea typeface="DM Sans"/>
                <a:cs typeface="DM Sans"/>
                <a:sym typeface="DM Sans"/>
              </a:rPr>
              <a:t>reating clear security policies</a:t>
            </a:r>
          </a:p>
          <a:p>
            <a:pPr algn="l" marL="759444" indent="-379722" lvl="1">
              <a:lnSpc>
                <a:spcPts val="4924"/>
              </a:lnSpc>
              <a:buFont typeface="Arial"/>
              <a:buChar char="•"/>
            </a:pPr>
            <a:r>
              <a:rPr lang="en-US" sz="3517">
                <a:solidFill>
                  <a:srgbClr val="343434"/>
                </a:solidFill>
                <a:latin typeface="DM Sans"/>
                <a:ea typeface="DM Sans"/>
                <a:cs typeface="DM Sans"/>
                <a:sym typeface="DM Sans"/>
              </a:rPr>
              <a:t>Encouraging employees to report suspicious activities</a:t>
            </a:r>
          </a:p>
          <a:p>
            <a:pPr algn="l">
              <a:lnSpc>
                <a:spcPts val="4924"/>
              </a:lnSpc>
            </a:pPr>
            <a:r>
              <a:rPr lang="en-US" sz="3517">
                <a:solidFill>
                  <a:srgbClr val="343434"/>
                </a:solidFill>
                <a:latin typeface="DM Sans"/>
                <a:ea typeface="DM Sans"/>
                <a:cs typeface="DM Sans"/>
                <a:sym typeface="DM Sans"/>
              </a:rPr>
              <a:t>Goal: Make secure behavior part of everyone's daily routine.</a:t>
            </a:r>
          </a:p>
          <a:p>
            <a:pPr algn="just">
              <a:lnSpc>
                <a:spcPts val="4924"/>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332635" y="-43331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43713" y="2000291"/>
            <a:ext cx="12235756" cy="895350"/>
          </a:xfrm>
          <a:prstGeom prst="rect">
            <a:avLst/>
          </a:prstGeom>
        </p:spPr>
        <p:txBody>
          <a:bodyPr anchor="t" rtlCol="false" tIns="0" lIns="0" bIns="0" rIns="0">
            <a:spAutoFit/>
          </a:bodyPr>
          <a:lstStyle/>
          <a:p>
            <a:pPr algn="l">
              <a:lnSpc>
                <a:spcPts val="6299"/>
              </a:lnSpc>
            </a:pPr>
            <a:r>
              <a:rPr lang="en-US" sz="4500" b="true">
                <a:solidFill>
                  <a:srgbClr val="343434"/>
                </a:solidFill>
                <a:latin typeface="Cooper Hewitt Bold"/>
                <a:ea typeface="Cooper Hewitt Bold"/>
                <a:cs typeface="Cooper Hewitt Bold"/>
                <a:sym typeface="Cooper Hewitt Bold"/>
              </a:rPr>
              <a:t>HUMAN FACTORY IN SECURITY</a:t>
            </a:r>
          </a:p>
        </p:txBody>
      </p:sp>
      <p:sp>
        <p:nvSpPr>
          <p:cNvPr name="TextBox 6" id="6"/>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7" id="7"/>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8" id="8"/>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9" id="9"/>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10" id="10"/>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MAGDAYO</a:t>
            </a:r>
          </a:p>
        </p:txBody>
      </p:sp>
      <p:sp>
        <p:nvSpPr>
          <p:cNvPr name="TextBox 12" id="12"/>
          <p:cNvSpPr txBox="true"/>
          <p:nvPr/>
        </p:nvSpPr>
        <p:spPr>
          <a:xfrm rot="0">
            <a:off x="902456" y="3390941"/>
            <a:ext cx="16787888" cy="5558979"/>
          </a:xfrm>
          <a:prstGeom prst="rect">
            <a:avLst/>
          </a:prstGeom>
        </p:spPr>
        <p:txBody>
          <a:bodyPr anchor="t" rtlCol="false" tIns="0" lIns="0" bIns="0" rIns="0">
            <a:spAutoFit/>
          </a:bodyPr>
          <a:lstStyle/>
          <a:p>
            <a:pPr algn="l">
              <a:lnSpc>
                <a:spcPts val="4924"/>
              </a:lnSpc>
            </a:pPr>
            <a:r>
              <a:rPr lang="en-US" sz="3517">
                <a:solidFill>
                  <a:srgbClr val="343434"/>
                </a:solidFill>
                <a:latin typeface="DM Sans"/>
                <a:ea typeface="DM Sans"/>
                <a:cs typeface="DM Sans"/>
                <a:sym typeface="DM Sans"/>
              </a:rPr>
              <a:t>Summary:</a:t>
            </a:r>
          </a:p>
          <a:p>
            <a:pPr algn="l" marL="759444" indent="-379722" lvl="1">
              <a:lnSpc>
                <a:spcPts val="4924"/>
              </a:lnSpc>
              <a:buFont typeface="Arial"/>
              <a:buChar char="•"/>
            </a:pPr>
            <a:r>
              <a:rPr lang="en-US" sz="3517">
                <a:solidFill>
                  <a:srgbClr val="343434"/>
                </a:solidFill>
                <a:latin typeface="DM Sans"/>
                <a:ea typeface="DM Sans"/>
                <a:cs typeface="DM Sans"/>
                <a:sym typeface="DM Sans"/>
              </a:rPr>
              <a:t>Huma</a:t>
            </a:r>
            <a:r>
              <a:rPr lang="en-US" sz="3517">
                <a:solidFill>
                  <a:srgbClr val="343434"/>
                </a:solidFill>
                <a:latin typeface="DM Sans"/>
                <a:ea typeface="DM Sans"/>
                <a:cs typeface="DM Sans"/>
                <a:sym typeface="DM Sans"/>
              </a:rPr>
              <a:t>n behavior</a:t>
            </a:r>
            <a:r>
              <a:rPr lang="en-US" sz="3517">
                <a:solidFill>
                  <a:srgbClr val="343434"/>
                </a:solidFill>
                <a:latin typeface="DM Sans"/>
                <a:ea typeface="DM Sans"/>
                <a:cs typeface="DM Sans"/>
                <a:sym typeface="DM Sans"/>
              </a:rPr>
              <a:t> pla</a:t>
            </a:r>
            <a:r>
              <a:rPr lang="en-US" sz="3517">
                <a:solidFill>
                  <a:srgbClr val="343434"/>
                </a:solidFill>
                <a:latin typeface="DM Sans"/>
                <a:ea typeface="DM Sans"/>
                <a:cs typeface="DM Sans"/>
                <a:sym typeface="DM Sans"/>
              </a:rPr>
              <a:t>ys a major role in information securi</a:t>
            </a:r>
            <a:r>
              <a:rPr lang="en-US" sz="3517">
                <a:solidFill>
                  <a:srgbClr val="343434"/>
                </a:solidFill>
                <a:latin typeface="DM Sans"/>
                <a:ea typeface="DM Sans"/>
                <a:cs typeface="DM Sans"/>
                <a:sym typeface="DM Sans"/>
              </a:rPr>
              <a:t>ty.</a:t>
            </a:r>
          </a:p>
          <a:p>
            <a:pPr algn="l" marL="759444" indent="-379722" lvl="1">
              <a:lnSpc>
                <a:spcPts val="4924"/>
              </a:lnSpc>
              <a:buFont typeface="Arial"/>
              <a:buChar char="•"/>
            </a:pPr>
            <a:r>
              <a:rPr lang="en-US" sz="3517">
                <a:solidFill>
                  <a:srgbClr val="343434"/>
                </a:solidFill>
                <a:latin typeface="DM Sans"/>
                <a:ea typeface="DM Sans"/>
                <a:cs typeface="DM Sans"/>
                <a:sym typeface="DM Sans"/>
              </a:rPr>
              <a:t>Mist</a:t>
            </a:r>
            <a:r>
              <a:rPr lang="en-US" sz="3517">
                <a:solidFill>
                  <a:srgbClr val="343434"/>
                </a:solidFill>
                <a:latin typeface="DM Sans"/>
                <a:ea typeface="DM Sans"/>
                <a:cs typeface="DM Sans"/>
                <a:sym typeface="DM Sans"/>
              </a:rPr>
              <a:t>akes, negligence, and lack of awareness can lead t</a:t>
            </a:r>
            <a:r>
              <a:rPr lang="en-US" sz="3517">
                <a:solidFill>
                  <a:srgbClr val="343434"/>
                </a:solidFill>
                <a:latin typeface="DM Sans"/>
                <a:ea typeface="DM Sans"/>
                <a:cs typeface="DM Sans"/>
                <a:sym typeface="DM Sans"/>
              </a:rPr>
              <a:t>o</a:t>
            </a:r>
            <a:r>
              <a:rPr lang="en-US" sz="3517">
                <a:solidFill>
                  <a:srgbClr val="343434"/>
                </a:solidFill>
                <a:latin typeface="DM Sans"/>
                <a:ea typeface="DM Sans"/>
                <a:cs typeface="DM Sans"/>
                <a:sym typeface="DM Sans"/>
              </a:rPr>
              <a:t> security incidents.</a:t>
            </a:r>
          </a:p>
          <a:p>
            <a:pPr algn="l" marL="759444" indent="-379722" lvl="1">
              <a:lnSpc>
                <a:spcPts val="4924"/>
              </a:lnSpc>
              <a:buFont typeface="Arial"/>
              <a:buChar char="•"/>
            </a:pPr>
            <a:r>
              <a:rPr lang="en-US" sz="3517">
                <a:solidFill>
                  <a:srgbClr val="343434"/>
                </a:solidFill>
                <a:latin typeface="DM Sans"/>
                <a:ea typeface="DM Sans"/>
                <a:cs typeface="DM Sans"/>
                <a:sym typeface="DM Sans"/>
              </a:rPr>
              <a:t>Social engineering attacks specifically target human behavior.</a:t>
            </a:r>
          </a:p>
          <a:p>
            <a:pPr algn="l" marL="759444" indent="-379722" lvl="1">
              <a:lnSpc>
                <a:spcPts val="4924"/>
              </a:lnSpc>
              <a:buFont typeface="Arial"/>
              <a:buChar char="•"/>
            </a:pPr>
            <a:r>
              <a:rPr lang="en-US" sz="3517">
                <a:solidFill>
                  <a:srgbClr val="343434"/>
                </a:solidFill>
                <a:latin typeface="DM Sans"/>
                <a:ea typeface="DM Sans"/>
                <a:cs typeface="DM Sans"/>
                <a:sym typeface="DM Sans"/>
              </a:rPr>
              <a:t>P</a:t>
            </a:r>
            <a:r>
              <a:rPr lang="en-US" sz="3517">
                <a:solidFill>
                  <a:srgbClr val="343434"/>
                </a:solidFill>
                <a:latin typeface="DM Sans"/>
                <a:ea typeface="DM Sans"/>
                <a:cs typeface="DM Sans"/>
                <a:sym typeface="DM Sans"/>
              </a:rPr>
              <a:t>roper training and security policies can significantly reduce risks.</a:t>
            </a:r>
          </a:p>
          <a:p>
            <a:pPr algn="l" marL="759444" indent="-379722" lvl="1">
              <a:lnSpc>
                <a:spcPts val="4924"/>
              </a:lnSpc>
              <a:buFont typeface="Arial"/>
              <a:buChar char="•"/>
            </a:pPr>
            <a:r>
              <a:rPr lang="en-US" sz="3517">
                <a:solidFill>
                  <a:srgbClr val="343434"/>
                </a:solidFill>
                <a:latin typeface="DM Sans"/>
                <a:ea typeface="DM Sans"/>
                <a:cs typeface="DM Sans"/>
                <a:sym typeface="DM Sans"/>
              </a:rPr>
              <a:t>Every user has a role in protecting an organization's information.</a:t>
            </a:r>
          </a:p>
          <a:p>
            <a:pPr algn="l" marL="759444" indent="-379722" lvl="1">
              <a:lnSpc>
                <a:spcPts val="4924"/>
              </a:lnSpc>
              <a:buFont typeface="Arial"/>
              <a:buChar char="•"/>
            </a:pPr>
            <a:r>
              <a:rPr lang="en-US" sz="3517">
                <a:solidFill>
                  <a:srgbClr val="343434"/>
                </a:solidFill>
                <a:latin typeface="DM Sans"/>
                <a:ea typeface="DM Sans"/>
                <a:cs typeface="DM Sans"/>
                <a:sym typeface="DM Sans"/>
              </a:rPr>
              <a:t>“Cybersecurity is not only about protecting systems—it is also about educating the people who use them.”</a:t>
            </a:r>
          </a:p>
          <a:p>
            <a:pPr algn="just">
              <a:lnSpc>
                <a:spcPts val="4924"/>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57304" y="3596640"/>
            <a:ext cx="15483360" cy="2890521"/>
          </a:xfrm>
          <a:prstGeom prst="rect">
            <a:avLst/>
          </a:prstGeom>
        </p:spPr>
        <p:txBody>
          <a:bodyPr anchor="t" rtlCol="false" tIns="0" lIns="0" bIns="0" rIns="0">
            <a:spAutoFit/>
          </a:bodyPr>
          <a:lstStyle/>
          <a:p>
            <a:pPr algn="ctr">
              <a:lnSpc>
                <a:spcPts val="10779"/>
              </a:lnSpc>
            </a:pPr>
            <a:r>
              <a:rPr lang="en-US" b="true" sz="7699">
                <a:solidFill>
                  <a:srgbClr val="343434"/>
                </a:solidFill>
                <a:latin typeface="Cooper Hewitt Bold"/>
                <a:ea typeface="Cooper Hewitt Bold"/>
                <a:cs typeface="Cooper Hewitt Bold"/>
                <a:sym typeface="Cooper Hewitt Bold"/>
              </a:rPr>
              <a:t>DEVELOPING AND IMPLEMENTING A SECURITY TRAINING PLAN</a:t>
            </a:r>
          </a:p>
        </p:txBody>
      </p:sp>
      <p:sp>
        <p:nvSpPr>
          <p:cNvPr name="TextBox 5" id="5"/>
          <p:cNvSpPr txBox="true"/>
          <p:nvPr/>
        </p:nvSpPr>
        <p:spPr>
          <a:xfrm rot="0">
            <a:off x="1806339" y="1111346"/>
            <a:ext cx="10712917"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 SECURITY EDUCATION, TRAINING, AND AWARENESS</a:t>
            </a:r>
          </a:p>
        </p:txBody>
      </p:sp>
      <p:sp>
        <p:nvSpPr>
          <p:cNvPr name="TextBox 6" id="6"/>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50510" y="2283538"/>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WHY IT MATTERS?</a:t>
            </a:r>
          </a:p>
        </p:txBody>
      </p:sp>
      <p:sp>
        <p:nvSpPr>
          <p:cNvPr name="TextBox 4" id="4"/>
          <p:cNvSpPr txBox="true"/>
          <p:nvPr/>
        </p:nvSpPr>
        <p:spPr>
          <a:xfrm rot="0">
            <a:off x="1150510" y="4132063"/>
            <a:ext cx="15151565" cy="5429860"/>
          </a:xfrm>
          <a:prstGeom prst="rect">
            <a:avLst/>
          </a:prstGeom>
        </p:spPr>
        <p:txBody>
          <a:bodyPr anchor="t" rtlCol="false" tIns="0" lIns="0" bIns="0" rIns="0">
            <a:spAutoFit/>
          </a:bodyPr>
          <a:lstStyle/>
          <a:p>
            <a:pPr algn="just">
              <a:lnSpc>
                <a:spcPts val="4516"/>
              </a:lnSpc>
            </a:pPr>
            <a:r>
              <a:rPr lang="en-US" sz="3225" b="true">
                <a:solidFill>
                  <a:srgbClr val="343434"/>
                </a:solidFill>
                <a:latin typeface="DM Sans Bold"/>
                <a:ea typeface="DM Sans Bold"/>
                <a:cs typeface="DM Sans Bold"/>
                <a:sym typeface="DM Sans Bold"/>
              </a:rPr>
              <a:t>People Are the Front Line of Cybersecurity</a:t>
            </a:r>
          </a:p>
          <a:p>
            <a:pPr algn="just">
              <a:lnSpc>
                <a:spcPts val="4516"/>
              </a:lnSpc>
            </a:pPr>
            <a:r>
              <a:rPr lang="en-US" sz="3225">
                <a:solidFill>
                  <a:srgbClr val="343434"/>
                </a:solidFill>
                <a:latin typeface="DM Sans"/>
                <a:ea typeface="DM Sans"/>
                <a:cs typeface="DM Sans"/>
                <a:sym typeface="DM Sans"/>
              </a:rPr>
              <a:t>Technology alone cannot stop attacks that exploit human behavior. A structured training plan closes that gap.</a:t>
            </a:r>
          </a:p>
          <a:p>
            <a:pPr algn="just" marL="696486" indent="-348243" lvl="1">
              <a:lnSpc>
                <a:spcPts val="4516"/>
              </a:lnSpc>
              <a:buFont typeface="Arial"/>
              <a:buChar char="•"/>
            </a:pPr>
            <a:r>
              <a:rPr lang="en-US" sz="3225">
                <a:solidFill>
                  <a:srgbClr val="343434"/>
                </a:solidFill>
                <a:latin typeface="DM Sans"/>
                <a:ea typeface="DM Sans"/>
                <a:cs typeface="DM Sans"/>
                <a:sym typeface="DM Sans"/>
              </a:rPr>
              <a:t>62% —</a:t>
            </a:r>
            <a:r>
              <a:rPr lang="en-US" sz="3225">
                <a:solidFill>
                  <a:srgbClr val="343434"/>
                </a:solidFill>
                <a:latin typeface="DM Sans"/>
                <a:ea typeface="DM Sans"/>
                <a:cs typeface="DM Sans"/>
                <a:sym typeface="DM Sans"/>
              </a:rPr>
              <a:t> of data breach</a:t>
            </a:r>
            <a:r>
              <a:rPr lang="en-US" sz="3225">
                <a:solidFill>
                  <a:srgbClr val="343434"/>
                </a:solidFill>
                <a:latin typeface="DM Sans"/>
                <a:ea typeface="DM Sans"/>
                <a:cs typeface="DM Sans"/>
                <a:sym typeface="DM Sans"/>
              </a:rPr>
              <a:t>es involve a human element</a:t>
            </a:r>
          </a:p>
          <a:p>
            <a:pPr algn="just" marL="696486" indent="-348243" lvl="1">
              <a:lnSpc>
                <a:spcPts val="4516"/>
              </a:lnSpc>
              <a:buFont typeface="Arial"/>
              <a:buChar char="•"/>
            </a:pPr>
            <a:r>
              <a:rPr lang="en-US" sz="3225">
                <a:solidFill>
                  <a:srgbClr val="343434"/>
                </a:solidFill>
                <a:latin typeface="DM Sans"/>
                <a:ea typeface="DM Sans"/>
                <a:cs typeface="DM Sans"/>
                <a:sym typeface="DM Sans"/>
              </a:rPr>
              <a:t>53%</a:t>
            </a:r>
            <a:r>
              <a:rPr lang="en-US" sz="3225">
                <a:solidFill>
                  <a:srgbClr val="343434"/>
                </a:solidFill>
                <a:latin typeface="DM Sans"/>
                <a:ea typeface="DM Sans"/>
                <a:cs typeface="DM Sans"/>
                <a:sym typeface="DM Sans"/>
              </a:rPr>
              <a:t> — of employees fail to detect a phishing email</a:t>
            </a:r>
          </a:p>
          <a:p>
            <a:pPr algn="just" marL="696486" indent="-348243" lvl="1">
              <a:lnSpc>
                <a:spcPts val="4516"/>
              </a:lnSpc>
              <a:buFont typeface="Arial"/>
              <a:buChar char="•"/>
            </a:pPr>
            <a:r>
              <a:rPr lang="en-US" sz="3225">
                <a:solidFill>
                  <a:srgbClr val="343434"/>
                </a:solidFill>
                <a:latin typeface="DM Sans"/>
                <a:ea typeface="DM Sans"/>
                <a:cs typeface="DM Sans"/>
                <a:sym typeface="DM Sans"/>
              </a:rPr>
              <a:t>20% — of phished users</a:t>
            </a:r>
            <a:r>
              <a:rPr lang="en-US" sz="3225">
                <a:solidFill>
                  <a:srgbClr val="343434"/>
                </a:solidFill>
                <a:latin typeface="DM Sans"/>
                <a:ea typeface="DM Sans"/>
                <a:cs typeface="DM Sans"/>
                <a:sym typeface="DM Sans"/>
              </a:rPr>
              <a:t> self-report after simulation training</a:t>
            </a:r>
          </a:p>
          <a:p>
            <a:pPr algn="just">
              <a:lnSpc>
                <a:spcPts val="4516"/>
              </a:lnSpc>
            </a:pPr>
          </a:p>
          <a:p>
            <a:pPr algn="just">
              <a:lnSpc>
                <a:spcPts val="3816"/>
              </a:lnSpc>
            </a:pPr>
            <a:r>
              <a:rPr lang="en-US" sz="2725" b="true">
                <a:solidFill>
                  <a:srgbClr val="343434"/>
                </a:solidFill>
                <a:latin typeface="DM Sans Bold"/>
                <a:ea typeface="DM Sans Bold"/>
                <a:cs typeface="DM Sans Bold"/>
                <a:sym typeface="DM Sans Bold"/>
              </a:rPr>
              <a:t>Sources:</a:t>
            </a:r>
            <a:r>
              <a:rPr lang="en-US" sz="2725">
                <a:solidFill>
                  <a:srgbClr val="343434"/>
                </a:solidFill>
                <a:latin typeface="DM Sans"/>
                <a:ea typeface="DM Sans"/>
                <a:cs typeface="DM Sans"/>
                <a:sym typeface="DM Sans"/>
              </a:rPr>
              <a:t> </a:t>
            </a:r>
            <a:r>
              <a:rPr lang="en-US" sz="2725" i="true">
                <a:solidFill>
                  <a:srgbClr val="343434"/>
                </a:solidFill>
                <a:latin typeface="DM Sans Italics"/>
                <a:ea typeface="DM Sans Italics"/>
                <a:cs typeface="DM Sans Italics"/>
                <a:sym typeface="DM Sans Italics"/>
              </a:rPr>
              <a:t>Verizon 2026 Data Breach Investigations Report; Verizon 2024 DBIR; Cybernews/Dojo 2025 phishing detection study</a:t>
            </a:r>
          </a:p>
          <a:p>
            <a:pPr algn="just">
              <a:lnSpc>
                <a:spcPts val="3816"/>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445025"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051071"/>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DEFINITION</a:t>
            </a:r>
          </a:p>
        </p:txBody>
      </p:sp>
      <p:sp>
        <p:nvSpPr>
          <p:cNvPr name="TextBox 4" id="4"/>
          <p:cNvSpPr txBox="true"/>
          <p:nvPr/>
        </p:nvSpPr>
        <p:spPr>
          <a:xfrm rot="0">
            <a:off x="1357304" y="3519425"/>
            <a:ext cx="15483360" cy="5889352"/>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What Is a Security Training Plan?</a:t>
            </a:r>
          </a:p>
          <a:p>
            <a:pPr algn="just">
              <a:lnSpc>
                <a:spcPts val="4344"/>
              </a:lnSpc>
            </a:pPr>
            <a:r>
              <a:rPr lang="en-US" sz="3102">
                <a:solidFill>
                  <a:srgbClr val="343434"/>
                </a:solidFill>
                <a:latin typeface="DM Sans"/>
                <a:ea typeface="DM Sans"/>
                <a:cs typeface="DM Sans"/>
                <a:sym typeface="DM Sans"/>
              </a:rPr>
              <a:t> A security training plan is a formal, documented program that defines what employees need to know about protecting information assets — and how, when, and to</a:t>
            </a:r>
            <a:r>
              <a:rPr lang="en-US" sz="3102">
                <a:solidFill>
                  <a:srgbClr val="343434"/>
                </a:solidFill>
                <a:latin typeface="DM Sans"/>
                <a:ea typeface="DM Sans"/>
                <a:cs typeface="DM Sans"/>
                <a:sym typeface="DM Sans"/>
              </a:rPr>
              <a:t> whom that knowledg</a:t>
            </a:r>
            <a:r>
              <a:rPr lang="en-US" sz="3102">
                <a:solidFill>
                  <a:srgbClr val="343434"/>
                </a:solidFill>
                <a:latin typeface="DM Sans"/>
                <a:ea typeface="DM Sans"/>
                <a:cs typeface="DM Sans"/>
                <a:sym typeface="DM Sans"/>
              </a:rPr>
              <a:t>e is delivered. It turns security policy into everyday employee behavior.</a:t>
            </a:r>
          </a:p>
          <a:p>
            <a:pPr algn="just">
              <a:lnSpc>
                <a:spcPts val="4344"/>
              </a:lnSpc>
            </a:pP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Purposeful –</a:t>
            </a:r>
            <a:r>
              <a:rPr lang="en-US" sz="3102">
                <a:solidFill>
                  <a:srgbClr val="343434"/>
                </a:solidFill>
                <a:latin typeface="DM Sans"/>
                <a:ea typeface="DM Sans"/>
                <a:cs typeface="DM Sans"/>
                <a:sym typeface="DM Sans"/>
              </a:rPr>
              <a:t> Directly tied to identified risks and policies, not generic content</a:t>
            </a:r>
            <a:r>
              <a:rPr lang="en-US" b="true" sz="3102">
                <a:solidFill>
                  <a:srgbClr val="343434"/>
                </a:solidFill>
                <a:latin typeface="DM Sans Bold"/>
                <a:ea typeface="DM Sans Bold"/>
                <a:cs typeface="DM Sans Bold"/>
                <a:sym typeface="DM Sans Bold"/>
              </a:rPr>
              <a:t>.</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Structured –</a:t>
            </a:r>
            <a:r>
              <a:rPr lang="en-US" sz="3102">
                <a:solidFill>
                  <a:srgbClr val="343434"/>
                </a:solidFill>
                <a:latin typeface="DM Sans"/>
                <a:ea typeface="DM Sans"/>
                <a:cs typeface="DM Sans"/>
                <a:sym typeface="DM Sans"/>
              </a:rPr>
              <a:t> Follows a defined process</a:t>
            </a:r>
            <a:r>
              <a:rPr lang="en-US" sz="3102">
                <a:solidFill>
                  <a:srgbClr val="343434"/>
                </a:solidFill>
                <a:latin typeface="DM Sans"/>
                <a:ea typeface="DM Sans"/>
                <a:cs typeface="DM Sans"/>
                <a:sym typeface="DM Sans"/>
              </a:rPr>
              <a:t> — assessment through evaluation.</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R</a:t>
            </a:r>
            <a:r>
              <a:rPr lang="en-US" b="true" sz="3102">
                <a:solidFill>
                  <a:srgbClr val="343434"/>
                </a:solidFill>
                <a:latin typeface="DM Sans Bold"/>
                <a:ea typeface="DM Sans Bold"/>
                <a:cs typeface="DM Sans Bold"/>
                <a:sym typeface="DM Sans Bold"/>
              </a:rPr>
              <a:t>ole-bas</a:t>
            </a:r>
            <a:r>
              <a:rPr lang="en-US" b="true" sz="3102">
                <a:solidFill>
                  <a:srgbClr val="343434"/>
                </a:solidFill>
                <a:latin typeface="DM Sans Bold"/>
                <a:ea typeface="DM Sans Bold"/>
                <a:cs typeface="DM Sans Bold"/>
                <a:sym typeface="DM Sans Bold"/>
              </a:rPr>
              <a:t>e</a:t>
            </a:r>
            <a:r>
              <a:rPr lang="en-US" b="true" sz="3102">
                <a:solidFill>
                  <a:srgbClr val="343434"/>
                </a:solidFill>
                <a:latin typeface="DM Sans Bold"/>
                <a:ea typeface="DM Sans Bold"/>
                <a:cs typeface="DM Sans Bold"/>
                <a:sym typeface="DM Sans Bold"/>
              </a:rPr>
              <a:t>d – </a:t>
            </a:r>
            <a:r>
              <a:rPr lang="en-US" sz="3102">
                <a:solidFill>
                  <a:srgbClr val="343434"/>
                </a:solidFill>
                <a:latin typeface="DM Sans"/>
                <a:ea typeface="DM Sans"/>
                <a:cs typeface="DM Sans"/>
                <a:sym typeface="DM Sans"/>
              </a:rPr>
              <a:t>C</a:t>
            </a:r>
            <a:r>
              <a:rPr lang="en-US" sz="3102">
                <a:solidFill>
                  <a:srgbClr val="343434"/>
                </a:solidFill>
                <a:latin typeface="DM Sans"/>
                <a:ea typeface="DM Sans"/>
                <a:cs typeface="DM Sans"/>
                <a:sym typeface="DM Sans"/>
              </a:rPr>
              <a:t>on</a:t>
            </a:r>
            <a:r>
              <a:rPr lang="en-US" sz="3102">
                <a:solidFill>
                  <a:srgbClr val="343434"/>
                </a:solidFill>
                <a:latin typeface="DM Sans"/>
                <a:ea typeface="DM Sans"/>
                <a:cs typeface="DM Sans"/>
                <a:sym typeface="DM Sans"/>
              </a:rPr>
              <a:t>tent</a:t>
            </a:r>
            <a:r>
              <a:rPr lang="en-US" sz="3102">
                <a:solidFill>
                  <a:srgbClr val="343434"/>
                </a:solidFill>
                <a:latin typeface="DM Sans"/>
                <a:ea typeface="DM Sans"/>
                <a:cs typeface="DM Sans"/>
                <a:sym typeface="DM Sans"/>
              </a:rPr>
              <a:t> a</a:t>
            </a:r>
            <a:r>
              <a:rPr lang="en-US" sz="3102">
                <a:solidFill>
                  <a:srgbClr val="343434"/>
                </a:solidFill>
                <a:latin typeface="DM Sans"/>
                <a:ea typeface="DM Sans"/>
                <a:cs typeface="DM Sans"/>
                <a:sym typeface="DM Sans"/>
              </a:rPr>
              <a:t>nd</a:t>
            </a:r>
            <a:r>
              <a:rPr lang="en-US" sz="3102">
                <a:solidFill>
                  <a:srgbClr val="343434"/>
                </a:solidFill>
                <a:latin typeface="DM Sans"/>
                <a:ea typeface="DM Sans"/>
                <a:cs typeface="DM Sans"/>
                <a:sym typeface="DM Sans"/>
              </a:rPr>
              <a:t> </a:t>
            </a:r>
            <a:r>
              <a:rPr lang="en-US" sz="3102">
                <a:solidFill>
                  <a:srgbClr val="343434"/>
                </a:solidFill>
                <a:latin typeface="DM Sans"/>
                <a:ea typeface="DM Sans"/>
                <a:cs typeface="DM Sans"/>
                <a:sym typeface="DM Sans"/>
              </a:rPr>
              <a:t>d</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pt</a:t>
            </a:r>
            <a:r>
              <a:rPr lang="en-US" sz="3102">
                <a:solidFill>
                  <a:srgbClr val="343434"/>
                </a:solidFill>
                <a:latin typeface="DM Sans"/>
                <a:ea typeface="DM Sans"/>
                <a:cs typeface="DM Sans"/>
                <a:sym typeface="DM Sans"/>
              </a:rPr>
              <a:t>h va</a:t>
            </a:r>
            <a:r>
              <a:rPr lang="en-US" sz="3102">
                <a:solidFill>
                  <a:srgbClr val="343434"/>
                </a:solidFill>
                <a:latin typeface="DM Sans"/>
                <a:ea typeface="DM Sans"/>
                <a:cs typeface="DM Sans"/>
                <a:sym typeface="DM Sans"/>
              </a:rPr>
              <a:t>ry by job func</a:t>
            </a:r>
            <a:r>
              <a:rPr lang="en-US" sz="3102">
                <a:solidFill>
                  <a:srgbClr val="343434"/>
                </a:solidFill>
                <a:latin typeface="DM Sans"/>
                <a:ea typeface="DM Sans"/>
                <a:cs typeface="DM Sans"/>
                <a:sym typeface="DM Sans"/>
              </a:rPr>
              <a:t>tion</a:t>
            </a:r>
            <a:r>
              <a:rPr lang="en-US" sz="3102">
                <a:solidFill>
                  <a:srgbClr val="343434"/>
                </a:solidFill>
                <a:latin typeface="DM Sans"/>
                <a:ea typeface="DM Sans"/>
                <a:cs typeface="DM Sans"/>
                <a:sym typeface="DM Sans"/>
              </a:rPr>
              <a:t> and acces</a:t>
            </a:r>
            <a:r>
              <a:rPr lang="en-US" sz="3102">
                <a:solidFill>
                  <a:srgbClr val="343434"/>
                </a:solidFill>
                <a:latin typeface="DM Sans"/>
                <a:ea typeface="DM Sans"/>
                <a:cs typeface="DM Sans"/>
                <a:sym typeface="DM Sans"/>
              </a:rPr>
              <a:t>s </a:t>
            </a:r>
            <a:r>
              <a:rPr lang="en-US" sz="3102">
                <a:solidFill>
                  <a:srgbClr val="343434"/>
                </a:solidFill>
                <a:latin typeface="DM Sans"/>
                <a:ea typeface="DM Sans"/>
                <a:cs typeface="DM Sans"/>
                <a:sym typeface="DM Sans"/>
              </a:rPr>
              <a:t>level.</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Re</a:t>
            </a:r>
            <a:r>
              <a:rPr lang="en-US" b="true" sz="3102">
                <a:solidFill>
                  <a:srgbClr val="343434"/>
                </a:solidFill>
                <a:latin typeface="DM Sans Bold"/>
                <a:ea typeface="DM Sans Bold"/>
                <a:cs typeface="DM Sans Bold"/>
                <a:sym typeface="DM Sans Bold"/>
              </a:rPr>
              <a:t>cu</a:t>
            </a:r>
            <a:r>
              <a:rPr lang="en-US" b="true" sz="3102">
                <a:solidFill>
                  <a:srgbClr val="343434"/>
                </a:solidFill>
                <a:latin typeface="DM Sans Bold"/>
                <a:ea typeface="DM Sans Bold"/>
                <a:cs typeface="DM Sans Bold"/>
                <a:sym typeface="DM Sans Bold"/>
              </a:rPr>
              <a:t>rrin</a:t>
            </a:r>
            <a:r>
              <a:rPr lang="en-US" b="true" sz="3102">
                <a:solidFill>
                  <a:srgbClr val="343434"/>
                </a:solidFill>
                <a:latin typeface="DM Sans Bold"/>
                <a:ea typeface="DM Sans Bold"/>
                <a:cs typeface="DM Sans Bold"/>
                <a:sym typeface="DM Sans Bold"/>
              </a:rPr>
              <a:t>g</a:t>
            </a:r>
            <a:r>
              <a:rPr lang="en-US" b="true" sz="3102">
                <a:solidFill>
                  <a:srgbClr val="343434"/>
                </a:solidFill>
                <a:latin typeface="DM Sans Bold"/>
                <a:ea typeface="DM Sans Bold"/>
                <a:cs typeface="DM Sans Bold"/>
                <a:sym typeface="DM Sans Bold"/>
              </a:rPr>
              <a:t> </a:t>
            </a:r>
            <a:r>
              <a:rPr lang="en-US" b="true" sz="3102">
                <a:solidFill>
                  <a:srgbClr val="343434"/>
                </a:solidFill>
                <a:latin typeface="DM Sans Bold"/>
                <a:ea typeface="DM Sans Bold"/>
                <a:cs typeface="DM Sans Bold"/>
                <a:sym typeface="DM Sans Bold"/>
              </a:rPr>
              <a:t>–</a:t>
            </a:r>
            <a:r>
              <a:rPr lang="en-US" b="true" sz="3102">
                <a:solidFill>
                  <a:srgbClr val="343434"/>
                </a:solidFill>
                <a:latin typeface="DM Sans Bold"/>
                <a:ea typeface="DM Sans Bold"/>
                <a:cs typeface="DM Sans Bold"/>
                <a:sym typeface="DM Sans Bold"/>
              </a:rPr>
              <a:t> </a:t>
            </a:r>
            <a:r>
              <a:rPr lang="en-US" sz="3102">
                <a:solidFill>
                  <a:srgbClr val="343434"/>
                </a:solidFill>
                <a:latin typeface="DM Sans"/>
                <a:ea typeface="DM Sans"/>
                <a:cs typeface="DM Sans"/>
                <a:sym typeface="DM Sans"/>
              </a:rPr>
              <a:t>D</a:t>
            </a:r>
            <a:r>
              <a:rPr lang="en-US" sz="3102">
                <a:solidFill>
                  <a:srgbClr val="343434"/>
                </a:solidFill>
                <a:latin typeface="DM Sans"/>
                <a:ea typeface="DM Sans"/>
                <a:cs typeface="DM Sans"/>
                <a:sym typeface="DM Sans"/>
              </a:rPr>
              <a:t>eliv</a:t>
            </a:r>
            <a:r>
              <a:rPr lang="en-US" sz="3102">
                <a:solidFill>
                  <a:srgbClr val="343434"/>
                </a:solidFill>
                <a:latin typeface="DM Sans"/>
                <a:ea typeface="DM Sans"/>
                <a:cs typeface="DM Sans"/>
                <a:sym typeface="DM Sans"/>
              </a:rPr>
              <a:t>ere</a:t>
            </a:r>
            <a:r>
              <a:rPr lang="en-US" sz="3102">
                <a:solidFill>
                  <a:srgbClr val="343434"/>
                </a:solidFill>
                <a:latin typeface="DM Sans"/>
                <a:ea typeface="DM Sans"/>
                <a:cs typeface="DM Sans"/>
                <a:sym typeface="DM Sans"/>
              </a:rPr>
              <a:t>d </a:t>
            </a:r>
            <a:r>
              <a:rPr lang="en-US" sz="3102">
                <a:solidFill>
                  <a:srgbClr val="343434"/>
                </a:solidFill>
                <a:latin typeface="DM Sans"/>
                <a:ea typeface="DM Sans"/>
                <a:cs typeface="DM Sans"/>
                <a:sym typeface="DM Sans"/>
              </a:rPr>
              <a:t>o</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 </a:t>
            </a:r>
            <a:r>
              <a:rPr lang="en-US" sz="3102">
                <a:solidFill>
                  <a:srgbClr val="343434"/>
                </a:solidFill>
                <a:latin typeface="DM Sans"/>
                <a:ea typeface="DM Sans"/>
                <a:cs typeface="DM Sans"/>
                <a:sym typeface="DM Sans"/>
              </a:rPr>
              <a:t>a</a:t>
            </a:r>
            <a:r>
              <a:rPr lang="en-US" sz="3102">
                <a:solidFill>
                  <a:srgbClr val="343434"/>
                </a:solidFill>
                <a:latin typeface="DM Sans"/>
                <a:ea typeface="DM Sans"/>
                <a:cs typeface="DM Sans"/>
                <a:sym typeface="DM Sans"/>
              </a:rPr>
              <a:t> s</a:t>
            </a:r>
            <a:r>
              <a:rPr lang="en-US" sz="3102">
                <a:solidFill>
                  <a:srgbClr val="343434"/>
                </a:solidFill>
                <a:latin typeface="DM Sans"/>
                <a:ea typeface="DM Sans"/>
                <a:cs typeface="DM Sans"/>
                <a:sym typeface="DM Sans"/>
              </a:rPr>
              <a:t>c</a:t>
            </a:r>
            <a:r>
              <a:rPr lang="en-US" sz="3102">
                <a:solidFill>
                  <a:srgbClr val="343434"/>
                </a:solidFill>
                <a:latin typeface="DM Sans"/>
                <a:ea typeface="DM Sans"/>
                <a:cs typeface="DM Sans"/>
                <a:sym typeface="DM Sans"/>
              </a:rPr>
              <a:t>h</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d</a:t>
            </a:r>
            <a:r>
              <a:rPr lang="en-US" sz="3102">
                <a:solidFill>
                  <a:srgbClr val="343434"/>
                </a:solidFill>
                <a:latin typeface="DM Sans"/>
                <a:ea typeface="DM Sans"/>
                <a:cs typeface="DM Sans"/>
                <a:sym typeface="DM Sans"/>
              </a:rPr>
              <a:t>ul</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 no</a:t>
            </a:r>
            <a:r>
              <a:rPr lang="en-US" sz="3102">
                <a:solidFill>
                  <a:srgbClr val="343434"/>
                </a:solidFill>
                <a:latin typeface="DM Sans"/>
                <a:ea typeface="DM Sans"/>
                <a:cs typeface="DM Sans"/>
                <a:sym typeface="DM Sans"/>
              </a:rPr>
              <a:t>t</a:t>
            </a:r>
            <a:r>
              <a:rPr lang="en-US" sz="3102">
                <a:solidFill>
                  <a:srgbClr val="343434"/>
                </a:solidFill>
                <a:latin typeface="DM Sans"/>
                <a:ea typeface="DM Sans"/>
                <a:cs typeface="DM Sans"/>
                <a:sym typeface="DM Sans"/>
              </a:rPr>
              <a:t> a on</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a:t>
            </a:r>
            <a:r>
              <a:rPr lang="en-US" sz="3102">
                <a:solidFill>
                  <a:srgbClr val="343434"/>
                </a:solidFill>
                <a:latin typeface="DM Sans"/>
                <a:ea typeface="DM Sans"/>
                <a:cs typeface="DM Sans"/>
                <a:sym typeface="DM Sans"/>
              </a:rPr>
              <a:t>ti</a:t>
            </a:r>
            <a:r>
              <a:rPr lang="en-US" sz="3102">
                <a:solidFill>
                  <a:srgbClr val="343434"/>
                </a:solidFill>
                <a:latin typeface="DM Sans"/>
                <a:ea typeface="DM Sans"/>
                <a:cs typeface="DM Sans"/>
                <a:sym typeface="DM Sans"/>
              </a:rPr>
              <a:t>me eve</a:t>
            </a:r>
            <a:r>
              <a:rPr lang="en-US" sz="3102">
                <a:solidFill>
                  <a:srgbClr val="343434"/>
                </a:solidFill>
                <a:latin typeface="DM Sans"/>
                <a:ea typeface="DM Sans"/>
                <a:cs typeface="DM Sans"/>
                <a:sym typeface="DM Sans"/>
              </a:rPr>
              <a:t>nt</a:t>
            </a:r>
            <a:r>
              <a:rPr lang="en-US" sz="3102">
                <a:solidFill>
                  <a:srgbClr val="343434"/>
                </a:solidFill>
                <a:latin typeface="DM Sans"/>
                <a:ea typeface="DM Sans"/>
                <a:cs typeface="DM Sans"/>
                <a:sym typeface="DM Sans"/>
              </a:rPr>
              <a:t>.</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051071"/>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OBJECTIVES</a:t>
            </a:r>
          </a:p>
        </p:txBody>
      </p:sp>
      <p:sp>
        <p:nvSpPr>
          <p:cNvPr name="TextBox 4" id="4"/>
          <p:cNvSpPr txBox="true"/>
          <p:nvPr/>
        </p:nvSpPr>
        <p:spPr>
          <a:xfrm rot="0">
            <a:off x="1357304" y="3667288"/>
            <a:ext cx="15483360" cy="5889352"/>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Objectives of a Security Training Plan</a:t>
            </a:r>
          </a:p>
          <a:p>
            <a:pPr algn="just">
              <a:lnSpc>
                <a:spcPts val="4344"/>
              </a:lnSpc>
            </a:pP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Raise Awareness – </a:t>
            </a:r>
            <a:r>
              <a:rPr lang="en-US" sz="3102">
                <a:solidFill>
                  <a:srgbClr val="343434"/>
                </a:solidFill>
                <a:latin typeface="DM Sans"/>
                <a:ea typeface="DM Sans"/>
                <a:cs typeface="DM Sans"/>
                <a:sym typeface="DM Sans"/>
              </a:rPr>
              <a:t>Help staff recognize phishing, social engineering, and unsafe practices.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Reduce Human Risk –</a:t>
            </a:r>
            <a:r>
              <a:rPr lang="en-US" sz="3102">
                <a:solidFill>
                  <a:srgbClr val="343434"/>
                </a:solidFill>
                <a:latin typeface="DM Sans"/>
                <a:ea typeface="DM Sans"/>
                <a:cs typeface="DM Sans"/>
                <a:sym typeface="DM Sans"/>
              </a:rPr>
              <a:t> Lower t</a:t>
            </a:r>
            <a:r>
              <a:rPr lang="en-US" sz="3102">
                <a:solidFill>
                  <a:srgbClr val="343434"/>
                </a:solidFill>
                <a:latin typeface="DM Sans"/>
                <a:ea typeface="DM Sans"/>
                <a:cs typeface="DM Sans"/>
                <a:sym typeface="DM Sans"/>
              </a:rPr>
              <a:t>he l</a:t>
            </a:r>
            <a:r>
              <a:rPr lang="en-US" sz="3102">
                <a:solidFill>
                  <a:srgbClr val="343434"/>
                </a:solidFill>
                <a:latin typeface="DM Sans"/>
                <a:ea typeface="DM Sans"/>
                <a:cs typeface="DM Sans"/>
                <a:sym typeface="DM Sans"/>
              </a:rPr>
              <a:t>ikelihood of incidents caused by error or negligence.</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Ensure Compliance</a:t>
            </a:r>
            <a:r>
              <a:rPr lang="en-US" b="true" sz="3102">
                <a:solidFill>
                  <a:srgbClr val="343434"/>
                </a:solidFill>
                <a:latin typeface="DM Sans Bold"/>
                <a:ea typeface="DM Sans Bold"/>
                <a:cs typeface="DM Sans Bold"/>
                <a:sym typeface="DM Sans Bold"/>
              </a:rPr>
              <a:t> – </a:t>
            </a:r>
            <a:r>
              <a:rPr lang="en-US" sz="3102">
                <a:solidFill>
                  <a:srgbClr val="343434"/>
                </a:solidFill>
                <a:latin typeface="DM Sans"/>
                <a:ea typeface="DM Sans"/>
                <a:cs typeface="DM Sans"/>
                <a:sym typeface="DM Sans"/>
              </a:rPr>
              <a:t>Meet legal, regulatory, </a:t>
            </a:r>
            <a:r>
              <a:rPr lang="en-US" sz="3102">
                <a:solidFill>
                  <a:srgbClr val="343434"/>
                </a:solidFill>
                <a:latin typeface="DM Sans"/>
                <a:ea typeface="DM Sans"/>
                <a:cs typeface="DM Sans"/>
                <a:sym typeface="DM Sans"/>
              </a:rPr>
              <a:t>and </a:t>
            </a:r>
            <a:r>
              <a:rPr lang="en-US" sz="3102">
                <a:solidFill>
                  <a:srgbClr val="343434"/>
                </a:solidFill>
                <a:latin typeface="DM Sans"/>
                <a:ea typeface="DM Sans"/>
                <a:cs typeface="DM Sans"/>
                <a:sym typeface="DM Sans"/>
              </a:rPr>
              <a:t>organiza</a:t>
            </a:r>
            <a:r>
              <a:rPr lang="en-US" sz="3102">
                <a:solidFill>
                  <a:srgbClr val="343434"/>
                </a:solidFill>
                <a:latin typeface="DM Sans"/>
                <a:ea typeface="DM Sans"/>
                <a:cs typeface="DM Sans"/>
                <a:sym typeface="DM Sans"/>
              </a:rPr>
              <a:t>tion</a:t>
            </a:r>
            <a:r>
              <a:rPr lang="en-US" sz="3102">
                <a:solidFill>
                  <a:srgbClr val="343434"/>
                </a:solidFill>
                <a:latin typeface="DM Sans"/>
                <a:ea typeface="DM Sans"/>
                <a:cs typeface="DM Sans"/>
                <a:sym typeface="DM Sans"/>
              </a:rPr>
              <a:t>al </a:t>
            </a:r>
            <a:r>
              <a:rPr lang="en-US" sz="3102">
                <a:solidFill>
                  <a:srgbClr val="343434"/>
                </a:solidFill>
                <a:latin typeface="DM Sans"/>
                <a:ea typeface="DM Sans"/>
                <a:cs typeface="DM Sans"/>
                <a:sym typeface="DM Sans"/>
              </a:rPr>
              <a:t>policy requiremen</a:t>
            </a:r>
            <a:r>
              <a:rPr lang="en-US" sz="3102">
                <a:solidFill>
                  <a:srgbClr val="343434"/>
                </a:solidFill>
                <a:latin typeface="DM Sans"/>
                <a:ea typeface="DM Sans"/>
                <a:cs typeface="DM Sans"/>
                <a:sym typeface="DM Sans"/>
              </a:rPr>
              <a:t>ts.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Buil</a:t>
            </a:r>
            <a:r>
              <a:rPr lang="en-US" b="true" sz="3102">
                <a:solidFill>
                  <a:srgbClr val="343434"/>
                </a:solidFill>
                <a:latin typeface="DM Sans Bold"/>
                <a:ea typeface="DM Sans Bold"/>
                <a:cs typeface="DM Sans Bold"/>
                <a:sym typeface="DM Sans Bold"/>
              </a:rPr>
              <a:t>d a</a:t>
            </a:r>
            <a:r>
              <a:rPr lang="en-US" b="true" sz="3102">
                <a:solidFill>
                  <a:srgbClr val="343434"/>
                </a:solidFill>
                <a:latin typeface="DM Sans Bold"/>
                <a:ea typeface="DM Sans Bold"/>
                <a:cs typeface="DM Sans Bold"/>
                <a:sym typeface="DM Sans Bold"/>
              </a:rPr>
              <a:t> Se</a:t>
            </a:r>
            <a:r>
              <a:rPr lang="en-US" b="true" sz="3102">
                <a:solidFill>
                  <a:srgbClr val="343434"/>
                </a:solidFill>
                <a:latin typeface="DM Sans Bold"/>
                <a:ea typeface="DM Sans Bold"/>
                <a:cs typeface="DM Sans Bold"/>
                <a:sym typeface="DM Sans Bold"/>
              </a:rPr>
              <a:t>cu</a:t>
            </a:r>
            <a:r>
              <a:rPr lang="en-US" b="true" sz="3102">
                <a:solidFill>
                  <a:srgbClr val="343434"/>
                </a:solidFill>
                <a:latin typeface="DM Sans Bold"/>
                <a:ea typeface="DM Sans Bold"/>
                <a:cs typeface="DM Sans Bold"/>
                <a:sym typeface="DM Sans Bold"/>
              </a:rPr>
              <a:t>rity Culture </a:t>
            </a:r>
            <a:r>
              <a:rPr lang="en-US" b="true" sz="3102">
                <a:solidFill>
                  <a:srgbClr val="343434"/>
                </a:solidFill>
                <a:latin typeface="DM Sans Bold"/>
                <a:ea typeface="DM Sans Bold"/>
                <a:cs typeface="DM Sans Bold"/>
                <a:sym typeface="DM Sans Bold"/>
              </a:rPr>
              <a:t>–</a:t>
            </a:r>
            <a:r>
              <a:rPr lang="en-US" b="true" sz="3102">
                <a:solidFill>
                  <a:srgbClr val="343434"/>
                </a:solidFill>
                <a:latin typeface="DM Sans Bold"/>
                <a:ea typeface="DM Sans Bold"/>
                <a:cs typeface="DM Sans Bold"/>
                <a:sym typeface="DM Sans Bold"/>
              </a:rPr>
              <a:t> </a:t>
            </a:r>
            <a:r>
              <a:rPr lang="en-US" sz="3102">
                <a:solidFill>
                  <a:srgbClr val="343434"/>
                </a:solidFill>
                <a:latin typeface="DM Sans"/>
                <a:ea typeface="DM Sans"/>
                <a:cs typeface="DM Sans"/>
                <a:sym typeface="DM Sans"/>
              </a:rPr>
              <a:t>Mak</a:t>
            </a:r>
            <a:r>
              <a:rPr lang="en-US" sz="3102">
                <a:solidFill>
                  <a:srgbClr val="343434"/>
                </a:solidFill>
                <a:latin typeface="DM Sans"/>
                <a:ea typeface="DM Sans"/>
                <a:cs typeface="DM Sans"/>
                <a:sym typeface="DM Sans"/>
              </a:rPr>
              <a:t>e s</a:t>
            </a:r>
            <a:r>
              <a:rPr lang="en-US" sz="3102">
                <a:solidFill>
                  <a:srgbClr val="343434"/>
                </a:solidFill>
                <a:latin typeface="DM Sans"/>
                <a:ea typeface="DM Sans"/>
                <a:cs typeface="DM Sans"/>
                <a:sym typeface="DM Sans"/>
              </a:rPr>
              <a:t>ecure</a:t>
            </a:r>
            <a:r>
              <a:rPr lang="en-US" sz="3102">
                <a:solidFill>
                  <a:srgbClr val="343434"/>
                </a:solidFill>
                <a:latin typeface="DM Sans"/>
                <a:ea typeface="DM Sans"/>
                <a:cs typeface="DM Sans"/>
                <a:sym typeface="DM Sans"/>
              </a:rPr>
              <a:t> behavi</a:t>
            </a:r>
            <a:r>
              <a:rPr lang="en-US" sz="3102">
                <a:solidFill>
                  <a:srgbClr val="343434"/>
                </a:solidFill>
                <a:latin typeface="DM Sans"/>
                <a:ea typeface="DM Sans"/>
                <a:cs typeface="DM Sans"/>
                <a:sym typeface="DM Sans"/>
              </a:rPr>
              <a:t>or </a:t>
            </a:r>
            <a:r>
              <a:rPr lang="en-US" sz="3102">
                <a:solidFill>
                  <a:srgbClr val="343434"/>
                </a:solidFill>
                <a:latin typeface="DM Sans"/>
                <a:ea typeface="DM Sans"/>
                <a:cs typeface="DM Sans"/>
                <a:sym typeface="DM Sans"/>
              </a:rPr>
              <a:t>a</a:t>
            </a:r>
            <a:r>
              <a:rPr lang="en-US" sz="3102">
                <a:solidFill>
                  <a:srgbClr val="343434"/>
                </a:solidFill>
                <a:latin typeface="DM Sans"/>
                <a:ea typeface="DM Sans"/>
                <a:cs typeface="DM Sans"/>
                <a:sym typeface="DM Sans"/>
              </a:rPr>
              <a:t> shar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d habit</a:t>
            </a:r>
            <a:r>
              <a:rPr lang="en-US" sz="3102">
                <a:solidFill>
                  <a:srgbClr val="343434"/>
                </a:solidFill>
                <a:latin typeface="DM Sans"/>
                <a:ea typeface="DM Sans"/>
                <a:cs typeface="DM Sans"/>
                <a:sym typeface="DM Sans"/>
              </a:rPr>
              <a:t>, no</a:t>
            </a:r>
            <a:r>
              <a:rPr lang="en-US" sz="3102">
                <a:solidFill>
                  <a:srgbClr val="343434"/>
                </a:solidFill>
                <a:latin typeface="DM Sans"/>
                <a:ea typeface="DM Sans"/>
                <a:cs typeface="DM Sans"/>
                <a:sym typeface="DM Sans"/>
              </a:rPr>
              <a:t>t</a:t>
            </a:r>
            <a:r>
              <a:rPr lang="en-US" sz="3102">
                <a:solidFill>
                  <a:srgbClr val="343434"/>
                </a:solidFill>
                <a:latin typeface="DM Sans"/>
                <a:ea typeface="DM Sans"/>
                <a:cs typeface="DM Sans"/>
                <a:sym typeface="DM Sans"/>
              </a:rPr>
              <a:t> an IT-only concer</a:t>
            </a:r>
            <a:r>
              <a:rPr lang="en-US" sz="3102">
                <a:solidFill>
                  <a:srgbClr val="343434"/>
                </a:solidFill>
                <a:latin typeface="DM Sans"/>
                <a:ea typeface="DM Sans"/>
                <a:cs typeface="DM Sans"/>
                <a:sym typeface="DM Sans"/>
              </a:rPr>
              <a:t>n</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051071"/>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 FRAMEWORK OVERVIEW</a:t>
            </a:r>
          </a:p>
        </p:txBody>
      </p:sp>
      <p:sp>
        <p:nvSpPr>
          <p:cNvPr name="TextBox 4" id="4"/>
          <p:cNvSpPr txBox="true"/>
          <p:nvPr/>
        </p:nvSpPr>
        <p:spPr>
          <a:xfrm rot="0">
            <a:off x="1357304" y="3667288"/>
            <a:ext cx="15483360" cy="5346427"/>
          </a:xfrm>
          <a:prstGeom prst="rect">
            <a:avLst/>
          </a:prstGeom>
        </p:spPr>
        <p:txBody>
          <a:bodyPr anchor="t" rtlCol="false" tIns="0" lIns="0" bIns="0" rIns="0">
            <a:spAutoFit/>
          </a:bodyPr>
          <a:lstStyle/>
          <a:p>
            <a:pPr algn="just">
              <a:lnSpc>
                <a:spcPts val="4344"/>
              </a:lnSpc>
            </a:pPr>
            <a:r>
              <a:rPr lang="en-US" sz="3102">
                <a:solidFill>
                  <a:srgbClr val="343434"/>
                </a:solidFill>
                <a:latin typeface="DM Sans"/>
                <a:ea typeface="DM Sans"/>
                <a:cs typeface="DM Sans"/>
                <a:sym typeface="DM Sans"/>
              </a:rPr>
              <a:t>A Six-Step Process, Start to Finish</a:t>
            </a:r>
          </a:p>
          <a:p>
            <a:pPr algn="just">
              <a:lnSpc>
                <a:spcPts val="4344"/>
              </a:lnSpc>
            </a:pPr>
            <a:r>
              <a:rPr lang="en-US" sz="3102">
                <a:solidFill>
                  <a:srgbClr val="343434"/>
                </a:solidFill>
                <a:latin typeface="DM Sans"/>
                <a:ea typeface="DM Sans"/>
                <a:cs typeface="DM Sans"/>
                <a:sym typeface="DM Sans"/>
              </a:rPr>
              <a:t> Each stage feeds the next — skipping a step weakens t</a:t>
            </a:r>
            <a:r>
              <a:rPr lang="en-US" sz="3102">
                <a:solidFill>
                  <a:srgbClr val="343434"/>
                </a:solidFill>
                <a:latin typeface="DM Sans"/>
                <a:ea typeface="DM Sans"/>
                <a:cs typeface="DM Sans"/>
                <a:sym typeface="DM Sans"/>
              </a:rPr>
              <a:t>he w</a:t>
            </a:r>
            <a:r>
              <a:rPr lang="en-US" sz="3102">
                <a:solidFill>
                  <a:srgbClr val="343434"/>
                </a:solidFill>
                <a:latin typeface="DM Sans"/>
                <a:ea typeface="DM Sans"/>
                <a:cs typeface="DM Sans"/>
                <a:sym typeface="DM Sans"/>
              </a:rPr>
              <a:t>hole program.</a:t>
            </a:r>
          </a:p>
          <a:p>
            <a:pPr algn="just">
              <a:lnSpc>
                <a:spcPts val="4344"/>
              </a:lnSpc>
            </a:pP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Needs Assessment</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A</a:t>
            </a:r>
            <a:r>
              <a:rPr lang="en-US" b="true" sz="3102">
                <a:solidFill>
                  <a:srgbClr val="343434"/>
                </a:solidFill>
                <a:latin typeface="DM Sans Bold"/>
                <a:ea typeface="DM Sans Bold"/>
                <a:cs typeface="DM Sans Bold"/>
                <a:sym typeface="DM Sans Bold"/>
              </a:rPr>
              <a:t>udience</a:t>
            </a:r>
            <a:r>
              <a:rPr lang="en-US" b="true" sz="3102">
                <a:solidFill>
                  <a:srgbClr val="343434"/>
                </a:solidFill>
                <a:latin typeface="DM Sans Bold"/>
                <a:ea typeface="DM Sans Bold"/>
                <a:cs typeface="DM Sans Bold"/>
                <a:sym typeface="DM Sans Bold"/>
              </a:rPr>
              <a:t> Segme</a:t>
            </a:r>
            <a:r>
              <a:rPr lang="en-US" b="true" sz="3102">
                <a:solidFill>
                  <a:srgbClr val="343434"/>
                </a:solidFill>
                <a:latin typeface="DM Sans Bold"/>
                <a:ea typeface="DM Sans Bold"/>
                <a:cs typeface="DM Sans Bold"/>
                <a:sym typeface="DM Sans Bold"/>
              </a:rPr>
              <a:t>nt</a:t>
            </a:r>
            <a:r>
              <a:rPr lang="en-US" b="true" sz="3102">
                <a:solidFill>
                  <a:srgbClr val="343434"/>
                </a:solidFill>
                <a:latin typeface="DM Sans Bold"/>
                <a:ea typeface="DM Sans Bold"/>
                <a:cs typeface="DM Sans Bold"/>
                <a:sym typeface="DM Sans Bold"/>
              </a:rPr>
              <a:t>a</a:t>
            </a:r>
            <a:r>
              <a:rPr lang="en-US" b="true" sz="3102">
                <a:solidFill>
                  <a:srgbClr val="343434"/>
                </a:solidFill>
                <a:latin typeface="DM Sans Bold"/>
                <a:ea typeface="DM Sans Bold"/>
                <a:cs typeface="DM Sans Bold"/>
                <a:sym typeface="DM Sans Bold"/>
              </a:rPr>
              <a:t>tion</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Go</a:t>
            </a:r>
            <a:r>
              <a:rPr lang="en-US" b="true" sz="3102">
                <a:solidFill>
                  <a:srgbClr val="343434"/>
                </a:solidFill>
                <a:latin typeface="DM Sans Bold"/>
                <a:ea typeface="DM Sans Bold"/>
                <a:cs typeface="DM Sans Bold"/>
                <a:sym typeface="DM Sans Bold"/>
              </a:rPr>
              <a:t>als &amp;</a:t>
            </a:r>
            <a:r>
              <a:rPr lang="en-US" b="true" sz="3102">
                <a:solidFill>
                  <a:srgbClr val="343434"/>
                </a:solidFill>
                <a:latin typeface="DM Sans Bold"/>
                <a:ea typeface="DM Sans Bold"/>
                <a:cs typeface="DM Sans Bold"/>
                <a:sym typeface="DM Sans Bold"/>
              </a:rPr>
              <a:t> Objectives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Content Developmen</a:t>
            </a:r>
            <a:r>
              <a:rPr lang="en-US" b="true" sz="3102">
                <a:solidFill>
                  <a:srgbClr val="343434"/>
                </a:solidFill>
                <a:latin typeface="DM Sans Bold"/>
                <a:ea typeface="DM Sans Bold"/>
                <a:cs typeface="DM Sans Bold"/>
                <a:sym typeface="DM Sans Bold"/>
              </a:rPr>
              <a:t>t</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De</a:t>
            </a:r>
            <a:r>
              <a:rPr lang="en-US" b="true" sz="3102">
                <a:solidFill>
                  <a:srgbClr val="343434"/>
                </a:solidFill>
                <a:latin typeface="DM Sans Bold"/>
                <a:ea typeface="DM Sans Bold"/>
                <a:cs typeface="DM Sans Bold"/>
                <a:sym typeface="DM Sans Bold"/>
              </a:rPr>
              <a:t>livery &amp; Implem</a:t>
            </a:r>
            <a:r>
              <a:rPr lang="en-US" b="true" sz="3102">
                <a:solidFill>
                  <a:srgbClr val="343434"/>
                </a:solidFill>
                <a:latin typeface="DM Sans Bold"/>
                <a:ea typeface="DM Sans Bold"/>
                <a:cs typeface="DM Sans Bold"/>
                <a:sym typeface="DM Sans Bold"/>
              </a:rPr>
              <a:t>entati</a:t>
            </a:r>
            <a:r>
              <a:rPr lang="en-US" b="true" sz="3102">
                <a:solidFill>
                  <a:srgbClr val="343434"/>
                </a:solidFill>
                <a:latin typeface="DM Sans Bold"/>
                <a:ea typeface="DM Sans Bold"/>
                <a:cs typeface="DM Sans Bold"/>
                <a:sym typeface="DM Sans Bold"/>
              </a:rPr>
              <a:t>on</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Evaluatio</a:t>
            </a:r>
            <a:r>
              <a:rPr lang="en-US" b="true" sz="3102">
                <a:solidFill>
                  <a:srgbClr val="343434"/>
                </a:solidFill>
                <a:latin typeface="DM Sans Bold"/>
                <a:ea typeface="DM Sans Bold"/>
                <a:cs typeface="DM Sans Bold"/>
                <a:sym typeface="DM Sans Bold"/>
              </a:rPr>
              <a:t>n &amp; Improveme</a:t>
            </a:r>
            <a:r>
              <a:rPr lang="en-US" b="true" sz="3102">
                <a:solidFill>
                  <a:srgbClr val="343434"/>
                </a:solidFill>
                <a:latin typeface="DM Sans Bold"/>
                <a:ea typeface="DM Sans Bold"/>
                <a:cs typeface="DM Sans Bold"/>
                <a:sym typeface="DM Sans Bold"/>
              </a:rPr>
              <a:t>nt</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1821087"/>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STEP 1</a:t>
            </a:r>
          </a:p>
        </p:txBody>
      </p:sp>
      <p:sp>
        <p:nvSpPr>
          <p:cNvPr name="TextBox 4" id="4"/>
          <p:cNvSpPr txBox="true"/>
          <p:nvPr/>
        </p:nvSpPr>
        <p:spPr>
          <a:xfrm rot="0">
            <a:off x="1357304" y="3278360"/>
            <a:ext cx="15483360" cy="6432277"/>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Conduct a Needs Assessment</a:t>
            </a:r>
          </a:p>
          <a:p>
            <a:pPr algn="just">
              <a:lnSpc>
                <a:spcPts val="4344"/>
              </a:lnSpc>
            </a:pPr>
            <a:r>
              <a:rPr lang="en-US" sz="3102">
                <a:solidFill>
                  <a:srgbClr val="343434"/>
                </a:solidFill>
                <a:latin typeface="DM Sans"/>
                <a:ea typeface="DM Sans"/>
                <a:cs typeface="DM Sans"/>
                <a:sym typeface="DM Sans"/>
              </a:rPr>
              <a:t> Identify what employees currently know, where risks exist, and what training must address.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Security Audits &amp; Risk Assessments</a:t>
            </a:r>
            <a:r>
              <a:rPr lang="en-US" sz="3102">
                <a:solidFill>
                  <a:srgbClr val="343434"/>
                </a:solidFill>
                <a:latin typeface="DM Sans"/>
                <a:ea typeface="DM Sans"/>
                <a:cs typeface="DM Sans"/>
                <a:sym typeface="DM Sans"/>
              </a:rPr>
              <a:t> – Review existing vulnerabilities and past incidents to find weak spots.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Employee Surveys &amp; Int</a:t>
            </a:r>
            <a:r>
              <a:rPr lang="en-US" b="true" sz="3102">
                <a:solidFill>
                  <a:srgbClr val="343434"/>
                </a:solidFill>
                <a:latin typeface="DM Sans Bold"/>
                <a:ea typeface="DM Sans Bold"/>
                <a:cs typeface="DM Sans Bold"/>
                <a:sym typeface="DM Sans Bold"/>
              </a:rPr>
              <a:t>erviews </a:t>
            </a:r>
            <a:r>
              <a:rPr lang="en-US" sz="3102">
                <a:solidFill>
                  <a:srgbClr val="343434"/>
                </a:solidFill>
                <a:latin typeface="DM Sans"/>
                <a:ea typeface="DM Sans"/>
                <a:cs typeface="DM Sans"/>
                <a:sym typeface="DM Sans"/>
              </a:rPr>
              <a:t>– Gaug</a:t>
            </a:r>
            <a:r>
              <a:rPr lang="en-US" sz="3102">
                <a:solidFill>
                  <a:srgbClr val="343434"/>
                </a:solidFill>
                <a:latin typeface="DM Sans"/>
                <a:ea typeface="DM Sans"/>
                <a:cs typeface="DM Sans"/>
                <a:sym typeface="DM Sans"/>
              </a:rPr>
              <a:t>e current awar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ess</a:t>
            </a:r>
            <a:r>
              <a:rPr lang="en-US" sz="3102">
                <a:solidFill>
                  <a:srgbClr val="343434"/>
                </a:solidFill>
                <a:latin typeface="DM Sans"/>
                <a:ea typeface="DM Sans"/>
                <a:cs typeface="DM Sans"/>
                <a:sym typeface="DM Sans"/>
              </a:rPr>
              <a:t> l</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v</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ls a</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d</a:t>
            </a:r>
            <a:r>
              <a:rPr lang="en-US" sz="3102">
                <a:solidFill>
                  <a:srgbClr val="343434"/>
                </a:solidFill>
                <a:latin typeface="DM Sans"/>
                <a:ea typeface="DM Sans"/>
                <a:cs typeface="DM Sans"/>
                <a:sym typeface="DM Sans"/>
              </a:rPr>
              <a:t> comfort w</a:t>
            </a:r>
            <a:r>
              <a:rPr lang="en-US" sz="3102">
                <a:solidFill>
                  <a:srgbClr val="343434"/>
                </a:solidFill>
                <a:latin typeface="DM Sans"/>
                <a:ea typeface="DM Sans"/>
                <a:cs typeface="DM Sans"/>
                <a:sym typeface="DM Sans"/>
              </a:rPr>
              <a:t>i</a:t>
            </a:r>
            <a:r>
              <a:rPr lang="en-US" sz="3102">
                <a:solidFill>
                  <a:srgbClr val="343434"/>
                </a:solidFill>
                <a:latin typeface="DM Sans"/>
                <a:ea typeface="DM Sans"/>
                <a:cs typeface="DM Sans"/>
                <a:sym typeface="DM Sans"/>
              </a:rPr>
              <a:t>th s</a:t>
            </a:r>
            <a:r>
              <a:rPr lang="en-US" sz="3102">
                <a:solidFill>
                  <a:srgbClr val="343434"/>
                </a:solidFill>
                <a:latin typeface="DM Sans"/>
                <a:ea typeface="DM Sans"/>
                <a:cs typeface="DM Sans"/>
                <a:sym typeface="DM Sans"/>
              </a:rPr>
              <a:t>ec</a:t>
            </a:r>
            <a:r>
              <a:rPr lang="en-US" sz="3102">
                <a:solidFill>
                  <a:srgbClr val="343434"/>
                </a:solidFill>
                <a:latin typeface="DM Sans"/>
                <a:ea typeface="DM Sans"/>
                <a:cs typeface="DM Sans"/>
                <a:sym typeface="DM Sans"/>
              </a:rPr>
              <a:t>urity</a:t>
            </a:r>
            <a:r>
              <a:rPr lang="en-US" sz="3102">
                <a:solidFill>
                  <a:srgbClr val="343434"/>
                </a:solidFill>
                <a:latin typeface="DM Sans"/>
                <a:ea typeface="DM Sans"/>
                <a:cs typeface="DM Sans"/>
                <a:sym typeface="DM Sans"/>
              </a:rPr>
              <a:t> </a:t>
            </a:r>
            <a:r>
              <a:rPr lang="en-US" sz="3102">
                <a:solidFill>
                  <a:srgbClr val="343434"/>
                </a:solidFill>
                <a:latin typeface="DM Sans"/>
                <a:ea typeface="DM Sans"/>
                <a:cs typeface="DM Sans"/>
                <a:sym typeface="DM Sans"/>
              </a:rPr>
              <a:t>practic</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Incide</a:t>
            </a:r>
            <a:r>
              <a:rPr lang="en-US" b="true" sz="3102">
                <a:solidFill>
                  <a:srgbClr val="343434"/>
                </a:solidFill>
                <a:latin typeface="DM Sans Bold"/>
                <a:ea typeface="DM Sans Bold"/>
                <a:cs typeface="DM Sans Bold"/>
                <a:sym typeface="DM Sans Bold"/>
              </a:rPr>
              <a:t>nt &amp; Ticket History Review</a:t>
            </a:r>
            <a:r>
              <a:rPr lang="en-US" sz="3102">
                <a:solidFill>
                  <a:srgbClr val="343434"/>
                </a:solidFill>
                <a:latin typeface="DM Sans"/>
                <a:ea typeface="DM Sans"/>
                <a:cs typeface="DM Sans"/>
                <a:sym typeface="DM Sans"/>
              </a:rPr>
              <a:t> – A</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al</a:t>
            </a:r>
            <a:r>
              <a:rPr lang="en-US" sz="3102">
                <a:solidFill>
                  <a:srgbClr val="343434"/>
                </a:solidFill>
                <a:latin typeface="DM Sans"/>
                <a:ea typeface="DM Sans"/>
                <a:cs typeface="DM Sans"/>
                <a:sym typeface="DM Sans"/>
              </a:rPr>
              <a:t>yze help-de</a:t>
            </a:r>
            <a:r>
              <a:rPr lang="en-US" sz="3102">
                <a:solidFill>
                  <a:srgbClr val="343434"/>
                </a:solidFill>
                <a:latin typeface="DM Sans"/>
                <a:ea typeface="DM Sans"/>
                <a:cs typeface="DM Sans"/>
                <a:sym typeface="DM Sans"/>
              </a:rPr>
              <a:t>s</a:t>
            </a:r>
            <a:r>
              <a:rPr lang="en-US" sz="3102">
                <a:solidFill>
                  <a:srgbClr val="343434"/>
                </a:solidFill>
                <a:latin typeface="DM Sans"/>
                <a:ea typeface="DM Sans"/>
                <a:cs typeface="DM Sans"/>
                <a:sym typeface="DM Sans"/>
              </a:rPr>
              <a:t>k</a:t>
            </a:r>
            <a:r>
              <a:rPr lang="en-US" sz="3102">
                <a:solidFill>
                  <a:srgbClr val="343434"/>
                </a:solidFill>
                <a:latin typeface="DM Sans"/>
                <a:ea typeface="DM Sans"/>
                <a:cs typeface="DM Sans"/>
                <a:sym typeface="DM Sans"/>
              </a:rPr>
              <a:t> </a:t>
            </a:r>
            <a:r>
              <a:rPr lang="en-US" sz="3102">
                <a:solidFill>
                  <a:srgbClr val="343434"/>
                </a:solidFill>
                <a:latin typeface="DM Sans"/>
                <a:ea typeface="DM Sans"/>
                <a:cs typeface="DM Sans"/>
                <a:sym typeface="DM Sans"/>
              </a:rPr>
              <a:t>and</a:t>
            </a:r>
            <a:r>
              <a:rPr lang="en-US" sz="3102">
                <a:solidFill>
                  <a:srgbClr val="343434"/>
                </a:solidFill>
                <a:latin typeface="DM Sans"/>
                <a:ea typeface="DM Sans"/>
                <a:cs typeface="DM Sans"/>
                <a:sym typeface="DM Sans"/>
              </a:rPr>
              <a:t> b</a:t>
            </a:r>
            <a:r>
              <a:rPr lang="en-US" sz="3102">
                <a:solidFill>
                  <a:srgbClr val="343434"/>
                </a:solidFill>
                <a:latin typeface="DM Sans"/>
                <a:ea typeface="DM Sans"/>
                <a:cs typeface="DM Sans"/>
                <a:sym typeface="DM Sans"/>
              </a:rPr>
              <a:t>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a</a:t>
            </a:r>
            <a:r>
              <a:rPr lang="en-US" sz="3102">
                <a:solidFill>
                  <a:srgbClr val="343434"/>
                </a:solidFill>
                <a:latin typeface="DM Sans"/>
                <a:ea typeface="DM Sans"/>
                <a:cs typeface="DM Sans"/>
                <a:sym typeface="DM Sans"/>
              </a:rPr>
              <a:t>c</a:t>
            </a:r>
            <a:r>
              <a:rPr lang="en-US" sz="3102">
                <a:solidFill>
                  <a:srgbClr val="343434"/>
                </a:solidFill>
                <a:latin typeface="DM Sans"/>
                <a:ea typeface="DM Sans"/>
                <a:cs typeface="DM Sans"/>
                <a:sym typeface="DM Sans"/>
              </a:rPr>
              <a:t>h 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p</a:t>
            </a:r>
            <a:r>
              <a:rPr lang="en-US" sz="3102">
                <a:solidFill>
                  <a:srgbClr val="343434"/>
                </a:solidFill>
                <a:latin typeface="DM Sans"/>
                <a:ea typeface="DM Sans"/>
                <a:cs typeface="DM Sans"/>
                <a:sym typeface="DM Sans"/>
              </a:rPr>
              <a:t>o</a:t>
            </a:r>
            <a:r>
              <a:rPr lang="en-US" sz="3102">
                <a:solidFill>
                  <a:srgbClr val="343434"/>
                </a:solidFill>
                <a:latin typeface="DM Sans"/>
                <a:ea typeface="DM Sans"/>
                <a:cs typeface="DM Sans"/>
                <a:sym typeface="DM Sans"/>
              </a:rPr>
              <a:t>r</a:t>
            </a:r>
            <a:r>
              <a:rPr lang="en-US" sz="3102">
                <a:solidFill>
                  <a:srgbClr val="343434"/>
                </a:solidFill>
                <a:latin typeface="DM Sans"/>
                <a:ea typeface="DM Sans"/>
                <a:cs typeface="DM Sans"/>
                <a:sym typeface="DM Sans"/>
              </a:rPr>
              <a:t>t</a:t>
            </a:r>
            <a:r>
              <a:rPr lang="en-US" sz="3102">
                <a:solidFill>
                  <a:srgbClr val="343434"/>
                </a:solidFill>
                <a:latin typeface="DM Sans"/>
                <a:ea typeface="DM Sans"/>
                <a:cs typeface="DM Sans"/>
                <a:sym typeface="DM Sans"/>
              </a:rPr>
              <a:t>s for 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curri</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g</a:t>
            </a:r>
            <a:r>
              <a:rPr lang="en-US" sz="3102">
                <a:solidFill>
                  <a:srgbClr val="343434"/>
                </a:solidFill>
                <a:latin typeface="DM Sans"/>
                <a:ea typeface="DM Sans"/>
                <a:cs typeface="DM Sans"/>
                <a:sym typeface="DM Sans"/>
              </a:rPr>
              <a:t> </a:t>
            </a:r>
            <a:r>
              <a:rPr lang="en-US" sz="3102">
                <a:solidFill>
                  <a:srgbClr val="343434"/>
                </a:solidFill>
                <a:latin typeface="DM Sans"/>
                <a:ea typeface="DM Sans"/>
                <a:cs typeface="DM Sans"/>
                <a:sym typeface="DM Sans"/>
              </a:rPr>
              <a:t>human-</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rr</a:t>
            </a:r>
            <a:r>
              <a:rPr lang="en-US" sz="3102">
                <a:solidFill>
                  <a:srgbClr val="343434"/>
                </a:solidFill>
                <a:latin typeface="DM Sans"/>
                <a:ea typeface="DM Sans"/>
                <a:cs typeface="DM Sans"/>
                <a:sym typeface="DM Sans"/>
              </a:rPr>
              <a:t>o</a:t>
            </a:r>
            <a:r>
              <a:rPr lang="en-US" sz="3102">
                <a:solidFill>
                  <a:srgbClr val="343434"/>
                </a:solidFill>
                <a:latin typeface="DM Sans"/>
                <a:ea typeface="DM Sans"/>
                <a:cs typeface="DM Sans"/>
                <a:sym typeface="DM Sans"/>
              </a:rPr>
              <a:t>r </a:t>
            </a:r>
            <a:r>
              <a:rPr lang="en-US" sz="3102">
                <a:solidFill>
                  <a:srgbClr val="343434"/>
                </a:solidFill>
                <a:latin typeface="DM Sans"/>
                <a:ea typeface="DM Sans"/>
                <a:cs typeface="DM Sans"/>
                <a:sym typeface="DM Sans"/>
              </a:rPr>
              <a:t>p</a:t>
            </a:r>
            <a:r>
              <a:rPr lang="en-US" sz="3102">
                <a:solidFill>
                  <a:srgbClr val="343434"/>
                </a:solidFill>
                <a:latin typeface="DM Sans"/>
                <a:ea typeface="DM Sans"/>
                <a:cs typeface="DM Sans"/>
                <a:sym typeface="DM Sans"/>
              </a:rPr>
              <a:t>att</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r</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Comp</a:t>
            </a:r>
            <a:r>
              <a:rPr lang="en-US" b="true" sz="3102">
                <a:solidFill>
                  <a:srgbClr val="343434"/>
                </a:solidFill>
                <a:latin typeface="DM Sans Bold"/>
                <a:ea typeface="DM Sans Bold"/>
                <a:cs typeface="DM Sans Bold"/>
                <a:sym typeface="DM Sans Bold"/>
              </a:rPr>
              <a:t>liance Gap Analysis </a:t>
            </a:r>
            <a:r>
              <a:rPr lang="en-US" sz="3102">
                <a:solidFill>
                  <a:srgbClr val="343434"/>
                </a:solidFill>
                <a:latin typeface="DM Sans"/>
                <a:ea typeface="DM Sans"/>
                <a:cs typeface="DM Sans"/>
                <a:sym typeface="DM Sans"/>
              </a:rPr>
              <a:t>–</a:t>
            </a:r>
            <a:r>
              <a:rPr lang="en-US" sz="3102">
                <a:solidFill>
                  <a:srgbClr val="343434"/>
                </a:solidFill>
                <a:latin typeface="DM Sans"/>
                <a:ea typeface="DM Sans"/>
                <a:cs typeface="DM Sans"/>
                <a:sym typeface="DM Sans"/>
              </a:rPr>
              <a:t> </a:t>
            </a:r>
            <a:r>
              <a:rPr lang="en-US" sz="3102">
                <a:solidFill>
                  <a:srgbClr val="343434"/>
                </a:solidFill>
                <a:latin typeface="DM Sans"/>
                <a:ea typeface="DM Sans"/>
                <a:cs typeface="DM Sans"/>
                <a:sym typeface="DM Sans"/>
              </a:rPr>
              <a:t>Co</a:t>
            </a:r>
            <a:r>
              <a:rPr lang="en-US" sz="3102">
                <a:solidFill>
                  <a:srgbClr val="343434"/>
                </a:solidFill>
                <a:latin typeface="DM Sans"/>
                <a:ea typeface="DM Sans"/>
                <a:cs typeface="DM Sans"/>
                <a:sym typeface="DM Sans"/>
              </a:rPr>
              <a:t>mp</a:t>
            </a:r>
            <a:r>
              <a:rPr lang="en-US" sz="3102">
                <a:solidFill>
                  <a:srgbClr val="343434"/>
                </a:solidFill>
                <a:latin typeface="DM Sans"/>
                <a:ea typeface="DM Sans"/>
                <a:cs typeface="DM Sans"/>
                <a:sym typeface="DM Sans"/>
              </a:rPr>
              <a:t>ar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 curr</a:t>
            </a:r>
            <a:r>
              <a:rPr lang="en-US" sz="3102">
                <a:solidFill>
                  <a:srgbClr val="343434"/>
                </a:solidFill>
                <a:latin typeface="DM Sans"/>
                <a:ea typeface="DM Sans"/>
                <a:cs typeface="DM Sans"/>
                <a:sym typeface="DM Sans"/>
              </a:rPr>
              <a:t>ent</a:t>
            </a:r>
            <a:r>
              <a:rPr lang="en-US" sz="3102">
                <a:solidFill>
                  <a:srgbClr val="343434"/>
                </a:solidFill>
                <a:latin typeface="DM Sans"/>
                <a:ea typeface="DM Sans"/>
                <a:cs typeface="DM Sans"/>
                <a:sym typeface="DM Sans"/>
              </a:rPr>
              <a:t> pr</a:t>
            </a:r>
            <a:r>
              <a:rPr lang="en-US" sz="3102">
                <a:solidFill>
                  <a:srgbClr val="343434"/>
                </a:solidFill>
                <a:latin typeface="DM Sans"/>
                <a:ea typeface="DM Sans"/>
                <a:cs typeface="DM Sans"/>
                <a:sym typeface="DM Sans"/>
              </a:rPr>
              <a:t>a</a:t>
            </a:r>
            <a:r>
              <a:rPr lang="en-US" sz="3102">
                <a:solidFill>
                  <a:srgbClr val="343434"/>
                </a:solidFill>
                <a:latin typeface="DM Sans"/>
                <a:ea typeface="DM Sans"/>
                <a:cs typeface="DM Sans"/>
                <a:sym typeface="DM Sans"/>
              </a:rPr>
              <a:t>c</a:t>
            </a:r>
            <a:r>
              <a:rPr lang="en-US" sz="3102">
                <a:solidFill>
                  <a:srgbClr val="343434"/>
                </a:solidFill>
                <a:latin typeface="DM Sans"/>
                <a:ea typeface="DM Sans"/>
                <a:cs typeface="DM Sans"/>
                <a:sym typeface="DM Sans"/>
              </a:rPr>
              <a:t>ti</a:t>
            </a:r>
            <a:r>
              <a:rPr lang="en-US" sz="3102">
                <a:solidFill>
                  <a:srgbClr val="343434"/>
                </a:solidFill>
                <a:latin typeface="DM Sans"/>
                <a:ea typeface="DM Sans"/>
                <a:cs typeface="DM Sans"/>
                <a:sym typeface="DM Sans"/>
              </a:rPr>
              <a:t>ces </a:t>
            </a:r>
            <a:r>
              <a:rPr lang="en-US" sz="3102">
                <a:solidFill>
                  <a:srgbClr val="343434"/>
                </a:solidFill>
                <a:latin typeface="DM Sans"/>
                <a:ea typeface="DM Sans"/>
                <a:cs typeface="DM Sans"/>
                <a:sym typeface="DM Sans"/>
              </a:rPr>
              <a:t>a</a:t>
            </a:r>
            <a:r>
              <a:rPr lang="en-US" sz="3102">
                <a:solidFill>
                  <a:srgbClr val="343434"/>
                </a:solidFill>
                <a:latin typeface="DM Sans"/>
                <a:ea typeface="DM Sans"/>
                <a:cs typeface="DM Sans"/>
                <a:sym typeface="DM Sans"/>
              </a:rPr>
              <a:t>g</a:t>
            </a:r>
            <a:r>
              <a:rPr lang="en-US" sz="3102">
                <a:solidFill>
                  <a:srgbClr val="343434"/>
                </a:solidFill>
                <a:latin typeface="DM Sans"/>
                <a:ea typeface="DM Sans"/>
                <a:cs typeface="DM Sans"/>
                <a:sym typeface="DM Sans"/>
              </a:rPr>
              <a:t>ai</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st</a:t>
            </a:r>
            <a:r>
              <a:rPr lang="en-US" sz="3102">
                <a:solidFill>
                  <a:srgbClr val="343434"/>
                </a:solidFill>
                <a:latin typeface="DM Sans"/>
                <a:ea typeface="DM Sans"/>
                <a:cs typeface="DM Sans"/>
                <a:sym typeface="DM Sans"/>
              </a:rPr>
              <a:t> re</a:t>
            </a:r>
            <a:r>
              <a:rPr lang="en-US" sz="3102">
                <a:solidFill>
                  <a:srgbClr val="343434"/>
                </a:solidFill>
                <a:latin typeface="DM Sans"/>
                <a:ea typeface="DM Sans"/>
                <a:cs typeface="DM Sans"/>
                <a:sym typeface="DM Sans"/>
              </a:rPr>
              <a:t>quir</a:t>
            </a:r>
            <a:r>
              <a:rPr lang="en-US" sz="3102">
                <a:solidFill>
                  <a:srgbClr val="343434"/>
                </a:solidFill>
                <a:latin typeface="DM Sans"/>
                <a:ea typeface="DM Sans"/>
                <a:cs typeface="DM Sans"/>
                <a:sym typeface="DM Sans"/>
              </a:rPr>
              <a:t>e</a:t>
            </a:r>
            <a:r>
              <a:rPr lang="en-US" sz="3102">
                <a:solidFill>
                  <a:srgbClr val="343434"/>
                </a:solidFill>
                <a:latin typeface="DM Sans"/>
                <a:ea typeface="DM Sans"/>
                <a:cs typeface="DM Sans"/>
                <a:sym typeface="DM Sans"/>
              </a:rPr>
              <a:t>d regulatio</a:t>
            </a:r>
            <a:r>
              <a:rPr lang="en-US" sz="3102">
                <a:solidFill>
                  <a:srgbClr val="343434"/>
                </a:solidFill>
                <a:latin typeface="DM Sans"/>
                <a:ea typeface="DM Sans"/>
                <a:cs typeface="DM Sans"/>
                <a:sym typeface="DM Sans"/>
              </a:rPr>
              <a:t>n</a:t>
            </a:r>
            <a:r>
              <a:rPr lang="en-US" sz="3102">
                <a:solidFill>
                  <a:srgbClr val="343434"/>
                </a:solidFill>
                <a:latin typeface="DM Sans"/>
                <a:ea typeface="DM Sans"/>
                <a:cs typeface="DM Sans"/>
                <a:sym typeface="DM Sans"/>
              </a:rPr>
              <a:t>s and s</a:t>
            </a:r>
            <a:r>
              <a:rPr lang="en-US" sz="3102">
                <a:solidFill>
                  <a:srgbClr val="343434"/>
                </a:solidFill>
                <a:latin typeface="DM Sans"/>
                <a:ea typeface="DM Sans"/>
                <a:cs typeface="DM Sans"/>
                <a:sym typeface="DM Sans"/>
              </a:rPr>
              <a:t>t</a:t>
            </a:r>
            <a:r>
              <a:rPr lang="en-US" sz="3102">
                <a:solidFill>
                  <a:srgbClr val="343434"/>
                </a:solidFill>
                <a:latin typeface="DM Sans"/>
                <a:ea typeface="DM Sans"/>
                <a:cs typeface="DM Sans"/>
                <a:sym typeface="DM Sans"/>
              </a:rPr>
              <a:t>andards.</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4" id="4"/>
          <p:cNvGraphicFramePr/>
          <p:nvPr/>
        </p:nvGraphicFramePr>
        <p:xfrm>
          <a:off x="1957505" y="4877016"/>
          <a:ext cx="5657850" cy="3771900"/>
        </p:xfrm>
        <a:graphic>
          <a:graphicData uri="http://schemas.openxmlformats.org/presentationml/2006/ole">
            <p:oleObj imgW="6781800" imgH="49022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5" id="5"/>
          <p:cNvSpPr txBox="true"/>
          <p:nvPr/>
        </p:nvSpPr>
        <p:spPr>
          <a:xfrm rot="0">
            <a:off x="1357304" y="1821087"/>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STEP 2</a:t>
            </a:r>
          </a:p>
        </p:txBody>
      </p:sp>
      <p:sp>
        <p:nvSpPr>
          <p:cNvPr name="TextBox 6" id="6"/>
          <p:cNvSpPr txBox="true"/>
          <p:nvPr/>
        </p:nvSpPr>
        <p:spPr>
          <a:xfrm rot="0">
            <a:off x="1357304" y="3278360"/>
            <a:ext cx="15483360" cy="1469752"/>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Segment the Audience by Role</a:t>
            </a:r>
          </a:p>
          <a:p>
            <a:pPr algn="just">
              <a:lnSpc>
                <a:spcPts val="3735"/>
              </a:lnSpc>
            </a:pPr>
            <a:r>
              <a:rPr lang="en-US" sz="2668" b="true">
                <a:solidFill>
                  <a:srgbClr val="343434"/>
                </a:solidFill>
                <a:latin typeface="DM Sans Bold"/>
                <a:ea typeface="DM Sans Bold"/>
                <a:cs typeface="DM Sans Bold"/>
                <a:sym typeface="DM Sans Bold"/>
              </a:rPr>
              <a:t> </a:t>
            </a:r>
            <a:r>
              <a:rPr lang="en-US" sz="2668">
                <a:solidFill>
                  <a:srgbClr val="343434"/>
                </a:solidFill>
                <a:latin typeface="DM Sans"/>
                <a:ea typeface="DM Sans"/>
                <a:cs typeface="DM Sans"/>
                <a:sym typeface="DM Sans"/>
              </a:rPr>
              <a:t>Not everyone faces the same risks — t</a:t>
            </a:r>
            <a:r>
              <a:rPr lang="en-US" sz="2668">
                <a:solidFill>
                  <a:srgbClr val="343434"/>
                </a:solidFill>
                <a:latin typeface="DM Sans"/>
                <a:ea typeface="DM Sans"/>
                <a:cs typeface="DM Sans"/>
                <a:sym typeface="DM Sans"/>
              </a:rPr>
              <a:t>rai</a:t>
            </a:r>
            <a:r>
              <a:rPr lang="en-US" sz="2668">
                <a:solidFill>
                  <a:srgbClr val="343434"/>
                </a:solidFill>
                <a:latin typeface="DM Sans"/>
                <a:ea typeface="DM Sans"/>
                <a:cs typeface="DM Sans"/>
                <a:sym typeface="DM Sans"/>
              </a:rPr>
              <a:t>ning depth an</a:t>
            </a:r>
            <a:r>
              <a:rPr lang="en-US" sz="2668">
                <a:solidFill>
                  <a:srgbClr val="343434"/>
                </a:solidFill>
                <a:latin typeface="DM Sans"/>
                <a:ea typeface="DM Sans"/>
                <a:cs typeface="DM Sans"/>
                <a:sym typeface="DM Sans"/>
              </a:rPr>
              <a:t>d to</a:t>
            </a:r>
            <a:r>
              <a:rPr lang="en-US" sz="2668">
                <a:solidFill>
                  <a:srgbClr val="343434"/>
                </a:solidFill>
                <a:latin typeface="DM Sans"/>
                <a:ea typeface="DM Sans"/>
                <a:cs typeface="DM Sans"/>
                <a:sym typeface="DM Sans"/>
              </a:rPr>
              <a:t>pics</a:t>
            </a:r>
            <a:r>
              <a:rPr lang="en-US" sz="2668">
                <a:solidFill>
                  <a:srgbClr val="343434"/>
                </a:solidFill>
                <a:latin typeface="DM Sans"/>
                <a:ea typeface="DM Sans"/>
                <a:cs typeface="DM Sans"/>
                <a:sym typeface="DM Sans"/>
              </a:rPr>
              <a:t> s</a:t>
            </a:r>
            <a:r>
              <a:rPr lang="en-US" sz="2668">
                <a:solidFill>
                  <a:srgbClr val="343434"/>
                </a:solidFill>
                <a:latin typeface="DM Sans"/>
                <a:ea typeface="DM Sans"/>
                <a:cs typeface="DM Sans"/>
                <a:sym typeface="DM Sans"/>
              </a:rPr>
              <a:t>hould mat</a:t>
            </a:r>
            <a:r>
              <a:rPr lang="en-US" sz="2668">
                <a:solidFill>
                  <a:srgbClr val="343434"/>
                </a:solidFill>
                <a:latin typeface="DM Sans"/>
                <a:ea typeface="DM Sans"/>
                <a:cs typeface="DM Sans"/>
                <a:sym typeface="DM Sans"/>
              </a:rPr>
              <a:t>ch job functi</a:t>
            </a:r>
            <a:r>
              <a:rPr lang="en-US" sz="2668">
                <a:solidFill>
                  <a:srgbClr val="343434"/>
                </a:solidFill>
                <a:latin typeface="DM Sans"/>
                <a:ea typeface="DM Sans"/>
                <a:cs typeface="DM Sans"/>
                <a:sym typeface="DM Sans"/>
              </a:rPr>
              <a:t>o</a:t>
            </a:r>
            <a:r>
              <a:rPr lang="en-US" sz="2668">
                <a:solidFill>
                  <a:srgbClr val="343434"/>
                </a:solidFill>
                <a:latin typeface="DM Sans"/>
                <a:ea typeface="DM Sans"/>
                <a:cs typeface="DM Sans"/>
                <a:sym typeface="DM Sans"/>
              </a:rPr>
              <a:t>n and ac</a:t>
            </a:r>
            <a:r>
              <a:rPr lang="en-US" sz="2668">
                <a:solidFill>
                  <a:srgbClr val="343434"/>
                </a:solidFill>
                <a:latin typeface="DM Sans"/>
                <a:ea typeface="DM Sans"/>
                <a:cs typeface="DM Sans"/>
                <a:sym typeface="DM Sans"/>
              </a:rPr>
              <a:t>cess level</a:t>
            </a:r>
            <a:r>
              <a:rPr lang="en-US" sz="2668">
                <a:solidFill>
                  <a:srgbClr val="343434"/>
                </a:solidFill>
                <a:latin typeface="DM Sans"/>
                <a:ea typeface="DM Sans"/>
                <a:cs typeface="DM Sans"/>
                <a:sym typeface="DM Sans"/>
              </a:rPr>
              <a:t>.</a:t>
            </a:r>
          </a:p>
        </p:txBody>
      </p:sp>
      <p:sp>
        <p:nvSpPr>
          <p:cNvPr name="TextBox 7" id="7"/>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TextBox 8" id="8"/>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1821087"/>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STEP 3</a:t>
            </a:r>
          </a:p>
        </p:txBody>
      </p:sp>
      <p:sp>
        <p:nvSpPr>
          <p:cNvPr name="TextBox 4" id="4"/>
          <p:cNvSpPr txBox="true"/>
          <p:nvPr/>
        </p:nvSpPr>
        <p:spPr>
          <a:xfrm rot="0">
            <a:off x="1336180" y="3484954"/>
            <a:ext cx="15483360" cy="5346427"/>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Set SMART Goals &amp; Learning Objectives</a:t>
            </a:r>
          </a:p>
          <a:p>
            <a:pPr algn="just">
              <a:lnSpc>
                <a:spcPts val="4344"/>
              </a:lnSpc>
            </a:pPr>
            <a:r>
              <a:rPr lang="en-US" sz="3102" b="true">
                <a:solidFill>
                  <a:srgbClr val="343434"/>
                </a:solidFill>
                <a:latin typeface="DM Sans Bold"/>
                <a:ea typeface="DM Sans Bold"/>
                <a:cs typeface="DM Sans Bold"/>
                <a:sym typeface="DM Sans Bold"/>
              </a:rPr>
              <a:t> </a:t>
            </a:r>
            <a:r>
              <a:rPr lang="en-US" sz="3102">
                <a:solidFill>
                  <a:srgbClr val="343434"/>
                </a:solidFill>
                <a:latin typeface="DM Sans"/>
                <a:ea typeface="DM Sans"/>
                <a:cs typeface="DM Sans"/>
                <a:sym typeface="DM Sans"/>
              </a:rPr>
              <a:t>Every objective should be Specific, Measurable, Achievable, Relevant, and Time-bound.</a:t>
            </a:r>
          </a:p>
          <a:p>
            <a:pPr algn="just">
              <a:lnSpc>
                <a:spcPts val="4344"/>
              </a:lnSpc>
            </a:pP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Specific –</a:t>
            </a:r>
            <a:r>
              <a:rPr lang="en-US" sz="3102">
                <a:solidFill>
                  <a:srgbClr val="343434"/>
                </a:solidFill>
                <a:latin typeface="DM Sans"/>
                <a:ea typeface="DM Sans"/>
                <a:cs typeface="DM Sans"/>
                <a:sym typeface="DM Sans"/>
              </a:rPr>
              <a:t> Employees will identify phishing emails by checking sender and links.</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M</a:t>
            </a:r>
            <a:r>
              <a:rPr lang="en-US" b="true" sz="3102">
                <a:solidFill>
                  <a:srgbClr val="343434"/>
                </a:solidFill>
                <a:latin typeface="DM Sans Bold"/>
                <a:ea typeface="DM Sans Bold"/>
                <a:cs typeface="DM Sans Bold"/>
                <a:sym typeface="DM Sans Bold"/>
              </a:rPr>
              <a:t>easurable – </a:t>
            </a:r>
            <a:r>
              <a:rPr lang="en-US" sz="3102">
                <a:solidFill>
                  <a:srgbClr val="343434"/>
                </a:solidFill>
                <a:latin typeface="DM Sans"/>
                <a:ea typeface="DM Sans"/>
                <a:cs typeface="DM Sans"/>
                <a:sym typeface="DM Sans"/>
              </a:rPr>
              <a:t>90% of staff pass th</a:t>
            </a:r>
            <a:r>
              <a:rPr lang="en-US" sz="3102">
                <a:solidFill>
                  <a:srgbClr val="343434"/>
                </a:solidFill>
                <a:latin typeface="DM Sans"/>
                <a:ea typeface="DM Sans"/>
                <a:cs typeface="DM Sans"/>
                <a:sym typeface="DM Sans"/>
              </a:rPr>
              <a:t>e phishing-r</a:t>
            </a:r>
            <a:r>
              <a:rPr lang="en-US" sz="3102">
                <a:solidFill>
                  <a:srgbClr val="343434"/>
                </a:solidFill>
                <a:latin typeface="DM Sans"/>
                <a:ea typeface="DM Sans"/>
                <a:cs typeface="DM Sans"/>
                <a:sym typeface="DM Sans"/>
              </a:rPr>
              <a:t>ecognition quiz.</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Achievable – </a:t>
            </a:r>
            <a:r>
              <a:rPr lang="en-US" sz="3102">
                <a:solidFill>
                  <a:srgbClr val="343434"/>
                </a:solidFill>
                <a:latin typeface="DM Sans"/>
                <a:ea typeface="DM Sans"/>
                <a:cs typeface="DM Sans"/>
                <a:sym typeface="DM Sans"/>
              </a:rPr>
              <a:t>Training</a:t>
            </a:r>
            <a:r>
              <a:rPr lang="en-US" sz="3102">
                <a:solidFill>
                  <a:srgbClr val="343434"/>
                </a:solidFill>
                <a:latin typeface="DM Sans"/>
                <a:ea typeface="DM Sans"/>
                <a:cs typeface="DM Sans"/>
                <a:sym typeface="DM Sans"/>
              </a:rPr>
              <a:t> fits within</a:t>
            </a:r>
            <a:r>
              <a:rPr lang="en-US" sz="3102">
                <a:solidFill>
                  <a:srgbClr val="343434"/>
                </a:solidFill>
                <a:latin typeface="DM Sans"/>
                <a:ea typeface="DM Sans"/>
                <a:cs typeface="DM Sans"/>
                <a:sym typeface="DM Sans"/>
              </a:rPr>
              <a:t> a 30-minute mo</a:t>
            </a:r>
            <a:r>
              <a:rPr lang="en-US" sz="3102">
                <a:solidFill>
                  <a:srgbClr val="343434"/>
                </a:solidFill>
                <a:latin typeface="DM Sans"/>
                <a:ea typeface="DM Sans"/>
                <a:cs typeface="DM Sans"/>
                <a:sym typeface="DM Sans"/>
              </a:rPr>
              <a:t>nthly session.</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Relevant –</a:t>
            </a:r>
            <a:r>
              <a:rPr lang="en-US" sz="3102">
                <a:solidFill>
                  <a:srgbClr val="343434"/>
                </a:solidFill>
                <a:latin typeface="DM Sans"/>
                <a:ea typeface="DM Sans"/>
                <a:cs typeface="DM Sans"/>
                <a:sym typeface="DM Sans"/>
              </a:rPr>
              <a:t> Dir</a:t>
            </a:r>
            <a:r>
              <a:rPr lang="en-US" sz="3102">
                <a:solidFill>
                  <a:srgbClr val="343434"/>
                </a:solidFill>
                <a:latin typeface="DM Sans"/>
                <a:ea typeface="DM Sans"/>
                <a:cs typeface="DM Sans"/>
                <a:sym typeface="DM Sans"/>
              </a:rPr>
              <a:t>ectly add</a:t>
            </a:r>
            <a:r>
              <a:rPr lang="en-US" sz="3102">
                <a:solidFill>
                  <a:srgbClr val="343434"/>
                </a:solidFill>
                <a:latin typeface="DM Sans"/>
                <a:ea typeface="DM Sans"/>
                <a:cs typeface="DM Sans"/>
                <a:sym typeface="DM Sans"/>
              </a:rPr>
              <a:t>resses the org's top reported risk: email fraud.</a:t>
            </a:r>
          </a:p>
          <a:p>
            <a:pPr algn="just" marL="669934" indent="-334967" lvl="1">
              <a:lnSpc>
                <a:spcPts val="4344"/>
              </a:lnSpc>
              <a:buFont typeface="Arial"/>
              <a:buChar char="•"/>
            </a:pPr>
            <a:r>
              <a:rPr lang="en-US" b="true" sz="3102">
                <a:solidFill>
                  <a:srgbClr val="343434"/>
                </a:solidFill>
                <a:latin typeface="DM Sans Bold"/>
                <a:ea typeface="DM Sans Bold"/>
                <a:cs typeface="DM Sans Bold"/>
                <a:sym typeface="DM Sans Bold"/>
              </a:rPr>
              <a:t>T</a:t>
            </a:r>
            <a:r>
              <a:rPr lang="en-US" b="true" sz="3102">
                <a:solidFill>
                  <a:srgbClr val="343434"/>
                </a:solidFill>
                <a:latin typeface="DM Sans Bold"/>
                <a:ea typeface="DM Sans Bold"/>
                <a:cs typeface="DM Sans Bold"/>
                <a:sym typeface="DM Sans Bold"/>
              </a:rPr>
              <a:t>ime-bound –</a:t>
            </a:r>
            <a:r>
              <a:rPr lang="en-US" sz="3102">
                <a:solidFill>
                  <a:srgbClr val="343434"/>
                </a:solidFill>
                <a:latin typeface="DM Sans"/>
                <a:ea typeface="DM Sans"/>
                <a:cs typeface="DM Sans"/>
                <a:sym typeface="DM Sans"/>
              </a:rPr>
              <a:t> Comple</a:t>
            </a:r>
            <a:r>
              <a:rPr lang="en-US" sz="3102">
                <a:solidFill>
                  <a:srgbClr val="343434"/>
                </a:solidFill>
                <a:latin typeface="DM Sans"/>
                <a:ea typeface="DM Sans"/>
                <a:cs typeface="DM Sans"/>
                <a:sym typeface="DM Sans"/>
              </a:rPr>
              <a:t>ted by </a:t>
            </a:r>
            <a:r>
              <a:rPr lang="en-US" sz="3102">
                <a:solidFill>
                  <a:srgbClr val="343434"/>
                </a:solidFill>
                <a:latin typeface="DM Sans"/>
                <a:ea typeface="DM Sans"/>
                <a:cs typeface="DM Sans"/>
                <a:sym typeface="DM Sans"/>
              </a:rPr>
              <a:t>all </a:t>
            </a:r>
            <a:r>
              <a:rPr lang="en-US" sz="3102">
                <a:solidFill>
                  <a:srgbClr val="343434"/>
                </a:solidFill>
                <a:latin typeface="DM Sans"/>
                <a:ea typeface="DM Sans"/>
                <a:cs typeface="DM Sans"/>
                <a:sym typeface="DM Sans"/>
              </a:rPr>
              <a:t>staff withi</a:t>
            </a:r>
            <a:r>
              <a:rPr lang="en-US" sz="3102">
                <a:solidFill>
                  <a:srgbClr val="343434"/>
                </a:solidFill>
                <a:latin typeface="DM Sans"/>
                <a:ea typeface="DM Sans"/>
                <a:cs typeface="DM Sans"/>
                <a:sym typeface="DM Sans"/>
              </a:rPr>
              <a:t>n the first quarter.</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1821087"/>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STEP 4</a:t>
            </a:r>
          </a:p>
        </p:txBody>
      </p:sp>
      <p:sp>
        <p:nvSpPr>
          <p:cNvPr name="TextBox 4" id="4"/>
          <p:cNvSpPr txBox="true"/>
          <p:nvPr/>
        </p:nvSpPr>
        <p:spPr>
          <a:xfrm rot="0">
            <a:off x="1357304" y="3278360"/>
            <a:ext cx="15483360" cy="6432277"/>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Develop Training Content &amp; Curriculum</a:t>
            </a:r>
          </a:p>
          <a:p>
            <a:pPr algn="just">
              <a:lnSpc>
                <a:spcPts val="4344"/>
              </a:lnSpc>
            </a:pPr>
            <a:r>
              <a:rPr lang="en-US" sz="3102" b="true">
                <a:solidFill>
                  <a:srgbClr val="343434"/>
                </a:solidFill>
                <a:latin typeface="DM Sans Bold"/>
                <a:ea typeface="DM Sans Bold"/>
                <a:cs typeface="DM Sans Bold"/>
                <a:sym typeface="DM Sans Bold"/>
              </a:rPr>
              <a:t> </a:t>
            </a:r>
            <a:r>
              <a:rPr lang="en-US" sz="3102">
                <a:solidFill>
                  <a:srgbClr val="343434"/>
                </a:solidFill>
                <a:latin typeface="DM Sans"/>
                <a:ea typeface="DM Sans"/>
                <a:cs typeface="DM Sans"/>
                <a:sym typeface="DM Sans"/>
              </a:rPr>
              <a:t>Core topics every security training plan should cover, regardless of audience.</a:t>
            </a:r>
          </a:p>
          <a:p>
            <a:pPr algn="just">
              <a:lnSpc>
                <a:spcPts val="4344"/>
              </a:lnSpc>
            </a:pP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Phishing &amp; Social Engineering</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Password &amp; Authentication Hygiene</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D</a:t>
            </a:r>
            <a:r>
              <a:rPr lang="en-US" b="true" sz="3102">
                <a:solidFill>
                  <a:srgbClr val="343434"/>
                </a:solidFill>
                <a:latin typeface="DM Sans Bold"/>
                <a:ea typeface="DM Sans Bold"/>
                <a:cs typeface="DM Sans Bold"/>
                <a:sym typeface="DM Sans Bold"/>
              </a:rPr>
              <a:t>ata Class</a:t>
            </a:r>
            <a:r>
              <a:rPr lang="en-US" b="true" sz="3102">
                <a:solidFill>
                  <a:srgbClr val="343434"/>
                </a:solidFill>
                <a:latin typeface="DM Sans Bold"/>
                <a:ea typeface="DM Sans Bold"/>
                <a:cs typeface="DM Sans Bold"/>
                <a:sym typeface="DM Sans Bold"/>
              </a:rPr>
              <a:t>ifi</a:t>
            </a:r>
            <a:r>
              <a:rPr lang="en-US" b="true" sz="3102">
                <a:solidFill>
                  <a:srgbClr val="343434"/>
                </a:solidFill>
                <a:latin typeface="DM Sans Bold"/>
                <a:ea typeface="DM Sans Bold"/>
                <a:cs typeface="DM Sans Bold"/>
                <a:sym typeface="DM Sans Bold"/>
              </a:rPr>
              <a:t>cation &amp; Handling</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Inc</a:t>
            </a:r>
            <a:r>
              <a:rPr lang="en-US" b="true" sz="3102">
                <a:solidFill>
                  <a:srgbClr val="343434"/>
                </a:solidFill>
                <a:latin typeface="DM Sans Bold"/>
                <a:ea typeface="DM Sans Bold"/>
                <a:cs typeface="DM Sans Bold"/>
                <a:sym typeface="DM Sans Bold"/>
              </a:rPr>
              <a:t>ident Reporting</a:t>
            </a:r>
            <a:r>
              <a:rPr lang="en-US" b="true" sz="3102">
                <a:solidFill>
                  <a:srgbClr val="343434"/>
                </a:solidFill>
                <a:latin typeface="DM Sans Bold"/>
                <a:ea typeface="DM Sans Bold"/>
                <a:cs typeface="DM Sans Bold"/>
                <a:sym typeface="DM Sans Bold"/>
              </a:rPr>
              <a:t> Procedures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P</a:t>
            </a:r>
            <a:r>
              <a:rPr lang="en-US" b="true" sz="3102">
                <a:solidFill>
                  <a:srgbClr val="343434"/>
                </a:solidFill>
                <a:latin typeface="DM Sans Bold"/>
                <a:ea typeface="DM Sans Bold"/>
                <a:cs typeface="DM Sans Bold"/>
                <a:sym typeface="DM Sans Bold"/>
              </a:rPr>
              <a:t>hysical &amp; Device S</a:t>
            </a:r>
            <a:r>
              <a:rPr lang="en-US" b="true" sz="3102">
                <a:solidFill>
                  <a:srgbClr val="343434"/>
                </a:solidFill>
                <a:latin typeface="DM Sans Bold"/>
                <a:ea typeface="DM Sans Bold"/>
                <a:cs typeface="DM Sans Bold"/>
                <a:sym typeface="DM Sans Bold"/>
              </a:rPr>
              <a:t>ecurity</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Acc</a:t>
            </a:r>
            <a:r>
              <a:rPr lang="en-US" b="true" sz="3102">
                <a:solidFill>
                  <a:srgbClr val="343434"/>
                </a:solidFill>
                <a:latin typeface="DM Sans Bold"/>
                <a:ea typeface="DM Sans Bold"/>
                <a:cs typeface="DM Sans Bold"/>
                <a:sym typeface="DM Sans Bold"/>
              </a:rPr>
              <a:t>eptable Use of Systems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Remote Work &amp; BYOD Safety</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R</a:t>
            </a:r>
            <a:r>
              <a:rPr lang="en-US" b="true" sz="3102">
                <a:solidFill>
                  <a:srgbClr val="343434"/>
                </a:solidFill>
                <a:latin typeface="DM Sans Bold"/>
                <a:ea typeface="DM Sans Bold"/>
                <a:cs typeface="DM Sans Bold"/>
                <a:sym typeface="DM Sans Bold"/>
              </a:rPr>
              <a:t>egulatory &amp; Complianc</a:t>
            </a:r>
            <a:r>
              <a:rPr lang="en-US" b="true" sz="3102">
                <a:solidFill>
                  <a:srgbClr val="343434"/>
                </a:solidFill>
                <a:latin typeface="DM Sans Bold"/>
                <a:ea typeface="DM Sans Bold"/>
                <a:cs typeface="DM Sans Bold"/>
                <a:sym typeface="DM Sans Bold"/>
              </a:rPr>
              <a:t>e B</a:t>
            </a:r>
            <a:r>
              <a:rPr lang="en-US" b="true" sz="3102">
                <a:solidFill>
                  <a:srgbClr val="343434"/>
                </a:solidFill>
                <a:latin typeface="DM Sans Bold"/>
                <a:ea typeface="DM Sans Bold"/>
                <a:cs typeface="DM Sans Bold"/>
                <a:sym typeface="DM Sans Bold"/>
              </a:rPr>
              <a:t>a</a:t>
            </a:r>
            <a:r>
              <a:rPr lang="en-US" b="true" sz="3102">
                <a:solidFill>
                  <a:srgbClr val="343434"/>
                </a:solidFill>
                <a:latin typeface="DM Sans Bold"/>
                <a:ea typeface="DM Sans Bold"/>
                <a:cs typeface="DM Sans Bold"/>
                <a:sym typeface="DM Sans Bold"/>
              </a:rPr>
              <a:t>sic</a:t>
            </a:r>
            <a:r>
              <a:rPr lang="en-US" sz="3102">
                <a:solidFill>
                  <a:srgbClr val="343434"/>
                </a:solidFill>
                <a:latin typeface="DM Sans"/>
                <a:ea typeface="DM Sans"/>
                <a:cs typeface="DM Sans"/>
                <a:sym typeface="DM Sans"/>
              </a:rPr>
              <a:t>s</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298758"/>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STEP 5</a:t>
            </a:r>
          </a:p>
        </p:txBody>
      </p:sp>
      <p:sp>
        <p:nvSpPr>
          <p:cNvPr name="TextBox 4" id="4"/>
          <p:cNvSpPr txBox="true"/>
          <p:nvPr/>
        </p:nvSpPr>
        <p:spPr>
          <a:xfrm rot="0">
            <a:off x="1357304" y="4018415"/>
            <a:ext cx="16032565" cy="4260577"/>
          </a:xfrm>
          <a:prstGeom prst="rect">
            <a:avLst/>
          </a:prstGeom>
        </p:spPr>
        <p:txBody>
          <a:bodyPr anchor="t" rtlCol="false" tIns="0" lIns="0" bIns="0" rIns="0">
            <a:spAutoFit/>
          </a:bodyPr>
          <a:lstStyle/>
          <a:p>
            <a:pPr algn="just">
              <a:lnSpc>
                <a:spcPts val="4344"/>
              </a:lnSpc>
            </a:pPr>
            <a:r>
              <a:rPr lang="en-US" sz="3102" b="true">
                <a:solidFill>
                  <a:srgbClr val="343434"/>
                </a:solidFill>
                <a:latin typeface="DM Sans Bold"/>
                <a:ea typeface="DM Sans Bold"/>
                <a:cs typeface="DM Sans Bold"/>
                <a:sym typeface="DM Sans Bold"/>
              </a:rPr>
              <a:t>Choose Delivery Methods</a:t>
            </a:r>
          </a:p>
          <a:p>
            <a:pPr algn="just">
              <a:lnSpc>
                <a:spcPts val="4344"/>
              </a:lnSpc>
            </a:pPr>
            <a:r>
              <a:rPr lang="en-US" sz="3102" b="true">
                <a:solidFill>
                  <a:srgbClr val="343434"/>
                </a:solidFill>
                <a:latin typeface="DM Sans Bold"/>
                <a:ea typeface="DM Sans Bold"/>
                <a:cs typeface="DM Sans Bold"/>
                <a:sym typeface="DM Sans Bold"/>
              </a:rPr>
              <a:t> </a:t>
            </a:r>
            <a:r>
              <a:rPr lang="en-US" sz="3102">
                <a:solidFill>
                  <a:srgbClr val="343434"/>
                </a:solidFill>
                <a:latin typeface="DM Sans"/>
                <a:ea typeface="DM Sans"/>
                <a:cs typeface="DM Sans"/>
                <a:sym typeface="DM Sans"/>
              </a:rPr>
              <a:t>Blend formats to fit different learning styles, schedules, and budgets.</a:t>
            </a:r>
          </a:p>
          <a:p>
            <a:pPr algn="just">
              <a:lnSpc>
                <a:spcPts val="4344"/>
              </a:lnSpc>
            </a:pP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Instructor-Led – </a:t>
            </a:r>
            <a:r>
              <a:rPr lang="en-US" sz="3102">
                <a:solidFill>
                  <a:srgbClr val="343434"/>
                </a:solidFill>
                <a:latin typeface="DM Sans"/>
                <a:ea typeface="DM Sans"/>
                <a:cs typeface="DM Sans"/>
                <a:sym typeface="DM Sans"/>
              </a:rPr>
              <a:t>Live sessions or workshops with d</a:t>
            </a:r>
            <a:r>
              <a:rPr lang="en-US" sz="3102">
                <a:solidFill>
                  <a:srgbClr val="343434"/>
                </a:solidFill>
                <a:latin typeface="DM Sans"/>
                <a:ea typeface="DM Sans"/>
                <a:cs typeface="DM Sans"/>
                <a:sym typeface="DM Sans"/>
              </a:rPr>
              <a:t>ire</a:t>
            </a:r>
            <a:r>
              <a:rPr lang="en-US" sz="3102">
                <a:solidFill>
                  <a:srgbClr val="343434"/>
                </a:solidFill>
                <a:latin typeface="DM Sans"/>
                <a:ea typeface="DM Sans"/>
                <a:cs typeface="DM Sans"/>
                <a:sym typeface="DM Sans"/>
              </a:rPr>
              <a:t>ct Q&amp;A and discuss</a:t>
            </a:r>
            <a:r>
              <a:rPr lang="en-US" sz="3102">
                <a:solidFill>
                  <a:srgbClr val="343434"/>
                </a:solidFill>
                <a:latin typeface="DM Sans"/>
                <a:ea typeface="DM Sans"/>
                <a:cs typeface="DM Sans"/>
                <a:sym typeface="DM Sans"/>
              </a:rPr>
              <a:t>ion.</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E-Learning</a:t>
            </a:r>
            <a:r>
              <a:rPr lang="en-US" b="true" sz="3102">
                <a:solidFill>
                  <a:srgbClr val="343434"/>
                </a:solidFill>
                <a:latin typeface="DM Sans Bold"/>
                <a:ea typeface="DM Sans Bold"/>
                <a:cs typeface="DM Sans Bold"/>
                <a:sym typeface="DM Sans Bold"/>
              </a:rPr>
              <a:t> Modules</a:t>
            </a:r>
            <a:r>
              <a:rPr lang="en-US" b="true" sz="3102">
                <a:solidFill>
                  <a:srgbClr val="343434"/>
                </a:solidFill>
                <a:latin typeface="DM Sans Bold"/>
                <a:ea typeface="DM Sans Bold"/>
                <a:cs typeface="DM Sans Bold"/>
                <a:sym typeface="DM Sans Bold"/>
              </a:rPr>
              <a:t> –</a:t>
            </a:r>
            <a:r>
              <a:rPr lang="en-US" sz="3102">
                <a:solidFill>
                  <a:srgbClr val="343434"/>
                </a:solidFill>
                <a:latin typeface="DM Sans"/>
                <a:ea typeface="DM Sans"/>
                <a:cs typeface="DM Sans"/>
                <a:sym typeface="DM Sans"/>
              </a:rPr>
              <a:t> Self-paced onlin</a:t>
            </a:r>
            <a:r>
              <a:rPr lang="en-US" sz="3102">
                <a:solidFill>
                  <a:srgbClr val="343434"/>
                </a:solidFill>
                <a:latin typeface="DM Sans"/>
                <a:ea typeface="DM Sans"/>
                <a:cs typeface="DM Sans"/>
                <a:sym typeface="DM Sans"/>
              </a:rPr>
              <a:t>e courses, track</a:t>
            </a:r>
            <a:r>
              <a:rPr lang="en-US" sz="3102">
                <a:solidFill>
                  <a:srgbClr val="343434"/>
                </a:solidFill>
                <a:latin typeface="DM Sans"/>
                <a:ea typeface="DM Sans"/>
                <a:cs typeface="DM Sans"/>
                <a:sym typeface="DM Sans"/>
              </a:rPr>
              <a:t>able and scalable org-wide.</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Si</a:t>
            </a:r>
            <a:r>
              <a:rPr lang="en-US" b="true" sz="3102">
                <a:solidFill>
                  <a:srgbClr val="343434"/>
                </a:solidFill>
                <a:latin typeface="DM Sans Bold"/>
                <a:ea typeface="DM Sans Bold"/>
                <a:cs typeface="DM Sans Bold"/>
                <a:sym typeface="DM Sans Bold"/>
              </a:rPr>
              <a:t>mulations –</a:t>
            </a:r>
            <a:r>
              <a:rPr lang="en-US" sz="3102">
                <a:solidFill>
                  <a:srgbClr val="343434"/>
                </a:solidFill>
                <a:latin typeface="DM Sans"/>
                <a:ea typeface="DM Sans"/>
                <a:cs typeface="DM Sans"/>
                <a:sym typeface="DM Sans"/>
              </a:rPr>
              <a:t> Mock phishing tests and tabletop incident exercises.</a:t>
            </a:r>
          </a:p>
          <a:p>
            <a:pPr algn="just" marL="669934" indent="-334967" lvl="1">
              <a:lnSpc>
                <a:spcPts val="4344"/>
              </a:lnSpc>
              <a:buAutoNum type="arabicPeriod" startAt="1"/>
            </a:pPr>
            <a:r>
              <a:rPr lang="en-US" b="true" sz="3102">
                <a:solidFill>
                  <a:srgbClr val="343434"/>
                </a:solidFill>
                <a:latin typeface="DM Sans Bold"/>
                <a:ea typeface="DM Sans Bold"/>
                <a:cs typeface="DM Sans Bold"/>
                <a:sym typeface="DM Sans Bold"/>
              </a:rPr>
              <a:t>Microl</a:t>
            </a:r>
            <a:r>
              <a:rPr lang="en-US" b="true" sz="3102">
                <a:solidFill>
                  <a:srgbClr val="343434"/>
                </a:solidFill>
                <a:latin typeface="DM Sans Bold"/>
                <a:ea typeface="DM Sans Bold"/>
                <a:cs typeface="DM Sans Bold"/>
                <a:sym typeface="DM Sans Bold"/>
              </a:rPr>
              <a:t>earning – </a:t>
            </a:r>
            <a:r>
              <a:rPr lang="en-US" sz="3102">
                <a:solidFill>
                  <a:srgbClr val="343434"/>
                </a:solidFill>
                <a:latin typeface="DM Sans"/>
                <a:ea typeface="DM Sans"/>
                <a:cs typeface="DM Sans"/>
                <a:sym typeface="DM Sans"/>
              </a:rPr>
              <a:t>Short videos, tips, and posters reinforcing k</a:t>
            </a:r>
            <a:r>
              <a:rPr lang="en-US" sz="3102">
                <a:solidFill>
                  <a:srgbClr val="343434"/>
                </a:solidFill>
                <a:latin typeface="DM Sans"/>
                <a:ea typeface="DM Sans"/>
                <a:cs typeface="DM Sans"/>
                <a:sym typeface="DM Sans"/>
              </a:rPr>
              <a:t>ey h</a:t>
            </a:r>
            <a:r>
              <a:rPr lang="en-US" sz="3102">
                <a:solidFill>
                  <a:srgbClr val="343434"/>
                </a:solidFill>
                <a:latin typeface="DM Sans"/>
                <a:ea typeface="DM Sans"/>
                <a:cs typeface="DM Sans"/>
                <a:sym typeface="DM Sans"/>
              </a:rPr>
              <a:t>ab</a:t>
            </a:r>
            <a:r>
              <a:rPr lang="en-US" sz="3102">
                <a:solidFill>
                  <a:srgbClr val="343434"/>
                </a:solidFill>
                <a:latin typeface="DM Sans"/>
                <a:ea typeface="DM Sans"/>
                <a:cs typeface="DM Sans"/>
                <a:sym typeface="DM Sans"/>
              </a:rPr>
              <a:t>it</a:t>
            </a:r>
            <a:r>
              <a:rPr lang="en-US" sz="3102">
                <a:solidFill>
                  <a:srgbClr val="343434"/>
                </a:solidFill>
                <a:latin typeface="DM Sans"/>
                <a:ea typeface="DM Sans"/>
                <a:cs typeface="DM Sans"/>
                <a:sym typeface="DM Sans"/>
              </a:rPr>
              <a:t>s</a:t>
            </a:r>
          </a:p>
          <a:p>
            <a:pPr algn="just">
              <a:lnSpc>
                <a:spcPts val="373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297756"/>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STEP 6</a:t>
            </a:r>
          </a:p>
        </p:txBody>
      </p:sp>
      <p:sp>
        <p:nvSpPr>
          <p:cNvPr name="TextBox 4" id="4"/>
          <p:cNvSpPr txBox="true"/>
          <p:nvPr/>
        </p:nvSpPr>
        <p:spPr>
          <a:xfrm rot="0">
            <a:off x="1357304" y="4388758"/>
            <a:ext cx="16032565" cy="4869542"/>
          </a:xfrm>
          <a:prstGeom prst="rect">
            <a:avLst/>
          </a:prstGeom>
        </p:spPr>
        <p:txBody>
          <a:bodyPr anchor="t" rtlCol="false" tIns="0" lIns="0" bIns="0" rIns="0">
            <a:spAutoFit/>
          </a:bodyPr>
          <a:lstStyle/>
          <a:p>
            <a:pPr algn="just">
              <a:lnSpc>
                <a:spcPts val="4904"/>
              </a:lnSpc>
            </a:pPr>
            <a:r>
              <a:rPr lang="en-US" sz="3502" b="true">
                <a:solidFill>
                  <a:srgbClr val="343434"/>
                </a:solidFill>
                <a:latin typeface="DM Sans Bold"/>
                <a:ea typeface="DM Sans Bold"/>
                <a:cs typeface="DM Sans Bold"/>
                <a:sym typeface="DM Sans Bold"/>
              </a:rPr>
              <a:t>Implementation &amp; Scheduling</a:t>
            </a:r>
          </a:p>
          <a:p>
            <a:pPr algn="just">
              <a:lnSpc>
                <a:spcPts val="4904"/>
              </a:lnSpc>
            </a:pPr>
            <a:r>
              <a:rPr lang="en-US" sz="3502" b="true">
                <a:solidFill>
                  <a:srgbClr val="343434"/>
                </a:solidFill>
                <a:latin typeface="DM Sans Bold"/>
                <a:ea typeface="DM Sans Bold"/>
                <a:cs typeface="DM Sans Bold"/>
                <a:sym typeface="DM Sans Bold"/>
              </a:rPr>
              <a:t> </a:t>
            </a:r>
            <a:r>
              <a:rPr lang="en-US" sz="3502">
                <a:solidFill>
                  <a:srgbClr val="343434"/>
                </a:solidFill>
                <a:latin typeface="DM Sans"/>
                <a:ea typeface="DM Sans"/>
                <a:cs typeface="DM Sans"/>
                <a:sym typeface="DM Sans"/>
              </a:rPr>
              <a:t>Roll out training on a predictable cadence so security stays top of mind year-rou</a:t>
            </a:r>
            <a:r>
              <a:rPr lang="en-US" sz="3502">
                <a:solidFill>
                  <a:srgbClr val="343434"/>
                </a:solidFill>
                <a:latin typeface="DM Sans"/>
                <a:ea typeface="DM Sans"/>
                <a:cs typeface="DM Sans"/>
                <a:sym typeface="DM Sans"/>
              </a:rPr>
              <a:t>nd.</a:t>
            </a:r>
          </a:p>
          <a:p>
            <a:pPr algn="just" marL="756292" indent="-378146" lvl="1">
              <a:lnSpc>
                <a:spcPts val="4904"/>
              </a:lnSpc>
              <a:buFont typeface="Arial"/>
              <a:buChar char="•"/>
            </a:pPr>
            <a:r>
              <a:rPr lang="en-US" b="true" sz="3502">
                <a:solidFill>
                  <a:srgbClr val="343434"/>
                </a:solidFill>
                <a:latin typeface="DM Sans Bold"/>
                <a:ea typeface="DM Sans Bold"/>
                <a:cs typeface="DM Sans Bold"/>
                <a:sym typeface="DM Sans Bold"/>
              </a:rPr>
              <a:t>Onbo</a:t>
            </a:r>
            <a:r>
              <a:rPr lang="en-US" b="true" sz="3502">
                <a:solidFill>
                  <a:srgbClr val="343434"/>
                </a:solidFill>
                <a:latin typeface="DM Sans Bold"/>
                <a:ea typeface="DM Sans Bold"/>
                <a:cs typeface="DM Sans Bold"/>
                <a:sym typeface="DM Sans Bold"/>
              </a:rPr>
              <a:t>arding</a:t>
            </a:r>
            <a:r>
              <a:rPr lang="en-US" b="true" sz="3502">
                <a:solidFill>
                  <a:srgbClr val="343434"/>
                </a:solidFill>
                <a:latin typeface="DM Sans Bold"/>
                <a:ea typeface="DM Sans Bold"/>
                <a:cs typeface="DM Sans Bold"/>
                <a:sym typeface="DM Sans Bold"/>
              </a:rPr>
              <a:t> –</a:t>
            </a:r>
            <a:r>
              <a:rPr lang="en-US" sz="3502">
                <a:solidFill>
                  <a:srgbClr val="343434"/>
                </a:solidFill>
                <a:latin typeface="DM Sans"/>
                <a:ea typeface="DM Sans"/>
                <a:cs typeface="DM Sans"/>
                <a:sym typeface="DM Sans"/>
              </a:rPr>
              <a:t> Day</a:t>
            </a:r>
            <a:r>
              <a:rPr lang="en-US" sz="3502">
                <a:solidFill>
                  <a:srgbClr val="343434"/>
                </a:solidFill>
                <a:latin typeface="DM Sans"/>
                <a:ea typeface="DM Sans"/>
                <a:cs typeface="DM Sans"/>
                <a:sym typeface="DM Sans"/>
              </a:rPr>
              <a:t> 1 security orientation</a:t>
            </a:r>
            <a:r>
              <a:rPr lang="en-US" sz="3502">
                <a:solidFill>
                  <a:srgbClr val="343434"/>
                </a:solidFill>
                <a:latin typeface="DM Sans"/>
                <a:ea typeface="DM Sans"/>
                <a:cs typeface="DM Sans"/>
                <a:sym typeface="DM Sans"/>
              </a:rPr>
              <a:t> for new hires</a:t>
            </a:r>
          </a:p>
          <a:p>
            <a:pPr algn="just" marL="756292" indent="-378146" lvl="1">
              <a:lnSpc>
                <a:spcPts val="4904"/>
              </a:lnSpc>
              <a:buFont typeface="Arial"/>
              <a:buChar char="•"/>
            </a:pPr>
            <a:r>
              <a:rPr lang="en-US" b="true" sz="3502">
                <a:solidFill>
                  <a:srgbClr val="343434"/>
                </a:solidFill>
                <a:latin typeface="DM Sans Bold"/>
                <a:ea typeface="DM Sans Bold"/>
                <a:cs typeface="DM Sans Bold"/>
                <a:sym typeface="DM Sans Bold"/>
              </a:rPr>
              <a:t>Month</a:t>
            </a:r>
            <a:r>
              <a:rPr lang="en-US" b="true" sz="3502">
                <a:solidFill>
                  <a:srgbClr val="343434"/>
                </a:solidFill>
                <a:latin typeface="DM Sans Bold"/>
                <a:ea typeface="DM Sans Bold"/>
                <a:cs typeface="DM Sans Bold"/>
                <a:sym typeface="DM Sans Bold"/>
              </a:rPr>
              <a:t>ly – </a:t>
            </a:r>
            <a:r>
              <a:rPr lang="en-US" sz="3502">
                <a:solidFill>
                  <a:srgbClr val="343434"/>
                </a:solidFill>
                <a:latin typeface="DM Sans"/>
                <a:ea typeface="DM Sans"/>
                <a:cs typeface="DM Sans"/>
                <a:sym typeface="DM Sans"/>
              </a:rPr>
              <a:t>Microlearning tips + s</a:t>
            </a:r>
            <a:r>
              <a:rPr lang="en-US" sz="3502">
                <a:solidFill>
                  <a:srgbClr val="343434"/>
                </a:solidFill>
                <a:latin typeface="DM Sans"/>
                <a:ea typeface="DM Sans"/>
                <a:cs typeface="DM Sans"/>
                <a:sym typeface="DM Sans"/>
              </a:rPr>
              <a:t>i</a:t>
            </a:r>
            <a:r>
              <a:rPr lang="en-US" sz="3502">
                <a:solidFill>
                  <a:srgbClr val="343434"/>
                </a:solidFill>
                <a:latin typeface="DM Sans"/>
                <a:ea typeface="DM Sans"/>
                <a:cs typeface="DM Sans"/>
                <a:sym typeface="DM Sans"/>
              </a:rPr>
              <a:t>mulated phishing test</a:t>
            </a:r>
          </a:p>
          <a:p>
            <a:pPr algn="just" marL="756292" indent="-378146" lvl="1">
              <a:lnSpc>
                <a:spcPts val="4904"/>
              </a:lnSpc>
              <a:buFont typeface="Arial"/>
              <a:buChar char="•"/>
            </a:pPr>
            <a:r>
              <a:rPr lang="en-US" b="true" sz="3502">
                <a:solidFill>
                  <a:srgbClr val="343434"/>
                </a:solidFill>
                <a:latin typeface="DM Sans Bold"/>
                <a:ea typeface="DM Sans Bold"/>
                <a:cs typeface="DM Sans Bold"/>
                <a:sym typeface="DM Sans Bold"/>
              </a:rPr>
              <a:t>Quarterly – </a:t>
            </a:r>
            <a:r>
              <a:rPr lang="en-US" sz="3502">
                <a:solidFill>
                  <a:srgbClr val="343434"/>
                </a:solidFill>
                <a:latin typeface="DM Sans"/>
                <a:ea typeface="DM Sans"/>
                <a:cs typeface="DM Sans"/>
                <a:sym typeface="DM Sans"/>
              </a:rPr>
              <a:t>Role-based refresher sess</a:t>
            </a:r>
            <a:r>
              <a:rPr lang="en-US" sz="3502">
                <a:solidFill>
                  <a:srgbClr val="343434"/>
                </a:solidFill>
                <a:latin typeface="DM Sans"/>
                <a:ea typeface="DM Sans"/>
                <a:cs typeface="DM Sans"/>
                <a:sym typeface="DM Sans"/>
              </a:rPr>
              <a:t>ions</a:t>
            </a:r>
          </a:p>
          <a:p>
            <a:pPr algn="just" marL="756292" indent="-378146" lvl="1">
              <a:lnSpc>
                <a:spcPts val="4904"/>
              </a:lnSpc>
              <a:buFont typeface="Arial"/>
              <a:buChar char="•"/>
            </a:pPr>
            <a:r>
              <a:rPr lang="en-US" b="true" sz="3502">
                <a:solidFill>
                  <a:srgbClr val="343434"/>
                </a:solidFill>
                <a:latin typeface="DM Sans Bold"/>
                <a:ea typeface="DM Sans Bold"/>
                <a:cs typeface="DM Sans Bold"/>
                <a:sym typeface="DM Sans Bold"/>
              </a:rPr>
              <a:t>A</a:t>
            </a:r>
            <a:r>
              <a:rPr lang="en-US" b="true" sz="3502">
                <a:solidFill>
                  <a:srgbClr val="343434"/>
                </a:solidFill>
                <a:latin typeface="DM Sans Bold"/>
                <a:ea typeface="DM Sans Bold"/>
                <a:cs typeface="DM Sans Bold"/>
                <a:sym typeface="DM Sans Bold"/>
              </a:rPr>
              <a:t>nnual – </a:t>
            </a:r>
            <a:r>
              <a:rPr lang="en-US" sz="3502">
                <a:solidFill>
                  <a:srgbClr val="343434"/>
                </a:solidFill>
                <a:latin typeface="DM Sans"/>
                <a:ea typeface="DM Sans"/>
                <a:cs typeface="DM Sans"/>
                <a:sym typeface="DM Sans"/>
              </a:rPr>
              <a:t>Comprehensive policy &amp; compliance r</a:t>
            </a:r>
            <a:r>
              <a:rPr lang="en-US" sz="3502">
                <a:solidFill>
                  <a:srgbClr val="343434"/>
                </a:solidFill>
                <a:latin typeface="DM Sans"/>
                <a:ea typeface="DM Sans"/>
                <a:cs typeface="DM Sans"/>
                <a:sym typeface="DM Sans"/>
              </a:rPr>
              <a:t>eview</a:t>
            </a:r>
          </a:p>
          <a:p>
            <a:pPr algn="just">
              <a:lnSpc>
                <a:spcPts val="429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171016"/>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CONTINOUS IMPROVEMENT</a:t>
            </a:r>
          </a:p>
        </p:txBody>
      </p:sp>
      <p:sp>
        <p:nvSpPr>
          <p:cNvPr name="TextBox 4" id="4"/>
          <p:cNvSpPr txBox="true"/>
          <p:nvPr/>
        </p:nvSpPr>
        <p:spPr>
          <a:xfrm rot="0">
            <a:off x="1226735" y="3934680"/>
            <a:ext cx="16032565" cy="5242922"/>
          </a:xfrm>
          <a:prstGeom prst="rect">
            <a:avLst/>
          </a:prstGeom>
        </p:spPr>
        <p:txBody>
          <a:bodyPr anchor="t" rtlCol="false" tIns="0" lIns="0" bIns="0" rIns="0">
            <a:spAutoFit/>
          </a:bodyPr>
          <a:lstStyle/>
          <a:p>
            <a:pPr algn="just">
              <a:lnSpc>
                <a:spcPts val="5324"/>
              </a:lnSpc>
            </a:pPr>
            <a:r>
              <a:rPr lang="en-US" sz="3802" b="true">
                <a:solidFill>
                  <a:srgbClr val="343434"/>
                </a:solidFill>
                <a:latin typeface="DM Sans Bold"/>
                <a:ea typeface="DM Sans Bold"/>
                <a:cs typeface="DM Sans Bold"/>
                <a:sym typeface="DM Sans Bold"/>
              </a:rPr>
              <a:t>Keep the Plan Alive: The Feedback Loop (PDCA)</a:t>
            </a:r>
          </a:p>
          <a:p>
            <a:pPr algn="just">
              <a:lnSpc>
                <a:spcPts val="5324"/>
              </a:lnSpc>
            </a:pPr>
            <a:r>
              <a:rPr lang="en-US" sz="3802" b="true">
                <a:solidFill>
                  <a:srgbClr val="343434"/>
                </a:solidFill>
                <a:latin typeface="DM Sans Bold"/>
                <a:ea typeface="DM Sans Bold"/>
                <a:cs typeface="DM Sans Bold"/>
                <a:sym typeface="DM Sans Bold"/>
              </a:rPr>
              <a:t> </a:t>
            </a:r>
            <a:r>
              <a:rPr lang="en-US" sz="3802">
                <a:solidFill>
                  <a:srgbClr val="343434"/>
                </a:solidFill>
                <a:latin typeface="DM Sans"/>
                <a:ea typeface="DM Sans"/>
                <a:cs typeface="DM Sans"/>
                <a:sym typeface="DM Sans"/>
              </a:rPr>
              <a:t>A training plan is never "finished" — it evolves with new threats a</a:t>
            </a:r>
            <a:r>
              <a:rPr lang="en-US" sz="3802">
                <a:solidFill>
                  <a:srgbClr val="343434"/>
                </a:solidFill>
                <a:latin typeface="DM Sans"/>
                <a:ea typeface="DM Sans"/>
                <a:cs typeface="DM Sans"/>
                <a:sym typeface="DM Sans"/>
              </a:rPr>
              <a:t>nd lessons l</a:t>
            </a:r>
            <a:r>
              <a:rPr lang="en-US" sz="3802">
                <a:solidFill>
                  <a:srgbClr val="343434"/>
                </a:solidFill>
                <a:latin typeface="DM Sans"/>
                <a:ea typeface="DM Sans"/>
                <a:cs typeface="DM Sans"/>
                <a:sym typeface="DM Sans"/>
              </a:rPr>
              <a:t>earned.</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Plan</a:t>
            </a:r>
            <a:r>
              <a:rPr lang="en-US" b="true" sz="3802">
                <a:solidFill>
                  <a:srgbClr val="343434"/>
                </a:solidFill>
                <a:latin typeface="DM Sans Bold"/>
                <a:ea typeface="DM Sans Bold"/>
                <a:cs typeface="DM Sans Bold"/>
                <a:sym typeface="DM Sans Bold"/>
              </a:rPr>
              <a:t> – </a:t>
            </a:r>
            <a:r>
              <a:rPr lang="en-US" sz="3802">
                <a:solidFill>
                  <a:srgbClr val="343434"/>
                </a:solidFill>
                <a:latin typeface="DM Sans"/>
                <a:ea typeface="DM Sans"/>
                <a:cs typeface="DM Sans"/>
                <a:sym typeface="DM Sans"/>
              </a:rPr>
              <a:t>Update</a:t>
            </a:r>
            <a:r>
              <a:rPr lang="en-US" sz="3802">
                <a:solidFill>
                  <a:srgbClr val="343434"/>
                </a:solidFill>
                <a:latin typeface="DM Sans"/>
                <a:ea typeface="DM Sans"/>
                <a:cs typeface="DM Sans"/>
                <a:sym typeface="DM Sans"/>
              </a:rPr>
              <a:t> content based on</a:t>
            </a:r>
            <a:r>
              <a:rPr lang="en-US" sz="3802">
                <a:solidFill>
                  <a:srgbClr val="343434"/>
                </a:solidFill>
                <a:latin typeface="DM Sans"/>
                <a:ea typeface="DM Sans"/>
                <a:cs typeface="DM Sans"/>
                <a:sym typeface="DM Sans"/>
              </a:rPr>
              <a:t> new risks and past resu</a:t>
            </a:r>
            <a:r>
              <a:rPr lang="en-US" sz="3802">
                <a:solidFill>
                  <a:srgbClr val="343434"/>
                </a:solidFill>
                <a:latin typeface="DM Sans"/>
                <a:ea typeface="DM Sans"/>
                <a:cs typeface="DM Sans"/>
                <a:sym typeface="DM Sans"/>
              </a:rPr>
              <a:t>lts</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Deliv</a:t>
            </a:r>
            <a:r>
              <a:rPr lang="en-US" b="true" sz="3802">
                <a:solidFill>
                  <a:srgbClr val="343434"/>
                </a:solidFill>
                <a:latin typeface="DM Sans Bold"/>
                <a:ea typeface="DM Sans Bold"/>
                <a:cs typeface="DM Sans Bold"/>
                <a:sym typeface="DM Sans Bold"/>
              </a:rPr>
              <a:t>er</a:t>
            </a:r>
            <a:r>
              <a:rPr lang="en-US" b="true" sz="3802">
                <a:solidFill>
                  <a:srgbClr val="343434"/>
                </a:solidFill>
                <a:latin typeface="DM Sans Bold"/>
                <a:ea typeface="DM Sans Bold"/>
                <a:cs typeface="DM Sans Bold"/>
                <a:sym typeface="DM Sans Bold"/>
              </a:rPr>
              <a:t> – </a:t>
            </a:r>
            <a:r>
              <a:rPr lang="en-US" sz="3802">
                <a:solidFill>
                  <a:srgbClr val="343434"/>
                </a:solidFill>
                <a:latin typeface="DM Sans"/>
                <a:ea typeface="DM Sans"/>
                <a:cs typeface="DM Sans"/>
                <a:sym typeface="DM Sans"/>
              </a:rPr>
              <a:t>Roll out training to the tar</a:t>
            </a:r>
            <a:r>
              <a:rPr lang="en-US" sz="3802">
                <a:solidFill>
                  <a:srgbClr val="343434"/>
                </a:solidFill>
                <a:latin typeface="DM Sans"/>
                <a:ea typeface="DM Sans"/>
                <a:cs typeface="DM Sans"/>
                <a:sym typeface="DM Sans"/>
              </a:rPr>
              <a:t>get au</a:t>
            </a:r>
            <a:r>
              <a:rPr lang="en-US" sz="3802">
                <a:solidFill>
                  <a:srgbClr val="343434"/>
                </a:solidFill>
                <a:latin typeface="DM Sans"/>
                <a:ea typeface="DM Sans"/>
                <a:cs typeface="DM Sans"/>
                <a:sym typeface="DM Sans"/>
              </a:rPr>
              <a:t>dience</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Mea</a:t>
            </a:r>
            <a:r>
              <a:rPr lang="en-US" b="true" sz="3802">
                <a:solidFill>
                  <a:srgbClr val="343434"/>
                </a:solidFill>
                <a:latin typeface="DM Sans Bold"/>
                <a:ea typeface="DM Sans Bold"/>
                <a:cs typeface="DM Sans Bold"/>
                <a:sym typeface="DM Sans Bold"/>
              </a:rPr>
              <a:t>sure – </a:t>
            </a:r>
            <a:r>
              <a:rPr lang="en-US" sz="3802">
                <a:solidFill>
                  <a:srgbClr val="343434"/>
                </a:solidFill>
                <a:latin typeface="DM Sans"/>
                <a:ea typeface="DM Sans"/>
                <a:cs typeface="DM Sans"/>
                <a:sym typeface="DM Sans"/>
              </a:rPr>
              <a:t>Collect quiz scores, simulation results, feedback</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Imp</a:t>
            </a:r>
            <a:r>
              <a:rPr lang="en-US" b="true" sz="3802">
                <a:solidFill>
                  <a:srgbClr val="343434"/>
                </a:solidFill>
                <a:latin typeface="DM Sans Bold"/>
                <a:ea typeface="DM Sans Bold"/>
                <a:cs typeface="DM Sans Bold"/>
                <a:sym typeface="DM Sans Bold"/>
              </a:rPr>
              <a:t>rov</a:t>
            </a:r>
            <a:r>
              <a:rPr lang="en-US" b="true" sz="3802">
                <a:solidFill>
                  <a:srgbClr val="343434"/>
                </a:solidFill>
                <a:latin typeface="DM Sans Bold"/>
                <a:ea typeface="DM Sans Bold"/>
                <a:cs typeface="DM Sans Bold"/>
                <a:sym typeface="DM Sans Bold"/>
              </a:rPr>
              <a:t>e –</a:t>
            </a:r>
            <a:r>
              <a:rPr lang="en-US" sz="3802">
                <a:solidFill>
                  <a:srgbClr val="343434"/>
                </a:solidFill>
                <a:latin typeface="DM Sans"/>
                <a:ea typeface="DM Sans"/>
                <a:cs typeface="DM Sans"/>
                <a:sym typeface="DM Sans"/>
              </a:rPr>
              <a:t> Revise objectives, conten</a:t>
            </a:r>
            <a:r>
              <a:rPr lang="en-US" sz="3802">
                <a:solidFill>
                  <a:srgbClr val="343434"/>
                </a:solidFill>
                <a:latin typeface="DM Sans"/>
                <a:ea typeface="DM Sans"/>
                <a:cs typeface="DM Sans"/>
                <a:sym typeface="DM Sans"/>
              </a:rPr>
              <a:t>t, and cadence</a:t>
            </a:r>
          </a:p>
          <a:p>
            <a:pPr algn="just">
              <a:lnSpc>
                <a:spcPts val="471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171016"/>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COMMON CHALLENGES</a:t>
            </a:r>
          </a:p>
        </p:txBody>
      </p:sp>
      <p:sp>
        <p:nvSpPr>
          <p:cNvPr name="TextBox 4" id="4"/>
          <p:cNvSpPr txBox="true"/>
          <p:nvPr/>
        </p:nvSpPr>
        <p:spPr>
          <a:xfrm rot="0">
            <a:off x="1226735" y="3800964"/>
            <a:ext cx="16032565" cy="5909672"/>
          </a:xfrm>
          <a:prstGeom prst="rect">
            <a:avLst/>
          </a:prstGeom>
        </p:spPr>
        <p:txBody>
          <a:bodyPr anchor="t" rtlCol="false" tIns="0" lIns="0" bIns="0" rIns="0">
            <a:spAutoFit/>
          </a:bodyPr>
          <a:lstStyle/>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Limited Budget &amp; Time – </a:t>
            </a:r>
            <a:r>
              <a:rPr lang="en-US" sz="3802">
                <a:solidFill>
                  <a:srgbClr val="343434"/>
                </a:solidFill>
                <a:latin typeface="DM Sans"/>
                <a:ea typeface="DM Sans"/>
                <a:cs typeface="DM Sans"/>
                <a:sym typeface="DM Sans"/>
              </a:rPr>
              <a:t>Competing priorities push training to the bottom of the list.</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Low Engagement – </a:t>
            </a:r>
            <a:r>
              <a:rPr lang="en-US" sz="3802">
                <a:solidFill>
                  <a:srgbClr val="343434"/>
                </a:solidFill>
                <a:latin typeface="DM Sans"/>
                <a:ea typeface="DM Sans"/>
                <a:cs typeface="DM Sans"/>
                <a:sym typeface="DM Sans"/>
              </a:rPr>
              <a:t>Generic, one-size-fits-all content feels irreleva</a:t>
            </a:r>
            <a:r>
              <a:rPr lang="en-US" sz="3802">
                <a:solidFill>
                  <a:srgbClr val="343434"/>
                </a:solidFill>
                <a:latin typeface="DM Sans"/>
                <a:ea typeface="DM Sans"/>
                <a:cs typeface="DM Sans"/>
                <a:sym typeface="DM Sans"/>
              </a:rPr>
              <a:t>nt to employ</a:t>
            </a:r>
            <a:r>
              <a:rPr lang="en-US" sz="3802">
                <a:solidFill>
                  <a:srgbClr val="343434"/>
                </a:solidFill>
                <a:latin typeface="DM Sans"/>
                <a:ea typeface="DM Sans"/>
                <a:cs typeface="DM Sans"/>
                <a:sym typeface="DM Sans"/>
              </a:rPr>
              <a:t>ees.</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Fast-Ch</a:t>
            </a:r>
            <a:r>
              <a:rPr lang="en-US" b="true" sz="3802">
                <a:solidFill>
                  <a:srgbClr val="343434"/>
                </a:solidFill>
                <a:latin typeface="DM Sans Bold"/>
                <a:ea typeface="DM Sans Bold"/>
                <a:cs typeface="DM Sans Bold"/>
                <a:sym typeface="DM Sans Bold"/>
              </a:rPr>
              <a:t>anging</a:t>
            </a:r>
            <a:r>
              <a:rPr lang="en-US" b="true" sz="3802">
                <a:solidFill>
                  <a:srgbClr val="343434"/>
                </a:solidFill>
                <a:latin typeface="DM Sans Bold"/>
                <a:ea typeface="DM Sans Bold"/>
                <a:cs typeface="DM Sans Bold"/>
                <a:sym typeface="DM Sans Bold"/>
              </a:rPr>
              <a:t> Threats –</a:t>
            </a:r>
            <a:r>
              <a:rPr lang="en-US" b="true" sz="3802">
                <a:solidFill>
                  <a:srgbClr val="343434"/>
                </a:solidFill>
                <a:latin typeface="DM Sans Bold"/>
                <a:ea typeface="DM Sans Bold"/>
                <a:cs typeface="DM Sans Bold"/>
                <a:sym typeface="DM Sans Bold"/>
              </a:rPr>
              <a:t> </a:t>
            </a:r>
            <a:r>
              <a:rPr lang="en-US" sz="3802">
                <a:solidFill>
                  <a:srgbClr val="343434"/>
                </a:solidFill>
                <a:latin typeface="DM Sans"/>
                <a:ea typeface="DM Sans"/>
                <a:cs typeface="DM Sans"/>
                <a:sym typeface="DM Sans"/>
              </a:rPr>
              <a:t>Content becom</a:t>
            </a:r>
            <a:r>
              <a:rPr lang="en-US" sz="3802">
                <a:solidFill>
                  <a:srgbClr val="343434"/>
                </a:solidFill>
                <a:latin typeface="DM Sans"/>
                <a:ea typeface="DM Sans"/>
                <a:cs typeface="DM Sans"/>
                <a:sym typeface="DM Sans"/>
              </a:rPr>
              <a:t>es outdated as n</a:t>
            </a:r>
            <a:r>
              <a:rPr lang="en-US" sz="3802">
                <a:solidFill>
                  <a:srgbClr val="343434"/>
                </a:solidFill>
                <a:latin typeface="DM Sans"/>
                <a:ea typeface="DM Sans"/>
                <a:cs typeface="DM Sans"/>
                <a:sym typeface="DM Sans"/>
              </a:rPr>
              <a:t>ew</a:t>
            </a:r>
            <a:r>
              <a:rPr lang="en-US" sz="3802">
                <a:solidFill>
                  <a:srgbClr val="343434"/>
                </a:solidFill>
                <a:latin typeface="DM Sans"/>
                <a:ea typeface="DM Sans"/>
                <a:cs typeface="DM Sans"/>
                <a:sym typeface="DM Sans"/>
              </a:rPr>
              <a:t> attack methods emer</a:t>
            </a:r>
            <a:r>
              <a:rPr lang="en-US" sz="3802">
                <a:solidFill>
                  <a:srgbClr val="343434"/>
                </a:solidFill>
                <a:latin typeface="DM Sans"/>
                <a:ea typeface="DM Sans"/>
                <a:cs typeface="DM Sans"/>
                <a:sym typeface="DM Sans"/>
              </a:rPr>
              <a:t>ge.</a:t>
            </a:r>
          </a:p>
          <a:p>
            <a:pPr algn="just" marL="821060" indent="-410530" lvl="1">
              <a:lnSpc>
                <a:spcPts val="5324"/>
              </a:lnSpc>
              <a:buFont typeface="Arial"/>
              <a:buChar char="•"/>
            </a:pPr>
            <a:r>
              <a:rPr lang="en-US" b="true" sz="3802">
                <a:solidFill>
                  <a:srgbClr val="343434"/>
                </a:solidFill>
                <a:latin typeface="DM Sans Bold"/>
                <a:ea typeface="DM Sans Bold"/>
                <a:cs typeface="DM Sans Bold"/>
                <a:sym typeface="DM Sans Bold"/>
              </a:rPr>
              <a:t>Mea</a:t>
            </a:r>
            <a:r>
              <a:rPr lang="en-US" b="true" sz="3802">
                <a:solidFill>
                  <a:srgbClr val="343434"/>
                </a:solidFill>
                <a:latin typeface="DM Sans Bold"/>
                <a:ea typeface="DM Sans Bold"/>
                <a:cs typeface="DM Sans Bold"/>
                <a:sym typeface="DM Sans Bold"/>
              </a:rPr>
              <a:t>suring Real Impact – </a:t>
            </a:r>
            <a:r>
              <a:rPr lang="en-US" sz="3802">
                <a:solidFill>
                  <a:srgbClr val="343434"/>
                </a:solidFill>
                <a:latin typeface="DM Sans"/>
                <a:ea typeface="DM Sans"/>
                <a:cs typeface="DM Sans"/>
                <a:sym typeface="DM Sans"/>
              </a:rPr>
              <a:t>Attendance is easy to track;</a:t>
            </a:r>
            <a:r>
              <a:rPr lang="en-US" sz="3802">
                <a:solidFill>
                  <a:srgbClr val="343434"/>
                </a:solidFill>
                <a:latin typeface="DM Sans"/>
                <a:ea typeface="DM Sans"/>
                <a:cs typeface="DM Sans"/>
                <a:sym typeface="DM Sans"/>
              </a:rPr>
              <a:t> behavior change</a:t>
            </a:r>
            <a:r>
              <a:rPr lang="en-US" sz="3802">
                <a:solidFill>
                  <a:srgbClr val="343434"/>
                </a:solidFill>
                <a:latin typeface="DM Sans"/>
                <a:ea typeface="DM Sans"/>
                <a:cs typeface="DM Sans"/>
                <a:sym typeface="DM Sans"/>
              </a:rPr>
              <a:t> is not.</a:t>
            </a:r>
          </a:p>
          <a:p>
            <a:pPr algn="just">
              <a:lnSpc>
                <a:spcPts val="471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57304" y="2171016"/>
            <a:ext cx="15483360" cy="1233169"/>
          </a:xfrm>
          <a:prstGeom prst="rect">
            <a:avLst/>
          </a:prstGeom>
        </p:spPr>
        <p:txBody>
          <a:bodyPr anchor="t" rtlCol="false" tIns="0" lIns="0" bIns="0" rIns="0">
            <a:spAutoFit/>
          </a:bodyPr>
          <a:lstStyle/>
          <a:p>
            <a:pPr algn="l">
              <a:lnSpc>
                <a:spcPts val="8680"/>
              </a:lnSpc>
            </a:pPr>
            <a:r>
              <a:rPr lang="en-US" sz="6200" b="true">
                <a:solidFill>
                  <a:srgbClr val="343434"/>
                </a:solidFill>
                <a:latin typeface="Cooper Hewitt Bold"/>
                <a:ea typeface="Cooper Hewitt Bold"/>
                <a:cs typeface="Cooper Hewitt Bold"/>
                <a:sym typeface="Cooper Hewitt Bold"/>
              </a:rPr>
              <a:t>BEST PRACTICES</a:t>
            </a:r>
          </a:p>
        </p:txBody>
      </p:sp>
      <p:sp>
        <p:nvSpPr>
          <p:cNvPr name="TextBox 4" id="4"/>
          <p:cNvSpPr txBox="true"/>
          <p:nvPr/>
        </p:nvSpPr>
        <p:spPr>
          <a:xfrm rot="0">
            <a:off x="1226735" y="3906580"/>
            <a:ext cx="16032565" cy="4576172"/>
          </a:xfrm>
          <a:prstGeom prst="rect">
            <a:avLst/>
          </a:prstGeom>
        </p:spPr>
        <p:txBody>
          <a:bodyPr anchor="t" rtlCol="false" tIns="0" lIns="0" bIns="0" rIns="0">
            <a:spAutoFit/>
          </a:bodyPr>
          <a:lstStyle/>
          <a:p>
            <a:pPr algn="just" marL="821060" indent="-410530" lvl="1">
              <a:lnSpc>
                <a:spcPts val="5324"/>
              </a:lnSpc>
              <a:buFont typeface="Arial"/>
              <a:buChar char="•"/>
            </a:pPr>
            <a:r>
              <a:rPr lang="en-US" sz="3802">
                <a:solidFill>
                  <a:srgbClr val="343434"/>
                </a:solidFill>
                <a:latin typeface="DM Sans"/>
                <a:ea typeface="DM Sans"/>
                <a:cs typeface="DM Sans"/>
                <a:sym typeface="DM Sans"/>
              </a:rPr>
              <a:t>Secure visible executive sponsorship and buy-in</a:t>
            </a:r>
          </a:p>
          <a:p>
            <a:pPr algn="just" marL="821060" indent="-410530" lvl="1">
              <a:lnSpc>
                <a:spcPts val="5324"/>
              </a:lnSpc>
              <a:buFont typeface="Arial"/>
              <a:buChar char="•"/>
            </a:pPr>
            <a:r>
              <a:rPr lang="en-US" sz="3802">
                <a:solidFill>
                  <a:srgbClr val="343434"/>
                </a:solidFill>
                <a:latin typeface="DM Sans"/>
                <a:ea typeface="DM Sans"/>
                <a:cs typeface="DM Sans"/>
                <a:sym typeface="DM Sans"/>
              </a:rPr>
              <a:t>Make content role-specific and scenario-based</a:t>
            </a:r>
          </a:p>
          <a:p>
            <a:pPr algn="just" marL="821060" indent="-410530" lvl="1">
              <a:lnSpc>
                <a:spcPts val="5324"/>
              </a:lnSpc>
              <a:buFont typeface="Arial"/>
              <a:buChar char="•"/>
            </a:pPr>
            <a:r>
              <a:rPr lang="en-US" sz="3802">
                <a:solidFill>
                  <a:srgbClr val="343434"/>
                </a:solidFill>
                <a:latin typeface="DM Sans"/>
                <a:ea typeface="DM Sans"/>
                <a:cs typeface="DM Sans"/>
                <a:sym typeface="DM Sans"/>
              </a:rPr>
              <a:t>Keep sessions short and freque</a:t>
            </a:r>
            <a:r>
              <a:rPr lang="en-US" sz="3802">
                <a:solidFill>
                  <a:srgbClr val="343434"/>
                </a:solidFill>
                <a:latin typeface="DM Sans"/>
                <a:ea typeface="DM Sans"/>
                <a:cs typeface="DM Sans"/>
                <a:sym typeface="DM Sans"/>
              </a:rPr>
              <a:t>nt, not lo</a:t>
            </a:r>
            <a:r>
              <a:rPr lang="en-US" sz="3802">
                <a:solidFill>
                  <a:srgbClr val="343434"/>
                </a:solidFill>
                <a:latin typeface="DM Sans"/>
                <a:ea typeface="DM Sans"/>
                <a:cs typeface="DM Sans"/>
                <a:sym typeface="DM Sans"/>
              </a:rPr>
              <a:t>ng and</a:t>
            </a:r>
            <a:r>
              <a:rPr lang="en-US" sz="3802">
                <a:solidFill>
                  <a:srgbClr val="343434"/>
                </a:solidFill>
                <a:latin typeface="DM Sans"/>
                <a:ea typeface="DM Sans"/>
                <a:cs typeface="DM Sans"/>
                <a:sym typeface="DM Sans"/>
              </a:rPr>
              <a:t> rare</a:t>
            </a:r>
          </a:p>
          <a:p>
            <a:pPr algn="just" marL="821060" indent="-410530" lvl="1">
              <a:lnSpc>
                <a:spcPts val="5324"/>
              </a:lnSpc>
              <a:buFont typeface="Arial"/>
              <a:buChar char="•"/>
            </a:pPr>
            <a:r>
              <a:rPr lang="en-US" sz="3802">
                <a:solidFill>
                  <a:srgbClr val="343434"/>
                </a:solidFill>
                <a:latin typeface="DM Sans"/>
                <a:ea typeface="DM Sans"/>
                <a:cs typeface="DM Sans"/>
                <a:sym typeface="DM Sans"/>
              </a:rPr>
              <a:t>Use real</a:t>
            </a:r>
            <a:r>
              <a:rPr lang="en-US" sz="3802">
                <a:solidFill>
                  <a:srgbClr val="343434"/>
                </a:solidFill>
                <a:latin typeface="DM Sans"/>
                <a:ea typeface="DM Sans"/>
                <a:cs typeface="DM Sans"/>
                <a:sym typeface="DM Sans"/>
              </a:rPr>
              <a:t> (anonymized) incid</a:t>
            </a:r>
            <a:r>
              <a:rPr lang="en-US" sz="3802">
                <a:solidFill>
                  <a:srgbClr val="343434"/>
                </a:solidFill>
                <a:latin typeface="DM Sans"/>
                <a:ea typeface="DM Sans"/>
                <a:cs typeface="DM Sans"/>
                <a:sym typeface="DM Sans"/>
              </a:rPr>
              <a:t>ents as teaching examples</a:t>
            </a:r>
          </a:p>
          <a:p>
            <a:pPr algn="just" marL="821060" indent="-410530" lvl="1">
              <a:lnSpc>
                <a:spcPts val="5324"/>
              </a:lnSpc>
              <a:buFont typeface="Arial"/>
              <a:buChar char="•"/>
            </a:pPr>
            <a:r>
              <a:rPr lang="en-US" sz="3802">
                <a:solidFill>
                  <a:srgbClr val="343434"/>
                </a:solidFill>
                <a:latin typeface="DM Sans"/>
                <a:ea typeface="DM Sans"/>
                <a:cs typeface="DM Sans"/>
                <a:sym typeface="DM Sans"/>
              </a:rPr>
              <a:t>R</a:t>
            </a:r>
            <a:r>
              <a:rPr lang="en-US" sz="3802">
                <a:solidFill>
                  <a:srgbClr val="343434"/>
                </a:solidFill>
                <a:latin typeface="DM Sans"/>
                <a:ea typeface="DM Sans"/>
                <a:cs typeface="DM Sans"/>
                <a:sym typeface="DM Sans"/>
              </a:rPr>
              <a:t>eward</a:t>
            </a:r>
            <a:r>
              <a:rPr lang="en-US" sz="3802">
                <a:solidFill>
                  <a:srgbClr val="343434"/>
                </a:solidFill>
                <a:latin typeface="DM Sans"/>
                <a:ea typeface="DM Sans"/>
                <a:cs typeface="DM Sans"/>
                <a:sym typeface="DM Sans"/>
              </a:rPr>
              <a:t> participation and r</a:t>
            </a:r>
            <a:r>
              <a:rPr lang="en-US" sz="3802">
                <a:solidFill>
                  <a:srgbClr val="343434"/>
                </a:solidFill>
                <a:latin typeface="DM Sans"/>
                <a:ea typeface="DM Sans"/>
                <a:cs typeface="DM Sans"/>
                <a:sym typeface="DM Sans"/>
              </a:rPr>
              <a:t>epo</a:t>
            </a:r>
            <a:r>
              <a:rPr lang="en-US" sz="3802">
                <a:solidFill>
                  <a:srgbClr val="343434"/>
                </a:solidFill>
                <a:latin typeface="DM Sans"/>
                <a:ea typeface="DM Sans"/>
                <a:cs typeface="DM Sans"/>
                <a:sym typeface="DM Sans"/>
              </a:rPr>
              <a:t>rting, not just compliance</a:t>
            </a:r>
          </a:p>
          <a:p>
            <a:pPr algn="just" marL="821060" indent="-410530" lvl="1">
              <a:lnSpc>
                <a:spcPts val="5324"/>
              </a:lnSpc>
              <a:buFont typeface="Arial"/>
              <a:buChar char="•"/>
            </a:pPr>
            <a:r>
              <a:rPr lang="en-US" sz="3802">
                <a:solidFill>
                  <a:srgbClr val="343434"/>
                </a:solidFill>
                <a:latin typeface="DM Sans"/>
                <a:ea typeface="DM Sans"/>
                <a:cs typeface="DM Sans"/>
                <a:sym typeface="DM Sans"/>
              </a:rPr>
              <a:t>Review and refresh content at least twice a</a:t>
            </a:r>
            <a:r>
              <a:rPr lang="en-US" sz="3802">
                <a:solidFill>
                  <a:srgbClr val="343434"/>
                </a:solidFill>
                <a:latin typeface="DM Sans"/>
                <a:ea typeface="DM Sans"/>
                <a:cs typeface="DM Sans"/>
                <a:sym typeface="DM Sans"/>
              </a:rPr>
              <a:t> year</a:t>
            </a:r>
          </a:p>
          <a:p>
            <a:pPr algn="just">
              <a:lnSpc>
                <a:spcPts val="4715"/>
              </a:lnSpc>
            </a:pPr>
          </a:p>
        </p:txBody>
      </p:sp>
      <p:sp>
        <p:nvSpPr>
          <p:cNvPr name="TextBox 5" id="5"/>
          <p:cNvSpPr txBox="true"/>
          <p:nvPr/>
        </p:nvSpPr>
        <p:spPr>
          <a:xfrm rot="0">
            <a:off x="16299689"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DUQUE</a:t>
            </a:r>
          </a:p>
        </p:txBody>
      </p:sp>
      <p:sp>
        <p:nvSpPr>
          <p:cNvPr name="Freeform 6" id="6"/>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806339" y="1111346"/>
            <a:ext cx="12550642" cy="528182"/>
          </a:xfrm>
          <a:prstGeom prst="rect">
            <a:avLst/>
          </a:prstGeom>
        </p:spPr>
        <p:txBody>
          <a:bodyPr anchor="t" rtlCol="false" tIns="0" lIns="0" bIns="0" rIns="0">
            <a:spAutoFit/>
          </a:bodyPr>
          <a:lstStyle/>
          <a:p>
            <a:pPr algn="ctr">
              <a:lnSpc>
                <a:spcPts val="4118"/>
              </a:lnSpc>
            </a:pPr>
            <a:r>
              <a:rPr lang="en-US" sz="3710" spc="-226">
                <a:solidFill>
                  <a:srgbClr val="343434"/>
                </a:solidFill>
                <a:latin typeface="DM Sans"/>
                <a:ea typeface="DM Sans"/>
                <a:cs typeface="DM Sans"/>
                <a:sym typeface="DM Sans"/>
              </a:rPr>
              <a:t>DEVELOPING AND IMPLEMENTING A SECURITY TRAINING PLAN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1987812"/>
            <a:ext cx="1548336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WHAT IS CROSS-DOMAIN TRAINING?</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222563" y="3526939"/>
            <a:ext cx="11944709" cy="5147784"/>
          </a:xfrm>
          <a:prstGeom prst="rect">
            <a:avLst/>
          </a:prstGeom>
        </p:spPr>
        <p:txBody>
          <a:bodyPr anchor="t" rtlCol="false" tIns="0" lIns="0" bIns="0" rIns="0">
            <a:spAutoFit/>
          </a:bodyPr>
          <a:lstStyle/>
          <a:p>
            <a:pPr algn="just">
              <a:lnSpc>
                <a:spcPts val="3787"/>
              </a:lnSpc>
            </a:pPr>
            <a:r>
              <a:rPr lang="en-US" sz="2705">
                <a:solidFill>
                  <a:srgbClr val="343434"/>
                </a:solidFill>
                <a:latin typeface="DM Sans"/>
                <a:ea typeface="DM Sans"/>
                <a:cs typeface="DM Sans"/>
                <a:sym typeface="DM Sans"/>
              </a:rPr>
              <a:t>Cross-domain training is the process of training people from different security areas to understand how their responsibilities are connected.</a:t>
            </a:r>
          </a:p>
          <a:p>
            <a:pPr algn="just">
              <a:lnSpc>
                <a:spcPts val="3787"/>
              </a:lnSpc>
            </a:pPr>
            <a:r>
              <a:rPr lang="en-US" sz="2705">
                <a:solidFill>
                  <a:srgbClr val="343434"/>
                </a:solidFill>
                <a:latin typeface="DM Sans"/>
                <a:ea typeface="DM Sans"/>
                <a:cs typeface="DM Sans"/>
                <a:sym typeface="DM Sans"/>
              </a:rPr>
              <a:t>I</a:t>
            </a:r>
            <a:r>
              <a:rPr lang="en-US" sz="2705">
                <a:solidFill>
                  <a:srgbClr val="343434"/>
                </a:solidFill>
                <a:latin typeface="DM Sans"/>
                <a:ea typeface="DM Sans"/>
                <a:cs typeface="DM Sans"/>
                <a:sym typeface="DM Sans"/>
              </a:rPr>
              <a:t>t combi</a:t>
            </a:r>
            <a:r>
              <a:rPr lang="en-US" sz="2705">
                <a:solidFill>
                  <a:srgbClr val="343434"/>
                </a:solidFill>
                <a:latin typeface="DM Sans"/>
                <a:ea typeface="DM Sans"/>
                <a:cs typeface="DM Sans"/>
                <a:sym typeface="DM Sans"/>
              </a:rPr>
              <a:t>nes knowledge from:</a:t>
            </a:r>
          </a:p>
          <a:p>
            <a:pPr algn="just">
              <a:lnSpc>
                <a:spcPts val="3787"/>
              </a:lnSpc>
            </a:pPr>
          </a:p>
          <a:p>
            <a:pPr algn="just" marL="584089" indent="-292044" lvl="1">
              <a:lnSpc>
                <a:spcPts val="3787"/>
              </a:lnSpc>
              <a:buFont typeface="Arial"/>
              <a:buChar char="•"/>
            </a:pPr>
            <a:r>
              <a:rPr lang="en-US" sz="2705">
                <a:solidFill>
                  <a:srgbClr val="343434"/>
                </a:solidFill>
                <a:latin typeface="DM Sans"/>
                <a:ea typeface="DM Sans"/>
                <a:cs typeface="DM Sans"/>
                <a:sym typeface="DM Sans"/>
              </a:rPr>
              <a:t>IT Security</a:t>
            </a:r>
          </a:p>
          <a:p>
            <a:pPr algn="just" marL="584089" indent="-292044" lvl="1">
              <a:lnSpc>
                <a:spcPts val="3787"/>
              </a:lnSpc>
              <a:buFont typeface="Arial"/>
              <a:buChar char="•"/>
            </a:pPr>
            <a:r>
              <a:rPr lang="en-US" sz="2705">
                <a:solidFill>
                  <a:srgbClr val="343434"/>
                </a:solidFill>
                <a:latin typeface="DM Sans"/>
                <a:ea typeface="DM Sans"/>
                <a:cs typeface="DM Sans"/>
                <a:sym typeface="DM Sans"/>
              </a:rPr>
              <a:t>Physical Security</a:t>
            </a:r>
          </a:p>
          <a:p>
            <a:pPr algn="just" marL="584089" indent="-292044" lvl="1">
              <a:lnSpc>
                <a:spcPts val="3787"/>
              </a:lnSpc>
              <a:buFont typeface="Arial"/>
              <a:buChar char="•"/>
            </a:pPr>
            <a:r>
              <a:rPr lang="en-US" sz="2705">
                <a:solidFill>
                  <a:srgbClr val="343434"/>
                </a:solidFill>
                <a:latin typeface="DM Sans"/>
                <a:ea typeface="DM Sans"/>
                <a:cs typeface="DM Sans"/>
                <a:sym typeface="DM Sans"/>
              </a:rPr>
              <a:t>Hum</a:t>
            </a:r>
            <a:r>
              <a:rPr lang="en-US" sz="2705">
                <a:solidFill>
                  <a:srgbClr val="343434"/>
                </a:solidFill>
                <a:latin typeface="DM Sans"/>
                <a:ea typeface="DM Sans"/>
                <a:cs typeface="DM Sans"/>
                <a:sym typeface="DM Sans"/>
              </a:rPr>
              <a:t>an Resources</a:t>
            </a:r>
          </a:p>
          <a:p>
            <a:pPr algn="just" marL="584089" indent="-292044" lvl="1">
              <a:lnSpc>
                <a:spcPts val="3787"/>
              </a:lnSpc>
              <a:buFont typeface="Arial"/>
              <a:buChar char="•"/>
            </a:pPr>
            <a:r>
              <a:rPr lang="en-US" sz="2705">
                <a:solidFill>
                  <a:srgbClr val="343434"/>
                </a:solidFill>
                <a:latin typeface="DM Sans"/>
                <a:ea typeface="DM Sans"/>
                <a:cs typeface="DM Sans"/>
                <a:sym typeface="DM Sans"/>
              </a:rPr>
              <a:t>Legal and Compliance</a:t>
            </a:r>
          </a:p>
          <a:p>
            <a:pPr algn="just" marL="584089" indent="-292044" lvl="1">
              <a:lnSpc>
                <a:spcPts val="3787"/>
              </a:lnSpc>
              <a:buFont typeface="Arial"/>
              <a:buChar char="•"/>
            </a:pPr>
            <a:r>
              <a:rPr lang="en-US" sz="2705">
                <a:solidFill>
                  <a:srgbClr val="343434"/>
                </a:solidFill>
                <a:latin typeface="DM Sans"/>
                <a:ea typeface="DM Sans"/>
                <a:cs typeface="DM Sans"/>
                <a:sym typeface="DM Sans"/>
              </a:rPr>
              <a:t>Risk</a:t>
            </a:r>
            <a:r>
              <a:rPr lang="en-US" sz="2705">
                <a:solidFill>
                  <a:srgbClr val="343434"/>
                </a:solidFill>
                <a:latin typeface="DM Sans"/>
                <a:ea typeface="DM Sans"/>
                <a:cs typeface="DM Sans"/>
                <a:sym typeface="DM Sans"/>
              </a:rPr>
              <a:t> Management</a:t>
            </a:r>
          </a:p>
          <a:p>
            <a:pPr algn="just" marL="584089" indent="-292044" lvl="1">
              <a:lnSpc>
                <a:spcPts val="3787"/>
              </a:lnSpc>
              <a:buFont typeface="Arial"/>
              <a:buChar char="•"/>
            </a:pPr>
            <a:r>
              <a:rPr lang="en-US" sz="2705">
                <a:solidFill>
                  <a:srgbClr val="343434"/>
                </a:solidFill>
                <a:latin typeface="DM Sans"/>
                <a:ea typeface="DM Sans"/>
                <a:cs typeface="DM Sans"/>
                <a:sym typeface="DM Sans"/>
              </a:rPr>
              <a:t>Business Operations</a:t>
            </a:r>
          </a:p>
          <a:p>
            <a:pPr algn="just">
              <a:lnSpc>
                <a:spcPts val="3787"/>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
        <p:nvSpPr>
          <p:cNvPr name="TextBox 12" id="12"/>
          <p:cNvSpPr txBox="true"/>
          <p:nvPr/>
        </p:nvSpPr>
        <p:spPr>
          <a:xfrm rot="0">
            <a:off x="1222563" y="8707387"/>
            <a:ext cx="16350080" cy="1003249"/>
          </a:xfrm>
          <a:prstGeom prst="rect">
            <a:avLst/>
          </a:prstGeom>
        </p:spPr>
        <p:txBody>
          <a:bodyPr anchor="t" rtlCol="false" tIns="0" lIns="0" bIns="0" rIns="0">
            <a:spAutoFit/>
          </a:bodyPr>
          <a:lstStyle/>
          <a:p>
            <a:pPr algn="just">
              <a:lnSpc>
                <a:spcPts val="2752"/>
              </a:lnSpc>
            </a:pPr>
            <a:r>
              <a:rPr lang="en-US" sz="1966">
                <a:solidFill>
                  <a:srgbClr val="343434"/>
                </a:solidFill>
                <a:latin typeface="DM Sans"/>
                <a:ea typeface="DM Sans"/>
                <a:cs typeface="DM Sans"/>
                <a:sym typeface="DM Sans"/>
              </a:rPr>
              <a:t>Main goal:</a:t>
            </a:r>
          </a:p>
          <a:p>
            <a:pPr algn="just">
              <a:lnSpc>
                <a:spcPts val="2752"/>
              </a:lnSpc>
            </a:pPr>
            <a:r>
              <a:rPr lang="en-US" sz="1966">
                <a:solidFill>
                  <a:srgbClr val="343434"/>
                </a:solidFill>
                <a:latin typeface="DM Sans"/>
                <a:ea typeface="DM Sans"/>
                <a:cs typeface="DM Sans"/>
                <a:sym typeface="DM Sans"/>
              </a:rPr>
              <a:t> To create better cooperation between different departments.</a:t>
            </a:r>
          </a:p>
          <a:p>
            <a:pPr algn="just">
              <a:lnSpc>
                <a:spcPts val="2752"/>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WHY IS CROSS-DOMAIN TRAINING IMPORTANT?</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357304" y="3677280"/>
            <a:ext cx="10021438" cy="5199215"/>
          </a:xfrm>
          <a:prstGeom prst="rect">
            <a:avLst/>
          </a:prstGeom>
        </p:spPr>
        <p:txBody>
          <a:bodyPr anchor="t" rtlCol="false" tIns="0" lIns="0" bIns="0" rIns="0">
            <a:spAutoFit/>
          </a:bodyPr>
          <a:lstStyle/>
          <a:p>
            <a:pPr algn="just">
              <a:lnSpc>
                <a:spcPts val="4681"/>
              </a:lnSpc>
            </a:pPr>
            <a:r>
              <a:rPr lang="en-US" sz="3343">
                <a:solidFill>
                  <a:srgbClr val="343434"/>
                </a:solidFill>
                <a:latin typeface="DM Sans"/>
                <a:ea typeface="DM Sans"/>
                <a:cs typeface="DM Sans"/>
                <a:sym typeface="DM Sans"/>
              </a:rPr>
              <a:t>Cross-domain training helps organizations:</a:t>
            </a:r>
          </a:p>
          <a:p>
            <a:pPr algn="just">
              <a:lnSpc>
                <a:spcPts val="4681"/>
              </a:lnSpc>
            </a:pPr>
          </a:p>
          <a:p>
            <a:pPr algn="just" marL="721914" indent="-360957" lvl="1">
              <a:lnSpc>
                <a:spcPts val="4681"/>
              </a:lnSpc>
              <a:buFont typeface="Arial"/>
              <a:buChar char="•"/>
            </a:pPr>
            <a:r>
              <a:rPr lang="en-US" sz="3343">
                <a:solidFill>
                  <a:srgbClr val="343434"/>
                </a:solidFill>
                <a:latin typeface="DM Sans"/>
                <a:ea typeface="DM Sans"/>
                <a:cs typeface="DM Sans"/>
                <a:sym typeface="DM Sans"/>
              </a:rPr>
              <a:t>Improve communication</a:t>
            </a:r>
          </a:p>
          <a:p>
            <a:pPr algn="just" marL="721914" indent="-360957" lvl="1">
              <a:lnSpc>
                <a:spcPts val="4681"/>
              </a:lnSpc>
              <a:buFont typeface="Arial"/>
              <a:buChar char="•"/>
            </a:pPr>
            <a:r>
              <a:rPr lang="en-US" sz="3343">
                <a:solidFill>
                  <a:srgbClr val="343434"/>
                </a:solidFill>
                <a:latin typeface="DM Sans"/>
                <a:ea typeface="DM Sans"/>
                <a:cs typeface="DM Sans"/>
                <a:sym typeface="DM Sans"/>
              </a:rPr>
              <a:t>Identify risks faster</a:t>
            </a:r>
          </a:p>
          <a:p>
            <a:pPr algn="just" marL="721914" indent="-360957" lvl="1">
              <a:lnSpc>
                <a:spcPts val="4681"/>
              </a:lnSpc>
              <a:buFont typeface="Arial"/>
              <a:buChar char="•"/>
            </a:pPr>
            <a:r>
              <a:rPr lang="en-US" sz="3343">
                <a:solidFill>
                  <a:srgbClr val="343434"/>
                </a:solidFill>
                <a:latin typeface="DM Sans"/>
                <a:ea typeface="DM Sans"/>
                <a:cs typeface="DM Sans"/>
                <a:sym typeface="DM Sans"/>
              </a:rPr>
              <a:t>Reduce human errors</a:t>
            </a:r>
          </a:p>
          <a:p>
            <a:pPr algn="just" marL="721914" indent="-360957" lvl="1">
              <a:lnSpc>
                <a:spcPts val="4681"/>
              </a:lnSpc>
              <a:buFont typeface="Arial"/>
              <a:buChar char="•"/>
            </a:pPr>
            <a:r>
              <a:rPr lang="en-US" sz="3343">
                <a:solidFill>
                  <a:srgbClr val="343434"/>
                </a:solidFill>
                <a:latin typeface="DM Sans"/>
                <a:ea typeface="DM Sans"/>
                <a:cs typeface="DM Sans"/>
                <a:sym typeface="DM Sans"/>
              </a:rPr>
              <a:t>Coordinate during incidents</a:t>
            </a:r>
          </a:p>
          <a:p>
            <a:pPr algn="just" marL="721914" indent="-360957" lvl="1">
              <a:lnSpc>
                <a:spcPts val="4681"/>
              </a:lnSpc>
              <a:buFont typeface="Arial"/>
              <a:buChar char="•"/>
            </a:pPr>
            <a:r>
              <a:rPr lang="en-US" sz="3343">
                <a:solidFill>
                  <a:srgbClr val="343434"/>
                </a:solidFill>
                <a:latin typeface="DM Sans"/>
                <a:ea typeface="DM Sans"/>
                <a:cs typeface="DM Sans"/>
                <a:sym typeface="DM Sans"/>
              </a:rPr>
              <a:t>Protec</a:t>
            </a:r>
            <a:r>
              <a:rPr lang="en-US" sz="3343">
                <a:solidFill>
                  <a:srgbClr val="343434"/>
                </a:solidFill>
                <a:latin typeface="DM Sans"/>
                <a:ea typeface="DM Sans"/>
                <a:cs typeface="DM Sans"/>
                <a:sym typeface="DM Sans"/>
              </a:rPr>
              <a:t>t i</a:t>
            </a:r>
            <a:r>
              <a:rPr lang="en-US" sz="3343">
                <a:solidFill>
                  <a:srgbClr val="343434"/>
                </a:solidFill>
                <a:latin typeface="DM Sans"/>
                <a:ea typeface="DM Sans"/>
                <a:cs typeface="DM Sans"/>
                <a:sym typeface="DM Sans"/>
              </a:rPr>
              <a:t>nformation and resources</a:t>
            </a:r>
          </a:p>
          <a:p>
            <a:pPr algn="just" marL="721914" indent="-360957" lvl="1">
              <a:lnSpc>
                <a:spcPts val="4681"/>
              </a:lnSpc>
              <a:buFont typeface="Arial"/>
              <a:buChar char="•"/>
            </a:pPr>
            <a:r>
              <a:rPr lang="en-US" sz="3343">
                <a:solidFill>
                  <a:srgbClr val="343434"/>
                </a:solidFill>
                <a:latin typeface="DM Sans"/>
                <a:ea typeface="DM Sans"/>
                <a:cs typeface="DM Sans"/>
                <a:sym typeface="DM Sans"/>
              </a:rPr>
              <a:t>Str</a:t>
            </a:r>
            <a:r>
              <a:rPr lang="en-US" sz="3343">
                <a:solidFill>
                  <a:srgbClr val="343434"/>
                </a:solidFill>
                <a:latin typeface="DM Sans"/>
                <a:ea typeface="DM Sans"/>
                <a:cs typeface="DM Sans"/>
                <a:sym typeface="DM Sans"/>
              </a:rPr>
              <a:t>engthen secur</a:t>
            </a:r>
            <a:r>
              <a:rPr lang="en-US" sz="3343">
                <a:solidFill>
                  <a:srgbClr val="343434"/>
                </a:solidFill>
                <a:latin typeface="DM Sans"/>
                <a:ea typeface="DM Sans"/>
                <a:cs typeface="DM Sans"/>
                <a:sym typeface="DM Sans"/>
              </a:rPr>
              <a:t>ity</a:t>
            </a:r>
            <a:r>
              <a:rPr lang="en-US" sz="3343">
                <a:solidFill>
                  <a:srgbClr val="343434"/>
                </a:solidFill>
                <a:latin typeface="DM Sans"/>
                <a:ea typeface="DM Sans"/>
                <a:cs typeface="DM Sans"/>
                <a:sym typeface="DM Sans"/>
              </a:rPr>
              <a:t> awareness</a:t>
            </a:r>
          </a:p>
          <a:p>
            <a:pPr algn="just">
              <a:lnSpc>
                <a:spcPts val="4681"/>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IT SECURITY AND PHYSICAL SECURITY</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357304" y="3318636"/>
            <a:ext cx="13973232" cy="5713541"/>
          </a:xfrm>
          <a:prstGeom prst="rect">
            <a:avLst/>
          </a:prstGeom>
        </p:spPr>
        <p:txBody>
          <a:bodyPr anchor="t" rtlCol="false" tIns="0" lIns="0" bIns="0" rIns="0">
            <a:spAutoFit/>
          </a:bodyPr>
          <a:lstStyle/>
          <a:p>
            <a:pPr algn="just">
              <a:lnSpc>
                <a:spcPts val="3552"/>
              </a:lnSpc>
            </a:pPr>
            <a:r>
              <a:rPr lang="en-US" sz="2537">
                <a:solidFill>
                  <a:srgbClr val="343434"/>
                </a:solidFill>
                <a:latin typeface="DM Sans"/>
                <a:ea typeface="DM Sans"/>
                <a:cs typeface="DM Sans"/>
                <a:sym typeface="DM Sans"/>
              </a:rPr>
              <a:t>IT Security Examples: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Passwords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Firewalls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Access controls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A</a:t>
            </a:r>
            <a:r>
              <a:rPr lang="en-US" sz="2537">
                <a:solidFill>
                  <a:srgbClr val="343434"/>
                </a:solidFill>
                <a:latin typeface="DM Sans"/>
                <a:ea typeface="DM Sans"/>
                <a:cs typeface="DM Sans"/>
                <a:sym typeface="DM Sans"/>
              </a:rPr>
              <a:t>ntivirus</a:t>
            </a:r>
          </a:p>
          <a:p>
            <a:pPr algn="just">
              <a:lnSpc>
                <a:spcPts val="3552"/>
              </a:lnSpc>
            </a:pPr>
            <a:r>
              <a:rPr lang="en-US" sz="2537">
                <a:solidFill>
                  <a:srgbClr val="343434"/>
                </a:solidFill>
                <a:latin typeface="DM Sans"/>
                <a:ea typeface="DM Sans"/>
                <a:cs typeface="DM Sans"/>
                <a:sym typeface="DM Sans"/>
              </a:rPr>
              <a:t>Physical Security Examples: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CCTV</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S</a:t>
            </a:r>
            <a:r>
              <a:rPr lang="en-US" sz="2537">
                <a:solidFill>
                  <a:srgbClr val="343434"/>
                </a:solidFill>
                <a:latin typeface="DM Sans"/>
                <a:ea typeface="DM Sans"/>
                <a:cs typeface="DM Sans"/>
                <a:sym typeface="DM Sans"/>
              </a:rPr>
              <a:t>ecurity guards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D</a:t>
            </a:r>
            <a:r>
              <a:rPr lang="en-US" sz="2537">
                <a:solidFill>
                  <a:srgbClr val="343434"/>
                </a:solidFill>
                <a:latin typeface="DM Sans"/>
                <a:ea typeface="DM Sans"/>
                <a:cs typeface="DM Sans"/>
                <a:sym typeface="DM Sans"/>
              </a:rPr>
              <a:t>oor locks</a:t>
            </a:r>
          </a:p>
          <a:p>
            <a:pPr algn="just" marL="547918" indent="-273959" lvl="1">
              <a:lnSpc>
                <a:spcPts val="3552"/>
              </a:lnSpc>
              <a:buFont typeface="Arial"/>
              <a:buChar char="•"/>
            </a:pPr>
            <a:r>
              <a:rPr lang="en-US" sz="2537">
                <a:solidFill>
                  <a:srgbClr val="343434"/>
                </a:solidFill>
                <a:latin typeface="DM Sans"/>
                <a:ea typeface="DM Sans"/>
                <a:cs typeface="DM Sans"/>
                <a:sym typeface="DM Sans"/>
              </a:rPr>
              <a:t>Access cards</a:t>
            </a:r>
          </a:p>
          <a:p>
            <a:pPr algn="just">
              <a:lnSpc>
                <a:spcPts val="3552"/>
              </a:lnSpc>
            </a:pPr>
            <a:r>
              <a:rPr lang="en-US" sz="2537">
                <a:solidFill>
                  <a:srgbClr val="343434"/>
                </a:solidFill>
                <a:latin typeface="DM Sans"/>
                <a:ea typeface="DM Sans"/>
                <a:cs typeface="DM Sans"/>
                <a:sym typeface="DM Sans"/>
              </a:rPr>
              <a:t>C</a:t>
            </a:r>
            <a:r>
              <a:rPr lang="en-US" sz="2537">
                <a:solidFill>
                  <a:srgbClr val="343434"/>
                </a:solidFill>
                <a:latin typeface="DM Sans"/>
                <a:ea typeface="DM Sans"/>
                <a:cs typeface="DM Sans"/>
                <a:sym typeface="DM Sans"/>
              </a:rPr>
              <a:t>onnec</a:t>
            </a:r>
            <a:r>
              <a:rPr lang="en-US" sz="2537">
                <a:solidFill>
                  <a:srgbClr val="343434"/>
                </a:solidFill>
                <a:latin typeface="DM Sans"/>
                <a:ea typeface="DM Sans"/>
                <a:cs typeface="DM Sans"/>
                <a:sym typeface="DM Sans"/>
              </a:rPr>
              <a:t>t</a:t>
            </a:r>
            <a:r>
              <a:rPr lang="en-US" sz="2537">
                <a:solidFill>
                  <a:srgbClr val="343434"/>
                </a:solidFill>
                <a:latin typeface="DM Sans"/>
                <a:ea typeface="DM Sans"/>
                <a:cs typeface="DM Sans"/>
                <a:sym typeface="DM Sans"/>
              </a:rPr>
              <a:t>ion:</a:t>
            </a:r>
          </a:p>
          <a:p>
            <a:pPr algn="just">
              <a:lnSpc>
                <a:spcPts val="3552"/>
              </a:lnSpc>
            </a:pPr>
            <a:r>
              <a:rPr lang="en-US" sz="2537">
                <a:solidFill>
                  <a:srgbClr val="343434"/>
                </a:solidFill>
                <a:latin typeface="DM Sans"/>
                <a:ea typeface="DM Sans"/>
                <a:cs typeface="DM Sans"/>
                <a:sym typeface="DM Sans"/>
              </a:rPr>
              <a:t> A s</a:t>
            </a:r>
            <a:r>
              <a:rPr lang="en-US" sz="2537">
                <a:solidFill>
                  <a:srgbClr val="343434"/>
                </a:solidFill>
                <a:latin typeface="DM Sans"/>
                <a:ea typeface="DM Sans"/>
                <a:cs typeface="DM Sans"/>
                <a:sym typeface="DM Sans"/>
              </a:rPr>
              <a:t>tol</a:t>
            </a:r>
            <a:r>
              <a:rPr lang="en-US" sz="2537">
                <a:solidFill>
                  <a:srgbClr val="343434"/>
                </a:solidFill>
                <a:latin typeface="DM Sans"/>
                <a:ea typeface="DM Sans"/>
                <a:cs typeface="DM Sans"/>
                <a:sym typeface="DM Sans"/>
              </a:rPr>
              <a:t>en computer can lead </a:t>
            </a:r>
            <a:r>
              <a:rPr lang="en-US" sz="2537">
                <a:solidFill>
                  <a:srgbClr val="343434"/>
                </a:solidFill>
                <a:latin typeface="DM Sans"/>
                <a:ea typeface="DM Sans"/>
                <a:cs typeface="DM Sans"/>
                <a:sym typeface="DM Sans"/>
              </a:rPr>
              <a:t>to a</a:t>
            </a:r>
            <a:r>
              <a:rPr lang="en-US" sz="2537">
                <a:solidFill>
                  <a:srgbClr val="343434"/>
                </a:solidFill>
                <a:latin typeface="DM Sans"/>
                <a:ea typeface="DM Sans"/>
                <a:cs typeface="DM Sans"/>
                <a:sym typeface="DM Sans"/>
              </a:rPr>
              <a:t> data breach.</a:t>
            </a:r>
          </a:p>
          <a:p>
            <a:pPr algn="just">
              <a:lnSpc>
                <a:spcPts val="3552"/>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IT SECURITY AND HUMAN RESOURCES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462902" y="4184917"/>
            <a:ext cx="14566641" cy="3656569"/>
          </a:xfrm>
          <a:prstGeom prst="rect">
            <a:avLst/>
          </a:prstGeom>
        </p:spPr>
        <p:txBody>
          <a:bodyPr anchor="t" rtlCol="false" tIns="0" lIns="0" bIns="0" rIns="0">
            <a:spAutoFit/>
          </a:bodyPr>
          <a:lstStyle/>
          <a:p>
            <a:pPr algn="just">
              <a:lnSpc>
                <a:spcPts val="3703"/>
              </a:lnSpc>
            </a:pPr>
            <a:r>
              <a:rPr lang="en-US" sz="2645">
                <a:solidFill>
                  <a:srgbClr val="343434"/>
                </a:solidFill>
                <a:latin typeface="DM Sans"/>
                <a:ea typeface="DM Sans"/>
                <a:cs typeface="DM Sans"/>
                <a:sym typeface="DM Sans"/>
              </a:rPr>
              <a:t>HR and IT must work together to protect employee accounts and information. Through cross-domain training, both departments can learn how to properly handle employee onboarding, account creation, access permissions, security awareness, employee offboarding, and potential insider threats. For example, when an employee leaves the organiza</a:t>
            </a:r>
            <a:r>
              <a:rPr lang="en-US" sz="2645">
                <a:solidFill>
                  <a:srgbClr val="343434"/>
                </a:solidFill>
                <a:latin typeface="DM Sans"/>
                <a:ea typeface="DM Sans"/>
                <a:cs typeface="DM Sans"/>
                <a:sym typeface="DM Sans"/>
              </a:rPr>
              <a:t>t</a:t>
            </a:r>
            <a:r>
              <a:rPr lang="en-US" sz="2645">
                <a:solidFill>
                  <a:srgbClr val="343434"/>
                </a:solidFill>
                <a:latin typeface="DM Sans"/>
                <a:ea typeface="DM Sans"/>
                <a:cs typeface="DM Sans"/>
                <a:sym typeface="DM Sans"/>
              </a:rPr>
              <a:t>ion, HR sh</a:t>
            </a:r>
            <a:r>
              <a:rPr lang="en-US" sz="2645">
                <a:solidFill>
                  <a:srgbClr val="343434"/>
                </a:solidFill>
                <a:latin typeface="DM Sans"/>
                <a:ea typeface="DM Sans"/>
                <a:cs typeface="DM Sans"/>
                <a:sym typeface="DM Sans"/>
              </a:rPr>
              <a:t>ould inform the IT departm</a:t>
            </a:r>
            <a:r>
              <a:rPr lang="en-US" sz="2645">
                <a:solidFill>
                  <a:srgbClr val="343434"/>
                </a:solidFill>
                <a:latin typeface="DM Sans"/>
                <a:ea typeface="DM Sans"/>
                <a:cs typeface="DM Sans"/>
                <a:sym typeface="DM Sans"/>
              </a:rPr>
              <a:t>ent so that the employee’s accounts and system access can be immediately disabled. This coordina</a:t>
            </a:r>
            <a:r>
              <a:rPr lang="en-US" sz="2645">
                <a:solidFill>
                  <a:srgbClr val="343434"/>
                </a:solidFill>
                <a:latin typeface="DM Sans"/>
                <a:ea typeface="DM Sans"/>
                <a:cs typeface="DM Sans"/>
                <a:sym typeface="DM Sans"/>
              </a:rPr>
              <a:t>tion helps prevent unauthorize</a:t>
            </a:r>
            <a:r>
              <a:rPr lang="en-US" sz="2645">
                <a:solidFill>
                  <a:srgbClr val="343434"/>
                </a:solidFill>
                <a:latin typeface="DM Sans"/>
                <a:ea typeface="DM Sans"/>
                <a:cs typeface="DM Sans"/>
                <a:sym typeface="DM Sans"/>
              </a:rPr>
              <a:t>d access and protects the organization’s sensitive information.</a:t>
            </a:r>
          </a:p>
          <a:p>
            <a:pPr algn="just">
              <a:lnSpc>
                <a:spcPts val="3703"/>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IT SECURITY AND LEGAL/COMPLIANCE</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462902" y="3991605"/>
            <a:ext cx="14566641" cy="4116087"/>
          </a:xfrm>
          <a:prstGeom prst="rect">
            <a:avLst/>
          </a:prstGeom>
        </p:spPr>
        <p:txBody>
          <a:bodyPr anchor="t" rtlCol="false" tIns="0" lIns="0" bIns="0" rIns="0">
            <a:spAutoFit/>
          </a:bodyPr>
          <a:lstStyle/>
          <a:p>
            <a:pPr algn="just">
              <a:lnSpc>
                <a:spcPts val="3703"/>
              </a:lnSpc>
            </a:pPr>
            <a:r>
              <a:rPr lang="en-US" sz="2645">
                <a:solidFill>
                  <a:srgbClr val="343434"/>
                </a:solidFill>
                <a:latin typeface="DM Sans"/>
                <a:ea typeface="DM Sans"/>
                <a:cs typeface="DM Sans"/>
                <a:sym typeface="DM Sans"/>
              </a:rPr>
              <a:t>Security must follow organizational policies and applicable laws.</a:t>
            </a:r>
          </a:p>
          <a:p>
            <a:pPr algn="just">
              <a:lnSpc>
                <a:spcPts val="3703"/>
              </a:lnSpc>
            </a:pPr>
            <a:r>
              <a:rPr lang="en-US" sz="2645">
                <a:solidFill>
                  <a:srgbClr val="343434"/>
                </a:solidFill>
                <a:latin typeface="DM Sans"/>
                <a:ea typeface="DM Sans"/>
                <a:cs typeface="DM Sans"/>
                <a:sym typeface="DM Sans"/>
              </a:rPr>
              <a:t>IT and Legal/Compliance teams sh</a:t>
            </a:r>
            <a:r>
              <a:rPr lang="en-US" sz="2645">
                <a:solidFill>
                  <a:srgbClr val="343434"/>
                </a:solidFill>
                <a:latin typeface="DM Sans"/>
                <a:ea typeface="DM Sans"/>
                <a:cs typeface="DM Sans"/>
                <a:sym typeface="DM Sans"/>
              </a:rPr>
              <a:t>ould under</a:t>
            </a:r>
            <a:r>
              <a:rPr lang="en-US" sz="2645">
                <a:solidFill>
                  <a:srgbClr val="343434"/>
                </a:solidFill>
                <a:latin typeface="DM Sans"/>
                <a:ea typeface="DM Sans"/>
                <a:cs typeface="DM Sans"/>
                <a:sym typeface="DM Sans"/>
              </a:rPr>
              <a:t>stand:</a:t>
            </a:r>
          </a:p>
          <a:p>
            <a:pPr algn="just">
              <a:lnSpc>
                <a:spcPts val="3703"/>
              </a:lnSpc>
            </a:pPr>
          </a:p>
          <a:p>
            <a:pPr algn="just" marL="571186" indent="-285593" lvl="1">
              <a:lnSpc>
                <a:spcPts val="3703"/>
              </a:lnSpc>
              <a:buFont typeface="Arial"/>
              <a:buChar char="•"/>
            </a:pPr>
            <a:r>
              <a:rPr lang="en-US" sz="2645">
                <a:solidFill>
                  <a:srgbClr val="343434"/>
                </a:solidFill>
                <a:latin typeface="DM Sans"/>
                <a:ea typeface="DM Sans"/>
                <a:cs typeface="DM Sans"/>
                <a:sym typeface="DM Sans"/>
              </a:rPr>
              <a:t>Data protection</a:t>
            </a:r>
          </a:p>
          <a:p>
            <a:pPr algn="just" marL="571186" indent="-285593" lvl="1">
              <a:lnSpc>
                <a:spcPts val="3703"/>
              </a:lnSpc>
              <a:buFont typeface="Arial"/>
              <a:buChar char="•"/>
            </a:pPr>
            <a:r>
              <a:rPr lang="en-US" sz="2645">
                <a:solidFill>
                  <a:srgbClr val="343434"/>
                </a:solidFill>
                <a:latin typeface="DM Sans"/>
                <a:ea typeface="DM Sans"/>
                <a:cs typeface="DM Sans"/>
                <a:sym typeface="DM Sans"/>
              </a:rPr>
              <a:t>Privacy requirements</a:t>
            </a:r>
          </a:p>
          <a:p>
            <a:pPr algn="just" marL="571186" indent="-285593" lvl="1">
              <a:lnSpc>
                <a:spcPts val="3703"/>
              </a:lnSpc>
              <a:buFont typeface="Arial"/>
              <a:buChar char="•"/>
            </a:pPr>
            <a:r>
              <a:rPr lang="en-US" sz="2645">
                <a:solidFill>
                  <a:srgbClr val="343434"/>
                </a:solidFill>
                <a:latin typeface="DM Sans"/>
                <a:ea typeface="DM Sans"/>
                <a:cs typeface="DM Sans"/>
                <a:sym typeface="DM Sans"/>
              </a:rPr>
              <a:t>Security policies</a:t>
            </a:r>
          </a:p>
          <a:p>
            <a:pPr algn="just" marL="571186" indent="-285593" lvl="1">
              <a:lnSpc>
                <a:spcPts val="3703"/>
              </a:lnSpc>
              <a:buFont typeface="Arial"/>
              <a:buChar char="•"/>
            </a:pPr>
            <a:r>
              <a:rPr lang="en-US" sz="2645">
                <a:solidFill>
                  <a:srgbClr val="343434"/>
                </a:solidFill>
                <a:latin typeface="DM Sans"/>
                <a:ea typeface="DM Sans"/>
                <a:cs typeface="DM Sans"/>
                <a:sym typeface="DM Sans"/>
              </a:rPr>
              <a:t>Repor</a:t>
            </a:r>
            <a:r>
              <a:rPr lang="en-US" sz="2645">
                <a:solidFill>
                  <a:srgbClr val="343434"/>
                </a:solidFill>
                <a:latin typeface="DM Sans"/>
                <a:ea typeface="DM Sans"/>
                <a:cs typeface="DM Sans"/>
                <a:sym typeface="DM Sans"/>
              </a:rPr>
              <a:t>ting requirement</a:t>
            </a:r>
            <a:r>
              <a:rPr lang="en-US" sz="2645">
                <a:solidFill>
                  <a:srgbClr val="343434"/>
                </a:solidFill>
                <a:latin typeface="DM Sans"/>
                <a:ea typeface="DM Sans"/>
                <a:cs typeface="DM Sans"/>
                <a:sym typeface="DM Sans"/>
              </a:rPr>
              <a:t>s</a:t>
            </a:r>
          </a:p>
          <a:p>
            <a:pPr algn="just" marL="571186" indent="-285593" lvl="1">
              <a:lnSpc>
                <a:spcPts val="3703"/>
              </a:lnSpc>
              <a:buFont typeface="Arial"/>
              <a:buChar char="•"/>
            </a:pPr>
            <a:r>
              <a:rPr lang="en-US" sz="2645">
                <a:solidFill>
                  <a:srgbClr val="343434"/>
                </a:solidFill>
                <a:latin typeface="DM Sans"/>
                <a:ea typeface="DM Sans"/>
                <a:cs typeface="DM Sans"/>
                <a:sym typeface="DM Sans"/>
              </a:rPr>
              <a:t>Proper handling of sensitive information</a:t>
            </a:r>
          </a:p>
          <a:p>
            <a:pPr algn="just">
              <a:lnSpc>
                <a:spcPts val="3703"/>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IT SECURITY AND RISK MANAGEMENT</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462902" y="3991605"/>
            <a:ext cx="14566641" cy="3197051"/>
          </a:xfrm>
          <a:prstGeom prst="rect">
            <a:avLst/>
          </a:prstGeom>
        </p:spPr>
        <p:txBody>
          <a:bodyPr anchor="t" rtlCol="false" tIns="0" lIns="0" bIns="0" rIns="0">
            <a:spAutoFit/>
          </a:bodyPr>
          <a:lstStyle/>
          <a:p>
            <a:pPr algn="just">
              <a:lnSpc>
                <a:spcPts val="3703"/>
              </a:lnSpc>
            </a:pPr>
            <a:r>
              <a:rPr lang="en-US" sz="2645">
                <a:solidFill>
                  <a:srgbClr val="343434"/>
                </a:solidFill>
                <a:latin typeface="DM Sans"/>
                <a:ea typeface="DM Sans"/>
                <a:cs typeface="DM Sans"/>
                <a:sym typeface="DM Sans"/>
              </a:rPr>
              <a:t>Risk management is the process of identifying and evaluating possible threats that may affect an organization. The IT department helps identify cybersecurity threats, v</a:t>
            </a:r>
            <a:r>
              <a:rPr lang="en-US" sz="2645">
                <a:solidFill>
                  <a:srgbClr val="343434"/>
                </a:solidFill>
                <a:latin typeface="DM Sans"/>
                <a:ea typeface="DM Sans"/>
                <a:cs typeface="DM Sans"/>
                <a:sym typeface="DM Sans"/>
              </a:rPr>
              <a:t>ulnerabilities, sy</a:t>
            </a:r>
            <a:r>
              <a:rPr lang="en-US" sz="2645">
                <a:solidFill>
                  <a:srgbClr val="343434"/>
                </a:solidFill>
                <a:latin typeface="DM Sans"/>
                <a:ea typeface="DM Sans"/>
                <a:cs typeface="DM Sans"/>
                <a:sym typeface="DM Sans"/>
              </a:rPr>
              <a:t>stem weaknesses, and potential data breach risks. At the same time, other departments help determine how these risks could affect business opera</a:t>
            </a:r>
            <a:r>
              <a:rPr lang="en-US" sz="2645">
                <a:solidFill>
                  <a:srgbClr val="343434"/>
                </a:solidFill>
                <a:latin typeface="DM Sans"/>
                <a:ea typeface="DM Sans"/>
                <a:cs typeface="DM Sans"/>
                <a:sym typeface="DM Sans"/>
              </a:rPr>
              <a:t>tions. By working together, the organization can better understand </a:t>
            </a:r>
            <a:r>
              <a:rPr lang="en-US" sz="2645">
                <a:solidFill>
                  <a:srgbClr val="343434"/>
                </a:solidFill>
                <a:latin typeface="DM Sans"/>
                <a:ea typeface="DM Sans"/>
                <a:cs typeface="DM Sans"/>
                <a:sym typeface="DM Sans"/>
              </a:rPr>
              <a:t>security risks and develop appropriate measures to reduce their impact.</a:t>
            </a:r>
          </a:p>
          <a:p>
            <a:pPr algn="just">
              <a:lnSpc>
                <a:spcPts val="3703"/>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CROSS-DOMAIN TRAINING DURING INCIDENTS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357304" y="3677280"/>
            <a:ext cx="6581356" cy="4982607"/>
          </a:xfrm>
          <a:prstGeom prst="rect">
            <a:avLst/>
          </a:prstGeom>
        </p:spPr>
        <p:txBody>
          <a:bodyPr anchor="t" rtlCol="false" tIns="0" lIns="0" bIns="0" rIns="0">
            <a:spAutoFit/>
          </a:bodyPr>
          <a:lstStyle/>
          <a:p>
            <a:pPr algn="just">
              <a:lnSpc>
                <a:spcPts val="3973"/>
              </a:lnSpc>
            </a:pPr>
            <a:r>
              <a:rPr lang="en-US" sz="2838" b="true">
                <a:solidFill>
                  <a:srgbClr val="343434"/>
                </a:solidFill>
                <a:latin typeface="DM Sans Bold"/>
                <a:ea typeface="DM Sans Bold"/>
                <a:cs typeface="DM Sans Bold"/>
                <a:sym typeface="DM Sans Bold"/>
              </a:rPr>
              <a:t>IT/Security</a:t>
            </a:r>
          </a:p>
          <a:p>
            <a:pPr algn="just" marL="612775" indent="-306388" lvl="1">
              <a:lnSpc>
                <a:spcPts val="3973"/>
              </a:lnSpc>
              <a:buFont typeface="Arial"/>
              <a:buChar char="•"/>
            </a:pPr>
            <a:r>
              <a:rPr lang="en-US" sz="2838">
                <a:solidFill>
                  <a:srgbClr val="343434"/>
                </a:solidFill>
                <a:latin typeface="DM Sans"/>
                <a:ea typeface="DM Sans"/>
                <a:cs typeface="DM Sans"/>
                <a:sym typeface="DM Sans"/>
              </a:rPr>
              <a:t>Investigates the incident</a:t>
            </a:r>
          </a:p>
          <a:p>
            <a:pPr algn="just" marL="612775" indent="-306388" lvl="1">
              <a:lnSpc>
                <a:spcPts val="3973"/>
              </a:lnSpc>
              <a:buFont typeface="Arial"/>
              <a:buChar char="•"/>
            </a:pPr>
            <a:r>
              <a:rPr lang="en-US" sz="2838">
                <a:solidFill>
                  <a:srgbClr val="343434"/>
                </a:solidFill>
                <a:latin typeface="DM Sans"/>
                <a:ea typeface="DM Sans"/>
                <a:cs typeface="DM Sans"/>
                <a:sym typeface="DM Sans"/>
              </a:rPr>
              <a:t>Contains the attack</a:t>
            </a:r>
          </a:p>
          <a:p>
            <a:pPr algn="just" marL="612775" indent="-306388" lvl="1">
              <a:lnSpc>
                <a:spcPts val="3973"/>
              </a:lnSpc>
              <a:buFont typeface="Arial"/>
              <a:buChar char="•"/>
            </a:pPr>
            <a:r>
              <a:rPr lang="en-US" sz="2838">
                <a:solidFill>
                  <a:srgbClr val="343434"/>
                </a:solidFill>
                <a:latin typeface="DM Sans"/>
                <a:ea typeface="DM Sans"/>
                <a:cs typeface="DM Sans"/>
                <a:sym typeface="DM Sans"/>
              </a:rPr>
              <a:t>Restores systems</a:t>
            </a:r>
          </a:p>
          <a:p>
            <a:pPr algn="just">
              <a:lnSpc>
                <a:spcPts val="3973"/>
              </a:lnSpc>
            </a:pPr>
          </a:p>
          <a:p>
            <a:pPr algn="just">
              <a:lnSpc>
                <a:spcPts val="3973"/>
              </a:lnSpc>
            </a:pPr>
            <a:r>
              <a:rPr lang="en-US" sz="2838" b="true">
                <a:solidFill>
                  <a:srgbClr val="343434"/>
                </a:solidFill>
                <a:latin typeface="DM Sans Bold"/>
                <a:ea typeface="DM Sans Bold"/>
                <a:cs typeface="DM Sans Bold"/>
                <a:sym typeface="DM Sans Bold"/>
              </a:rPr>
              <a:t>Management</a:t>
            </a:r>
          </a:p>
          <a:p>
            <a:pPr algn="just" marL="612775" indent="-306388" lvl="1">
              <a:lnSpc>
                <a:spcPts val="3973"/>
              </a:lnSpc>
              <a:buFont typeface="Arial"/>
              <a:buChar char="•"/>
            </a:pPr>
            <a:r>
              <a:rPr lang="en-US" sz="2838">
                <a:solidFill>
                  <a:srgbClr val="343434"/>
                </a:solidFill>
                <a:latin typeface="DM Sans"/>
                <a:ea typeface="DM Sans"/>
                <a:cs typeface="DM Sans"/>
                <a:sym typeface="DM Sans"/>
              </a:rPr>
              <a:t>Makes decisions</a:t>
            </a:r>
          </a:p>
          <a:p>
            <a:pPr algn="just" marL="612775" indent="-306388" lvl="1">
              <a:lnSpc>
                <a:spcPts val="3973"/>
              </a:lnSpc>
              <a:buFont typeface="Arial"/>
              <a:buChar char="•"/>
            </a:pPr>
            <a:r>
              <a:rPr lang="en-US" sz="2838">
                <a:solidFill>
                  <a:srgbClr val="343434"/>
                </a:solidFill>
                <a:latin typeface="DM Sans"/>
                <a:ea typeface="DM Sans"/>
                <a:cs typeface="DM Sans"/>
                <a:sym typeface="DM Sans"/>
              </a:rPr>
              <a:t>Provides reso</a:t>
            </a:r>
            <a:r>
              <a:rPr lang="en-US" sz="2838">
                <a:solidFill>
                  <a:srgbClr val="343434"/>
                </a:solidFill>
                <a:latin typeface="DM Sans"/>
                <a:ea typeface="DM Sans"/>
                <a:cs typeface="DM Sans"/>
                <a:sym typeface="DM Sans"/>
              </a:rPr>
              <a:t>urces L</a:t>
            </a:r>
            <a:r>
              <a:rPr lang="en-US" sz="2838">
                <a:solidFill>
                  <a:srgbClr val="343434"/>
                </a:solidFill>
                <a:latin typeface="DM Sans"/>
                <a:ea typeface="DM Sans"/>
                <a:cs typeface="DM Sans"/>
                <a:sym typeface="DM Sans"/>
              </a:rPr>
              <a:t>egal</a:t>
            </a:r>
          </a:p>
          <a:p>
            <a:pPr algn="just" marL="612775" indent="-306388" lvl="1">
              <a:lnSpc>
                <a:spcPts val="3973"/>
              </a:lnSpc>
              <a:buFont typeface="Arial"/>
              <a:buChar char="•"/>
            </a:pPr>
            <a:r>
              <a:rPr lang="en-US" sz="2838">
                <a:solidFill>
                  <a:srgbClr val="343434"/>
                </a:solidFill>
                <a:latin typeface="DM Sans"/>
                <a:ea typeface="DM Sans"/>
                <a:cs typeface="DM Sans"/>
                <a:sym typeface="DM Sans"/>
              </a:rPr>
              <a:t>Handles legal requirements</a:t>
            </a:r>
          </a:p>
          <a:p>
            <a:pPr algn="just">
              <a:lnSpc>
                <a:spcPts val="3973"/>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
        <p:nvSpPr>
          <p:cNvPr name="TextBox 12" id="12"/>
          <p:cNvSpPr txBox="true"/>
          <p:nvPr/>
        </p:nvSpPr>
        <p:spPr>
          <a:xfrm rot="0">
            <a:off x="9095232" y="3982080"/>
            <a:ext cx="7496391" cy="3967296"/>
          </a:xfrm>
          <a:prstGeom prst="rect">
            <a:avLst/>
          </a:prstGeom>
        </p:spPr>
        <p:txBody>
          <a:bodyPr anchor="t" rtlCol="false" tIns="0" lIns="0" bIns="0" rIns="0">
            <a:spAutoFit/>
          </a:bodyPr>
          <a:lstStyle/>
          <a:p>
            <a:pPr algn="just">
              <a:lnSpc>
                <a:spcPts val="4525"/>
              </a:lnSpc>
            </a:pPr>
          </a:p>
          <a:p>
            <a:pPr algn="just">
              <a:lnSpc>
                <a:spcPts val="4525"/>
              </a:lnSpc>
            </a:pPr>
            <a:r>
              <a:rPr lang="en-US" sz="3232" b="true">
                <a:solidFill>
                  <a:srgbClr val="343434"/>
                </a:solidFill>
                <a:latin typeface="DM Sans Bold"/>
                <a:ea typeface="DM Sans Bold"/>
                <a:cs typeface="DM Sans Bold"/>
                <a:sym typeface="DM Sans Bold"/>
              </a:rPr>
              <a:t>HR</a:t>
            </a:r>
          </a:p>
          <a:p>
            <a:pPr algn="just" marL="697972" indent="-348986" lvl="1">
              <a:lnSpc>
                <a:spcPts val="4525"/>
              </a:lnSpc>
              <a:buFont typeface="Arial"/>
              <a:buChar char="•"/>
            </a:pPr>
            <a:r>
              <a:rPr lang="en-US" sz="3232">
                <a:solidFill>
                  <a:srgbClr val="343434"/>
                </a:solidFill>
                <a:latin typeface="DM Sans"/>
                <a:ea typeface="DM Sans"/>
                <a:cs typeface="DM Sans"/>
                <a:sym typeface="DM Sans"/>
              </a:rPr>
              <a:t>Handles employee concer</a:t>
            </a:r>
            <a:r>
              <a:rPr lang="en-US" sz="3232">
                <a:solidFill>
                  <a:srgbClr val="343434"/>
                </a:solidFill>
                <a:latin typeface="DM Sans"/>
                <a:ea typeface="DM Sans"/>
                <a:cs typeface="DM Sans"/>
                <a:sym typeface="DM Sans"/>
              </a:rPr>
              <a:t>ns</a:t>
            </a:r>
          </a:p>
          <a:p>
            <a:pPr algn="just">
              <a:lnSpc>
                <a:spcPts val="4525"/>
              </a:lnSpc>
            </a:pPr>
          </a:p>
          <a:p>
            <a:pPr algn="just">
              <a:lnSpc>
                <a:spcPts val="4525"/>
              </a:lnSpc>
            </a:pPr>
            <a:r>
              <a:rPr lang="en-US" sz="3232" b="true">
                <a:solidFill>
                  <a:srgbClr val="343434"/>
                </a:solidFill>
                <a:latin typeface="DM Sans Bold"/>
                <a:ea typeface="DM Sans Bold"/>
                <a:cs typeface="DM Sans Bold"/>
                <a:sym typeface="DM Sans Bold"/>
              </a:rPr>
              <a:t>Public Relations</a:t>
            </a:r>
          </a:p>
          <a:p>
            <a:pPr algn="just" marL="697972" indent="-348986" lvl="1">
              <a:lnSpc>
                <a:spcPts val="4525"/>
              </a:lnSpc>
              <a:buFont typeface="Arial"/>
              <a:buChar char="•"/>
            </a:pPr>
            <a:r>
              <a:rPr lang="en-US" sz="3232">
                <a:solidFill>
                  <a:srgbClr val="343434"/>
                </a:solidFill>
                <a:latin typeface="DM Sans"/>
                <a:ea typeface="DM Sans"/>
                <a:cs typeface="DM Sans"/>
                <a:sym typeface="DM Sans"/>
              </a:rPr>
              <a:t>Manages external </a:t>
            </a:r>
            <a:r>
              <a:rPr lang="en-US" sz="3232">
                <a:solidFill>
                  <a:srgbClr val="343434"/>
                </a:solidFill>
                <a:latin typeface="DM Sans"/>
                <a:ea typeface="DM Sans"/>
                <a:cs typeface="DM Sans"/>
                <a:sym typeface="DM Sans"/>
              </a:rPr>
              <a:t>communication</a:t>
            </a:r>
          </a:p>
          <a:p>
            <a:pPr algn="just">
              <a:lnSpc>
                <a:spcPts val="4525"/>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TYPES OF CROSS-DOMAIN TRAINING</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357304" y="3677280"/>
            <a:ext cx="6581356" cy="5919134"/>
          </a:xfrm>
          <a:prstGeom prst="rect">
            <a:avLst/>
          </a:prstGeom>
        </p:spPr>
        <p:txBody>
          <a:bodyPr anchor="t" rtlCol="false" tIns="0" lIns="0" bIns="0" rIns="0">
            <a:spAutoFit/>
          </a:bodyPr>
          <a:lstStyle/>
          <a:p>
            <a:pPr algn="just">
              <a:lnSpc>
                <a:spcPts val="3973"/>
              </a:lnSpc>
            </a:pPr>
            <a:r>
              <a:rPr lang="en-US" sz="2838" b="true">
                <a:solidFill>
                  <a:srgbClr val="343434"/>
                </a:solidFill>
                <a:latin typeface="DM Sans Bold"/>
                <a:ea typeface="DM Sans Bold"/>
                <a:cs typeface="DM Sans Bold"/>
                <a:sym typeface="DM Sans Bold"/>
              </a:rPr>
              <a:t>1. Awareness Training</a:t>
            </a:r>
          </a:p>
          <a:p>
            <a:pPr algn="just" marL="612776" indent="-306388" lvl="1">
              <a:lnSpc>
                <a:spcPts val="3973"/>
              </a:lnSpc>
              <a:buFont typeface="Arial"/>
              <a:buChar char="•"/>
            </a:pPr>
            <a:r>
              <a:rPr lang="en-US" sz="2838">
                <a:solidFill>
                  <a:srgbClr val="343434"/>
                </a:solidFill>
                <a:latin typeface="DM Sans"/>
                <a:ea typeface="DM Sans"/>
                <a:cs typeface="DM Sans"/>
                <a:sym typeface="DM Sans"/>
              </a:rPr>
              <a:t>Basic cybersecurity knowledge</a:t>
            </a:r>
          </a:p>
          <a:p>
            <a:pPr algn="just" marL="612776" indent="-306388" lvl="1">
              <a:lnSpc>
                <a:spcPts val="3973"/>
              </a:lnSpc>
              <a:buFont typeface="Arial"/>
              <a:buChar char="•"/>
            </a:pPr>
            <a:r>
              <a:rPr lang="en-US" sz="2838">
                <a:solidFill>
                  <a:srgbClr val="343434"/>
                </a:solidFill>
                <a:latin typeface="DM Sans"/>
                <a:ea typeface="DM Sans"/>
                <a:cs typeface="DM Sans"/>
                <a:sym typeface="DM Sans"/>
              </a:rPr>
              <a:t>Phishing awareness</a:t>
            </a:r>
          </a:p>
          <a:p>
            <a:pPr algn="just">
              <a:lnSpc>
                <a:spcPts val="3973"/>
              </a:lnSpc>
            </a:pPr>
          </a:p>
          <a:p>
            <a:pPr algn="just">
              <a:lnSpc>
                <a:spcPts val="3973"/>
              </a:lnSpc>
            </a:pPr>
            <a:r>
              <a:rPr lang="en-US" sz="2838" b="true">
                <a:solidFill>
                  <a:srgbClr val="343434"/>
                </a:solidFill>
                <a:latin typeface="DM Sans Bold"/>
                <a:ea typeface="DM Sans Bold"/>
                <a:cs typeface="DM Sans Bold"/>
                <a:sym typeface="DM Sans Bold"/>
              </a:rPr>
              <a:t>2. Role-Based Training</a:t>
            </a:r>
          </a:p>
          <a:p>
            <a:pPr algn="just" marL="612776" indent="-306388" lvl="1">
              <a:lnSpc>
                <a:spcPts val="3973"/>
              </a:lnSpc>
              <a:buFont typeface="Arial"/>
              <a:buChar char="•"/>
            </a:pPr>
            <a:r>
              <a:rPr lang="en-US" sz="2838">
                <a:solidFill>
                  <a:srgbClr val="343434"/>
                </a:solidFill>
                <a:latin typeface="DM Sans"/>
                <a:ea typeface="DM Sans"/>
                <a:cs typeface="DM Sans"/>
                <a:sym typeface="DM Sans"/>
              </a:rPr>
              <a:t>Training based on specific responsibilities</a:t>
            </a:r>
          </a:p>
          <a:p>
            <a:pPr algn="just">
              <a:lnSpc>
                <a:spcPts val="3973"/>
              </a:lnSpc>
            </a:pPr>
          </a:p>
          <a:p>
            <a:pPr algn="just">
              <a:lnSpc>
                <a:spcPts val="3973"/>
              </a:lnSpc>
            </a:pPr>
            <a:r>
              <a:rPr lang="en-US" sz="2838" b="true">
                <a:solidFill>
                  <a:srgbClr val="343434"/>
                </a:solidFill>
                <a:latin typeface="DM Sans Bold"/>
                <a:ea typeface="DM Sans Bold"/>
                <a:cs typeface="DM Sans Bold"/>
                <a:sym typeface="DM Sans Bold"/>
              </a:rPr>
              <a:t>3. J</a:t>
            </a:r>
            <a:r>
              <a:rPr lang="en-US" sz="2838" b="true">
                <a:solidFill>
                  <a:srgbClr val="343434"/>
                </a:solidFill>
                <a:latin typeface="DM Sans Bold"/>
                <a:ea typeface="DM Sans Bold"/>
                <a:cs typeface="DM Sans Bold"/>
                <a:sym typeface="DM Sans Bold"/>
              </a:rPr>
              <a:t>oint Training</a:t>
            </a:r>
          </a:p>
          <a:p>
            <a:pPr algn="just" marL="612776" indent="-306388" lvl="1">
              <a:lnSpc>
                <a:spcPts val="3973"/>
              </a:lnSpc>
              <a:buFont typeface="Arial"/>
              <a:buChar char="•"/>
            </a:pPr>
            <a:r>
              <a:rPr lang="en-US" sz="2838">
                <a:solidFill>
                  <a:srgbClr val="343434"/>
                </a:solidFill>
                <a:latin typeface="DM Sans"/>
                <a:ea typeface="DM Sans"/>
                <a:cs typeface="DM Sans"/>
                <a:sym typeface="DM Sans"/>
              </a:rPr>
              <a:t>Different departments train together </a:t>
            </a:r>
          </a:p>
          <a:p>
            <a:pPr algn="just">
              <a:lnSpc>
                <a:spcPts val="3973"/>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
        <p:nvSpPr>
          <p:cNvPr name="TextBox 12" id="12"/>
          <p:cNvSpPr txBox="true"/>
          <p:nvPr/>
        </p:nvSpPr>
        <p:spPr>
          <a:xfrm rot="0">
            <a:off x="9095232" y="3982080"/>
            <a:ext cx="7496391" cy="3975536"/>
          </a:xfrm>
          <a:prstGeom prst="rect">
            <a:avLst/>
          </a:prstGeom>
        </p:spPr>
        <p:txBody>
          <a:bodyPr anchor="t" rtlCol="false" tIns="0" lIns="0" bIns="0" rIns="0">
            <a:spAutoFit/>
          </a:bodyPr>
          <a:lstStyle/>
          <a:p>
            <a:pPr algn="just">
              <a:lnSpc>
                <a:spcPts val="4525"/>
              </a:lnSpc>
            </a:pPr>
            <a:r>
              <a:rPr lang="en-US" sz="3232" b="true">
                <a:solidFill>
                  <a:srgbClr val="343434"/>
                </a:solidFill>
                <a:latin typeface="DM Sans Bold"/>
                <a:ea typeface="DM Sans Bold"/>
                <a:cs typeface="DM Sans Bold"/>
                <a:sym typeface="DM Sans Bold"/>
              </a:rPr>
              <a:t>4. Incident Response Exercises</a:t>
            </a:r>
          </a:p>
          <a:p>
            <a:pPr algn="just" marL="697973" indent="-348986" lvl="1">
              <a:lnSpc>
                <a:spcPts val="4525"/>
              </a:lnSpc>
              <a:buFont typeface="Arial"/>
              <a:buChar char="•"/>
            </a:pPr>
            <a:r>
              <a:rPr lang="en-US" sz="3232">
                <a:solidFill>
                  <a:srgbClr val="343434"/>
                </a:solidFill>
                <a:latin typeface="DM Sans"/>
                <a:ea typeface="DM Sans"/>
                <a:cs typeface="DM Sans"/>
                <a:sym typeface="DM Sans"/>
              </a:rPr>
              <a:t>Teams practice respo</a:t>
            </a:r>
            <a:r>
              <a:rPr lang="en-US" sz="3232">
                <a:solidFill>
                  <a:srgbClr val="343434"/>
                </a:solidFill>
                <a:latin typeface="DM Sans"/>
                <a:ea typeface="DM Sans"/>
                <a:cs typeface="DM Sans"/>
                <a:sym typeface="DM Sans"/>
              </a:rPr>
              <a:t>nding to simulated attacks</a:t>
            </a:r>
          </a:p>
          <a:p>
            <a:pPr algn="just">
              <a:lnSpc>
                <a:spcPts val="4525"/>
              </a:lnSpc>
            </a:pPr>
          </a:p>
          <a:p>
            <a:pPr algn="just">
              <a:lnSpc>
                <a:spcPts val="4525"/>
              </a:lnSpc>
            </a:pPr>
            <a:r>
              <a:rPr lang="en-US" sz="3232" b="true">
                <a:solidFill>
                  <a:srgbClr val="343434"/>
                </a:solidFill>
                <a:latin typeface="DM Sans Bold"/>
                <a:ea typeface="DM Sans Bold"/>
                <a:cs typeface="DM Sans Bold"/>
                <a:sym typeface="DM Sans Bold"/>
              </a:rPr>
              <a:t>5. Security Workshops</a:t>
            </a:r>
          </a:p>
          <a:p>
            <a:pPr algn="just" marL="697973" indent="-348986" lvl="1">
              <a:lnSpc>
                <a:spcPts val="4525"/>
              </a:lnSpc>
              <a:buFont typeface="Arial"/>
              <a:buChar char="•"/>
            </a:pPr>
            <a:r>
              <a:rPr lang="en-US" sz="3232">
                <a:solidFill>
                  <a:srgbClr val="343434"/>
                </a:solidFill>
                <a:latin typeface="DM Sans"/>
                <a:ea typeface="DM Sans"/>
                <a:cs typeface="DM Sans"/>
                <a:sym typeface="DM Sans"/>
              </a:rPr>
              <a:t>Employe</a:t>
            </a:r>
            <a:r>
              <a:rPr lang="en-US" sz="3232">
                <a:solidFill>
                  <a:srgbClr val="343434"/>
                </a:solidFill>
                <a:latin typeface="DM Sans"/>
                <a:ea typeface="DM Sans"/>
                <a:cs typeface="DM Sans"/>
                <a:sym typeface="DM Sans"/>
              </a:rPr>
              <a:t>es solve realistic se</a:t>
            </a:r>
            <a:r>
              <a:rPr lang="en-US" sz="3232">
                <a:solidFill>
                  <a:srgbClr val="343434"/>
                </a:solidFill>
                <a:latin typeface="DM Sans"/>
                <a:ea typeface="DM Sans"/>
                <a:cs typeface="DM Sans"/>
                <a:sym typeface="DM Sans"/>
              </a:rPr>
              <a:t>curity</a:t>
            </a:r>
          </a:p>
          <a:p>
            <a:pPr algn="just">
              <a:lnSpc>
                <a:spcPts val="4525"/>
              </a:lnSpc>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 BENEFITS AND BEST PRACTICES</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028700" y="3677280"/>
            <a:ext cx="8580530" cy="4560200"/>
          </a:xfrm>
          <a:prstGeom prst="rect">
            <a:avLst/>
          </a:prstGeom>
        </p:spPr>
        <p:txBody>
          <a:bodyPr anchor="t" rtlCol="false" tIns="0" lIns="0" bIns="0" rIns="0">
            <a:spAutoFit/>
          </a:bodyPr>
          <a:lstStyle/>
          <a:p>
            <a:pPr algn="just">
              <a:lnSpc>
                <a:spcPts val="4548"/>
              </a:lnSpc>
            </a:pPr>
            <a:r>
              <a:rPr lang="en-US" sz="3249" b="true">
                <a:solidFill>
                  <a:srgbClr val="343434"/>
                </a:solidFill>
                <a:latin typeface="DM Sans Bold"/>
                <a:ea typeface="DM Sans Bold"/>
                <a:cs typeface="DM Sans Bold"/>
                <a:sym typeface="DM Sans Bold"/>
              </a:rPr>
              <a:t>Benefits</a:t>
            </a:r>
          </a:p>
          <a:p>
            <a:pPr algn="just" marL="701490" indent="-350745" lvl="1">
              <a:lnSpc>
                <a:spcPts val="4548"/>
              </a:lnSpc>
              <a:buFont typeface="Arial"/>
              <a:buChar char="•"/>
            </a:pPr>
            <a:r>
              <a:rPr lang="en-US" sz="3249">
                <a:solidFill>
                  <a:srgbClr val="343434"/>
                </a:solidFill>
                <a:latin typeface="DM Sans"/>
                <a:ea typeface="DM Sans"/>
                <a:cs typeface="DM Sans"/>
                <a:sym typeface="DM Sans"/>
              </a:rPr>
              <a:t>Better teamwork</a:t>
            </a:r>
          </a:p>
          <a:p>
            <a:pPr algn="just" marL="701490" indent="-350745" lvl="1">
              <a:lnSpc>
                <a:spcPts val="4548"/>
              </a:lnSpc>
              <a:buFont typeface="Arial"/>
              <a:buChar char="•"/>
            </a:pPr>
            <a:r>
              <a:rPr lang="en-US" sz="3249">
                <a:solidFill>
                  <a:srgbClr val="343434"/>
                </a:solidFill>
                <a:latin typeface="DM Sans"/>
                <a:ea typeface="DM Sans"/>
                <a:cs typeface="DM Sans"/>
                <a:sym typeface="DM Sans"/>
              </a:rPr>
              <a:t>Faster incident response</a:t>
            </a:r>
          </a:p>
          <a:p>
            <a:pPr algn="just" marL="701490" indent="-350745" lvl="1">
              <a:lnSpc>
                <a:spcPts val="4548"/>
              </a:lnSpc>
              <a:buFont typeface="Arial"/>
              <a:buChar char="•"/>
            </a:pPr>
            <a:r>
              <a:rPr lang="en-US" sz="3249">
                <a:solidFill>
                  <a:srgbClr val="343434"/>
                </a:solidFill>
                <a:latin typeface="DM Sans"/>
                <a:ea typeface="DM Sans"/>
                <a:cs typeface="DM Sans"/>
                <a:sym typeface="DM Sans"/>
              </a:rPr>
              <a:t>Improved communication</a:t>
            </a:r>
          </a:p>
          <a:p>
            <a:pPr algn="just" marL="701490" indent="-350745" lvl="1">
              <a:lnSpc>
                <a:spcPts val="4548"/>
              </a:lnSpc>
              <a:buFont typeface="Arial"/>
              <a:buChar char="•"/>
            </a:pPr>
            <a:r>
              <a:rPr lang="en-US" sz="3249">
                <a:solidFill>
                  <a:srgbClr val="343434"/>
                </a:solidFill>
                <a:latin typeface="DM Sans"/>
                <a:ea typeface="DM Sans"/>
                <a:cs typeface="DM Sans"/>
                <a:sym typeface="DM Sans"/>
              </a:rPr>
              <a:t>Fewer security m</a:t>
            </a:r>
            <a:r>
              <a:rPr lang="en-US" sz="3249">
                <a:solidFill>
                  <a:srgbClr val="343434"/>
                </a:solidFill>
                <a:latin typeface="DM Sans"/>
                <a:ea typeface="DM Sans"/>
                <a:cs typeface="DM Sans"/>
                <a:sym typeface="DM Sans"/>
              </a:rPr>
              <a:t>i</a:t>
            </a:r>
            <a:r>
              <a:rPr lang="en-US" sz="3249">
                <a:solidFill>
                  <a:srgbClr val="343434"/>
                </a:solidFill>
                <a:latin typeface="DM Sans"/>
                <a:ea typeface="DM Sans"/>
                <a:cs typeface="DM Sans"/>
                <a:sym typeface="DM Sans"/>
              </a:rPr>
              <a:t>stakes</a:t>
            </a:r>
          </a:p>
          <a:p>
            <a:pPr algn="just" marL="701490" indent="-350745" lvl="1">
              <a:lnSpc>
                <a:spcPts val="4548"/>
              </a:lnSpc>
              <a:buFont typeface="Arial"/>
              <a:buChar char="•"/>
            </a:pPr>
            <a:r>
              <a:rPr lang="en-US" sz="3249">
                <a:solidFill>
                  <a:srgbClr val="343434"/>
                </a:solidFill>
                <a:latin typeface="DM Sans"/>
                <a:ea typeface="DM Sans"/>
                <a:cs typeface="DM Sans"/>
                <a:sym typeface="DM Sans"/>
              </a:rPr>
              <a:t>Better risk management</a:t>
            </a:r>
          </a:p>
          <a:p>
            <a:pPr algn="just" marL="701490" indent="-350745" lvl="1">
              <a:lnSpc>
                <a:spcPts val="4548"/>
              </a:lnSpc>
              <a:buFont typeface="Arial"/>
              <a:buChar char="•"/>
            </a:pPr>
            <a:r>
              <a:rPr lang="en-US" sz="3249">
                <a:solidFill>
                  <a:srgbClr val="343434"/>
                </a:solidFill>
                <a:latin typeface="DM Sans"/>
                <a:ea typeface="DM Sans"/>
                <a:cs typeface="DM Sans"/>
                <a:sym typeface="DM Sans"/>
              </a:rPr>
              <a:t>Stronger security culture</a:t>
            </a:r>
          </a:p>
          <a:p>
            <a:pPr algn="just">
              <a:lnSpc>
                <a:spcPts val="4548"/>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
        <p:nvSpPr>
          <p:cNvPr name="TextBox 12" id="12"/>
          <p:cNvSpPr txBox="true"/>
          <p:nvPr/>
        </p:nvSpPr>
        <p:spPr>
          <a:xfrm rot="0">
            <a:off x="9250356" y="3677280"/>
            <a:ext cx="8347370" cy="3974824"/>
          </a:xfrm>
          <a:prstGeom prst="rect">
            <a:avLst/>
          </a:prstGeom>
        </p:spPr>
        <p:txBody>
          <a:bodyPr anchor="t" rtlCol="false" tIns="0" lIns="0" bIns="0" rIns="0">
            <a:spAutoFit/>
          </a:bodyPr>
          <a:lstStyle/>
          <a:p>
            <a:pPr algn="just">
              <a:lnSpc>
                <a:spcPts val="4565"/>
              </a:lnSpc>
            </a:pPr>
            <a:r>
              <a:rPr lang="en-US" sz="3260" b="true">
                <a:solidFill>
                  <a:srgbClr val="343434"/>
                </a:solidFill>
                <a:latin typeface="DM Sans Bold"/>
                <a:ea typeface="DM Sans Bold"/>
                <a:cs typeface="DM Sans Bold"/>
                <a:sym typeface="DM Sans Bold"/>
              </a:rPr>
              <a:t>Best Practices</a:t>
            </a:r>
          </a:p>
          <a:p>
            <a:pPr algn="just" marL="704019" indent="-352010" lvl="1">
              <a:lnSpc>
                <a:spcPts val="4565"/>
              </a:lnSpc>
              <a:buFont typeface="Arial"/>
              <a:buChar char="•"/>
            </a:pPr>
            <a:r>
              <a:rPr lang="en-US" sz="3260">
                <a:solidFill>
                  <a:srgbClr val="343434"/>
                </a:solidFill>
                <a:latin typeface="DM Sans"/>
                <a:ea typeface="DM Sans"/>
                <a:cs typeface="DM Sans"/>
                <a:sym typeface="DM Sans"/>
              </a:rPr>
              <a:t>Provide role-based tra</a:t>
            </a:r>
            <a:r>
              <a:rPr lang="en-US" sz="3260">
                <a:solidFill>
                  <a:srgbClr val="343434"/>
                </a:solidFill>
                <a:latin typeface="DM Sans"/>
                <a:ea typeface="DM Sans"/>
                <a:cs typeface="DM Sans"/>
                <a:sym typeface="DM Sans"/>
              </a:rPr>
              <a:t>ining</a:t>
            </a:r>
          </a:p>
          <a:p>
            <a:pPr algn="just" marL="704019" indent="-352010" lvl="1">
              <a:lnSpc>
                <a:spcPts val="4565"/>
              </a:lnSpc>
              <a:buFont typeface="Arial"/>
              <a:buChar char="•"/>
            </a:pPr>
            <a:r>
              <a:rPr lang="en-US" sz="3260">
                <a:solidFill>
                  <a:srgbClr val="343434"/>
                </a:solidFill>
                <a:latin typeface="DM Sans"/>
                <a:ea typeface="DM Sans"/>
                <a:cs typeface="DM Sans"/>
                <a:sym typeface="DM Sans"/>
              </a:rPr>
              <a:t>Conduct regular training</a:t>
            </a:r>
          </a:p>
          <a:p>
            <a:pPr algn="just" marL="704019" indent="-352010" lvl="1">
              <a:lnSpc>
                <a:spcPts val="4565"/>
              </a:lnSpc>
              <a:buFont typeface="Arial"/>
              <a:buChar char="•"/>
            </a:pPr>
            <a:r>
              <a:rPr lang="en-US" sz="3260">
                <a:solidFill>
                  <a:srgbClr val="343434"/>
                </a:solidFill>
                <a:latin typeface="DM Sans"/>
                <a:ea typeface="DM Sans"/>
                <a:cs typeface="DM Sans"/>
                <a:sym typeface="DM Sans"/>
              </a:rPr>
              <a:t>Perform joint </a:t>
            </a:r>
            <a:r>
              <a:rPr lang="en-US" sz="3260">
                <a:solidFill>
                  <a:srgbClr val="343434"/>
                </a:solidFill>
                <a:latin typeface="DM Sans"/>
                <a:ea typeface="DM Sans"/>
                <a:cs typeface="DM Sans"/>
                <a:sym typeface="DM Sans"/>
              </a:rPr>
              <a:t>security exercises</a:t>
            </a:r>
          </a:p>
          <a:p>
            <a:pPr algn="just" marL="704019" indent="-352010" lvl="1">
              <a:lnSpc>
                <a:spcPts val="4565"/>
              </a:lnSpc>
              <a:buFont typeface="Arial"/>
              <a:buChar char="•"/>
            </a:pPr>
            <a:r>
              <a:rPr lang="en-US" sz="3260">
                <a:solidFill>
                  <a:srgbClr val="343434"/>
                </a:solidFill>
                <a:latin typeface="DM Sans"/>
                <a:ea typeface="DM Sans"/>
                <a:cs typeface="DM Sans"/>
                <a:sym typeface="DM Sans"/>
              </a:rPr>
              <a:t>Clearly define responsibilities</a:t>
            </a:r>
          </a:p>
          <a:p>
            <a:pPr algn="just" marL="704019" indent="-352010" lvl="1">
              <a:lnSpc>
                <a:spcPts val="4565"/>
              </a:lnSpc>
              <a:buFont typeface="Arial"/>
              <a:buChar char="•"/>
            </a:pPr>
            <a:r>
              <a:rPr lang="en-US" sz="3260">
                <a:solidFill>
                  <a:srgbClr val="343434"/>
                </a:solidFill>
                <a:latin typeface="DM Sans"/>
                <a:ea typeface="DM Sans"/>
                <a:cs typeface="DM Sans"/>
                <a:sym typeface="DM Sans"/>
              </a:rPr>
              <a:t>Update training for new threats</a:t>
            </a:r>
          </a:p>
          <a:p>
            <a:pPr algn="just">
              <a:lnSpc>
                <a:spcPts val="4565"/>
              </a:lnSpc>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08263" y="2035437"/>
            <a:ext cx="15275919" cy="1051293"/>
          </a:xfrm>
          <a:prstGeom prst="rect">
            <a:avLst/>
          </a:prstGeom>
        </p:spPr>
        <p:txBody>
          <a:bodyPr anchor="t" rtlCol="false" tIns="0" lIns="0" bIns="0" rIns="0">
            <a:spAutoFit/>
          </a:bodyPr>
          <a:lstStyle/>
          <a:p>
            <a:pPr algn="l">
              <a:lnSpc>
                <a:spcPts val="7382"/>
              </a:lnSpc>
            </a:pPr>
            <a:r>
              <a:rPr lang="en-US" sz="5273" b="true">
                <a:solidFill>
                  <a:srgbClr val="343434"/>
                </a:solidFill>
                <a:latin typeface="Cooper Hewitt Bold"/>
                <a:ea typeface="Cooper Hewitt Bold"/>
                <a:cs typeface="Cooper Hewitt Bold"/>
                <a:sym typeface="Cooper Hewitt Bold"/>
              </a:rPr>
              <a:t>CONCLUSION</a:t>
            </a:r>
          </a:p>
        </p:txBody>
      </p:sp>
      <p:sp>
        <p:nvSpPr>
          <p:cNvPr name="TextBox 5" id="5"/>
          <p:cNvSpPr txBox="true"/>
          <p:nvPr/>
        </p:nvSpPr>
        <p:spPr>
          <a:xfrm rot="0">
            <a:off x="1806339" y="1149446"/>
            <a:ext cx="5896812" cy="492855"/>
          </a:xfrm>
          <a:prstGeom prst="rect">
            <a:avLst/>
          </a:prstGeom>
        </p:spPr>
        <p:txBody>
          <a:bodyPr anchor="t" rtlCol="false" tIns="0" lIns="0" bIns="0" rIns="0">
            <a:spAutoFit/>
          </a:bodyPr>
          <a:lstStyle/>
          <a:p>
            <a:pPr algn="l">
              <a:lnSpc>
                <a:spcPts val="3747"/>
              </a:lnSpc>
            </a:pPr>
            <a:r>
              <a:rPr lang="en-US" sz="3710" spc="-226">
                <a:solidFill>
                  <a:srgbClr val="343434"/>
                </a:solidFill>
                <a:latin typeface="DM Sans"/>
                <a:ea typeface="DM Sans"/>
                <a:cs typeface="DM Sans"/>
                <a:sym typeface="DM Sans"/>
              </a:rPr>
              <a:t>CONTINGENCY PLANNING</a:t>
            </a:r>
          </a:p>
        </p:txBody>
      </p:sp>
      <p:sp>
        <p:nvSpPr>
          <p:cNvPr name="TextBox 6" id="6"/>
          <p:cNvSpPr txBox="true"/>
          <p:nvPr/>
        </p:nvSpPr>
        <p:spPr>
          <a:xfrm rot="0">
            <a:off x="12319860"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HOME</a:t>
            </a:r>
          </a:p>
        </p:txBody>
      </p:sp>
      <p:sp>
        <p:nvSpPr>
          <p:cNvPr name="TextBox 7" id="7"/>
          <p:cNvSpPr txBox="true"/>
          <p:nvPr/>
        </p:nvSpPr>
        <p:spPr>
          <a:xfrm rot="0">
            <a:off x="13424041" y="1111629"/>
            <a:ext cx="847412"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SERVICE</a:t>
            </a:r>
          </a:p>
        </p:txBody>
      </p:sp>
      <p:sp>
        <p:nvSpPr>
          <p:cNvPr name="TextBox 8" id="8"/>
          <p:cNvSpPr txBox="true"/>
          <p:nvPr/>
        </p:nvSpPr>
        <p:spPr>
          <a:xfrm rot="0">
            <a:off x="14528628" y="1111629"/>
            <a:ext cx="110573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ABOUT US</a:t>
            </a:r>
          </a:p>
        </p:txBody>
      </p:sp>
      <p:sp>
        <p:nvSpPr>
          <p:cNvPr name="TextBox 9" id="9"/>
          <p:cNvSpPr txBox="true"/>
          <p:nvPr/>
        </p:nvSpPr>
        <p:spPr>
          <a:xfrm rot="0">
            <a:off x="15923945" y="1111629"/>
            <a:ext cx="1335355" cy="221513"/>
          </a:xfrm>
          <a:prstGeom prst="rect">
            <a:avLst/>
          </a:prstGeom>
        </p:spPr>
        <p:txBody>
          <a:bodyPr anchor="t" rtlCol="false" tIns="0" lIns="0" bIns="0" rIns="0">
            <a:spAutoFit/>
          </a:bodyPr>
          <a:lstStyle/>
          <a:p>
            <a:pPr algn="ctr" marL="0" indent="0" lvl="1">
              <a:lnSpc>
                <a:spcPts val="1874"/>
              </a:lnSpc>
              <a:spcBef>
                <a:spcPct val="0"/>
              </a:spcBef>
            </a:pPr>
            <a:r>
              <a:rPr lang="en-US" sz="1453" spc="-79" strike="noStrike" u="none">
                <a:solidFill>
                  <a:srgbClr val="343434"/>
                </a:solidFill>
                <a:latin typeface="DM Sans"/>
                <a:ea typeface="DM Sans"/>
                <a:cs typeface="DM Sans"/>
                <a:sym typeface="DM Sans"/>
              </a:rPr>
              <a:t>CONTACT US</a:t>
            </a:r>
          </a:p>
        </p:txBody>
      </p:sp>
      <p:sp>
        <p:nvSpPr>
          <p:cNvPr name="TextBox 10" id="10"/>
          <p:cNvSpPr txBox="true"/>
          <p:nvPr/>
        </p:nvSpPr>
        <p:spPr>
          <a:xfrm rot="0">
            <a:off x="1418526" y="3754383"/>
            <a:ext cx="16006319" cy="4115000"/>
          </a:xfrm>
          <a:prstGeom prst="rect">
            <a:avLst/>
          </a:prstGeom>
        </p:spPr>
        <p:txBody>
          <a:bodyPr anchor="t" rtlCol="false" tIns="0" lIns="0" bIns="0" rIns="0">
            <a:spAutoFit/>
          </a:bodyPr>
          <a:lstStyle/>
          <a:p>
            <a:pPr algn="just">
              <a:lnSpc>
                <a:spcPts val="4713"/>
              </a:lnSpc>
            </a:pPr>
            <a:r>
              <a:rPr lang="en-US" sz="3367">
                <a:solidFill>
                  <a:srgbClr val="343434"/>
                </a:solidFill>
                <a:latin typeface="DM Sans"/>
                <a:ea typeface="DM Sans"/>
                <a:cs typeface="DM Sans"/>
                <a:sym typeface="DM Sans"/>
              </a:rPr>
              <a:t>In conclusion, cross-domain training is important because security is not only the responsibility of the IT department. By working together, IT, HR, legal, physical security, management, and other departments can better understand and respond to security risks. Effective communication, shared knowledge, and proper training help organizations prevent security incidents, respond to threats quickly, and protect their people, systems, and information.</a:t>
            </a:r>
          </a:p>
          <a:p>
            <a:pPr algn="just">
              <a:lnSpc>
                <a:spcPts val="4713"/>
              </a:lnSpc>
            </a:pPr>
          </a:p>
        </p:txBody>
      </p:sp>
      <p:sp>
        <p:nvSpPr>
          <p:cNvPr name="TextBox 11" id="11"/>
          <p:cNvSpPr txBox="true"/>
          <p:nvPr/>
        </p:nvSpPr>
        <p:spPr>
          <a:xfrm rot="0">
            <a:off x="16384182" y="9663011"/>
            <a:ext cx="1637118" cy="419735"/>
          </a:xfrm>
          <a:prstGeom prst="rect">
            <a:avLst/>
          </a:prstGeom>
        </p:spPr>
        <p:txBody>
          <a:bodyPr anchor="t" rtlCol="false" tIns="0" lIns="0" bIns="0" rIns="0">
            <a:spAutoFit/>
          </a:bodyPr>
          <a:lstStyle/>
          <a:p>
            <a:pPr algn="r">
              <a:lnSpc>
                <a:spcPts val="3418"/>
              </a:lnSpc>
            </a:pPr>
            <a:r>
              <a:rPr lang="en-US" sz="2441" b="true">
                <a:solidFill>
                  <a:srgbClr val="343434"/>
                </a:solidFill>
                <a:latin typeface="DM Sans Bold"/>
                <a:ea typeface="DM Sans Bold"/>
                <a:cs typeface="DM Sans Bold"/>
                <a:sym typeface="DM Sans Bold"/>
              </a:rPr>
              <a:t>TABIGUE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DAHRu5_JbJY</dc:identifier>
  <dcterms:modified xsi:type="dcterms:W3CDTF">2011-08-01T06:04:30Z</dcterms:modified>
  <cp:revision>1</cp:revision>
  <dc:title>Computer</dc:title>
</cp:coreProperties>
</file>