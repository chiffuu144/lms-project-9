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18288000" cy="10287000"/>
  <p:notesSz cx="6858000" cy="9144000"/>
  <p:embeddedFontLst>
    <p:embeddedFont>
      <p:font typeface="Lazydog 1" charset="1" panose="00000000000000000000"/>
      <p:regular r:id="rId58"/>
    </p:embeddedFont>
    <p:embeddedFont>
      <p:font typeface="Sniglet" charset="1" panose="04070505030100020000"/>
      <p:regular r:id="rId59"/>
    </p:embeddedFont>
    <p:embeddedFont>
      <p:font typeface="Arimo Bold" charset="1" panose="020B0704020202020204"/>
      <p:regular r:id="rId60"/>
    </p:embeddedFont>
    <p:embeddedFont>
      <p:font typeface="Arimo" charset="1" panose="020B0604020202020204"/>
      <p:regular r:id="rId61"/>
    </p:embeddedFont>
    <p:embeddedFont>
      <p:font typeface="Etna Sans Serif" charset="1" panose="02000600000000000000"/>
      <p:regular r:id="rId62"/>
    </p:embeddedFont>
    <p:embeddedFont>
      <p:font typeface="TT Fors Bold" charset="1" panose="020B0003030001020000"/>
      <p:regular r:id="rId63"/>
    </p:embeddedFont>
    <p:embeddedFont>
      <p:font typeface="TT Fors" charset="1" panose="020B0003030001020000"/>
      <p:regular r:id="rId64"/>
    </p:embeddedFont>
    <p:embeddedFont>
      <p:font typeface="Poppins Bold" charset="1" panose="00000800000000000000"/>
      <p:regular r:id="rId68"/>
    </p:embeddedFont>
    <p:embeddedFont>
      <p:font typeface="Poppins" charset="1" panose="00000500000000000000"/>
      <p:regular r:id="rId69"/>
    </p:embeddedFont>
    <p:embeddedFont>
      <p:font typeface="Anton" charset="1" panose="00000500000000000000"/>
      <p:regular r:id="rId70"/>
    </p:embeddedFont>
    <p:embeddedFont>
      <p:font typeface="Glacial Indifference Bold" charset="1" panose="00000800000000000000"/>
      <p:regular r:id="rId71"/>
    </p:embeddedFont>
    <p:embeddedFont>
      <p:font typeface="Glacial Indifference" charset="1" panose="00000000000000000000"/>
      <p:regular r:id="rId72"/>
    </p:embeddedFont>
    <p:embeddedFont>
      <p:font typeface="Lazydog 2" charset="1" panose="00000000000000000000"/>
      <p:regular r:id="rId73"/>
    </p:embeddedFont>
    <p:embeddedFont>
      <p:font typeface="Akzidenz-Grotesk" charset="1" panose="02000503030000020003"/>
      <p:regular r:id="rId74"/>
    </p:embeddedFont>
    <p:embeddedFont>
      <p:font typeface="Benne" charset="1" panose="00000500000000000000"/>
      <p:regular r:id="rId75"/>
    </p:embeddedFont>
    <p:embeddedFont>
      <p:font typeface="Akzidenz-Grotesk Bold" charset="1" panose="02000803050000020004"/>
      <p:regular r:id="rId76"/>
    </p:embeddedFont>
    <p:embeddedFont>
      <p:font typeface="Akzidenz-Grotesk Light" charset="1" panose="02000506040000020003"/>
      <p:regular r:id="rId77"/>
    </p:embeddedFont>
    <p:embeddedFont>
      <p:font typeface="The Seasons Bold" charset="1" panose="00000000000000000000"/>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notesMasters/notesMaster1.xml" Type="http://schemas.openxmlformats.org/officeDocument/2006/relationships/notesMaster"/><Relationship Id="rId66" Target="theme/theme2.xml" Type="http://schemas.openxmlformats.org/officeDocument/2006/relationships/theme"/><Relationship Id="rId67" Target="notesSlides/notesSlide1.xml" Type="http://schemas.openxmlformats.org/officeDocument/2006/relationships/notesSlide"/><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Planning – Identify Critical Assets</a:t>
            </a:r>
          </a:p>
          <a:p>
            <a:r>
              <a:rPr lang="en-US"/>
              <a:t/>
            </a:r>
          </a:p>
          <a:p>
            <a:r>
              <a:rPr lang="en-US"/>
              <a:t>Sa Planning phase, dito muna ina-identify ng hospital kung ano ang mga pinakamahalagang assets na kailangang protektahan. Kasama rito ang patient records, laboratory results, at employee accounts dahil lahat ng ito ay may sensitive at confidential information.</a:t>
            </a:r>
          </a:p>
          <a:p>
            <a:r>
              <a:rPr lang="en-US"/>
              <a:t/>
            </a:r>
          </a:p>
          <a:p>
            <a:r>
              <a:rPr lang="en-US"/>
              <a:t>Pagkatapos, nagsasagawa sila ng risk assessment para malaman kung anu-anong cyber threats o vulnerabilities ang puwedeng makaapekto sa system. Base sa resulta nito, gumagawa sila ng security policies at objectives na magiging guide sa buong security process.</a:t>
            </a:r>
          </a:p>
          <a:p>
            <a:r>
              <a:rPr lang="en-US"/>
              <a:t/>
            </a:r>
          </a:p>
          <a:p>
            <a:r>
              <a:rPr lang="en-US"/>
              <a:t>Key idea: Alamin muna kung ano ang kailangang protektahan bago mag-implement ng security measures.</a:t>
            </a:r>
          </a:p>
          <a:p>
            <a:r>
              <a:rPr lang="en-US"/>
              <a:t/>
            </a:r>
          </a:p>
          <a:p>
            <a:r>
              <a:rPr lang="en-US"/>
              <a:t>(2) Implementation – Deploy Security Measures</a:t>
            </a:r>
          </a:p>
          <a:p>
            <a:r>
              <a:rPr lang="en-US"/>
              <a:t/>
            </a:r>
          </a:p>
          <a:p>
            <a:r>
              <a:rPr lang="en-US"/>
              <a:t>Pagkatapos ng planning, ina-apply na ng hospital ang mga security controls para maprotektahan ang kanilang information system.</a:t>
            </a:r>
          </a:p>
          <a:p>
            <a:r>
              <a:rPr lang="en-US"/>
              <a:t/>
            </a:r>
          </a:p>
          <a:p>
            <a:r>
              <a:rPr lang="en-US"/>
              <a:t>Kasama rito ang:</a:t>
            </a:r>
          </a:p>
          <a:p>
            <a:r>
              <a:rPr lang="en-US"/>
              <a:t/>
            </a:r>
          </a:p>
          <a:p>
            <a:r>
              <a:rPr lang="en-US"/>
              <a:t>* Encryption, para maging unreadable ang patient data kapag may unauthorized access.</a:t>
            </a:r>
          </a:p>
          <a:p>
            <a:r>
              <a:rPr lang="en-US"/>
              <a:t/>
            </a:r>
          </a:p>
          <a:p>
            <a:r>
              <a:rPr lang="en-US"/>
              <a:t>* Role-Based Access Control (RBAC), para ang bawat employee ay makaka-access lang ng data na kailangan nila sa trabaho nila.</a:t>
            </a:r>
          </a:p>
          <a:p>
            <a:r>
              <a:rPr lang="en-US"/>
              <a:t/>
            </a:r>
          </a:p>
          <a:p>
            <a:r>
              <a:rPr lang="en-US"/>
              <a:t>* Backup systems, para may copy ng important files kung sakaling magkaroon ng system failure o cyberattack.</a:t>
            </a:r>
          </a:p>
          <a:p>
            <a:r>
              <a:rPr lang="en-US"/>
              <a:t/>
            </a:r>
          </a:p>
          <a:p>
            <a:r>
              <a:rPr lang="en-US"/>
              <a:t>Key idea: I-implement ang tamang security technologies at policies para maprotektahan ang hospital data.</a:t>
            </a:r>
          </a:p>
          <a:p>
            <a:r>
              <a:rPr lang="en-US"/>
              <a:t/>
            </a:r>
          </a:p>
          <a:p>
            <a:r>
              <a:rPr lang="en-US"/>
              <a:t>(3) Operation – System Usage and Management</a:t>
            </a:r>
          </a:p>
          <a:p>
            <a:r>
              <a:rPr lang="en-US"/>
              <a:t/>
            </a:r>
          </a:p>
          <a:p>
            <a:r>
              <a:rPr lang="en-US"/>
              <a:t>Sa Operation phase, ginagamit na ng hospital ang system sa kanilang araw-araw na operations.</a:t>
            </a:r>
          </a:p>
          <a:p>
            <a:r>
              <a:rPr lang="en-US"/>
              <a:t/>
            </a:r>
          </a:p>
          <a:p>
            <a:r>
              <a:rPr lang="en-US"/>
              <a:t>Ang mga doctors, nurses, at laboratory staff ay secure na nakakakita ng patient records ayon sa kanilang assigned roles. Samantala, ang IT administrators ang responsible sa pag-maintain ng system, pag-manage ng user accounts, pag-install ng updates, at pagtiyak na laging secure ang buong network.</a:t>
            </a:r>
          </a:p>
          <a:p>
            <a:r>
              <a:rPr lang="en-US"/>
              <a:t/>
            </a:r>
          </a:p>
          <a:p>
            <a:r>
              <a:rPr lang="en-US"/>
              <a:t>Key idea: Habang ginagamit ang system araw-araw, tuloy-tuloy pa rin ang pagpapanatili ng security.</a:t>
            </a:r>
          </a:p>
          <a:p>
            <a:r>
              <a:rPr lang="en-US"/>
              <a:t/>
            </a:r>
          </a:p>
          <a:p>
            <a:r>
              <a:rPr lang="en-US"/>
              <a:t>(4) Monitoring – Continuous Surveillance</a:t>
            </a:r>
          </a:p>
          <a:p>
            <a:r>
              <a:rPr lang="en-US"/>
              <a:t/>
            </a:r>
          </a:p>
          <a:p>
            <a:r>
              <a:rPr lang="en-US"/>
              <a:t>Hindi sapat na naka-install lang ang security controls. Kaya sa Monitoring phase, tuloy-tuloy na mino-monitor ng hospital ang kanilang network at systems.</a:t>
            </a:r>
          </a:p>
          <a:p>
            <a:r>
              <a:rPr lang="en-US"/>
              <a:t/>
            </a:r>
          </a:p>
          <a:p>
            <a:r>
              <a:rPr lang="en-US"/>
              <a:t>Gumagamit sila ng security software para makita kung may:</a:t>
            </a:r>
          </a:p>
          <a:p>
            <a:r>
              <a:rPr lang="en-US"/>
              <a:t/>
            </a:r>
          </a:p>
          <a:p>
            <a:r>
              <a:rPr lang="en-US"/>
              <a:t>unauthorized login attempts,</a:t>
            </a:r>
          </a:p>
          <a:p>
            <a:r>
              <a:rPr lang="en-US"/>
              <a:t>suspicious activities,</a:t>
            </a:r>
          </a:p>
          <a:p>
            <a:r>
              <a:rPr lang="en-US"/>
              <a:t>o unusual network traffic.</a:t>
            </a:r>
          </a:p>
          <a:p>
            <a:r>
              <a:rPr lang="en-US"/>
              <a:t/>
            </a:r>
          </a:p>
          <a:p>
            <a:r>
              <a:rPr lang="en-US"/>
              <a:t>Kapag may na-detect na possible attack, agad itong ina-alert sa IT security team para mabilis nilang maimbestigahan at ma-stop ang problema bago ito lumala.</a:t>
            </a:r>
          </a:p>
          <a:p>
            <a:r>
              <a:rPr lang="en-US"/>
              <a:t/>
            </a:r>
          </a:p>
          <a:p>
            <a:r>
              <a:rPr lang="en-US"/>
              <a:t>Key idea: Ma-detect agad ang cyber threats bago sila makapag-cause ng malaking damage.</a:t>
            </a:r>
          </a:p>
          <a:p>
            <a:r>
              <a:rPr lang="en-US"/>
              <a:t/>
            </a:r>
          </a:p>
          <a:p>
            <a:r>
              <a:rPr lang="en-US"/>
              <a:t>(5) Review – Evaluation and Assessment</a:t>
            </a:r>
          </a:p>
          <a:p>
            <a:r>
              <a:rPr lang="en-US"/>
              <a:t/>
            </a:r>
          </a:p>
          <a:p>
            <a:r>
              <a:rPr lang="en-US"/>
              <a:t>Sa Review phase, chine-check ng hospital kung effective pa ba ang kanilang security controls.</a:t>
            </a:r>
          </a:p>
          <a:p>
            <a:r>
              <a:rPr lang="en-US"/>
              <a:t/>
            </a:r>
          </a:p>
          <a:p>
            <a:r>
              <a:rPr lang="en-US"/>
              <a:t>Ginagawa ito sa pamamagitan ng:</a:t>
            </a:r>
          </a:p>
          <a:p>
            <a:r>
              <a:rPr lang="en-US"/>
              <a:t/>
            </a:r>
          </a:p>
          <a:p>
            <a:r>
              <a:rPr lang="en-US"/>
              <a:t>Security audits</a:t>
            </a:r>
          </a:p>
          <a:p>
            <a:r>
              <a:rPr lang="en-US"/>
              <a:t>Vulnerability assessments</a:t>
            </a:r>
          </a:p>
          <a:p>
            <a:r>
              <a:rPr lang="en-US"/>
              <a:t>Penetration testing</a:t>
            </a:r>
          </a:p>
          <a:p>
            <a:r>
              <a:rPr lang="en-US"/>
              <a:t/>
            </a:r>
          </a:p>
          <a:p>
            <a:r>
              <a:rPr lang="en-US"/>
              <a:t>Dito nila nakikita kung saan pa may weaknesses ang system at kung ano ang dapat pang i-improve para mas maging secure.</a:t>
            </a:r>
          </a:p>
          <a:p>
            <a:r>
              <a:rPr lang="en-US"/>
              <a:t/>
            </a:r>
          </a:p>
          <a:p>
            <a:r>
              <a:rPr lang="en-US"/>
              <a:t>Key idea: Regular na i-evaluate ang security para malaman kung may kailangang baguhin o i-improve.</a:t>
            </a:r>
          </a:p>
          <a:p>
            <a:r>
              <a:rPr lang="en-US"/>
              <a:t/>
            </a:r>
          </a:p>
          <a:p>
            <a:r>
              <a:rPr lang="en-US"/>
              <a:t>(6) Continuous Improvement – Upgrades and Updates</a:t>
            </a:r>
          </a:p>
          <a:p>
            <a:r>
              <a:rPr lang="en-US"/>
              <a:t/>
            </a:r>
          </a:p>
          <a:p>
            <a:r>
              <a:rPr lang="en-US"/>
              <a:t>Dahil mabilis mag-evolve ang cyber threats, kailangan ding continuous ang improvement ng security.</a:t>
            </a:r>
          </a:p>
          <a:p>
            <a:r>
              <a:rPr lang="en-US"/>
              <a:t/>
            </a:r>
          </a:p>
          <a:p>
            <a:r>
              <a:rPr lang="en-US"/>
              <a:t>Regular na:</a:t>
            </a:r>
          </a:p>
          <a:p>
            <a:r>
              <a:rPr lang="en-US"/>
              <a:t/>
            </a:r>
          </a:p>
          <a:p>
            <a:r>
              <a:rPr lang="en-US"/>
              <a:t>nag-u-update ng software,</a:t>
            </a:r>
          </a:p>
          <a:p>
            <a:r>
              <a:rPr lang="en-US"/>
              <a:t>nagpa-patch ng vulnerabilities,</a:t>
            </a:r>
          </a:p>
          <a:p>
            <a:r>
              <a:rPr lang="en-US"/>
              <a:t>nagdadagdag ng bagong security policies,</a:t>
            </a:r>
          </a:p>
          <a:p>
            <a:r>
              <a:rPr lang="en-US"/>
              <a:t>at nagco-conduct ng cybersecurity awareness training para sa mga employees.</a:t>
            </a:r>
          </a:p>
          <a:p>
            <a:r>
              <a:rPr lang="en-US"/>
              <a:t/>
            </a:r>
          </a:p>
          <a:p>
            <a:r>
              <a:rPr lang="en-US"/>
              <a:t>Ginagamit din nila ang lessons learned mula sa previous incidents para lalo pang mapalakas ang security ng hospital.</a:t>
            </a:r>
          </a:p>
          <a:p>
            <a:r>
              <a:rPr lang="en-US"/>
              <a:t/>
            </a:r>
          </a:p>
          <a:p>
            <a:r>
              <a:rPr lang="en-US"/>
              <a:t>Key idea: Laging i-update at i-improve ang security para makasabay sa mga bagong cyber threats.</a:t>
            </a:r>
          </a:p>
          <a:p>
            <a:r>
              <a:rPr lang="en-US"/>
              <a:t/>
            </a:r>
          </a:p>
          <a:p>
            <a:r>
              <a:rPr lang="en-US"/>
              <a:t>Overall Explanation</a:t>
            </a:r>
          </a:p>
          <a:p>
            <a:r>
              <a:rPr lang="en-US"/>
              <a:t/>
            </a:r>
          </a:p>
          <a:p>
            <a:r>
              <a:rPr lang="en-US"/>
              <a:t>Mapapansin sa diagram na paikot ang proseso, ibig sabihin continuous cycle siya. Pagkatapos ng Continuous Improvement, babalik ulit ang hospital sa Planning phase para mag-identify ng mga bagong risks at gumawa ng panibagong security strategy.</a:t>
            </a:r>
          </a:p>
          <a:p>
            <a:r>
              <a:rPr lang="en-US"/>
              <a:t/>
            </a:r>
          </a:p>
          <a:p>
            <a:r>
              <a:rPr lang="en-US"/>
              <a:t>Ang cycle na ito ang tumutulong para mapanatili ang tatlong pangunahing goals ng Information Security:</a:t>
            </a:r>
          </a:p>
          <a:p>
            <a:r>
              <a:rPr lang="en-US"/>
              <a:t/>
            </a:r>
          </a:p>
          <a:p>
            <a:r>
              <a:rPr lang="en-US"/>
              <a:t>Confidentiality – Tanging authorized personnel lang ang puwedeng makakita ng patient information.</a:t>
            </a:r>
          </a:p>
          <a:p>
            <a:r>
              <a:rPr lang="en-US"/>
              <a:t>Integrity – Siguradong accurate at hindi nababago ang medical records nang walang authorization.</a:t>
            </a:r>
          </a:p>
          <a:p>
            <a:r>
              <a:rPr lang="en-US"/>
              <a:t>Availability – Available ang system at patient records anumang oras na kailangan ng healthcare staff.</a:t>
            </a:r>
          </a:p>
          <a:p>
            <a:r>
              <a:rPr lang="en-US"/>
              <a:t>Conclusion</a:t>
            </a:r>
          </a:p>
          <a:p>
            <a:r>
              <a:rPr lang="en-US"/>
              <a:t/>
            </a:r>
          </a:p>
          <a:p>
            <a:r>
              <a:rPr lang="en-US"/>
              <a:t>Sa pamamagitan ng Planning, Implementation, Operation, Monitoring, Review, at Continuous Improvement, napoprotektahan ng hospital ang confidential patient information, nababawasan ang cybersecurity risks, at napapanatiling secure at reliable ang kanilang information system. Dahil continuous ang Information Security Lifecycle, laging handa ang hospital sa mga bagong cyber threats at mas napapanatili ang tiwala ng mga pasyente sa kanilang healthcare services.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3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svg" Type="http://schemas.openxmlformats.org/officeDocument/2006/relationships/image"/><Relationship Id="rId2" Target="../media/image36.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44.pn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 Id="rId6" Target="../media/image74.png" Type="http://schemas.openxmlformats.org/officeDocument/2006/relationships/image"/><Relationship Id="rId7" Target="../media/image7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 Id="rId3" Target="../media/image77.svg" Type="http://schemas.openxmlformats.org/officeDocument/2006/relationships/image"/><Relationship Id="rId4" Target="../media/image78.png" Type="http://schemas.openxmlformats.org/officeDocument/2006/relationships/image"/><Relationship Id="rId5" Target="../media/image79.png" Type="http://schemas.openxmlformats.org/officeDocument/2006/relationships/image"/><Relationship Id="rId6" Target="../media/image80.png" Type="http://schemas.openxmlformats.org/officeDocument/2006/relationships/image"/><Relationship Id="rId7" Target="../media/image81.png" Type="http://schemas.openxmlformats.org/officeDocument/2006/relationships/image"/><Relationship Id="rId8" Target="../media/image8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3.png" Type="http://schemas.openxmlformats.org/officeDocument/2006/relationships/image"/><Relationship Id="rId3" Target="../media/image8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6.png" Type="http://schemas.openxmlformats.org/officeDocument/2006/relationships/image"/><Relationship Id="rId3" Target="../media/image87.sv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0.png" Type="http://schemas.openxmlformats.org/officeDocument/2006/relationships/image"/><Relationship Id="rId3" Target="../media/image91.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png" Type="http://schemas.openxmlformats.org/officeDocument/2006/relationships/image"/><Relationship Id="rId3" Target="../media/image93.png" Type="http://schemas.openxmlformats.org/officeDocument/2006/relationships/image"/><Relationship Id="rId4" Target="../media/image94.svg" Type="http://schemas.openxmlformats.org/officeDocument/2006/relationships/image"/><Relationship Id="rId5" Target="../media/image9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6.png" Type="http://schemas.openxmlformats.org/officeDocument/2006/relationships/image"/><Relationship Id="rId3" Target="../media/image97.png" Type="http://schemas.openxmlformats.org/officeDocument/2006/relationships/image"/><Relationship Id="rId4" Target="../media/image98.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9.png" Type="http://schemas.openxmlformats.org/officeDocument/2006/relationships/image"/><Relationship Id="rId3" Target="../media/image97.png" Type="http://schemas.openxmlformats.org/officeDocument/2006/relationships/image"/><Relationship Id="rId4" Target="../media/image98.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6.png" Type="http://schemas.openxmlformats.org/officeDocument/2006/relationships/image"/><Relationship Id="rId3" Target="../media/image97.png" Type="http://schemas.openxmlformats.org/officeDocument/2006/relationships/image"/><Relationship Id="rId4" Target="../media/image98.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0.png" Type="http://schemas.openxmlformats.org/officeDocument/2006/relationships/image"/><Relationship Id="rId3" Target="../media/image97.png" Type="http://schemas.openxmlformats.org/officeDocument/2006/relationships/image"/><Relationship Id="rId4" Target="../media/image98.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png" Type="http://schemas.openxmlformats.org/officeDocument/2006/relationships/image"/><Relationship Id="rId3" Target="../media/image93.png" Type="http://schemas.openxmlformats.org/officeDocument/2006/relationships/image"/><Relationship Id="rId4" Target="../media/image94.svg" Type="http://schemas.openxmlformats.org/officeDocument/2006/relationships/image"/><Relationship Id="rId5" Target="../media/image101.png" Type="http://schemas.openxmlformats.org/officeDocument/2006/relationships/image"/><Relationship Id="rId6" Target="../media/image10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3.png" Type="http://schemas.openxmlformats.org/officeDocument/2006/relationships/image"/><Relationship Id="rId3" Target="../media/image104.sv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svg" Type="http://schemas.openxmlformats.org/officeDocument/2006/relationships/image"/><Relationship Id="rId4" Target="../media/image109.png" Type="http://schemas.openxmlformats.org/officeDocument/2006/relationships/image"/><Relationship Id="rId5" Target="../media/image110.svg" Type="http://schemas.openxmlformats.org/officeDocument/2006/relationships/image"/><Relationship Id="rId6" Target="../media/image111.png" Type="http://schemas.openxmlformats.org/officeDocument/2006/relationships/image"/><Relationship Id="rId7" Target="../media/image112.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3.png" Type="http://schemas.openxmlformats.org/officeDocument/2006/relationships/image"/><Relationship Id="rId3" Target="../media/image114.png" Type="http://schemas.openxmlformats.org/officeDocument/2006/relationships/image"/><Relationship Id="rId4" Target="../media/image1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D7"/>
        </a:solidFill>
      </p:bgPr>
    </p:bg>
    <p:spTree>
      <p:nvGrpSpPr>
        <p:cNvPr id="1" name=""/>
        <p:cNvGrpSpPr/>
        <p:nvPr/>
      </p:nvGrpSpPr>
      <p:grpSpPr>
        <a:xfrm>
          <a:off x="0" y="0"/>
          <a:ext cx="0" cy="0"/>
          <a:chOff x="0" y="0"/>
          <a:chExt cx="0" cy="0"/>
        </a:xfrm>
      </p:grpSpPr>
      <p:grpSp>
        <p:nvGrpSpPr>
          <p:cNvPr name="Group 2" id="2"/>
          <p:cNvGrpSpPr/>
          <p:nvPr/>
        </p:nvGrpSpPr>
        <p:grpSpPr>
          <a:xfrm rot="0">
            <a:off x="-201702" y="8316719"/>
            <a:ext cx="19879210" cy="4274176"/>
            <a:chOff x="0" y="0"/>
            <a:chExt cx="5235677" cy="1125709"/>
          </a:xfrm>
        </p:grpSpPr>
        <p:sp>
          <p:nvSpPr>
            <p:cNvPr name="Freeform 3" id="3"/>
            <p:cNvSpPr/>
            <p:nvPr/>
          </p:nvSpPr>
          <p:spPr>
            <a:xfrm flipH="false" flipV="false" rot="0">
              <a:off x="0" y="0"/>
              <a:ext cx="5235677" cy="1125709"/>
            </a:xfrm>
            <a:custGeom>
              <a:avLst/>
              <a:gdLst/>
              <a:ahLst/>
              <a:cxnLst/>
              <a:rect r="r" b="b" t="t" l="l"/>
              <a:pathLst>
                <a:path h="1125709" w="5235677">
                  <a:moveTo>
                    <a:pt x="0" y="0"/>
                  </a:moveTo>
                  <a:lnTo>
                    <a:pt x="5235677" y="0"/>
                  </a:lnTo>
                  <a:lnTo>
                    <a:pt x="5235677" y="1125709"/>
                  </a:lnTo>
                  <a:lnTo>
                    <a:pt x="0" y="1125709"/>
                  </a:lnTo>
                  <a:close/>
                </a:path>
              </a:pathLst>
            </a:custGeom>
            <a:solidFill>
              <a:srgbClr val="563721"/>
            </a:solidFill>
          </p:spPr>
        </p:sp>
        <p:sp>
          <p:nvSpPr>
            <p:cNvPr name="TextBox 4" id="4"/>
            <p:cNvSpPr txBox="true"/>
            <p:nvPr/>
          </p:nvSpPr>
          <p:spPr>
            <a:xfrm>
              <a:off x="0" y="-19050"/>
              <a:ext cx="5235677" cy="1144759"/>
            </a:xfrm>
            <a:prstGeom prst="rect">
              <a:avLst/>
            </a:prstGeom>
          </p:spPr>
          <p:txBody>
            <a:bodyPr anchor="ctr" rtlCol="false" tIns="50800" lIns="50800" bIns="50800" rIns="50800"/>
            <a:lstStyle/>
            <a:p>
              <a:pPr algn="ctr">
                <a:lnSpc>
                  <a:spcPts val="2340"/>
                </a:lnSpc>
              </a:pPr>
            </a:p>
          </p:txBody>
        </p:sp>
      </p:grpSp>
      <p:sp>
        <p:nvSpPr>
          <p:cNvPr name="Freeform 5" id="5"/>
          <p:cNvSpPr/>
          <p:nvPr/>
        </p:nvSpPr>
        <p:spPr>
          <a:xfrm flipH="false" flipV="false" rot="0">
            <a:off x="3872748" y="1368349"/>
            <a:ext cx="10401289" cy="6084754"/>
          </a:xfrm>
          <a:custGeom>
            <a:avLst/>
            <a:gdLst/>
            <a:ahLst/>
            <a:cxnLst/>
            <a:rect r="r" b="b" t="t" l="l"/>
            <a:pathLst>
              <a:path h="6084754" w="10401289">
                <a:moveTo>
                  <a:pt x="0" y="0"/>
                </a:moveTo>
                <a:lnTo>
                  <a:pt x="10401289" y="0"/>
                </a:lnTo>
                <a:lnTo>
                  <a:pt x="10401289" y="6084754"/>
                </a:lnTo>
                <a:lnTo>
                  <a:pt x="0" y="6084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09250" y="5539532"/>
            <a:ext cx="7465601" cy="5011285"/>
          </a:xfrm>
          <a:custGeom>
            <a:avLst/>
            <a:gdLst/>
            <a:ahLst/>
            <a:cxnLst/>
            <a:rect r="r" b="b" t="t" l="l"/>
            <a:pathLst>
              <a:path h="5011285" w="7465601">
                <a:moveTo>
                  <a:pt x="0" y="0"/>
                </a:moveTo>
                <a:lnTo>
                  <a:pt x="7465601" y="0"/>
                </a:lnTo>
                <a:lnTo>
                  <a:pt x="7465601" y="5011285"/>
                </a:lnTo>
                <a:lnTo>
                  <a:pt x="0" y="5011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835161" y="6514477"/>
            <a:ext cx="1700618" cy="3426938"/>
          </a:xfrm>
          <a:custGeom>
            <a:avLst/>
            <a:gdLst/>
            <a:ahLst/>
            <a:cxnLst/>
            <a:rect r="r" b="b" t="t" l="l"/>
            <a:pathLst>
              <a:path h="3426938" w="1700618">
                <a:moveTo>
                  <a:pt x="0" y="0"/>
                </a:moveTo>
                <a:lnTo>
                  <a:pt x="1700618" y="0"/>
                </a:lnTo>
                <a:lnTo>
                  <a:pt x="1700618" y="3426938"/>
                </a:lnTo>
                <a:lnTo>
                  <a:pt x="0" y="3426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775541" y="4900664"/>
            <a:ext cx="1774190" cy="4699842"/>
          </a:xfrm>
          <a:custGeom>
            <a:avLst/>
            <a:gdLst/>
            <a:ahLst/>
            <a:cxnLst/>
            <a:rect r="r" b="b" t="t" l="l"/>
            <a:pathLst>
              <a:path h="4699842" w="1774190">
                <a:moveTo>
                  <a:pt x="0" y="0"/>
                </a:moveTo>
                <a:lnTo>
                  <a:pt x="1774190" y="0"/>
                </a:lnTo>
                <a:lnTo>
                  <a:pt x="1774190" y="4699842"/>
                </a:lnTo>
                <a:lnTo>
                  <a:pt x="0" y="46998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709250" y="-447474"/>
            <a:ext cx="2604372" cy="4260731"/>
          </a:xfrm>
          <a:custGeom>
            <a:avLst/>
            <a:gdLst/>
            <a:ahLst/>
            <a:cxnLst/>
            <a:rect r="r" b="b" t="t" l="l"/>
            <a:pathLst>
              <a:path h="4260731" w="2604372">
                <a:moveTo>
                  <a:pt x="0" y="0"/>
                </a:moveTo>
                <a:lnTo>
                  <a:pt x="2604372" y="0"/>
                </a:lnTo>
                <a:lnTo>
                  <a:pt x="2604372" y="4260731"/>
                </a:lnTo>
                <a:lnTo>
                  <a:pt x="0" y="42607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4489483" y="5900147"/>
            <a:ext cx="1660880" cy="3840185"/>
          </a:xfrm>
          <a:custGeom>
            <a:avLst/>
            <a:gdLst/>
            <a:ahLst/>
            <a:cxnLst/>
            <a:rect r="r" b="b" t="t" l="l"/>
            <a:pathLst>
              <a:path h="3840185" w="1660880">
                <a:moveTo>
                  <a:pt x="0" y="0"/>
                </a:moveTo>
                <a:lnTo>
                  <a:pt x="1660880" y="0"/>
                </a:lnTo>
                <a:lnTo>
                  <a:pt x="1660880" y="3840185"/>
                </a:lnTo>
                <a:lnTo>
                  <a:pt x="0" y="384018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5037046" y="-535517"/>
            <a:ext cx="1896001" cy="5194523"/>
          </a:xfrm>
          <a:custGeom>
            <a:avLst/>
            <a:gdLst/>
            <a:ahLst/>
            <a:cxnLst/>
            <a:rect r="r" b="b" t="t" l="l"/>
            <a:pathLst>
              <a:path h="5194523" w="1896001">
                <a:moveTo>
                  <a:pt x="0" y="0"/>
                </a:moveTo>
                <a:lnTo>
                  <a:pt x="1896001" y="0"/>
                </a:lnTo>
                <a:lnTo>
                  <a:pt x="1896001" y="5194523"/>
                </a:lnTo>
                <a:lnTo>
                  <a:pt x="0" y="519452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4445617" y="3114121"/>
            <a:ext cx="9504703" cy="1296605"/>
          </a:xfrm>
          <a:prstGeom prst="rect">
            <a:avLst/>
          </a:prstGeom>
        </p:spPr>
        <p:txBody>
          <a:bodyPr anchor="t" rtlCol="false" tIns="0" lIns="0" bIns="0" rIns="0">
            <a:spAutoFit/>
          </a:bodyPr>
          <a:lstStyle/>
          <a:p>
            <a:pPr algn="ctr">
              <a:lnSpc>
                <a:spcPts val="9750"/>
              </a:lnSpc>
            </a:pPr>
            <a:r>
              <a:rPr lang="en-US" sz="9286">
                <a:solidFill>
                  <a:srgbClr val="FFFFFF"/>
                </a:solidFill>
                <a:latin typeface="Lazydog 1"/>
                <a:ea typeface="Lazydog 1"/>
                <a:cs typeface="Lazydog 1"/>
                <a:sym typeface="Lazydog 1"/>
              </a:rPr>
              <a:t>GROUP 3</a:t>
            </a:r>
          </a:p>
        </p:txBody>
      </p:sp>
      <p:sp>
        <p:nvSpPr>
          <p:cNvPr name="TextBox 13" id="13"/>
          <p:cNvSpPr txBox="true"/>
          <p:nvPr/>
        </p:nvSpPr>
        <p:spPr>
          <a:xfrm rot="0">
            <a:off x="5177412" y="4630431"/>
            <a:ext cx="8041113" cy="1420495"/>
          </a:xfrm>
          <a:prstGeom prst="rect">
            <a:avLst/>
          </a:prstGeom>
        </p:spPr>
        <p:txBody>
          <a:bodyPr anchor="t" rtlCol="false" tIns="0" lIns="0" bIns="0" rIns="0">
            <a:spAutoFit/>
          </a:bodyPr>
          <a:lstStyle/>
          <a:p>
            <a:pPr algn="ctr">
              <a:lnSpc>
                <a:spcPts val="3770"/>
              </a:lnSpc>
            </a:pPr>
            <a:r>
              <a:rPr lang="en-US" sz="2900">
                <a:solidFill>
                  <a:srgbClr val="FFFFFF"/>
                </a:solidFill>
                <a:latin typeface="Sniglet"/>
                <a:ea typeface="Sniglet"/>
                <a:cs typeface="Sniglet"/>
                <a:sym typeface="Sniglet"/>
              </a:rPr>
              <a:t>Strategy and Strategic Planning &amp;</a:t>
            </a:r>
          </a:p>
          <a:p>
            <a:pPr algn="ctr">
              <a:lnSpc>
                <a:spcPts val="3770"/>
              </a:lnSpc>
            </a:pPr>
            <a:r>
              <a:rPr lang="en-US" sz="2900">
                <a:solidFill>
                  <a:srgbClr val="FFFFFF"/>
                </a:solidFill>
                <a:latin typeface="Sniglet"/>
                <a:ea typeface="Sniglet"/>
                <a:cs typeface="Sniglet"/>
                <a:sym typeface="Sniglet"/>
              </a:rPr>
              <a:t>Security Plans and Policies</a:t>
            </a:r>
          </a:p>
          <a:p>
            <a:pPr algn="ctr">
              <a:lnSpc>
                <a:spcPts val="377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sp>
        <p:nvSpPr>
          <p:cNvPr name="Freeform 2" id="2"/>
          <p:cNvSpPr/>
          <p:nvPr/>
        </p:nvSpPr>
        <p:spPr>
          <a:xfrm flipH="false" flipV="false" rot="0">
            <a:off x="-1240824" y="-410418"/>
            <a:ext cx="10621097" cy="11470785"/>
          </a:xfrm>
          <a:custGeom>
            <a:avLst/>
            <a:gdLst/>
            <a:ahLst/>
            <a:cxnLst/>
            <a:rect r="r" b="b" t="t" l="l"/>
            <a:pathLst>
              <a:path h="11470785" w="10621097">
                <a:moveTo>
                  <a:pt x="0" y="0"/>
                </a:moveTo>
                <a:lnTo>
                  <a:pt x="10621098" y="0"/>
                </a:lnTo>
                <a:lnTo>
                  <a:pt x="10621098" y="11470786"/>
                </a:lnTo>
                <a:lnTo>
                  <a:pt x="0" y="11470786"/>
                </a:lnTo>
                <a:lnTo>
                  <a:pt x="0" y="0"/>
                </a:lnTo>
                <a:close/>
              </a:path>
            </a:pathLst>
          </a:custGeom>
          <a:blipFill>
            <a:blip r:embed="rId2">
              <a:alphaModFix amt="36000"/>
            </a:blip>
            <a:stretch>
              <a:fillRect l="0" t="0" r="0" b="0"/>
            </a:stretch>
          </a:blipFill>
        </p:spPr>
      </p:sp>
      <p:sp>
        <p:nvSpPr>
          <p:cNvPr name="Freeform 3" id="3"/>
          <p:cNvSpPr/>
          <p:nvPr/>
        </p:nvSpPr>
        <p:spPr>
          <a:xfrm flipH="false" flipV="false" rot="0">
            <a:off x="10205251" y="-128408"/>
            <a:ext cx="10300451" cy="10300451"/>
          </a:xfrm>
          <a:custGeom>
            <a:avLst/>
            <a:gdLst/>
            <a:ahLst/>
            <a:cxnLst/>
            <a:rect r="r" b="b" t="t" l="l"/>
            <a:pathLst>
              <a:path h="10300451" w="10300451">
                <a:moveTo>
                  <a:pt x="0" y="0"/>
                </a:moveTo>
                <a:lnTo>
                  <a:pt x="10300452" y="0"/>
                </a:lnTo>
                <a:lnTo>
                  <a:pt x="10300452" y="10300452"/>
                </a:lnTo>
                <a:lnTo>
                  <a:pt x="0" y="10300452"/>
                </a:lnTo>
                <a:lnTo>
                  <a:pt x="0" y="0"/>
                </a:lnTo>
                <a:close/>
              </a:path>
            </a:pathLst>
          </a:custGeom>
          <a:blipFill>
            <a:blip r:embed="rId3">
              <a:alphaModFix amt="25000"/>
            </a:blip>
            <a:stretch>
              <a:fillRect l="0" t="0" r="0" b="0"/>
            </a:stretch>
          </a:blipFill>
        </p:spPr>
      </p:sp>
      <p:grpSp>
        <p:nvGrpSpPr>
          <p:cNvPr name="Group 4" id="4"/>
          <p:cNvGrpSpPr/>
          <p:nvPr/>
        </p:nvGrpSpPr>
        <p:grpSpPr>
          <a:xfrm rot="0">
            <a:off x="1705622" y="1827414"/>
            <a:ext cx="14876757" cy="8344630"/>
            <a:chOff x="0" y="0"/>
            <a:chExt cx="19835675" cy="11126173"/>
          </a:xfrm>
        </p:grpSpPr>
        <p:sp>
          <p:nvSpPr>
            <p:cNvPr name="Freeform 5" id="5"/>
            <p:cNvSpPr/>
            <p:nvPr/>
          </p:nvSpPr>
          <p:spPr>
            <a:xfrm flipH="false" flipV="false" rot="0">
              <a:off x="0" y="0"/>
              <a:ext cx="19835675" cy="8871957"/>
            </a:xfrm>
            <a:custGeom>
              <a:avLst/>
              <a:gdLst/>
              <a:ahLst/>
              <a:cxnLst/>
              <a:rect r="r" b="b" t="t" l="l"/>
              <a:pathLst>
                <a:path h="8871957" w="19835675">
                  <a:moveTo>
                    <a:pt x="0" y="0"/>
                  </a:moveTo>
                  <a:lnTo>
                    <a:pt x="19835675" y="0"/>
                  </a:lnTo>
                  <a:lnTo>
                    <a:pt x="19835675" y="8871957"/>
                  </a:lnTo>
                  <a:lnTo>
                    <a:pt x="0" y="88719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2254217"/>
              <a:ext cx="19835675" cy="8871957"/>
            </a:xfrm>
            <a:custGeom>
              <a:avLst/>
              <a:gdLst/>
              <a:ahLst/>
              <a:cxnLst/>
              <a:rect r="r" b="b" t="t" l="l"/>
              <a:pathLst>
                <a:path h="8871957" w="19835675">
                  <a:moveTo>
                    <a:pt x="0" y="0"/>
                  </a:moveTo>
                  <a:lnTo>
                    <a:pt x="19835675" y="0"/>
                  </a:lnTo>
                  <a:lnTo>
                    <a:pt x="19835675" y="8871956"/>
                  </a:lnTo>
                  <a:lnTo>
                    <a:pt x="0" y="8871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7" id="7"/>
          <p:cNvSpPr txBox="true"/>
          <p:nvPr/>
        </p:nvSpPr>
        <p:spPr>
          <a:xfrm rot="0">
            <a:off x="2352866" y="2908633"/>
            <a:ext cx="13582268" cy="6780361"/>
          </a:xfrm>
          <a:prstGeom prst="rect">
            <a:avLst/>
          </a:prstGeom>
        </p:spPr>
        <p:txBody>
          <a:bodyPr anchor="t" rtlCol="false" tIns="0" lIns="0" bIns="0" rIns="0">
            <a:spAutoFit/>
          </a:bodyPr>
          <a:lstStyle/>
          <a:p>
            <a:pPr algn="just">
              <a:lnSpc>
                <a:spcPts val="5997"/>
              </a:lnSpc>
            </a:pPr>
            <a:r>
              <a:rPr lang="en-US" sz="4613" b="true">
                <a:solidFill>
                  <a:srgbClr val="28211E"/>
                </a:solidFill>
                <a:latin typeface="Arimo Bold"/>
                <a:ea typeface="Arimo Bold"/>
                <a:cs typeface="Arimo Bold"/>
                <a:sym typeface="Arimo Bold"/>
              </a:rPr>
              <a:t>A. Strategy</a:t>
            </a:r>
          </a:p>
          <a:p>
            <a:pPr algn="just">
              <a:lnSpc>
                <a:spcPts val="5997"/>
              </a:lnSpc>
            </a:pPr>
            <a:r>
              <a:rPr lang="en-US" sz="4613" b="true">
                <a:solidFill>
                  <a:srgbClr val="28211E"/>
                </a:solidFill>
                <a:latin typeface="Arimo Bold"/>
                <a:ea typeface="Arimo Bold"/>
                <a:cs typeface="Arimo Bold"/>
                <a:sym typeface="Arimo Bold"/>
              </a:rPr>
              <a:t>B. Strategic Planning and Security Strategy</a:t>
            </a:r>
          </a:p>
          <a:p>
            <a:pPr algn="just">
              <a:lnSpc>
                <a:spcPts val="5997"/>
              </a:lnSpc>
            </a:pPr>
            <a:r>
              <a:rPr lang="en-US" sz="4613" b="true">
                <a:solidFill>
                  <a:srgbClr val="28211E"/>
                </a:solidFill>
                <a:latin typeface="Arimo Bold"/>
                <a:ea typeface="Arimo Bold"/>
                <a:cs typeface="Arimo Bold"/>
                <a:sym typeface="Arimo Bold"/>
              </a:rPr>
              <a:t>C. The information Security Lifecycle</a:t>
            </a:r>
          </a:p>
          <a:p>
            <a:pPr algn="just">
              <a:lnSpc>
                <a:spcPts val="5997"/>
              </a:lnSpc>
            </a:pPr>
            <a:r>
              <a:rPr lang="en-US" sz="4613" b="true">
                <a:solidFill>
                  <a:srgbClr val="28211E"/>
                </a:solidFill>
                <a:latin typeface="Arimo Bold"/>
                <a:ea typeface="Arimo Bold"/>
                <a:cs typeface="Arimo Bold"/>
                <a:sym typeface="Arimo Bold"/>
              </a:rPr>
              <a:t>D. Architecting the Enterprise</a:t>
            </a:r>
          </a:p>
          <a:p>
            <a:pPr algn="just">
              <a:lnSpc>
                <a:spcPts val="5997"/>
              </a:lnSpc>
            </a:pPr>
            <a:r>
              <a:rPr lang="en-US" sz="4613" b="true">
                <a:solidFill>
                  <a:srgbClr val="28211E"/>
                </a:solidFill>
                <a:latin typeface="Arimo Bold"/>
                <a:ea typeface="Arimo Bold"/>
                <a:cs typeface="Arimo Bold"/>
                <a:sym typeface="Arimo Bold"/>
              </a:rPr>
              <a:t>E. Levels of Planning</a:t>
            </a:r>
          </a:p>
          <a:p>
            <a:pPr algn="just">
              <a:lnSpc>
                <a:spcPts val="5997"/>
              </a:lnSpc>
            </a:pPr>
            <a:r>
              <a:rPr lang="en-US" sz="4613" b="true">
                <a:solidFill>
                  <a:srgbClr val="28211E"/>
                </a:solidFill>
                <a:latin typeface="Arimo Bold"/>
                <a:ea typeface="Arimo Bold"/>
                <a:cs typeface="Arimo Bold"/>
                <a:sym typeface="Arimo Bold"/>
              </a:rPr>
              <a:t>F. Planning Misalignment</a:t>
            </a:r>
          </a:p>
          <a:p>
            <a:pPr algn="just">
              <a:lnSpc>
                <a:spcPts val="5997"/>
              </a:lnSpc>
            </a:pPr>
            <a:r>
              <a:rPr lang="en-US" sz="4613" b="true">
                <a:solidFill>
                  <a:srgbClr val="28211E"/>
                </a:solidFill>
                <a:latin typeface="Arimo Bold"/>
                <a:ea typeface="Arimo Bold"/>
                <a:cs typeface="Arimo Bold"/>
                <a:sym typeface="Arimo Bold"/>
              </a:rPr>
              <a:t>G. System Security Plan (SSP)</a:t>
            </a:r>
          </a:p>
          <a:p>
            <a:pPr algn="just">
              <a:lnSpc>
                <a:spcPts val="5997"/>
              </a:lnSpc>
            </a:pPr>
            <a:r>
              <a:rPr lang="en-US" sz="4613" b="true">
                <a:solidFill>
                  <a:srgbClr val="28211E"/>
                </a:solidFill>
                <a:latin typeface="Arimo Bold"/>
                <a:ea typeface="Arimo Bold"/>
                <a:cs typeface="Arimo Bold"/>
                <a:sym typeface="Arimo Bold"/>
              </a:rPr>
              <a:t>H. Policy Development and Implementation</a:t>
            </a:r>
          </a:p>
          <a:p>
            <a:pPr algn="just">
              <a:lnSpc>
                <a:spcPts val="599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Strategy</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581597" y="1178424"/>
            <a:ext cx="8562403" cy="2702351"/>
            <a:chOff x="0" y="0"/>
            <a:chExt cx="2255118" cy="711730"/>
          </a:xfrm>
        </p:grpSpPr>
        <p:sp>
          <p:nvSpPr>
            <p:cNvPr name="Freeform 5" id="5"/>
            <p:cNvSpPr/>
            <p:nvPr/>
          </p:nvSpPr>
          <p:spPr>
            <a:xfrm flipH="false" flipV="false" rot="0">
              <a:off x="0" y="0"/>
              <a:ext cx="2255118" cy="711730"/>
            </a:xfrm>
            <a:custGeom>
              <a:avLst/>
              <a:gdLst/>
              <a:ahLst/>
              <a:cxnLst/>
              <a:rect r="r" b="b" t="t" l="l"/>
              <a:pathLst>
                <a:path h="711730" w="2255118">
                  <a:moveTo>
                    <a:pt x="46113" y="0"/>
                  </a:moveTo>
                  <a:lnTo>
                    <a:pt x="2209005" y="0"/>
                  </a:lnTo>
                  <a:cubicBezTo>
                    <a:pt x="2221235" y="0"/>
                    <a:pt x="2232964" y="4858"/>
                    <a:pt x="2241612" y="13506"/>
                  </a:cubicBezTo>
                  <a:cubicBezTo>
                    <a:pt x="2250260" y="22154"/>
                    <a:pt x="2255118" y="33883"/>
                    <a:pt x="2255118" y="46113"/>
                  </a:cubicBezTo>
                  <a:lnTo>
                    <a:pt x="2255118" y="665617"/>
                  </a:lnTo>
                  <a:cubicBezTo>
                    <a:pt x="2255118" y="677847"/>
                    <a:pt x="2250260" y="689576"/>
                    <a:pt x="2241612" y="698224"/>
                  </a:cubicBezTo>
                  <a:cubicBezTo>
                    <a:pt x="2232964" y="706872"/>
                    <a:pt x="2221235" y="711730"/>
                    <a:pt x="2209005" y="711730"/>
                  </a:cubicBezTo>
                  <a:lnTo>
                    <a:pt x="46113" y="711730"/>
                  </a:lnTo>
                  <a:cubicBezTo>
                    <a:pt x="33883" y="711730"/>
                    <a:pt x="22154" y="706872"/>
                    <a:pt x="13506" y="698224"/>
                  </a:cubicBezTo>
                  <a:cubicBezTo>
                    <a:pt x="4858" y="689576"/>
                    <a:pt x="0" y="677847"/>
                    <a:pt x="0" y="665617"/>
                  </a:cubicBezTo>
                  <a:lnTo>
                    <a:pt x="0" y="46113"/>
                  </a:lnTo>
                  <a:cubicBezTo>
                    <a:pt x="0" y="33883"/>
                    <a:pt x="4858" y="22154"/>
                    <a:pt x="13506" y="13506"/>
                  </a:cubicBezTo>
                  <a:cubicBezTo>
                    <a:pt x="22154" y="4858"/>
                    <a:pt x="33883" y="0"/>
                    <a:pt x="46113" y="0"/>
                  </a:cubicBezTo>
                  <a:close/>
                </a:path>
              </a:pathLst>
            </a:custGeom>
            <a:solidFill>
              <a:srgbClr val="FFFFFF"/>
            </a:solidFill>
          </p:spPr>
        </p:sp>
        <p:sp>
          <p:nvSpPr>
            <p:cNvPr name="TextBox 6" id="6"/>
            <p:cNvSpPr txBox="true"/>
            <p:nvPr/>
          </p:nvSpPr>
          <p:spPr>
            <a:xfrm>
              <a:off x="0" y="-19050"/>
              <a:ext cx="2255118" cy="730780"/>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10961342" y="91944"/>
            <a:ext cx="6595912" cy="10137906"/>
            <a:chOff x="0" y="0"/>
            <a:chExt cx="1857493" cy="2854964"/>
          </a:xfrm>
        </p:grpSpPr>
        <p:sp>
          <p:nvSpPr>
            <p:cNvPr name="Freeform 8" id="8"/>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9" id="9"/>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10" id="10"/>
          <p:cNvGrpSpPr/>
          <p:nvPr/>
        </p:nvGrpSpPr>
        <p:grpSpPr>
          <a:xfrm rot="0">
            <a:off x="424601" y="4082112"/>
            <a:ext cx="8719399" cy="6005453"/>
            <a:chOff x="0" y="0"/>
            <a:chExt cx="2296467" cy="1581683"/>
          </a:xfrm>
        </p:grpSpPr>
        <p:sp>
          <p:nvSpPr>
            <p:cNvPr name="Freeform 11" id="11"/>
            <p:cNvSpPr/>
            <p:nvPr/>
          </p:nvSpPr>
          <p:spPr>
            <a:xfrm flipH="false" flipV="false" rot="0">
              <a:off x="0" y="0"/>
              <a:ext cx="2296467" cy="1581683"/>
            </a:xfrm>
            <a:custGeom>
              <a:avLst/>
              <a:gdLst/>
              <a:ahLst/>
              <a:cxnLst/>
              <a:rect r="r" b="b" t="t" l="l"/>
              <a:pathLst>
                <a:path h="1581683" w="2296467">
                  <a:moveTo>
                    <a:pt x="45283" y="0"/>
                  </a:moveTo>
                  <a:lnTo>
                    <a:pt x="2251185" y="0"/>
                  </a:lnTo>
                  <a:cubicBezTo>
                    <a:pt x="2276194" y="0"/>
                    <a:pt x="2296467" y="20274"/>
                    <a:pt x="2296467" y="45283"/>
                  </a:cubicBezTo>
                  <a:lnTo>
                    <a:pt x="2296467" y="1536401"/>
                  </a:lnTo>
                  <a:cubicBezTo>
                    <a:pt x="2296467" y="1561409"/>
                    <a:pt x="2276194" y="1581683"/>
                    <a:pt x="2251185" y="1581683"/>
                  </a:cubicBezTo>
                  <a:lnTo>
                    <a:pt x="45283" y="1581683"/>
                  </a:lnTo>
                  <a:cubicBezTo>
                    <a:pt x="20274" y="1581683"/>
                    <a:pt x="0" y="1561409"/>
                    <a:pt x="0" y="1536401"/>
                  </a:cubicBezTo>
                  <a:lnTo>
                    <a:pt x="0" y="45283"/>
                  </a:lnTo>
                  <a:cubicBezTo>
                    <a:pt x="0" y="20274"/>
                    <a:pt x="20274" y="0"/>
                    <a:pt x="45283" y="0"/>
                  </a:cubicBezTo>
                  <a:close/>
                </a:path>
              </a:pathLst>
            </a:custGeom>
            <a:solidFill>
              <a:srgbClr val="FFFFFF"/>
            </a:solidFill>
          </p:spPr>
        </p:sp>
        <p:sp>
          <p:nvSpPr>
            <p:cNvPr name="TextBox 12" id="12"/>
            <p:cNvSpPr txBox="true"/>
            <p:nvPr/>
          </p:nvSpPr>
          <p:spPr>
            <a:xfrm>
              <a:off x="0" y="-19050"/>
              <a:ext cx="2296467" cy="1600733"/>
            </a:xfrm>
            <a:prstGeom prst="rect">
              <a:avLst/>
            </a:prstGeom>
          </p:spPr>
          <p:txBody>
            <a:bodyPr anchor="ctr" rtlCol="false" tIns="50800" lIns="50800" bIns="50800" rIns="50800"/>
            <a:lstStyle/>
            <a:p>
              <a:pPr algn="ctr">
                <a:lnSpc>
                  <a:spcPts val="2236"/>
                </a:lnSpc>
              </a:pPr>
            </a:p>
          </p:txBody>
        </p:sp>
      </p:grpSp>
      <p:sp>
        <p:nvSpPr>
          <p:cNvPr name="TextBox 13" id="13"/>
          <p:cNvSpPr txBox="true"/>
          <p:nvPr/>
        </p:nvSpPr>
        <p:spPr>
          <a:xfrm rot="0">
            <a:off x="794707" y="1419198"/>
            <a:ext cx="8136183" cy="2149673"/>
          </a:xfrm>
          <a:prstGeom prst="rect">
            <a:avLst/>
          </a:prstGeom>
        </p:spPr>
        <p:txBody>
          <a:bodyPr anchor="t" rtlCol="false" tIns="0" lIns="0" bIns="0" rIns="0">
            <a:spAutoFit/>
          </a:bodyPr>
          <a:lstStyle/>
          <a:p>
            <a:pPr algn="ctr">
              <a:lnSpc>
                <a:spcPts val="4204"/>
              </a:lnSpc>
            </a:pPr>
            <a:r>
              <a:rPr lang="en-US" sz="3234" b="true">
                <a:solidFill>
                  <a:srgbClr val="282421"/>
                </a:solidFill>
                <a:latin typeface="Arimo Bold"/>
                <a:ea typeface="Arimo Bold"/>
                <a:cs typeface="Arimo Bold"/>
                <a:sym typeface="Arimo Bold"/>
              </a:rPr>
              <a:t>What is Str</a:t>
            </a:r>
            <a:r>
              <a:rPr lang="en-US" sz="3234" b="true">
                <a:solidFill>
                  <a:srgbClr val="282421"/>
                </a:solidFill>
                <a:latin typeface="Arimo Bold"/>
                <a:ea typeface="Arimo Bold"/>
                <a:cs typeface="Arimo Bold"/>
                <a:sym typeface="Arimo Bold"/>
              </a:rPr>
              <a:t>ategy?</a:t>
            </a:r>
          </a:p>
          <a:p>
            <a:pPr algn="ctr">
              <a:lnSpc>
                <a:spcPts val="4204"/>
              </a:lnSpc>
            </a:pPr>
            <a:r>
              <a:rPr lang="en-US" sz="3234">
                <a:solidFill>
                  <a:srgbClr val="282421"/>
                </a:solidFill>
                <a:latin typeface="Arimo"/>
                <a:ea typeface="Arimo"/>
                <a:cs typeface="Arimo"/>
                <a:sym typeface="Arimo"/>
              </a:rPr>
              <a:t>-A long-term plan of action designed to achieve specific organizational goals and objectives.</a:t>
            </a:r>
          </a:p>
        </p:txBody>
      </p:sp>
      <p:sp>
        <p:nvSpPr>
          <p:cNvPr name="Freeform 14" id="14"/>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11165525" y="564917"/>
            <a:ext cx="6187545" cy="9288935"/>
          </a:xfrm>
          <a:custGeom>
            <a:avLst/>
            <a:gdLst/>
            <a:ahLst/>
            <a:cxnLst/>
            <a:rect r="r" b="b" t="t" l="l"/>
            <a:pathLst>
              <a:path h="9288935" w="6187545">
                <a:moveTo>
                  <a:pt x="0" y="0"/>
                </a:moveTo>
                <a:lnTo>
                  <a:pt x="6187545" y="0"/>
                </a:lnTo>
                <a:lnTo>
                  <a:pt x="6187545" y="9288935"/>
                </a:lnTo>
                <a:lnTo>
                  <a:pt x="0" y="9288935"/>
                </a:lnTo>
                <a:lnTo>
                  <a:pt x="0" y="0"/>
                </a:lnTo>
                <a:close/>
              </a:path>
            </a:pathLst>
          </a:custGeom>
          <a:blipFill>
            <a:blip r:embed="rId9"/>
            <a:stretch>
              <a:fillRect l="0" t="-19249" r="0" b="0"/>
            </a:stretch>
          </a:blipFill>
        </p:spPr>
      </p:sp>
      <p:sp>
        <p:nvSpPr>
          <p:cNvPr name="TextBox 20" id="20"/>
          <p:cNvSpPr txBox="true"/>
          <p:nvPr/>
        </p:nvSpPr>
        <p:spPr>
          <a:xfrm rot="0">
            <a:off x="733971" y="4421573"/>
            <a:ext cx="8100658" cy="5576867"/>
          </a:xfrm>
          <a:prstGeom prst="rect">
            <a:avLst/>
          </a:prstGeom>
        </p:spPr>
        <p:txBody>
          <a:bodyPr anchor="t" rtlCol="false" tIns="0" lIns="0" bIns="0" rIns="0">
            <a:spAutoFit/>
          </a:bodyPr>
          <a:lstStyle/>
          <a:p>
            <a:pPr algn="l">
              <a:lnSpc>
                <a:spcPts val="5364"/>
              </a:lnSpc>
            </a:pPr>
            <a:r>
              <a:rPr lang="en-US" sz="4126" b="true">
                <a:solidFill>
                  <a:srgbClr val="282421"/>
                </a:solidFill>
                <a:latin typeface="Arimo Bold"/>
                <a:ea typeface="Arimo Bold"/>
                <a:cs typeface="Arimo Bold"/>
                <a:sym typeface="Arimo Bold"/>
              </a:rPr>
              <a:t>Core Focus</a:t>
            </a:r>
          </a:p>
          <a:p>
            <a:pPr algn="l" marL="675033" indent="-337516" lvl="1">
              <a:lnSpc>
                <a:spcPts val="4064"/>
              </a:lnSpc>
              <a:buFont typeface="Arial"/>
              <a:buChar char="•"/>
            </a:pPr>
            <a:r>
              <a:rPr lang="en-US" b="true" sz="3126">
                <a:solidFill>
                  <a:srgbClr val="282421"/>
                </a:solidFill>
                <a:latin typeface="Arimo Bold"/>
                <a:ea typeface="Arimo Bold"/>
                <a:cs typeface="Arimo Bold"/>
                <a:sym typeface="Arimo Bold"/>
              </a:rPr>
              <a:t>C</a:t>
            </a:r>
            <a:r>
              <a:rPr lang="en-US" b="true" sz="3126">
                <a:solidFill>
                  <a:srgbClr val="282421"/>
                </a:solidFill>
                <a:latin typeface="Arimo Bold"/>
                <a:ea typeface="Arimo Bold"/>
                <a:cs typeface="Arimo Bold"/>
                <a:sym typeface="Arimo Bold"/>
              </a:rPr>
              <a:t>ompetitive Edge:</a:t>
            </a:r>
            <a:r>
              <a:rPr lang="en-US" sz="3126">
                <a:solidFill>
                  <a:srgbClr val="282421"/>
                </a:solidFill>
                <a:latin typeface="Arimo"/>
                <a:ea typeface="Arimo"/>
                <a:cs typeface="Arimo"/>
                <a:sym typeface="Arimo"/>
              </a:rPr>
              <a:t> Determines how an organization competes and wins in the market.</a:t>
            </a:r>
          </a:p>
          <a:p>
            <a:pPr algn="l" marL="675033" indent="-337516" lvl="1">
              <a:lnSpc>
                <a:spcPts val="4064"/>
              </a:lnSpc>
              <a:buFont typeface="Arial"/>
              <a:buChar char="•"/>
            </a:pPr>
            <a:r>
              <a:rPr lang="en-US" b="true" sz="3126">
                <a:solidFill>
                  <a:srgbClr val="282421"/>
                </a:solidFill>
                <a:latin typeface="Arimo Bold"/>
                <a:ea typeface="Arimo Bold"/>
                <a:cs typeface="Arimo Bold"/>
                <a:sym typeface="Arimo Bold"/>
              </a:rPr>
              <a:t>Direction:</a:t>
            </a:r>
            <a:r>
              <a:rPr lang="en-US" sz="3126">
                <a:solidFill>
                  <a:srgbClr val="282421"/>
                </a:solidFill>
                <a:latin typeface="Arimo"/>
                <a:ea typeface="Arimo"/>
                <a:cs typeface="Arimo"/>
                <a:sym typeface="Arimo"/>
              </a:rPr>
              <a:t> Guides long-term decision-making and optimal resource allocation.</a:t>
            </a:r>
          </a:p>
          <a:p>
            <a:pPr algn="l" marL="675033" indent="-337516" lvl="1">
              <a:lnSpc>
                <a:spcPts val="4064"/>
              </a:lnSpc>
              <a:buFont typeface="Arial"/>
              <a:buChar char="•"/>
            </a:pPr>
            <a:r>
              <a:rPr lang="en-US" b="true" sz="3126">
                <a:solidFill>
                  <a:srgbClr val="282421"/>
                </a:solidFill>
                <a:latin typeface="Arimo Bold"/>
                <a:ea typeface="Arimo Bold"/>
                <a:cs typeface="Arimo Bold"/>
                <a:sym typeface="Arimo Bold"/>
              </a:rPr>
              <a:t>Sustainability:</a:t>
            </a:r>
            <a:r>
              <a:rPr lang="en-US" sz="3126">
                <a:solidFill>
                  <a:srgbClr val="282421"/>
                </a:solidFill>
                <a:latin typeface="Arimo"/>
                <a:ea typeface="Arimo"/>
                <a:cs typeface="Arimo"/>
                <a:sym typeface="Arimo"/>
              </a:rPr>
              <a:t> Focuses on long-term growth rather than quick, short-term fixes.</a:t>
            </a:r>
          </a:p>
          <a:p>
            <a:pPr algn="l">
              <a:lnSpc>
                <a:spcPts val="3414"/>
              </a:lnSpc>
            </a:pPr>
          </a:p>
          <a:p>
            <a:pPr algn="l">
              <a:lnSpc>
                <a:spcPts val="3414"/>
              </a:lnSpc>
            </a:pPr>
          </a:p>
          <a:p>
            <a:pPr algn="l">
              <a:lnSpc>
                <a:spcPts val="3414"/>
              </a:lnSpc>
            </a:pPr>
          </a:p>
        </p:txBody>
      </p:sp>
      <p:sp>
        <p:nvSpPr>
          <p:cNvPr name="TextBox 21" id="21"/>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Strategy</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719399" cy="8481596"/>
            <a:chOff x="0" y="0"/>
            <a:chExt cx="2296467" cy="2233836"/>
          </a:xfrm>
        </p:grpSpPr>
        <p:sp>
          <p:nvSpPr>
            <p:cNvPr name="Freeform 8" id="8"/>
            <p:cNvSpPr/>
            <p:nvPr/>
          </p:nvSpPr>
          <p:spPr>
            <a:xfrm flipH="false" flipV="false" rot="0">
              <a:off x="0" y="0"/>
              <a:ext cx="2296467" cy="2233836"/>
            </a:xfrm>
            <a:custGeom>
              <a:avLst/>
              <a:gdLst/>
              <a:ahLst/>
              <a:cxnLst/>
              <a:rect r="r" b="b" t="t" l="l"/>
              <a:pathLst>
                <a:path h="2233836" w="2296467">
                  <a:moveTo>
                    <a:pt x="45283" y="0"/>
                  </a:moveTo>
                  <a:lnTo>
                    <a:pt x="2251185" y="0"/>
                  </a:lnTo>
                  <a:cubicBezTo>
                    <a:pt x="2276194" y="0"/>
                    <a:pt x="2296467" y="20274"/>
                    <a:pt x="2296467" y="45283"/>
                  </a:cubicBezTo>
                  <a:lnTo>
                    <a:pt x="2296467" y="2188553"/>
                  </a:lnTo>
                  <a:cubicBezTo>
                    <a:pt x="2296467" y="2213562"/>
                    <a:pt x="2276194" y="2233836"/>
                    <a:pt x="2251185" y="2233836"/>
                  </a:cubicBezTo>
                  <a:lnTo>
                    <a:pt x="45283" y="2233836"/>
                  </a:lnTo>
                  <a:cubicBezTo>
                    <a:pt x="20274" y="2233836"/>
                    <a:pt x="0" y="2213562"/>
                    <a:pt x="0" y="2188553"/>
                  </a:cubicBezTo>
                  <a:lnTo>
                    <a:pt x="0" y="45283"/>
                  </a:lnTo>
                  <a:cubicBezTo>
                    <a:pt x="0" y="20274"/>
                    <a:pt x="20274" y="0"/>
                    <a:pt x="45283" y="0"/>
                  </a:cubicBezTo>
                  <a:close/>
                </a:path>
              </a:pathLst>
            </a:custGeom>
            <a:solidFill>
              <a:srgbClr val="FFFFFF"/>
            </a:solidFill>
          </p:spPr>
        </p:sp>
        <p:sp>
          <p:nvSpPr>
            <p:cNvPr name="TextBox 9" id="9"/>
            <p:cNvSpPr txBox="true"/>
            <p:nvPr/>
          </p:nvSpPr>
          <p:spPr>
            <a:xfrm>
              <a:off x="0" y="-19050"/>
              <a:ext cx="2296467" cy="2252886"/>
            </a:xfrm>
            <a:prstGeom prst="rect">
              <a:avLst/>
            </a:prstGeom>
          </p:spPr>
          <p:txBody>
            <a:bodyPr anchor="ctr" rtlCol="false" tIns="50800" lIns="50800" bIns="50800" rIns="50800"/>
            <a:lstStyle/>
            <a:p>
              <a:pPr algn="ctr">
                <a:lnSpc>
                  <a:spcPts val="2236"/>
                </a:lnSpc>
              </a:pPr>
            </a:p>
          </p:txBody>
        </p:sp>
      </p:grpSp>
      <p:sp>
        <p:nvSpPr>
          <p:cNvPr name="Freeform 10" id="10"/>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1271962" y="457237"/>
            <a:ext cx="5974671" cy="9372526"/>
          </a:xfrm>
          <a:custGeom>
            <a:avLst/>
            <a:gdLst/>
            <a:ahLst/>
            <a:cxnLst/>
            <a:rect r="r" b="b" t="t" l="l"/>
            <a:pathLst>
              <a:path h="9372526" w="5974671">
                <a:moveTo>
                  <a:pt x="0" y="0"/>
                </a:moveTo>
                <a:lnTo>
                  <a:pt x="5974671" y="0"/>
                </a:lnTo>
                <a:lnTo>
                  <a:pt x="5974671" y="9372526"/>
                </a:lnTo>
                <a:lnTo>
                  <a:pt x="0" y="9372526"/>
                </a:lnTo>
                <a:lnTo>
                  <a:pt x="0" y="0"/>
                </a:lnTo>
                <a:close/>
              </a:path>
            </a:pathLst>
          </a:custGeom>
          <a:blipFill>
            <a:blip r:embed="rId9"/>
            <a:stretch>
              <a:fillRect l="-2161" t="-19053" r="-2161" b="0"/>
            </a:stretch>
          </a:blipFill>
        </p:spPr>
      </p:sp>
      <p:sp>
        <p:nvSpPr>
          <p:cNvPr name="TextBox 16" id="16"/>
          <p:cNvSpPr txBox="true"/>
          <p:nvPr/>
        </p:nvSpPr>
        <p:spPr>
          <a:xfrm rot="0">
            <a:off x="794707" y="2027161"/>
            <a:ext cx="7919997" cy="8722830"/>
          </a:xfrm>
          <a:prstGeom prst="rect">
            <a:avLst/>
          </a:prstGeom>
        </p:spPr>
        <p:txBody>
          <a:bodyPr anchor="t" rtlCol="false" tIns="0" lIns="0" bIns="0" rIns="0">
            <a:spAutoFit/>
          </a:bodyPr>
          <a:lstStyle/>
          <a:p>
            <a:pPr algn="l">
              <a:lnSpc>
                <a:spcPts val="5812"/>
              </a:lnSpc>
            </a:pPr>
            <a:r>
              <a:rPr lang="en-US" sz="4470" b="true">
                <a:solidFill>
                  <a:srgbClr val="282421"/>
                </a:solidFill>
                <a:latin typeface="Arimo Bold"/>
                <a:ea typeface="Arimo Bold"/>
                <a:cs typeface="Arimo Bold"/>
                <a:sym typeface="Arimo Bold"/>
              </a:rPr>
              <a:t>Importance of Strategy</a:t>
            </a:r>
          </a:p>
          <a:p>
            <a:pPr algn="l" marL="646337" indent="-323168" lvl="1">
              <a:lnSpc>
                <a:spcPts val="3891"/>
              </a:lnSpc>
              <a:buFont typeface="Arial"/>
              <a:buChar char="•"/>
            </a:pPr>
            <a:r>
              <a:rPr lang="en-US" b="true" sz="2993">
                <a:solidFill>
                  <a:srgbClr val="282421"/>
                </a:solidFill>
                <a:latin typeface="Arimo Bold"/>
                <a:ea typeface="Arimo Bold"/>
                <a:cs typeface="Arimo Bold"/>
                <a:sym typeface="Arimo Bold"/>
              </a:rPr>
              <a:t>Cl</a:t>
            </a:r>
            <a:r>
              <a:rPr lang="en-US" b="true" sz="2993">
                <a:solidFill>
                  <a:srgbClr val="282421"/>
                </a:solidFill>
                <a:latin typeface="Arimo Bold"/>
                <a:ea typeface="Arimo Bold"/>
                <a:cs typeface="Arimo Bold"/>
                <a:sym typeface="Arimo Bold"/>
              </a:rPr>
              <a:t>ear Direction:</a:t>
            </a:r>
            <a:r>
              <a:rPr lang="en-US" sz="2993">
                <a:solidFill>
                  <a:srgbClr val="282421"/>
                </a:solidFill>
                <a:latin typeface="Arimo"/>
                <a:ea typeface="Arimo"/>
                <a:cs typeface="Arimo"/>
                <a:sym typeface="Arimo"/>
              </a:rPr>
              <a:t> Provides a clear roadmap so everyone works toward the same goals.</a:t>
            </a:r>
          </a:p>
          <a:p>
            <a:pPr algn="l" marL="646337" indent="-323168" lvl="1">
              <a:lnSpc>
                <a:spcPts val="3891"/>
              </a:lnSpc>
              <a:buFont typeface="Arial"/>
              <a:buChar char="•"/>
            </a:pPr>
            <a:r>
              <a:rPr lang="en-US" b="true" sz="2993">
                <a:solidFill>
                  <a:srgbClr val="282421"/>
                </a:solidFill>
                <a:latin typeface="Arimo Bold"/>
                <a:ea typeface="Arimo Bold"/>
                <a:cs typeface="Arimo Bold"/>
                <a:sym typeface="Arimo Bold"/>
              </a:rPr>
              <a:t>Better Decision-Making:</a:t>
            </a:r>
            <a:r>
              <a:rPr lang="en-US" sz="2993">
                <a:solidFill>
                  <a:srgbClr val="282421"/>
                </a:solidFill>
                <a:latin typeface="Arimo"/>
                <a:ea typeface="Arimo"/>
                <a:cs typeface="Arimo"/>
                <a:sym typeface="Arimo"/>
              </a:rPr>
              <a:t> Helps leaders make consistent, informed, and proactive choices.</a:t>
            </a:r>
          </a:p>
          <a:p>
            <a:pPr algn="l" marL="646337" indent="-323168" lvl="1">
              <a:lnSpc>
                <a:spcPts val="3891"/>
              </a:lnSpc>
              <a:buFont typeface="Arial"/>
              <a:buChar char="•"/>
            </a:pPr>
            <a:r>
              <a:rPr lang="en-US" b="true" sz="2993">
                <a:solidFill>
                  <a:srgbClr val="282421"/>
                </a:solidFill>
                <a:latin typeface="Arimo Bold"/>
                <a:ea typeface="Arimo Bold"/>
                <a:cs typeface="Arimo Bold"/>
                <a:sym typeface="Arimo Bold"/>
              </a:rPr>
              <a:t>Resource Optimization:</a:t>
            </a:r>
            <a:r>
              <a:rPr lang="en-US" sz="2993">
                <a:solidFill>
                  <a:srgbClr val="282421"/>
                </a:solidFill>
                <a:latin typeface="Arimo"/>
                <a:ea typeface="Arimo"/>
                <a:cs typeface="Arimo"/>
                <a:sym typeface="Arimo"/>
              </a:rPr>
              <a:t> Ensures money, human talent, and technology are used efficiently.</a:t>
            </a:r>
          </a:p>
          <a:p>
            <a:pPr algn="l" marL="646337" indent="-323168" lvl="1">
              <a:lnSpc>
                <a:spcPts val="3891"/>
              </a:lnSpc>
              <a:buFont typeface="Arial"/>
              <a:buChar char="•"/>
            </a:pPr>
            <a:r>
              <a:rPr lang="en-US" b="true" sz="2993">
                <a:solidFill>
                  <a:srgbClr val="282421"/>
                </a:solidFill>
                <a:latin typeface="Arimo Bold"/>
                <a:ea typeface="Arimo Bold"/>
                <a:cs typeface="Arimo Bold"/>
                <a:sym typeface="Arimo Bold"/>
              </a:rPr>
              <a:t>Competitive Advantage:</a:t>
            </a:r>
            <a:r>
              <a:rPr lang="en-US" sz="2993">
                <a:solidFill>
                  <a:srgbClr val="282421"/>
                </a:solidFill>
                <a:latin typeface="Arimo"/>
                <a:ea typeface="Arimo"/>
                <a:cs typeface="Arimo"/>
                <a:sym typeface="Arimo"/>
              </a:rPr>
              <a:t> Keeps the organization ahead of its competitors.</a:t>
            </a:r>
          </a:p>
          <a:p>
            <a:pPr algn="l" marL="646337" indent="-323168" lvl="1">
              <a:lnSpc>
                <a:spcPts val="3891"/>
              </a:lnSpc>
              <a:buFont typeface="Arial"/>
              <a:buChar char="•"/>
            </a:pPr>
            <a:r>
              <a:rPr lang="en-US" b="true" sz="2993">
                <a:solidFill>
                  <a:srgbClr val="282421"/>
                </a:solidFill>
                <a:latin typeface="Arimo Bold"/>
                <a:ea typeface="Arimo Bold"/>
                <a:cs typeface="Arimo Bold"/>
                <a:sym typeface="Arimo Bold"/>
              </a:rPr>
              <a:t>Adaptability:</a:t>
            </a:r>
            <a:r>
              <a:rPr lang="en-US" sz="2993">
                <a:solidFill>
                  <a:srgbClr val="282421"/>
                </a:solidFill>
                <a:latin typeface="Arimo"/>
                <a:ea typeface="Arimo"/>
                <a:cs typeface="Arimo"/>
                <a:sym typeface="Arimo"/>
              </a:rPr>
              <a:t> Prepares the business to navigate market changes and uncertainties.</a:t>
            </a:r>
          </a:p>
          <a:p>
            <a:pPr algn="l">
              <a:lnSpc>
                <a:spcPts val="4361"/>
              </a:lnSpc>
            </a:pPr>
          </a:p>
          <a:p>
            <a:pPr algn="l">
              <a:lnSpc>
                <a:spcPts val="4361"/>
              </a:lnSpc>
            </a:pPr>
          </a:p>
          <a:p>
            <a:pPr algn="l">
              <a:lnSpc>
                <a:spcPts val="4361"/>
              </a:lnSpc>
            </a:pPr>
          </a:p>
        </p:txBody>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Strategy</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719399" cy="8481596"/>
            <a:chOff x="0" y="0"/>
            <a:chExt cx="2296467" cy="2233836"/>
          </a:xfrm>
        </p:grpSpPr>
        <p:sp>
          <p:nvSpPr>
            <p:cNvPr name="Freeform 8" id="8"/>
            <p:cNvSpPr/>
            <p:nvPr/>
          </p:nvSpPr>
          <p:spPr>
            <a:xfrm flipH="false" flipV="false" rot="0">
              <a:off x="0" y="0"/>
              <a:ext cx="2296467" cy="2233836"/>
            </a:xfrm>
            <a:custGeom>
              <a:avLst/>
              <a:gdLst/>
              <a:ahLst/>
              <a:cxnLst/>
              <a:rect r="r" b="b" t="t" l="l"/>
              <a:pathLst>
                <a:path h="2233836" w="2296467">
                  <a:moveTo>
                    <a:pt x="45283" y="0"/>
                  </a:moveTo>
                  <a:lnTo>
                    <a:pt x="2251185" y="0"/>
                  </a:lnTo>
                  <a:cubicBezTo>
                    <a:pt x="2276194" y="0"/>
                    <a:pt x="2296467" y="20274"/>
                    <a:pt x="2296467" y="45283"/>
                  </a:cubicBezTo>
                  <a:lnTo>
                    <a:pt x="2296467" y="2188553"/>
                  </a:lnTo>
                  <a:cubicBezTo>
                    <a:pt x="2296467" y="2213562"/>
                    <a:pt x="2276194" y="2233836"/>
                    <a:pt x="2251185" y="2233836"/>
                  </a:cubicBezTo>
                  <a:lnTo>
                    <a:pt x="45283" y="2233836"/>
                  </a:lnTo>
                  <a:cubicBezTo>
                    <a:pt x="20274" y="2233836"/>
                    <a:pt x="0" y="2213562"/>
                    <a:pt x="0" y="2188553"/>
                  </a:cubicBezTo>
                  <a:lnTo>
                    <a:pt x="0" y="45283"/>
                  </a:lnTo>
                  <a:cubicBezTo>
                    <a:pt x="0" y="20274"/>
                    <a:pt x="20274" y="0"/>
                    <a:pt x="45283" y="0"/>
                  </a:cubicBezTo>
                  <a:close/>
                </a:path>
              </a:pathLst>
            </a:custGeom>
            <a:solidFill>
              <a:srgbClr val="FFFFFF"/>
            </a:solidFill>
          </p:spPr>
        </p:sp>
        <p:sp>
          <p:nvSpPr>
            <p:cNvPr name="TextBox 9" id="9"/>
            <p:cNvSpPr txBox="true"/>
            <p:nvPr/>
          </p:nvSpPr>
          <p:spPr>
            <a:xfrm>
              <a:off x="0" y="-19050"/>
              <a:ext cx="2296467" cy="2252886"/>
            </a:xfrm>
            <a:prstGeom prst="rect">
              <a:avLst/>
            </a:prstGeom>
          </p:spPr>
          <p:txBody>
            <a:bodyPr anchor="ctr" rtlCol="false" tIns="50800" lIns="50800" bIns="50800" rIns="50800"/>
            <a:lstStyle/>
            <a:p>
              <a:pPr algn="ctr">
                <a:lnSpc>
                  <a:spcPts val="2236"/>
                </a:lnSpc>
              </a:pPr>
            </a:p>
          </p:txBody>
        </p:sp>
      </p:grpSp>
      <p:sp>
        <p:nvSpPr>
          <p:cNvPr name="Freeform 10" id="10"/>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1291835" y="251964"/>
            <a:ext cx="6019515" cy="9843443"/>
          </a:xfrm>
          <a:custGeom>
            <a:avLst/>
            <a:gdLst/>
            <a:ahLst/>
            <a:cxnLst/>
            <a:rect r="r" b="b" t="t" l="l"/>
            <a:pathLst>
              <a:path h="9843443" w="6019515">
                <a:moveTo>
                  <a:pt x="0" y="0"/>
                </a:moveTo>
                <a:lnTo>
                  <a:pt x="6019516" y="0"/>
                </a:lnTo>
                <a:lnTo>
                  <a:pt x="6019516" y="9843443"/>
                </a:lnTo>
                <a:lnTo>
                  <a:pt x="0" y="9843443"/>
                </a:lnTo>
                <a:lnTo>
                  <a:pt x="0" y="0"/>
                </a:lnTo>
                <a:close/>
              </a:path>
            </a:pathLst>
          </a:custGeom>
          <a:blipFill>
            <a:blip r:embed="rId9"/>
            <a:stretch>
              <a:fillRect l="0" t="-9475" r="0" b="0"/>
            </a:stretch>
          </a:blipFill>
        </p:spPr>
      </p:sp>
      <p:sp>
        <p:nvSpPr>
          <p:cNvPr name="TextBox 16" id="16"/>
          <p:cNvSpPr txBox="true"/>
          <p:nvPr/>
        </p:nvSpPr>
        <p:spPr>
          <a:xfrm rot="0">
            <a:off x="794707" y="2027161"/>
            <a:ext cx="7919997" cy="9113355"/>
          </a:xfrm>
          <a:prstGeom prst="rect">
            <a:avLst/>
          </a:prstGeom>
        </p:spPr>
        <p:txBody>
          <a:bodyPr anchor="t" rtlCol="false" tIns="0" lIns="0" bIns="0" rIns="0">
            <a:spAutoFit/>
          </a:bodyPr>
          <a:lstStyle/>
          <a:p>
            <a:pPr algn="l">
              <a:lnSpc>
                <a:spcPts val="5812"/>
              </a:lnSpc>
            </a:pPr>
            <a:r>
              <a:rPr lang="en-US" sz="4470" b="true">
                <a:solidFill>
                  <a:srgbClr val="282421"/>
                </a:solidFill>
                <a:latin typeface="Arimo Bold"/>
                <a:ea typeface="Arimo Bold"/>
                <a:cs typeface="Arimo Bold"/>
                <a:sym typeface="Arimo Bold"/>
              </a:rPr>
              <a:t>Characteristics of an Effective Strategy</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Cl</a:t>
            </a:r>
            <a:r>
              <a:rPr lang="en-US" b="true" sz="3293">
                <a:solidFill>
                  <a:srgbClr val="282421"/>
                </a:solidFill>
                <a:latin typeface="Arimo Bold"/>
                <a:ea typeface="Arimo Bold"/>
                <a:cs typeface="Arimo Bold"/>
                <a:sym typeface="Arimo Bold"/>
              </a:rPr>
              <a:t>ear:</a:t>
            </a:r>
            <a:r>
              <a:rPr lang="en-US" sz="3293">
                <a:solidFill>
                  <a:srgbClr val="282421"/>
                </a:solidFill>
                <a:latin typeface="Arimo"/>
                <a:ea typeface="Arimo"/>
                <a:cs typeface="Arimo"/>
                <a:sym typeface="Arimo"/>
              </a:rPr>
              <a:t> Easy to understand and communicate across all levels of the organization.</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Flexible:</a:t>
            </a:r>
            <a:r>
              <a:rPr lang="en-US" sz="3293">
                <a:solidFill>
                  <a:srgbClr val="282421"/>
                </a:solidFill>
                <a:latin typeface="Arimo"/>
                <a:ea typeface="Arimo"/>
                <a:cs typeface="Arimo"/>
                <a:sym typeface="Arimo"/>
              </a:rPr>
              <a:t> Dynamic enough to adapt to unexpected market changes.</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Goal-Oriented:</a:t>
            </a:r>
            <a:r>
              <a:rPr lang="en-US" sz="3293">
                <a:solidFill>
                  <a:srgbClr val="282421"/>
                </a:solidFill>
                <a:latin typeface="Arimo"/>
                <a:ea typeface="Arimo"/>
                <a:cs typeface="Arimo"/>
                <a:sym typeface="Arimo"/>
              </a:rPr>
              <a:t> Directly aligned with reaching measurable targets.</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Realistic:</a:t>
            </a:r>
            <a:r>
              <a:rPr lang="en-US" sz="3293">
                <a:solidFill>
                  <a:srgbClr val="282421"/>
                </a:solidFill>
                <a:latin typeface="Arimo"/>
                <a:ea typeface="Arimo"/>
                <a:cs typeface="Arimo"/>
                <a:sym typeface="Arimo"/>
              </a:rPr>
              <a:t> Achievable based on available capabilities and resources.</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Sustainable:</a:t>
            </a:r>
            <a:r>
              <a:rPr lang="en-US" sz="3293">
                <a:solidFill>
                  <a:srgbClr val="282421"/>
                </a:solidFill>
                <a:latin typeface="Arimo"/>
                <a:ea typeface="Arimo"/>
                <a:cs typeface="Arimo"/>
                <a:sym typeface="Arimo"/>
              </a:rPr>
              <a:t> Capable of generating continuous growth over the long run.</a:t>
            </a:r>
          </a:p>
          <a:p>
            <a:pPr algn="l">
              <a:lnSpc>
                <a:spcPts val="4361"/>
              </a:lnSpc>
            </a:pPr>
          </a:p>
          <a:p>
            <a:pPr algn="l">
              <a:lnSpc>
                <a:spcPts val="4361"/>
              </a:lnSpc>
            </a:pPr>
          </a:p>
          <a:p>
            <a:pPr algn="l">
              <a:lnSpc>
                <a:spcPts val="4361"/>
              </a:lnSpc>
            </a:pPr>
          </a:p>
        </p:txBody>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Strategy</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719399" cy="8481596"/>
            <a:chOff x="0" y="0"/>
            <a:chExt cx="2296467" cy="2233836"/>
          </a:xfrm>
        </p:grpSpPr>
        <p:sp>
          <p:nvSpPr>
            <p:cNvPr name="Freeform 8" id="8"/>
            <p:cNvSpPr/>
            <p:nvPr/>
          </p:nvSpPr>
          <p:spPr>
            <a:xfrm flipH="false" flipV="false" rot="0">
              <a:off x="0" y="0"/>
              <a:ext cx="2296467" cy="2233836"/>
            </a:xfrm>
            <a:custGeom>
              <a:avLst/>
              <a:gdLst/>
              <a:ahLst/>
              <a:cxnLst/>
              <a:rect r="r" b="b" t="t" l="l"/>
              <a:pathLst>
                <a:path h="2233836" w="2296467">
                  <a:moveTo>
                    <a:pt x="45283" y="0"/>
                  </a:moveTo>
                  <a:lnTo>
                    <a:pt x="2251185" y="0"/>
                  </a:lnTo>
                  <a:cubicBezTo>
                    <a:pt x="2276194" y="0"/>
                    <a:pt x="2296467" y="20274"/>
                    <a:pt x="2296467" y="45283"/>
                  </a:cubicBezTo>
                  <a:lnTo>
                    <a:pt x="2296467" y="2188553"/>
                  </a:lnTo>
                  <a:cubicBezTo>
                    <a:pt x="2296467" y="2213562"/>
                    <a:pt x="2276194" y="2233836"/>
                    <a:pt x="2251185" y="2233836"/>
                  </a:cubicBezTo>
                  <a:lnTo>
                    <a:pt x="45283" y="2233836"/>
                  </a:lnTo>
                  <a:cubicBezTo>
                    <a:pt x="20274" y="2233836"/>
                    <a:pt x="0" y="2213562"/>
                    <a:pt x="0" y="2188553"/>
                  </a:cubicBezTo>
                  <a:lnTo>
                    <a:pt x="0" y="45283"/>
                  </a:lnTo>
                  <a:cubicBezTo>
                    <a:pt x="0" y="20274"/>
                    <a:pt x="20274" y="0"/>
                    <a:pt x="45283" y="0"/>
                  </a:cubicBezTo>
                  <a:close/>
                </a:path>
              </a:pathLst>
            </a:custGeom>
            <a:solidFill>
              <a:srgbClr val="FFFFFF"/>
            </a:solidFill>
          </p:spPr>
        </p:sp>
        <p:sp>
          <p:nvSpPr>
            <p:cNvPr name="TextBox 9" id="9"/>
            <p:cNvSpPr txBox="true"/>
            <p:nvPr/>
          </p:nvSpPr>
          <p:spPr>
            <a:xfrm>
              <a:off x="0" y="-19050"/>
              <a:ext cx="2296467" cy="2252886"/>
            </a:xfrm>
            <a:prstGeom prst="rect">
              <a:avLst/>
            </a:prstGeom>
          </p:spPr>
          <p:txBody>
            <a:bodyPr anchor="ctr" rtlCol="false" tIns="50800" lIns="50800" bIns="50800" rIns="50800"/>
            <a:lstStyle/>
            <a:p>
              <a:pPr algn="ctr">
                <a:lnSpc>
                  <a:spcPts val="2236"/>
                </a:lnSpc>
              </a:pPr>
            </a:p>
          </p:txBody>
        </p:sp>
      </p:grpSp>
      <p:sp>
        <p:nvSpPr>
          <p:cNvPr name="Freeform 10" id="10"/>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1670944" y="376601"/>
            <a:ext cx="5476984" cy="9804950"/>
          </a:xfrm>
          <a:custGeom>
            <a:avLst/>
            <a:gdLst/>
            <a:ahLst/>
            <a:cxnLst/>
            <a:rect r="r" b="b" t="t" l="l"/>
            <a:pathLst>
              <a:path h="9804950" w="5476984">
                <a:moveTo>
                  <a:pt x="0" y="0"/>
                </a:moveTo>
                <a:lnTo>
                  <a:pt x="5476984" y="0"/>
                </a:lnTo>
                <a:lnTo>
                  <a:pt x="5476984" y="9804950"/>
                </a:lnTo>
                <a:lnTo>
                  <a:pt x="0" y="9804950"/>
                </a:lnTo>
                <a:lnTo>
                  <a:pt x="0" y="0"/>
                </a:lnTo>
                <a:close/>
              </a:path>
            </a:pathLst>
          </a:custGeom>
          <a:blipFill>
            <a:blip r:embed="rId9"/>
            <a:stretch>
              <a:fillRect l="0" t="0" r="0" b="0"/>
            </a:stretch>
          </a:blipFill>
        </p:spPr>
      </p:sp>
      <p:sp>
        <p:nvSpPr>
          <p:cNvPr name="TextBox 16" id="16"/>
          <p:cNvSpPr txBox="true"/>
          <p:nvPr/>
        </p:nvSpPr>
        <p:spPr>
          <a:xfrm rot="0">
            <a:off x="794707" y="2036686"/>
            <a:ext cx="7919997" cy="10450521"/>
          </a:xfrm>
          <a:prstGeom prst="rect">
            <a:avLst/>
          </a:prstGeom>
        </p:spPr>
        <p:txBody>
          <a:bodyPr anchor="t" rtlCol="false" tIns="0" lIns="0" bIns="0" rIns="0">
            <a:spAutoFit/>
          </a:bodyPr>
          <a:lstStyle/>
          <a:p>
            <a:pPr algn="l">
              <a:lnSpc>
                <a:spcPts val="5061"/>
              </a:lnSpc>
            </a:pPr>
            <a:r>
              <a:rPr lang="en-US" sz="3893" b="true">
                <a:solidFill>
                  <a:srgbClr val="282421"/>
                </a:solidFill>
                <a:latin typeface="Arimo Bold"/>
                <a:ea typeface="Arimo Bold"/>
                <a:cs typeface="Arimo Bold"/>
                <a:sym typeface="Arimo Bold"/>
              </a:rPr>
              <a:t>Levels of Strategy</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Corporate Strategy (Top Level)</a:t>
            </a:r>
          </a:p>
          <a:p>
            <a:pPr algn="l" marL="1422210" indent="-474070" lvl="2">
              <a:lnSpc>
                <a:spcPts val="4281"/>
              </a:lnSpc>
              <a:buFont typeface="Arial"/>
              <a:buChar char="⚬"/>
            </a:pPr>
            <a:r>
              <a:rPr lang="en-US" sz="3293">
                <a:solidFill>
                  <a:srgbClr val="282421"/>
                </a:solidFill>
                <a:latin typeface="Arimo"/>
                <a:ea typeface="Arimo"/>
                <a:cs typeface="Arimo"/>
                <a:sym typeface="Arimo"/>
              </a:rPr>
              <a:t>Defines the overall mission and business direction of the entire company.</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Business Strategy (Middle Level)</a:t>
            </a:r>
          </a:p>
          <a:p>
            <a:pPr algn="l" marL="1422210" indent="-474070" lvl="2">
              <a:lnSpc>
                <a:spcPts val="4281"/>
              </a:lnSpc>
              <a:buFont typeface="Arial"/>
              <a:buChar char="⚬"/>
            </a:pPr>
            <a:r>
              <a:rPr lang="en-US" sz="3293">
                <a:solidFill>
                  <a:srgbClr val="282421"/>
                </a:solidFill>
                <a:latin typeface="Arimo"/>
                <a:ea typeface="Arimo"/>
                <a:cs typeface="Arimo"/>
                <a:sym typeface="Arimo"/>
              </a:rPr>
              <a:t>Focuses on how a specific business unit competes within its market.</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Functional Strategy (Operational Level)</a:t>
            </a:r>
          </a:p>
          <a:p>
            <a:pPr algn="l" marL="1422210" indent="-474070" lvl="2">
              <a:lnSpc>
                <a:spcPts val="4281"/>
              </a:lnSpc>
              <a:buFont typeface="Arial"/>
              <a:buChar char="⚬"/>
            </a:pPr>
            <a:r>
              <a:rPr lang="en-US" sz="3293">
                <a:solidFill>
                  <a:srgbClr val="282421"/>
                </a:solidFill>
                <a:latin typeface="Arimo"/>
                <a:ea typeface="Arimo"/>
                <a:cs typeface="Arimo"/>
                <a:sym typeface="Arimo"/>
              </a:rPr>
              <a:t>Guides daily actions in individual departments (e.g., Marketing, HR, Finance, Operations).</a:t>
            </a:r>
          </a:p>
          <a:p>
            <a:pPr algn="l">
              <a:lnSpc>
                <a:spcPts val="4281"/>
              </a:lnSpc>
            </a:pPr>
          </a:p>
          <a:p>
            <a:pPr algn="l">
              <a:lnSpc>
                <a:spcPts val="4281"/>
              </a:lnSpc>
            </a:pPr>
          </a:p>
          <a:p>
            <a:pPr algn="l">
              <a:lnSpc>
                <a:spcPts val="4361"/>
              </a:lnSpc>
            </a:pPr>
          </a:p>
          <a:p>
            <a:pPr algn="l">
              <a:lnSpc>
                <a:spcPts val="4361"/>
              </a:lnSpc>
            </a:pPr>
          </a:p>
          <a:p>
            <a:pPr algn="l">
              <a:lnSpc>
                <a:spcPts val="4361"/>
              </a:lnSpc>
            </a:pPr>
          </a:p>
        </p:txBody>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Components of Strategy</a:t>
            </a:r>
          </a:p>
        </p:txBody>
      </p:sp>
      <p:sp>
        <p:nvSpPr>
          <p:cNvPr name="Freeform 3" id="3"/>
          <p:cNvSpPr/>
          <p:nvPr/>
        </p:nvSpPr>
        <p:spPr>
          <a:xfrm flipH="false" flipV="false" rot="0">
            <a:off x="2169345" y="312531"/>
            <a:ext cx="14362757" cy="9869020"/>
          </a:xfrm>
          <a:custGeom>
            <a:avLst/>
            <a:gdLst/>
            <a:ahLst/>
            <a:cxnLst/>
            <a:rect r="r" b="b" t="t" l="l"/>
            <a:pathLst>
              <a:path h="9869020" w="14362757">
                <a:moveTo>
                  <a:pt x="0" y="0"/>
                </a:moveTo>
                <a:lnTo>
                  <a:pt x="14362757" y="0"/>
                </a:lnTo>
                <a:lnTo>
                  <a:pt x="14362757"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719399" cy="8481596"/>
            <a:chOff x="0" y="0"/>
            <a:chExt cx="2296467" cy="2233836"/>
          </a:xfrm>
        </p:grpSpPr>
        <p:sp>
          <p:nvSpPr>
            <p:cNvPr name="Freeform 8" id="8"/>
            <p:cNvSpPr/>
            <p:nvPr/>
          </p:nvSpPr>
          <p:spPr>
            <a:xfrm flipH="false" flipV="false" rot="0">
              <a:off x="0" y="0"/>
              <a:ext cx="2296467" cy="2233836"/>
            </a:xfrm>
            <a:custGeom>
              <a:avLst/>
              <a:gdLst/>
              <a:ahLst/>
              <a:cxnLst/>
              <a:rect r="r" b="b" t="t" l="l"/>
              <a:pathLst>
                <a:path h="2233836" w="2296467">
                  <a:moveTo>
                    <a:pt x="45283" y="0"/>
                  </a:moveTo>
                  <a:lnTo>
                    <a:pt x="2251185" y="0"/>
                  </a:lnTo>
                  <a:cubicBezTo>
                    <a:pt x="2276194" y="0"/>
                    <a:pt x="2296467" y="20274"/>
                    <a:pt x="2296467" y="45283"/>
                  </a:cubicBezTo>
                  <a:lnTo>
                    <a:pt x="2296467" y="2188553"/>
                  </a:lnTo>
                  <a:cubicBezTo>
                    <a:pt x="2296467" y="2213562"/>
                    <a:pt x="2276194" y="2233836"/>
                    <a:pt x="2251185" y="2233836"/>
                  </a:cubicBezTo>
                  <a:lnTo>
                    <a:pt x="45283" y="2233836"/>
                  </a:lnTo>
                  <a:cubicBezTo>
                    <a:pt x="20274" y="2233836"/>
                    <a:pt x="0" y="2213562"/>
                    <a:pt x="0" y="2188553"/>
                  </a:cubicBezTo>
                  <a:lnTo>
                    <a:pt x="0" y="45283"/>
                  </a:lnTo>
                  <a:cubicBezTo>
                    <a:pt x="0" y="20274"/>
                    <a:pt x="20274" y="0"/>
                    <a:pt x="45283" y="0"/>
                  </a:cubicBezTo>
                  <a:close/>
                </a:path>
              </a:pathLst>
            </a:custGeom>
            <a:solidFill>
              <a:srgbClr val="FFFFFF"/>
            </a:solidFill>
          </p:spPr>
        </p:sp>
        <p:sp>
          <p:nvSpPr>
            <p:cNvPr name="TextBox 9" id="9"/>
            <p:cNvSpPr txBox="true"/>
            <p:nvPr/>
          </p:nvSpPr>
          <p:spPr>
            <a:xfrm>
              <a:off x="0" y="-19050"/>
              <a:ext cx="2296467" cy="2252886"/>
            </a:xfrm>
            <a:prstGeom prst="rect">
              <a:avLst/>
            </a:prstGeom>
          </p:spPr>
          <p:txBody>
            <a:bodyPr anchor="ctr" rtlCol="false" tIns="50800" lIns="50800" bIns="50800" rIns="50800"/>
            <a:lstStyle/>
            <a:p>
              <a:pPr algn="ctr">
                <a:lnSpc>
                  <a:spcPts val="2236"/>
                </a:lnSpc>
              </a:pPr>
            </a:p>
          </p:txBody>
        </p:sp>
      </p:grpSp>
      <p:sp>
        <p:nvSpPr>
          <p:cNvPr name="Freeform 10" id="10"/>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1624487" y="312738"/>
            <a:ext cx="5523441" cy="9888118"/>
          </a:xfrm>
          <a:custGeom>
            <a:avLst/>
            <a:gdLst/>
            <a:ahLst/>
            <a:cxnLst/>
            <a:rect r="r" b="b" t="t" l="l"/>
            <a:pathLst>
              <a:path h="9888118" w="5523441">
                <a:moveTo>
                  <a:pt x="0" y="0"/>
                </a:moveTo>
                <a:lnTo>
                  <a:pt x="5523441" y="0"/>
                </a:lnTo>
                <a:lnTo>
                  <a:pt x="5523441" y="9888118"/>
                </a:lnTo>
                <a:lnTo>
                  <a:pt x="0" y="9888118"/>
                </a:lnTo>
                <a:lnTo>
                  <a:pt x="0" y="0"/>
                </a:lnTo>
                <a:close/>
              </a:path>
            </a:pathLst>
          </a:custGeom>
          <a:blipFill>
            <a:blip r:embed="rId9"/>
            <a:stretch>
              <a:fillRect l="0" t="0" r="0" b="0"/>
            </a:stretch>
          </a:blipFill>
        </p:spPr>
      </p:sp>
      <p:sp>
        <p:nvSpPr>
          <p:cNvPr name="TextBox 16" id="16"/>
          <p:cNvSpPr txBox="true"/>
          <p:nvPr/>
        </p:nvSpPr>
        <p:spPr>
          <a:xfrm rot="0">
            <a:off x="794707" y="2036686"/>
            <a:ext cx="7919997" cy="11072821"/>
          </a:xfrm>
          <a:prstGeom prst="rect">
            <a:avLst/>
          </a:prstGeom>
        </p:spPr>
        <p:txBody>
          <a:bodyPr anchor="t" rtlCol="false" tIns="0" lIns="0" bIns="0" rIns="0">
            <a:spAutoFit/>
          </a:bodyPr>
          <a:lstStyle/>
          <a:p>
            <a:pPr algn="l">
              <a:lnSpc>
                <a:spcPts val="4411"/>
              </a:lnSpc>
            </a:pPr>
            <a:r>
              <a:rPr lang="en-US" sz="3393" b="true">
                <a:solidFill>
                  <a:srgbClr val="282421"/>
                </a:solidFill>
                <a:latin typeface="Arimo Bold"/>
                <a:ea typeface="Arimo Bold"/>
                <a:cs typeface="Arimo Bold"/>
                <a:sym typeface="Arimo Bold"/>
              </a:rPr>
              <a:t>The Essential Elements of Strategic Planning</a:t>
            </a:r>
          </a:p>
          <a:p>
            <a:pPr algn="l" marL="1249494" indent="-416498" lvl="2">
              <a:lnSpc>
                <a:spcPts val="3761"/>
              </a:lnSpc>
              <a:buFont typeface="Arial"/>
              <a:buChar char="⚬"/>
            </a:pPr>
            <a:r>
              <a:rPr lang="en-US" b="true" sz="2893">
                <a:solidFill>
                  <a:srgbClr val="282421"/>
                </a:solidFill>
                <a:latin typeface="Arimo Bold"/>
                <a:ea typeface="Arimo Bold"/>
                <a:cs typeface="Arimo Bold"/>
                <a:sym typeface="Arimo Bold"/>
              </a:rPr>
              <a:t>Vision:</a:t>
            </a:r>
            <a:r>
              <a:rPr lang="en-US" sz="2893">
                <a:solidFill>
                  <a:srgbClr val="282421"/>
                </a:solidFill>
                <a:latin typeface="Arimo"/>
                <a:ea typeface="Arimo"/>
                <a:cs typeface="Arimo"/>
                <a:sym typeface="Arimo"/>
              </a:rPr>
              <a:t> A clear statement of what the organization aspires to become in the future.</a:t>
            </a:r>
          </a:p>
          <a:p>
            <a:pPr algn="l" marL="1249494" indent="-416498" lvl="2">
              <a:lnSpc>
                <a:spcPts val="3761"/>
              </a:lnSpc>
              <a:buFont typeface="Arial"/>
              <a:buChar char="⚬"/>
            </a:pPr>
            <a:r>
              <a:rPr lang="en-US" b="true" sz="2893">
                <a:solidFill>
                  <a:srgbClr val="282421"/>
                </a:solidFill>
                <a:latin typeface="Arimo Bold"/>
                <a:ea typeface="Arimo Bold"/>
                <a:cs typeface="Arimo Bold"/>
                <a:sym typeface="Arimo Bold"/>
              </a:rPr>
              <a:t>Mission:</a:t>
            </a:r>
            <a:r>
              <a:rPr lang="en-US" sz="2893">
                <a:solidFill>
                  <a:srgbClr val="282421"/>
                </a:solidFill>
                <a:latin typeface="Arimo"/>
                <a:ea typeface="Arimo"/>
                <a:cs typeface="Arimo"/>
                <a:sym typeface="Arimo"/>
              </a:rPr>
              <a:t> Defines the core purpose, present activities, and values of the business.</a:t>
            </a:r>
          </a:p>
          <a:p>
            <a:pPr algn="l" marL="1249494" indent="-416498" lvl="2">
              <a:lnSpc>
                <a:spcPts val="3761"/>
              </a:lnSpc>
              <a:buFont typeface="Arial"/>
              <a:buChar char="⚬"/>
            </a:pPr>
            <a:r>
              <a:rPr lang="en-US" b="true" sz="2893">
                <a:solidFill>
                  <a:srgbClr val="282421"/>
                </a:solidFill>
                <a:latin typeface="Arimo Bold"/>
                <a:ea typeface="Arimo Bold"/>
                <a:cs typeface="Arimo Bold"/>
                <a:sym typeface="Arimo Bold"/>
              </a:rPr>
              <a:t>Goals &amp; Objectives:</a:t>
            </a:r>
            <a:r>
              <a:rPr lang="en-US" sz="2893">
                <a:solidFill>
                  <a:srgbClr val="282421"/>
                </a:solidFill>
                <a:latin typeface="Arimo"/>
                <a:ea typeface="Arimo"/>
                <a:cs typeface="Arimo"/>
                <a:sym typeface="Arimo"/>
              </a:rPr>
              <a:t> Specific, measurable milestones to track performance.</a:t>
            </a:r>
          </a:p>
          <a:p>
            <a:pPr algn="l" marL="1249494" indent="-416498" lvl="2">
              <a:lnSpc>
                <a:spcPts val="3761"/>
              </a:lnSpc>
              <a:buFont typeface="Arial"/>
              <a:buChar char="⚬"/>
            </a:pPr>
            <a:r>
              <a:rPr lang="en-US" b="true" sz="2893">
                <a:solidFill>
                  <a:srgbClr val="282421"/>
                </a:solidFill>
                <a:latin typeface="Arimo Bold"/>
                <a:ea typeface="Arimo Bold"/>
                <a:cs typeface="Arimo Bold"/>
                <a:sym typeface="Arimo Bold"/>
              </a:rPr>
              <a:t>Competitive Advantage:</a:t>
            </a:r>
            <a:r>
              <a:rPr lang="en-US" sz="2893">
                <a:solidFill>
                  <a:srgbClr val="282421"/>
                </a:solidFill>
                <a:latin typeface="Arimo"/>
                <a:ea typeface="Arimo"/>
                <a:cs typeface="Arimo"/>
                <a:sym typeface="Arimo"/>
              </a:rPr>
              <a:t> What sets the company apart from rivals.</a:t>
            </a:r>
          </a:p>
          <a:p>
            <a:pPr algn="l" marL="1249494" indent="-416498" lvl="2">
              <a:lnSpc>
                <a:spcPts val="3761"/>
              </a:lnSpc>
              <a:buFont typeface="Arial"/>
              <a:buChar char="⚬"/>
            </a:pPr>
            <a:r>
              <a:rPr lang="en-US" b="true" sz="2893">
                <a:solidFill>
                  <a:srgbClr val="282421"/>
                </a:solidFill>
                <a:latin typeface="Arimo Bold"/>
                <a:ea typeface="Arimo Bold"/>
                <a:cs typeface="Arimo Bold"/>
                <a:sym typeface="Arimo Bold"/>
              </a:rPr>
              <a:t>Action Plans:</a:t>
            </a:r>
            <a:r>
              <a:rPr lang="en-US" sz="2893">
                <a:solidFill>
                  <a:srgbClr val="282421"/>
                </a:solidFill>
                <a:latin typeface="Arimo"/>
                <a:ea typeface="Arimo"/>
                <a:cs typeface="Arimo"/>
                <a:sym typeface="Arimo"/>
              </a:rPr>
              <a:t> Detailed step-by-step procedures to execute strategy effectively.</a:t>
            </a:r>
          </a:p>
          <a:p>
            <a:pPr algn="l">
              <a:lnSpc>
                <a:spcPts val="4281"/>
              </a:lnSpc>
            </a:pPr>
          </a:p>
          <a:p>
            <a:pPr algn="l">
              <a:lnSpc>
                <a:spcPts val="4281"/>
              </a:lnSpc>
            </a:pPr>
          </a:p>
          <a:p>
            <a:pPr algn="l">
              <a:lnSpc>
                <a:spcPts val="4281"/>
              </a:lnSpc>
            </a:pPr>
          </a:p>
          <a:p>
            <a:pPr algn="l">
              <a:lnSpc>
                <a:spcPts val="4361"/>
              </a:lnSpc>
            </a:pPr>
          </a:p>
          <a:p>
            <a:pPr algn="l">
              <a:lnSpc>
                <a:spcPts val="4361"/>
              </a:lnSpc>
            </a:pPr>
          </a:p>
          <a:p>
            <a:pPr algn="l">
              <a:lnSpc>
                <a:spcPts val="4361"/>
              </a:lnSpc>
            </a:pPr>
          </a:p>
        </p:txBody>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Types of Strategy</a:t>
            </a:r>
          </a:p>
        </p:txBody>
      </p:sp>
      <p:sp>
        <p:nvSpPr>
          <p:cNvPr name="Freeform 3" id="3"/>
          <p:cNvSpPr/>
          <p:nvPr/>
        </p:nvSpPr>
        <p:spPr>
          <a:xfrm flipH="false" flipV="false" rot="0">
            <a:off x="2169345" y="312531"/>
            <a:ext cx="14362757" cy="9869020"/>
          </a:xfrm>
          <a:custGeom>
            <a:avLst/>
            <a:gdLst/>
            <a:ahLst/>
            <a:cxnLst/>
            <a:rect r="r" b="b" t="t" l="l"/>
            <a:pathLst>
              <a:path h="9869020" w="14362757">
                <a:moveTo>
                  <a:pt x="0" y="0"/>
                </a:moveTo>
                <a:lnTo>
                  <a:pt x="14362757" y="0"/>
                </a:lnTo>
                <a:lnTo>
                  <a:pt x="14362757"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926123" cy="8481596"/>
            <a:chOff x="0" y="0"/>
            <a:chExt cx="2350913" cy="2233836"/>
          </a:xfrm>
        </p:grpSpPr>
        <p:sp>
          <p:nvSpPr>
            <p:cNvPr name="Freeform 8" id="8"/>
            <p:cNvSpPr/>
            <p:nvPr/>
          </p:nvSpPr>
          <p:spPr>
            <a:xfrm flipH="false" flipV="false" rot="0">
              <a:off x="0" y="0"/>
              <a:ext cx="2350913" cy="2233836"/>
            </a:xfrm>
            <a:custGeom>
              <a:avLst/>
              <a:gdLst/>
              <a:ahLst/>
              <a:cxnLst/>
              <a:rect r="r" b="b" t="t" l="l"/>
              <a:pathLst>
                <a:path h="2233836" w="2350913">
                  <a:moveTo>
                    <a:pt x="44234" y="0"/>
                  </a:moveTo>
                  <a:lnTo>
                    <a:pt x="2306679" y="0"/>
                  </a:lnTo>
                  <a:cubicBezTo>
                    <a:pt x="2331109" y="0"/>
                    <a:pt x="2350913" y="19804"/>
                    <a:pt x="2350913" y="44234"/>
                  </a:cubicBezTo>
                  <a:lnTo>
                    <a:pt x="2350913" y="2189602"/>
                  </a:lnTo>
                  <a:cubicBezTo>
                    <a:pt x="2350913" y="2214032"/>
                    <a:pt x="2331109" y="2233836"/>
                    <a:pt x="2306679" y="2233836"/>
                  </a:cubicBezTo>
                  <a:lnTo>
                    <a:pt x="44234" y="2233836"/>
                  </a:lnTo>
                  <a:cubicBezTo>
                    <a:pt x="32502" y="2233836"/>
                    <a:pt x="21251" y="2229176"/>
                    <a:pt x="12956" y="2220880"/>
                  </a:cubicBezTo>
                  <a:cubicBezTo>
                    <a:pt x="4660" y="2212585"/>
                    <a:pt x="0" y="2201334"/>
                    <a:pt x="0" y="2189602"/>
                  </a:cubicBezTo>
                  <a:lnTo>
                    <a:pt x="0" y="44234"/>
                  </a:lnTo>
                  <a:cubicBezTo>
                    <a:pt x="0" y="32502"/>
                    <a:pt x="4660" y="21251"/>
                    <a:pt x="12956" y="12956"/>
                  </a:cubicBezTo>
                  <a:cubicBezTo>
                    <a:pt x="21251" y="4660"/>
                    <a:pt x="32502" y="0"/>
                    <a:pt x="44234" y="0"/>
                  </a:cubicBezTo>
                  <a:close/>
                </a:path>
              </a:pathLst>
            </a:custGeom>
            <a:solidFill>
              <a:srgbClr val="FFFFFF"/>
            </a:solidFill>
          </p:spPr>
        </p:sp>
        <p:sp>
          <p:nvSpPr>
            <p:cNvPr name="TextBox 9" id="9"/>
            <p:cNvSpPr txBox="true"/>
            <p:nvPr/>
          </p:nvSpPr>
          <p:spPr>
            <a:xfrm>
              <a:off x="0" y="-19050"/>
              <a:ext cx="2350913" cy="2252886"/>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794707" y="2036686"/>
            <a:ext cx="8349293" cy="10574346"/>
          </a:xfrm>
          <a:prstGeom prst="rect">
            <a:avLst/>
          </a:prstGeom>
        </p:spPr>
        <p:txBody>
          <a:bodyPr anchor="t" rtlCol="false" tIns="0" lIns="0" bIns="0" rIns="0">
            <a:spAutoFit/>
          </a:bodyPr>
          <a:lstStyle/>
          <a:p>
            <a:pPr algn="l">
              <a:lnSpc>
                <a:spcPts val="5061"/>
              </a:lnSpc>
            </a:pPr>
            <a:r>
              <a:rPr lang="en-US" sz="3893" b="true">
                <a:solidFill>
                  <a:srgbClr val="282421"/>
                </a:solidFill>
                <a:latin typeface="Arimo Bold"/>
                <a:ea typeface="Arimo Bold"/>
                <a:cs typeface="Arimo Bold"/>
                <a:sym typeface="Arimo Bold"/>
              </a:rPr>
              <a:t>Common Strategic Approaches</a:t>
            </a:r>
          </a:p>
          <a:p>
            <a:pPr algn="l">
              <a:lnSpc>
                <a:spcPts val="5061"/>
              </a:lnSpc>
            </a:pPr>
          </a:p>
          <a:p>
            <a:pPr algn="l" marL="732694" indent="-366347" lvl="1">
              <a:lnSpc>
                <a:spcPts val="4411"/>
              </a:lnSpc>
              <a:buFont typeface="Arial"/>
              <a:buChar char="•"/>
            </a:pPr>
            <a:r>
              <a:rPr lang="en-US" b="true" sz="3393">
                <a:solidFill>
                  <a:srgbClr val="282421"/>
                </a:solidFill>
                <a:latin typeface="Arimo Bold"/>
                <a:ea typeface="Arimo Bold"/>
                <a:cs typeface="Arimo Bold"/>
                <a:sym typeface="Arimo Bold"/>
              </a:rPr>
              <a:t>G</a:t>
            </a:r>
            <a:r>
              <a:rPr lang="en-US" b="true" sz="3393">
                <a:solidFill>
                  <a:srgbClr val="282421"/>
                </a:solidFill>
                <a:latin typeface="Arimo Bold"/>
                <a:ea typeface="Arimo Bold"/>
                <a:cs typeface="Arimo Bold"/>
                <a:sym typeface="Arimo Bold"/>
              </a:rPr>
              <a:t>rowth Strategy:</a:t>
            </a:r>
            <a:r>
              <a:rPr lang="en-US" sz="3393">
                <a:solidFill>
                  <a:srgbClr val="282421"/>
                </a:solidFill>
                <a:latin typeface="Arimo"/>
                <a:ea typeface="Arimo"/>
                <a:cs typeface="Arimo"/>
                <a:sym typeface="Arimo"/>
              </a:rPr>
              <a:t> Expands operations into new markets, products, or services.</a:t>
            </a:r>
          </a:p>
          <a:p>
            <a:pPr algn="l" marL="732694" indent="-366347" lvl="1">
              <a:lnSpc>
                <a:spcPts val="4411"/>
              </a:lnSpc>
              <a:buFont typeface="Arial"/>
              <a:buChar char="•"/>
            </a:pPr>
            <a:r>
              <a:rPr lang="en-US" b="true" sz="3393">
                <a:solidFill>
                  <a:srgbClr val="282421"/>
                </a:solidFill>
                <a:latin typeface="Arimo Bold"/>
                <a:ea typeface="Arimo Bold"/>
                <a:cs typeface="Arimo Bold"/>
                <a:sym typeface="Arimo Bold"/>
              </a:rPr>
              <a:t>Stability Strategy:</a:t>
            </a:r>
            <a:r>
              <a:rPr lang="en-US" sz="3393">
                <a:solidFill>
                  <a:srgbClr val="282421"/>
                </a:solidFill>
                <a:latin typeface="Arimo"/>
                <a:ea typeface="Arimo"/>
                <a:cs typeface="Arimo"/>
                <a:sym typeface="Arimo"/>
              </a:rPr>
              <a:t> </a:t>
            </a:r>
            <a:r>
              <a:rPr lang="en-US" sz="3393">
                <a:solidFill>
                  <a:srgbClr val="282421"/>
                </a:solidFill>
                <a:latin typeface="Arimo"/>
                <a:ea typeface="Arimo"/>
                <a:cs typeface="Arimo"/>
                <a:sym typeface="Arimo"/>
              </a:rPr>
              <a:t>Maintains current business size and performance level.</a:t>
            </a:r>
          </a:p>
          <a:p>
            <a:pPr algn="l" marL="732694" indent="-366347" lvl="1">
              <a:lnSpc>
                <a:spcPts val="4411"/>
              </a:lnSpc>
              <a:buFont typeface="Arial"/>
              <a:buChar char="•"/>
            </a:pPr>
            <a:r>
              <a:rPr lang="en-US" b="true" sz="3393">
                <a:solidFill>
                  <a:srgbClr val="282421"/>
                </a:solidFill>
                <a:latin typeface="Arimo Bold"/>
                <a:ea typeface="Arimo Bold"/>
                <a:cs typeface="Arimo Bold"/>
                <a:sym typeface="Arimo Bold"/>
              </a:rPr>
              <a:t>Retrenchment Strategy:</a:t>
            </a:r>
            <a:r>
              <a:rPr lang="en-US" sz="3393">
                <a:solidFill>
                  <a:srgbClr val="282421"/>
                </a:solidFill>
                <a:latin typeface="Arimo"/>
                <a:ea typeface="Arimo"/>
                <a:cs typeface="Arimo"/>
                <a:sym typeface="Arimo"/>
              </a:rPr>
              <a:t> Cuts costs and reduces operations to survive financial crises.</a:t>
            </a:r>
          </a:p>
          <a:p>
            <a:pPr algn="l" marL="732694" indent="-366347" lvl="1">
              <a:lnSpc>
                <a:spcPts val="4411"/>
              </a:lnSpc>
              <a:buFont typeface="Arial"/>
              <a:buChar char="•"/>
            </a:pPr>
            <a:r>
              <a:rPr lang="en-US" b="true" sz="3393">
                <a:solidFill>
                  <a:srgbClr val="282421"/>
                </a:solidFill>
                <a:latin typeface="Arimo Bold"/>
                <a:ea typeface="Arimo Bold"/>
                <a:cs typeface="Arimo Bold"/>
                <a:sym typeface="Arimo Bold"/>
              </a:rPr>
              <a:t>Competitive Strategy:</a:t>
            </a:r>
            <a:r>
              <a:rPr lang="en-US" sz="3393">
                <a:solidFill>
                  <a:srgbClr val="282421"/>
                </a:solidFill>
                <a:latin typeface="Arimo"/>
                <a:ea typeface="Arimo"/>
                <a:cs typeface="Arimo"/>
                <a:sym typeface="Arimo"/>
              </a:rPr>
              <a:t> Focuses on gaining advantage through lower costs or unique product features.</a:t>
            </a:r>
          </a:p>
          <a:p>
            <a:pPr algn="l">
              <a:lnSpc>
                <a:spcPts val="3761"/>
              </a:lnSpc>
            </a:pPr>
          </a:p>
          <a:p>
            <a:pPr algn="l">
              <a:lnSpc>
                <a:spcPts val="4281"/>
              </a:lnSpc>
            </a:pPr>
          </a:p>
          <a:p>
            <a:pPr algn="l">
              <a:lnSpc>
                <a:spcPts val="4281"/>
              </a:lnSpc>
            </a:pPr>
          </a:p>
          <a:p>
            <a:pPr algn="l">
              <a:lnSpc>
                <a:spcPts val="4281"/>
              </a:lnSpc>
            </a:pPr>
          </a:p>
          <a:p>
            <a:pPr algn="l">
              <a:lnSpc>
                <a:spcPts val="4361"/>
              </a:lnSpc>
            </a:pPr>
          </a:p>
          <a:p>
            <a:pPr algn="l">
              <a:lnSpc>
                <a:spcPts val="4361"/>
              </a:lnSpc>
            </a:pPr>
          </a:p>
          <a:p>
            <a:pPr algn="l">
              <a:lnSpc>
                <a:spcPts val="4361"/>
              </a:lnSpc>
            </a:pPr>
          </a:p>
        </p:txBody>
      </p:sp>
      <p:sp>
        <p:nvSpPr>
          <p:cNvPr name="Freeform 11" id="11"/>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1608176" y="369681"/>
            <a:ext cx="5539752" cy="9917319"/>
          </a:xfrm>
          <a:custGeom>
            <a:avLst/>
            <a:gdLst/>
            <a:ahLst/>
            <a:cxnLst/>
            <a:rect r="r" b="b" t="t" l="l"/>
            <a:pathLst>
              <a:path h="9917319" w="5539752">
                <a:moveTo>
                  <a:pt x="0" y="0"/>
                </a:moveTo>
                <a:lnTo>
                  <a:pt x="5539752" y="0"/>
                </a:lnTo>
                <a:lnTo>
                  <a:pt x="5539752" y="9917319"/>
                </a:lnTo>
                <a:lnTo>
                  <a:pt x="0" y="9917319"/>
                </a:lnTo>
                <a:lnTo>
                  <a:pt x="0" y="0"/>
                </a:lnTo>
                <a:close/>
              </a:path>
            </a:pathLst>
          </a:custGeom>
          <a:blipFill>
            <a:blip r:embed="rId9"/>
            <a:stretch>
              <a:fillRect l="0" t="0" r="0" b="0"/>
            </a:stretch>
          </a:blipFill>
        </p:spPr>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grpSp>
        <p:nvGrpSpPr>
          <p:cNvPr name="Group 2" id="2"/>
          <p:cNvGrpSpPr/>
          <p:nvPr/>
        </p:nvGrpSpPr>
        <p:grpSpPr>
          <a:xfrm rot="0">
            <a:off x="661102" y="1178424"/>
            <a:ext cx="8155522" cy="9291280"/>
            <a:chOff x="0" y="0"/>
            <a:chExt cx="2742567" cy="3124503"/>
          </a:xfrm>
        </p:grpSpPr>
        <p:sp>
          <p:nvSpPr>
            <p:cNvPr name="Freeform 3" id="3"/>
            <p:cNvSpPr/>
            <p:nvPr/>
          </p:nvSpPr>
          <p:spPr>
            <a:xfrm flipH="false" flipV="false" rot="0">
              <a:off x="0" y="0"/>
              <a:ext cx="2742567" cy="3124503"/>
            </a:xfrm>
            <a:custGeom>
              <a:avLst/>
              <a:gdLst/>
              <a:ahLst/>
              <a:cxnLst/>
              <a:rect r="r" b="b" t="t" l="l"/>
              <a:pathLst>
                <a:path h="3124503" w="2742567">
                  <a:moveTo>
                    <a:pt x="48414" y="0"/>
                  </a:moveTo>
                  <a:lnTo>
                    <a:pt x="2694153" y="0"/>
                  </a:lnTo>
                  <a:cubicBezTo>
                    <a:pt x="2706993" y="0"/>
                    <a:pt x="2719307" y="5101"/>
                    <a:pt x="2728387" y="14180"/>
                  </a:cubicBezTo>
                  <a:cubicBezTo>
                    <a:pt x="2737466" y="23259"/>
                    <a:pt x="2742567" y="35573"/>
                    <a:pt x="2742567" y="48414"/>
                  </a:cubicBezTo>
                  <a:lnTo>
                    <a:pt x="2742567" y="3076090"/>
                  </a:lnTo>
                  <a:cubicBezTo>
                    <a:pt x="2742567" y="3088930"/>
                    <a:pt x="2737466" y="3101244"/>
                    <a:pt x="2728387" y="3110323"/>
                  </a:cubicBezTo>
                  <a:cubicBezTo>
                    <a:pt x="2719307" y="3119402"/>
                    <a:pt x="2706993" y="3124503"/>
                    <a:pt x="2694153" y="3124503"/>
                  </a:cubicBezTo>
                  <a:lnTo>
                    <a:pt x="48414" y="3124503"/>
                  </a:lnTo>
                  <a:cubicBezTo>
                    <a:pt x="35573" y="3124503"/>
                    <a:pt x="23259" y="3119402"/>
                    <a:pt x="14180" y="3110323"/>
                  </a:cubicBezTo>
                  <a:cubicBezTo>
                    <a:pt x="5101" y="3101244"/>
                    <a:pt x="0" y="3088930"/>
                    <a:pt x="0" y="3076090"/>
                  </a:cubicBezTo>
                  <a:lnTo>
                    <a:pt x="0" y="48414"/>
                  </a:lnTo>
                  <a:cubicBezTo>
                    <a:pt x="0" y="35573"/>
                    <a:pt x="5101" y="23259"/>
                    <a:pt x="14180" y="14180"/>
                  </a:cubicBezTo>
                  <a:cubicBezTo>
                    <a:pt x="23259" y="5101"/>
                    <a:pt x="35573" y="0"/>
                    <a:pt x="48414" y="0"/>
                  </a:cubicBezTo>
                  <a:close/>
                </a:path>
              </a:pathLst>
            </a:custGeom>
            <a:solidFill>
              <a:srgbClr val="FFFFFF"/>
            </a:solidFill>
          </p:spPr>
        </p:sp>
        <p:sp>
          <p:nvSpPr>
            <p:cNvPr name="TextBox 4" id="4"/>
            <p:cNvSpPr txBox="true"/>
            <p:nvPr/>
          </p:nvSpPr>
          <p:spPr>
            <a:xfrm>
              <a:off x="0" y="-19050"/>
              <a:ext cx="2742567" cy="3143553"/>
            </a:xfrm>
            <a:prstGeom prst="rect">
              <a:avLst/>
            </a:prstGeom>
          </p:spPr>
          <p:txBody>
            <a:bodyPr anchor="ctr" rtlCol="false" tIns="50800" lIns="50800" bIns="50800" rIns="50800"/>
            <a:lstStyle/>
            <a:p>
              <a:pPr algn="ctr">
                <a:lnSpc>
                  <a:spcPts val="2236"/>
                </a:lnSpc>
              </a:pPr>
            </a:p>
          </p:txBody>
        </p:sp>
      </p:grpSp>
      <p:grpSp>
        <p:nvGrpSpPr>
          <p:cNvPr name="Group 5" id="5"/>
          <p:cNvGrpSpPr/>
          <p:nvPr/>
        </p:nvGrpSpPr>
        <p:grpSpPr>
          <a:xfrm rot="0">
            <a:off x="9471376" y="1178424"/>
            <a:ext cx="8155522" cy="9108576"/>
            <a:chOff x="0" y="0"/>
            <a:chExt cx="2742567" cy="3063063"/>
          </a:xfrm>
        </p:grpSpPr>
        <p:sp>
          <p:nvSpPr>
            <p:cNvPr name="Freeform 6" id="6"/>
            <p:cNvSpPr/>
            <p:nvPr/>
          </p:nvSpPr>
          <p:spPr>
            <a:xfrm flipH="false" flipV="false" rot="0">
              <a:off x="0" y="0"/>
              <a:ext cx="2742567" cy="3063063"/>
            </a:xfrm>
            <a:custGeom>
              <a:avLst/>
              <a:gdLst/>
              <a:ahLst/>
              <a:cxnLst/>
              <a:rect r="r" b="b" t="t" l="l"/>
              <a:pathLst>
                <a:path h="3063063" w="2742567">
                  <a:moveTo>
                    <a:pt x="48414" y="0"/>
                  </a:moveTo>
                  <a:lnTo>
                    <a:pt x="2694153" y="0"/>
                  </a:lnTo>
                  <a:cubicBezTo>
                    <a:pt x="2706993" y="0"/>
                    <a:pt x="2719307" y="5101"/>
                    <a:pt x="2728387" y="14180"/>
                  </a:cubicBezTo>
                  <a:cubicBezTo>
                    <a:pt x="2737466" y="23259"/>
                    <a:pt x="2742567" y="35573"/>
                    <a:pt x="2742567" y="48414"/>
                  </a:cubicBezTo>
                  <a:lnTo>
                    <a:pt x="2742567" y="3014649"/>
                  </a:lnTo>
                  <a:cubicBezTo>
                    <a:pt x="2742567" y="3027489"/>
                    <a:pt x="2737466" y="3039804"/>
                    <a:pt x="2728387" y="3048883"/>
                  </a:cubicBezTo>
                  <a:cubicBezTo>
                    <a:pt x="2719307" y="3057962"/>
                    <a:pt x="2706993" y="3063063"/>
                    <a:pt x="2694153" y="3063063"/>
                  </a:cubicBezTo>
                  <a:lnTo>
                    <a:pt x="48414" y="3063063"/>
                  </a:lnTo>
                  <a:cubicBezTo>
                    <a:pt x="35573" y="3063063"/>
                    <a:pt x="23259" y="3057962"/>
                    <a:pt x="14180" y="3048883"/>
                  </a:cubicBezTo>
                  <a:cubicBezTo>
                    <a:pt x="5101" y="3039804"/>
                    <a:pt x="0" y="3027489"/>
                    <a:pt x="0" y="3014649"/>
                  </a:cubicBezTo>
                  <a:lnTo>
                    <a:pt x="0" y="48414"/>
                  </a:lnTo>
                  <a:cubicBezTo>
                    <a:pt x="0" y="35573"/>
                    <a:pt x="5101" y="23259"/>
                    <a:pt x="14180" y="14180"/>
                  </a:cubicBezTo>
                  <a:cubicBezTo>
                    <a:pt x="23259" y="5101"/>
                    <a:pt x="35573" y="0"/>
                    <a:pt x="48414" y="0"/>
                  </a:cubicBezTo>
                  <a:close/>
                </a:path>
              </a:pathLst>
            </a:custGeom>
            <a:solidFill>
              <a:srgbClr val="FFFFFF"/>
            </a:solidFill>
          </p:spPr>
        </p:sp>
        <p:sp>
          <p:nvSpPr>
            <p:cNvPr name="TextBox 7" id="7"/>
            <p:cNvSpPr txBox="true"/>
            <p:nvPr/>
          </p:nvSpPr>
          <p:spPr>
            <a:xfrm>
              <a:off x="0" y="-19050"/>
              <a:ext cx="2742567" cy="3082113"/>
            </a:xfrm>
            <a:prstGeom prst="rect">
              <a:avLst/>
            </a:prstGeom>
          </p:spPr>
          <p:txBody>
            <a:bodyPr anchor="ctr" rtlCol="false" tIns="50800" lIns="50800" bIns="50800" rIns="50800"/>
            <a:lstStyle/>
            <a:p>
              <a:pPr algn="ctr">
                <a:lnSpc>
                  <a:spcPts val="2236"/>
                </a:lnSpc>
              </a:pPr>
            </a:p>
          </p:txBody>
        </p:sp>
      </p:grpSp>
      <p:sp>
        <p:nvSpPr>
          <p:cNvPr name="Freeform 8" id="8"/>
          <p:cNvSpPr/>
          <p:nvPr/>
        </p:nvSpPr>
        <p:spPr>
          <a:xfrm flipH="false" flipV="false" rot="0">
            <a:off x="3271083" y="6097790"/>
            <a:ext cx="2935559" cy="3298727"/>
          </a:xfrm>
          <a:custGeom>
            <a:avLst/>
            <a:gdLst/>
            <a:ahLst/>
            <a:cxnLst/>
            <a:rect r="r" b="b" t="t" l="l"/>
            <a:pathLst>
              <a:path h="3298727" w="2935559">
                <a:moveTo>
                  <a:pt x="0" y="0"/>
                </a:moveTo>
                <a:lnTo>
                  <a:pt x="2935560" y="0"/>
                </a:lnTo>
                <a:lnTo>
                  <a:pt x="2935560" y="3298727"/>
                </a:lnTo>
                <a:lnTo>
                  <a:pt x="0" y="3298727"/>
                </a:lnTo>
                <a:lnTo>
                  <a:pt x="0" y="0"/>
                </a:lnTo>
                <a:close/>
              </a:path>
            </a:pathLst>
          </a:custGeom>
          <a:blipFill>
            <a:blip r:embed="rId2"/>
            <a:stretch>
              <a:fillRect l="-71321" t="-8506" r="-70218" b="-8833"/>
            </a:stretch>
          </a:blipFill>
        </p:spPr>
      </p:sp>
      <p:sp>
        <p:nvSpPr>
          <p:cNvPr name="Freeform 9" id="9"/>
          <p:cNvSpPr/>
          <p:nvPr/>
        </p:nvSpPr>
        <p:spPr>
          <a:xfrm flipH="false" flipV="false" rot="0">
            <a:off x="11743840" y="6097790"/>
            <a:ext cx="3679232" cy="3573458"/>
          </a:xfrm>
          <a:custGeom>
            <a:avLst/>
            <a:gdLst/>
            <a:ahLst/>
            <a:cxnLst/>
            <a:rect r="r" b="b" t="t" l="l"/>
            <a:pathLst>
              <a:path h="3573458" w="3679232">
                <a:moveTo>
                  <a:pt x="0" y="0"/>
                </a:moveTo>
                <a:lnTo>
                  <a:pt x="3679232" y="0"/>
                </a:lnTo>
                <a:lnTo>
                  <a:pt x="3679232" y="3573458"/>
                </a:lnTo>
                <a:lnTo>
                  <a:pt x="0" y="3573458"/>
                </a:lnTo>
                <a:lnTo>
                  <a:pt x="0" y="0"/>
                </a:lnTo>
                <a:close/>
              </a:path>
            </a:pathLst>
          </a:custGeom>
          <a:blipFill>
            <a:blip r:embed="rId3"/>
            <a:stretch>
              <a:fillRect l="-63137" t="-13352" r="-61090" b="-12676"/>
            </a:stretch>
          </a:blipFill>
        </p:spPr>
      </p:sp>
      <p:sp>
        <p:nvSpPr>
          <p:cNvPr name="TextBox 10" id="10"/>
          <p:cNvSpPr txBox="true"/>
          <p:nvPr/>
        </p:nvSpPr>
        <p:spPr>
          <a:xfrm rot="0">
            <a:off x="5152987" y="200025"/>
            <a:ext cx="8424202" cy="1180465"/>
          </a:xfrm>
          <a:prstGeom prst="rect">
            <a:avLst/>
          </a:prstGeom>
        </p:spPr>
        <p:txBody>
          <a:bodyPr anchor="t" rtlCol="false" tIns="0" lIns="0" bIns="0" rIns="0">
            <a:spAutoFit/>
          </a:bodyPr>
          <a:lstStyle/>
          <a:p>
            <a:pPr algn="ctr">
              <a:lnSpc>
                <a:spcPts val="4358"/>
              </a:lnSpc>
            </a:pPr>
            <a:r>
              <a:rPr lang="en-US" sz="5448" spc="-163">
                <a:solidFill>
                  <a:srgbClr val="F6766B"/>
                </a:solidFill>
                <a:latin typeface="Lazydog 1"/>
                <a:ea typeface="Lazydog 1"/>
                <a:cs typeface="Lazydog 1"/>
                <a:sym typeface="Lazydog 1"/>
              </a:rPr>
              <a:t>Factors Affecting Strategy</a:t>
            </a:r>
          </a:p>
        </p:txBody>
      </p:sp>
      <p:sp>
        <p:nvSpPr>
          <p:cNvPr name="TextBox 11" id="11"/>
          <p:cNvSpPr txBox="true"/>
          <p:nvPr/>
        </p:nvSpPr>
        <p:spPr>
          <a:xfrm rot="0">
            <a:off x="955429" y="1298074"/>
            <a:ext cx="7635505" cy="663224"/>
          </a:xfrm>
          <a:prstGeom prst="rect">
            <a:avLst/>
          </a:prstGeom>
        </p:spPr>
        <p:txBody>
          <a:bodyPr anchor="t" rtlCol="false" tIns="0" lIns="0" bIns="0" rIns="0">
            <a:spAutoFit/>
          </a:bodyPr>
          <a:lstStyle/>
          <a:p>
            <a:pPr algn="l">
              <a:lnSpc>
                <a:spcPts val="5235"/>
              </a:lnSpc>
            </a:pPr>
            <a:r>
              <a:rPr lang="en-US" sz="4027" b="true">
                <a:solidFill>
                  <a:srgbClr val="28211E"/>
                </a:solidFill>
                <a:latin typeface="Arimo Bold"/>
                <a:ea typeface="Arimo Bold"/>
                <a:cs typeface="Arimo Bold"/>
                <a:sym typeface="Arimo Bold"/>
              </a:rPr>
              <a:t>Internal Influences</a:t>
            </a:r>
          </a:p>
        </p:txBody>
      </p:sp>
      <p:sp>
        <p:nvSpPr>
          <p:cNvPr name="TextBox 12" id="12"/>
          <p:cNvSpPr txBox="true"/>
          <p:nvPr/>
        </p:nvSpPr>
        <p:spPr>
          <a:xfrm rot="0">
            <a:off x="921110" y="2201976"/>
            <a:ext cx="7635505" cy="4533492"/>
          </a:xfrm>
          <a:prstGeom prst="rect">
            <a:avLst/>
          </a:prstGeom>
        </p:spPr>
        <p:txBody>
          <a:bodyPr anchor="t" rtlCol="false" tIns="0" lIns="0" bIns="0" rIns="0">
            <a:spAutoFit/>
          </a:bodyPr>
          <a:lstStyle/>
          <a:p>
            <a:pPr algn="l" marL="663083" indent="-331541" lvl="1">
              <a:lnSpc>
                <a:spcPts val="3992"/>
              </a:lnSpc>
              <a:buFont typeface="Arial"/>
              <a:buChar char="•"/>
            </a:pPr>
            <a:r>
              <a:rPr lang="en-US" b="true" sz="3071">
                <a:solidFill>
                  <a:srgbClr val="28211E"/>
                </a:solidFill>
                <a:latin typeface="Arimo Bold"/>
                <a:ea typeface="Arimo Bold"/>
                <a:cs typeface="Arimo Bold"/>
                <a:sym typeface="Arimo Bold"/>
              </a:rPr>
              <a:t>Internal Factors (Inside Control)</a:t>
            </a:r>
          </a:p>
          <a:p>
            <a:pPr algn="l" marL="663083" indent="-331541" lvl="1">
              <a:lnSpc>
                <a:spcPts val="3992"/>
              </a:lnSpc>
              <a:buFont typeface="Arial"/>
              <a:buChar char="•"/>
            </a:pPr>
            <a:r>
              <a:rPr lang="en-US" b="true" sz="3071">
                <a:solidFill>
                  <a:srgbClr val="28211E"/>
                </a:solidFill>
                <a:latin typeface="Arimo Bold"/>
                <a:ea typeface="Arimo Bold"/>
                <a:cs typeface="Arimo Bold"/>
                <a:sym typeface="Arimo Bold"/>
              </a:rPr>
              <a:t>Resources</a:t>
            </a:r>
            <a:r>
              <a:rPr lang="en-US" sz="3071">
                <a:solidFill>
                  <a:srgbClr val="28211E"/>
                </a:solidFill>
                <a:latin typeface="Arimo"/>
                <a:ea typeface="Arimo"/>
                <a:cs typeface="Arimo"/>
                <a:sym typeface="Arimo"/>
              </a:rPr>
              <a:t>: Financial &amp; physical capital</a:t>
            </a:r>
          </a:p>
          <a:p>
            <a:pPr algn="l" marL="663083" indent="-331541" lvl="1">
              <a:lnSpc>
                <a:spcPts val="3992"/>
              </a:lnSpc>
              <a:buFont typeface="Arial"/>
              <a:buChar char="•"/>
            </a:pPr>
            <a:r>
              <a:rPr lang="en-US" b="true" sz="3071">
                <a:solidFill>
                  <a:srgbClr val="28211E"/>
                </a:solidFill>
                <a:latin typeface="Arimo Bold"/>
                <a:ea typeface="Arimo Bold"/>
                <a:cs typeface="Arimo Bold"/>
                <a:sym typeface="Arimo Bold"/>
              </a:rPr>
              <a:t>Employees</a:t>
            </a:r>
            <a:r>
              <a:rPr lang="en-US" sz="3071">
                <a:solidFill>
                  <a:srgbClr val="28211E"/>
                </a:solidFill>
                <a:latin typeface="Arimo"/>
                <a:ea typeface="Arimo"/>
                <a:cs typeface="Arimo"/>
                <a:sym typeface="Arimo"/>
              </a:rPr>
              <a:t>: Skills, talent, and leadership</a:t>
            </a:r>
          </a:p>
          <a:p>
            <a:pPr algn="l" marL="663083" indent="-331541" lvl="1">
              <a:lnSpc>
                <a:spcPts val="3992"/>
              </a:lnSpc>
              <a:buFont typeface="Arial"/>
              <a:buChar char="•"/>
            </a:pPr>
            <a:r>
              <a:rPr lang="en-US" b="true" sz="3071">
                <a:solidFill>
                  <a:srgbClr val="28211E"/>
                </a:solidFill>
                <a:latin typeface="Arimo Bold"/>
                <a:ea typeface="Arimo Bold"/>
                <a:cs typeface="Arimo Bold"/>
                <a:sym typeface="Arimo Bold"/>
              </a:rPr>
              <a:t>Technology:</a:t>
            </a:r>
            <a:r>
              <a:rPr lang="en-US" sz="3071">
                <a:solidFill>
                  <a:srgbClr val="28211E"/>
                </a:solidFill>
                <a:latin typeface="Arimo"/>
                <a:ea typeface="Arimo"/>
                <a:cs typeface="Arimo"/>
                <a:sym typeface="Arimo"/>
              </a:rPr>
              <a:t> Technical tools &amp; systems</a:t>
            </a:r>
          </a:p>
          <a:p>
            <a:pPr algn="l" marL="663083" indent="-331541" lvl="1">
              <a:lnSpc>
                <a:spcPts val="3992"/>
              </a:lnSpc>
              <a:buFont typeface="Arial"/>
              <a:buChar char="•"/>
            </a:pPr>
            <a:r>
              <a:rPr lang="en-US" b="true" sz="3071">
                <a:solidFill>
                  <a:srgbClr val="28211E"/>
                </a:solidFill>
                <a:latin typeface="Arimo Bold"/>
                <a:ea typeface="Arimo Bold"/>
                <a:cs typeface="Arimo Bold"/>
                <a:sym typeface="Arimo Bold"/>
              </a:rPr>
              <a:t>Culture:</a:t>
            </a:r>
            <a:r>
              <a:rPr lang="en-US" sz="3071">
                <a:solidFill>
                  <a:srgbClr val="28211E"/>
                </a:solidFill>
                <a:latin typeface="Arimo"/>
                <a:ea typeface="Arimo"/>
                <a:cs typeface="Arimo"/>
                <a:sym typeface="Arimo"/>
              </a:rPr>
              <a:t> Shared values &amp; workplace norms</a:t>
            </a:r>
          </a:p>
          <a:p>
            <a:pPr algn="l">
              <a:lnSpc>
                <a:spcPts val="3992"/>
              </a:lnSpc>
            </a:pPr>
          </a:p>
          <a:p>
            <a:pPr algn="l">
              <a:lnSpc>
                <a:spcPts val="3890"/>
              </a:lnSpc>
            </a:pPr>
          </a:p>
        </p:txBody>
      </p:sp>
      <p:sp>
        <p:nvSpPr>
          <p:cNvPr name="TextBox 13" id="13"/>
          <p:cNvSpPr txBox="true"/>
          <p:nvPr/>
        </p:nvSpPr>
        <p:spPr>
          <a:xfrm rot="0">
            <a:off x="9765703" y="1298074"/>
            <a:ext cx="7635505" cy="663224"/>
          </a:xfrm>
          <a:prstGeom prst="rect">
            <a:avLst/>
          </a:prstGeom>
        </p:spPr>
        <p:txBody>
          <a:bodyPr anchor="t" rtlCol="false" tIns="0" lIns="0" bIns="0" rIns="0">
            <a:spAutoFit/>
          </a:bodyPr>
          <a:lstStyle/>
          <a:p>
            <a:pPr algn="l">
              <a:lnSpc>
                <a:spcPts val="5235"/>
              </a:lnSpc>
            </a:pPr>
            <a:r>
              <a:rPr lang="en-US" sz="4027" b="true">
                <a:solidFill>
                  <a:srgbClr val="28211E"/>
                </a:solidFill>
                <a:latin typeface="Arimo Bold"/>
                <a:ea typeface="Arimo Bold"/>
                <a:cs typeface="Arimo Bold"/>
                <a:sym typeface="Arimo Bold"/>
              </a:rPr>
              <a:t>External Influences</a:t>
            </a:r>
          </a:p>
        </p:txBody>
      </p:sp>
      <p:sp>
        <p:nvSpPr>
          <p:cNvPr name="TextBox 14" id="14"/>
          <p:cNvSpPr txBox="true"/>
          <p:nvPr/>
        </p:nvSpPr>
        <p:spPr>
          <a:xfrm rot="0">
            <a:off x="9731384" y="2211501"/>
            <a:ext cx="7635505" cy="3886290"/>
          </a:xfrm>
          <a:prstGeom prst="rect">
            <a:avLst/>
          </a:prstGeom>
        </p:spPr>
        <p:txBody>
          <a:bodyPr anchor="t" rtlCol="false" tIns="0" lIns="0" bIns="0" rIns="0">
            <a:spAutoFit/>
          </a:bodyPr>
          <a:lstStyle/>
          <a:p>
            <a:pPr algn="l" marL="646175" indent="-323087" lvl="1">
              <a:lnSpc>
                <a:spcPts val="3890"/>
              </a:lnSpc>
              <a:buFont typeface="Arial"/>
              <a:buChar char="•"/>
            </a:pPr>
            <a:r>
              <a:rPr lang="en-US" b="true" sz="2992">
                <a:solidFill>
                  <a:srgbClr val="28211E"/>
                </a:solidFill>
                <a:latin typeface="Arimo Bold"/>
                <a:ea typeface="Arimo Bold"/>
                <a:cs typeface="Arimo Bold"/>
                <a:sym typeface="Arimo Bold"/>
              </a:rPr>
              <a:t>Ext</a:t>
            </a:r>
            <a:r>
              <a:rPr lang="en-US" b="true" sz="2992">
                <a:solidFill>
                  <a:srgbClr val="28211E"/>
                </a:solidFill>
                <a:latin typeface="Arimo Bold"/>
                <a:ea typeface="Arimo Bold"/>
                <a:cs typeface="Arimo Bold"/>
                <a:sym typeface="Arimo Bold"/>
              </a:rPr>
              <a:t>e</a:t>
            </a:r>
            <a:r>
              <a:rPr lang="en-US" b="true" sz="2992">
                <a:solidFill>
                  <a:srgbClr val="28211E"/>
                </a:solidFill>
                <a:latin typeface="Arimo Bold"/>
                <a:ea typeface="Arimo Bold"/>
                <a:cs typeface="Arimo Bold"/>
                <a:sym typeface="Arimo Bold"/>
              </a:rPr>
              <a:t>rnal Factors (Outside Control)</a:t>
            </a:r>
          </a:p>
          <a:p>
            <a:pPr algn="l" marL="646175" indent="-323087" lvl="1">
              <a:lnSpc>
                <a:spcPts val="3890"/>
              </a:lnSpc>
              <a:buFont typeface="Arial"/>
              <a:buChar char="•"/>
            </a:pPr>
            <a:r>
              <a:rPr lang="en-US" b="true" sz="2992">
                <a:solidFill>
                  <a:srgbClr val="28211E"/>
                </a:solidFill>
                <a:latin typeface="Arimo Bold"/>
                <a:ea typeface="Arimo Bold"/>
                <a:cs typeface="Arimo Bold"/>
                <a:sym typeface="Arimo Bold"/>
              </a:rPr>
              <a:t>Competition:</a:t>
            </a:r>
            <a:r>
              <a:rPr lang="en-US" sz="2992">
                <a:solidFill>
                  <a:srgbClr val="28211E"/>
                </a:solidFill>
                <a:latin typeface="Arimo"/>
                <a:ea typeface="Arimo"/>
                <a:cs typeface="Arimo"/>
                <a:sym typeface="Arimo"/>
              </a:rPr>
              <a:t> Market rivals &amp; threat of entry</a:t>
            </a:r>
          </a:p>
          <a:p>
            <a:pPr algn="l" marL="646175" indent="-323087" lvl="1">
              <a:lnSpc>
                <a:spcPts val="3890"/>
              </a:lnSpc>
              <a:buFont typeface="Arial"/>
              <a:buChar char="•"/>
            </a:pPr>
            <a:r>
              <a:rPr lang="en-US" b="true" sz="2992">
                <a:solidFill>
                  <a:srgbClr val="28211E"/>
                </a:solidFill>
                <a:latin typeface="Arimo Bold"/>
                <a:ea typeface="Arimo Bold"/>
                <a:cs typeface="Arimo Bold"/>
                <a:sym typeface="Arimo Bold"/>
              </a:rPr>
              <a:t>Economy:</a:t>
            </a:r>
            <a:r>
              <a:rPr lang="en-US" sz="2992">
                <a:solidFill>
                  <a:srgbClr val="28211E"/>
                </a:solidFill>
                <a:latin typeface="Arimo"/>
                <a:ea typeface="Arimo"/>
                <a:cs typeface="Arimo"/>
                <a:sym typeface="Arimo"/>
              </a:rPr>
              <a:t> Inflation, interest rates, &amp; growth</a:t>
            </a:r>
          </a:p>
          <a:p>
            <a:pPr algn="l" marL="646175" indent="-323087" lvl="1">
              <a:lnSpc>
                <a:spcPts val="3890"/>
              </a:lnSpc>
              <a:buFont typeface="Arial"/>
              <a:buChar char="•"/>
            </a:pPr>
            <a:r>
              <a:rPr lang="en-US" b="true" sz="2992">
                <a:solidFill>
                  <a:srgbClr val="28211E"/>
                </a:solidFill>
                <a:latin typeface="Arimo Bold"/>
                <a:ea typeface="Arimo Bold"/>
                <a:cs typeface="Arimo Bold"/>
                <a:sym typeface="Arimo Bold"/>
              </a:rPr>
              <a:t>Government:</a:t>
            </a:r>
            <a:r>
              <a:rPr lang="en-US" sz="2992">
                <a:solidFill>
                  <a:srgbClr val="28211E"/>
                </a:solidFill>
                <a:latin typeface="Arimo"/>
                <a:ea typeface="Arimo"/>
                <a:cs typeface="Arimo"/>
                <a:sym typeface="Arimo"/>
              </a:rPr>
              <a:t> Laws, policies, &amp; taxes</a:t>
            </a:r>
          </a:p>
          <a:p>
            <a:pPr algn="l" marL="646175" indent="-323087" lvl="1">
              <a:lnSpc>
                <a:spcPts val="3890"/>
              </a:lnSpc>
              <a:buFont typeface="Arial"/>
              <a:buChar char="•"/>
            </a:pPr>
            <a:r>
              <a:rPr lang="en-US" b="true" sz="2992">
                <a:solidFill>
                  <a:srgbClr val="28211E"/>
                </a:solidFill>
                <a:latin typeface="Arimo Bold"/>
                <a:ea typeface="Arimo Bold"/>
                <a:cs typeface="Arimo Bold"/>
                <a:sym typeface="Arimo Bold"/>
              </a:rPr>
              <a:t>Customer Needs:</a:t>
            </a:r>
            <a:r>
              <a:rPr lang="en-US" sz="2992">
                <a:solidFill>
                  <a:srgbClr val="28211E"/>
                </a:solidFill>
                <a:latin typeface="Arimo"/>
                <a:ea typeface="Arimo"/>
                <a:cs typeface="Arimo"/>
                <a:sym typeface="Arimo"/>
              </a:rPr>
              <a:t> Changing demands &amp; trends</a:t>
            </a:r>
          </a:p>
        </p:txBody>
      </p:sp>
      <p:sp>
        <p:nvSpPr>
          <p:cNvPr name="TextBox 15" id="15"/>
          <p:cNvSpPr txBox="true"/>
          <p:nvPr/>
        </p:nvSpPr>
        <p:spPr>
          <a:xfrm rot="0">
            <a:off x="15849127" y="105995"/>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crueta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Benefits of Strategy</a:t>
            </a:r>
          </a:p>
        </p:txBody>
      </p:sp>
      <p:sp>
        <p:nvSpPr>
          <p:cNvPr name="Freeform 3" id="3"/>
          <p:cNvSpPr/>
          <p:nvPr/>
        </p:nvSpPr>
        <p:spPr>
          <a:xfrm flipH="false" flipV="false" rot="0">
            <a:off x="2169345" y="312531"/>
            <a:ext cx="14362757" cy="9869020"/>
          </a:xfrm>
          <a:custGeom>
            <a:avLst/>
            <a:gdLst/>
            <a:ahLst/>
            <a:cxnLst/>
            <a:rect r="r" b="b" t="t" l="l"/>
            <a:pathLst>
              <a:path h="9869020" w="14362757">
                <a:moveTo>
                  <a:pt x="0" y="0"/>
                </a:moveTo>
                <a:lnTo>
                  <a:pt x="14362757" y="0"/>
                </a:lnTo>
                <a:lnTo>
                  <a:pt x="14362757"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926123" cy="8481596"/>
            <a:chOff x="0" y="0"/>
            <a:chExt cx="2350913" cy="2233836"/>
          </a:xfrm>
        </p:grpSpPr>
        <p:sp>
          <p:nvSpPr>
            <p:cNvPr name="Freeform 8" id="8"/>
            <p:cNvSpPr/>
            <p:nvPr/>
          </p:nvSpPr>
          <p:spPr>
            <a:xfrm flipH="false" flipV="false" rot="0">
              <a:off x="0" y="0"/>
              <a:ext cx="2350913" cy="2233836"/>
            </a:xfrm>
            <a:custGeom>
              <a:avLst/>
              <a:gdLst/>
              <a:ahLst/>
              <a:cxnLst/>
              <a:rect r="r" b="b" t="t" l="l"/>
              <a:pathLst>
                <a:path h="2233836" w="2350913">
                  <a:moveTo>
                    <a:pt x="44234" y="0"/>
                  </a:moveTo>
                  <a:lnTo>
                    <a:pt x="2306679" y="0"/>
                  </a:lnTo>
                  <a:cubicBezTo>
                    <a:pt x="2331109" y="0"/>
                    <a:pt x="2350913" y="19804"/>
                    <a:pt x="2350913" y="44234"/>
                  </a:cubicBezTo>
                  <a:lnTo>
                    <a:pt x="2350913" y="2189602"/>
                  </a:lnTo>
                  <a:cubicBezTo>
                    <a:pt x="2350913" y="2214032"/>
                    <a:pt x="2331109" y="2233836"/>
                    <a:pt x="2306679" y="2233836"/>
                  </a:cubicBezTo>
                  <a:lnTo>
                    <a:pt x="44234" y="2233836"/>
                  </a:lnTo>
                  <a:cubicBezTo>
                    <a:pt x="32502" y="2233836"/>
                    <a:pt x="21251" y="2229176"/>
                    <a:pt x="12956" y="2220880"/>
                  </a:cubicBezTo>
                  <a:cubicBezTo>
                    <a:pt x="4660" y="2212585"/>
                    <a:pt x="0" y="2201334"/>
                    <a:pt x="0" y="2189602"/>
                  </a:cubicBezTo>
                  <a:lnTo>
                    <a:pt x="0" y="44234"/>
                  </a:lnTo>
                  <a:cubicBezTo>
                    <a:pt x="0" y="32502"/>
                    <a:pt x="4660" y="21251"/>
                    <a:pt x="12956" y="12956"/>
                  </a:cubicBezTo>
                  <a:cubicBezTo>
                    <a:pt x="21251" y="4660"/>
                    <a:pt x="32502" y="0"/>
                    <a:pt x="44234" y="0"/>
                  </a:cubicBezTo>
                  <a:close/>
                </a:path>
              </a:pathLst>
            </a:custGeom>
            <a:solidFill>
              <a:srgbClr val="FFFFFF"/>
            </a:solidFill>
          </p:spPr>
        </p:sp>
        <p:sp>
          <p:nvSpPr>
            <p:cNvPr name="TextBox 9" id="9"/>
            <p:cNvSpPr txBox="true"/>
            <p:nvPr/>
          </p:nvSpPr>
          <p:spPr>
            <a:xfrm>
              <a:off x="0" y="-19050"/>
              <a:ext cx="2350913" cy="2252886"/>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794707" y="2036686"/>
            <a:ext cx="8349293" cy="11537006"/>
          </a:xfrm>
          <a:prstGeom prst="rect">
            <a:avLst/>
          </a:prstGeom>
        </p:spPr>
        <p:txBody>
          <a:bodyPr anchor="t" rtlCol="false" tIns="0" lIns="0" bIns="0" rIns="0">
            <a:spAutoFit/>
          </a:bodyPr>
          <a:lstStyle/>
          <a:p>
            <a:pPr algn="l">
              <a:lnSpc>
                <a:spcPts val="4931"/>
              </a:lnSpc>
            </a:pPr>
            <a:r>
              <a:rPr lang="en-US" sz="3793" b="true">
                <a:solidFill>
                  <a:srgbClr val="282421"/>
                </a:solidFill>
                <a:latin typeface="Arimo Bold"/>
                <a:ea typeface="Arimo Bold"/>
                <a:cs typeface="Arimo Bold"/>
                <a:sym typeface="Arimo Bold"/>
              </a:rPr>
              <a:t>Strategic Advantages for Businesses</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En</a:t>
            </a:r>
            <a:r>
              <a:rPr lang="en-US" b="true" sz="3293">
                <a:solidFill>
                  <a:srgbClr val="282421"/>
                </a:solidFill>
                <a:latin typeface="Arimo Bold"/>
                <a:ea typeface="Arimo Bold"/>
                <a:cs typeface="Arimo Bold"/>
                <a:sym typeface="Arimo Bold"/>
              </a:rPr>
              <a:t>hanced Decision-Making:</a:t>
            </a:r>
            <a:r>
              <a:rPr lang="en-US" sz="3293">
                <a:solidFill>
                  <a:srgbClr val="282421"/>
                </a:solidFill>
                <a:latin typeface="Arimo"/>
                <a:ea typeface="Arimo"/>
                <a:cs typeface="Arimo"/>
                <a:sym typeface="Arimo"/>
              </a:rPr>
              <a:t> Eliminates guesswork and aligns team actions.</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Improved Operational Efficiency:</a:t>
            </a:r>
            <a:r>
              <a:rPr lang="en-US" sz="3293">
                <a:solidFill>
                  <a:srgbClr val="282421"/>
                </a:solidFill>
                <a:latin typeface="Arimo"/>
                <a:ea typeface="Arimo"/>
                <a:cs typeface="Arimo"/>
                <a:sym typeface="Arimo"/>
              </a:rPr>
              <a:t> </a:t>
            </a:r>
            <a:r>
              <a:rPr lang="en-US" sz="3293">
                <a:solidFill>
                  <a:srgbClr val="282421"/>
                </a:solidFill>
                <a:latin typeface="Arimo"/>
                <a:ea typeface="Arimo"/>
                <a:cs typeface="Arimo"/>
                <a:sym typeface="Arimo"/>
              </a:rPr>
              <a:t>Minimizes wasted time, money, and effort.</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Strong Market Position:</a:t>
            </a:r>
            <a:r>
              <a:rPr lang="en-US" sz="3293">
                <a:solidFill>
                  <a:srgbClr val="282421"/>
                </a:solidFill>
                <a:latin typeface="Arimo"/>
                <a:ea typeface="Arimo"/>
                <a:cs typeface="Arimo"/>
                <a:sym typeface="Arimo"/>
              </a:rPr>
              <a:t> Build-up of a distinct competitive advantage.</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Effective Risk Management:</a:t>
            </a:r>
            <a:r>
              <a:rPr lang="en-US" sz="3293">
                <a:solidFill>
                  <a:srgbClr val="282421"/>
                </a:solidFill>
                <a:latin typeface="Arimo"/>
                <a:ea typeface="Arimo"/>
                <a:cs typeface="Arimo"/>
                <a:sym typeface="Arimo"/>
              </a:rPr>
              <a:t> Identifies potential threats before they happen.</a:t>
            </a:r>
          </a:p>
          <a:p>
            <a:pPr algn="l" marL="711105" indent="-355552" lvl="1">
              <a:lnSpc>
                <a:spcPts val="4281"/>
              </a:lnSpc>
              <a:buFont typeface="Arial"/>
              <a:buChar char="•"/>
            </a:pPr>
            <a:r>
              <a:rPr lang="en-US" b="true" sz="3293">
                <a:solidFill>
                  <a:srgbClr val="282421"/>
                </a:solidFill>
                <a:latin typeface="Arimo Bold"/>
                <a:ea typeface="Arimo Bold"/>
                <a:cs typeface="Arimo Bold"/>
                <a:sym typeface="Arimo Bold"/>
              </a:rPr>
              <a:t>Sustainable Growth:</a:t>
            </a:r>
            <a:r>
              <a:rPr lang="en-US" sz="3293">
                <a:solidFill>
                  <a:srgbClr val="282421"/>
                </a:solidFill>
                <a:latin typeface="Arimo"/>
                <a:ea typeface="Arimo"/>
                <a:cs typeface="Arimo"/>
                <a:sym typeface="Arimo"/>
              </a:rPr>
              <a:t> Secures long-term stability and continuous revenue.</a:t>
            </a:r>
          </a:p>
          <a:p>
            <a:pPr algn="l">
              <a:lnSpc>
                <a:spcPts val="4411"/>
              </a:lnSpc>
            </a:pPr>
          </a:p>
          <a:p>
            <a:pPr algn="l">
              <a:lnSpc>
                <a:spcPts val="3761"/>
              </a:lnSpc>
            </a:pPr>
          </a:p>
          <a:p>
            <a:pPr algn="l">
              <a:lnSpc>
                <a:spcPts val="4281"/>
              </a:lnSpc>
            </a:pPr>
          </a:p>
          <a:p>
            <a:pPr algn="l">
              <a:lnSpc>
                <a:spcPts val="4281"/>
              </a:lnSpc>
            </a:pPr>
          </a:p>
          <a:p>
            <a:pPr algn="l">
              <a:lnSpc>
                <a:spcPts val="4281"/>
              </a:lnSpc>
            </a:pPr>
          </a:p>
          <a:p>
            <a:pPr algn="l">
              <a:lnSpc>
                <a:spcPts val="4361"/>
              </a:lnSpc>
            </a:pPr>
          </a:p>
          <a:p>
            <a:pPr algn="l">
              <a:lnSpc>
                <a:spcPts val="4361"/>
              </a:lnSpc>
            </a:pPr>
          </a:p>
          <a:p>
            <a:pPr algn="l">
              <a:lnSpc>
                <a:spcPts val="4361"/>
              </a:lnSpc>
            </a:pPr>
          </a:p>
        </p:txBody>
      </p:sp>
      <p:sp>
        <p:nvSpPr>
          <p:cNvPr name="Freeform 11" id="11"/>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1313753" y="173663"/>
            <a:ext cx="5945547" cy="9974469"/>
          </a:xfrm>
          <a:custGeom>
            <a:avLst/>
            <a:gdLst/>
            <a:ahLst/>
            <a:cxnLst/>
            <a:rect r="r" b="b" t="t" l="l"/>
            <a:pathLst>
              <a:path h="9974469" w="5945547">
                <a:moveTo>
                  <a:pt x="0" y="0"/>
                </a:moveTo>
                <a:lnTo>
                  <a:pt x="5945547" y="0"/>
                </a:lnTo>
                <a:lnTo>
                  <a:pt x="5945547" y="9974469"/>
                </a:lnTo>
                <a:lnTo>
                  <a:pt x="0" y="9974469"/>
                </a:lnTo>
                <a:lnTo>
                  <a:pt x="0" y="0"/>
                </a:lnTo>
                <a:close/>
              </a:path>
            </a:pathLst>
          </a:custGeom>
          <a:blipFill>
            <a:blip r:embed="rId9"/>
            <a:stretch>
              <a:fillRect l="-3310" t="-10715" r="-443" b="0"/>
            </a:stretch>
          </a:blipFill>
        </p:spPr>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Strategy in Everyday Life</a:t>
            </a:r>
          </a:p>
        </p:txBody>
      </p:sp>
      <p:sp>
        <p:nvSpPr>
          <p:cNvPr name="Freeform 3" id="3"/>
          <p:cNvSpPr/>
          <p:nvPr/>
        </p:nvSpPr>
        <p:spPr>
          <a:xfrm flipH="false" flipV="false" rot="0">
            <a:off x="2169345" y="312531"/>
            <a:ext cx="14362757" cy="9869020"/>
          </a:xfrm>
          <a:custGeom>
            <a:avLst/>
            <a:gdLst/>
            <a:ahLst/>
            <a:cxnLst/>
            <a:rect r="r" b="b" t="t" l="l"/>
            <a:pathLst>
              <a:path h="9869020" w="14362757">
                <a:moveTo>
                  <a:pt x="0" y="0"/>
                </a:moveTo>
                <a:lnTo>
                  <a:pt x="14362757" y="0"/>
                </a:lnTo>
                <a:lnTo>
                  <a:pt x="14362757"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10961342" y="91944"/>
            <a:ext cx="6595912" cy="10137906"/>
            <a:chOff x="0" y="0"/>
            <a:chExt cx="1857493" cy="2854964"/>
          </a:xfrm>
        </p:grpSpPr>
        <p:sp>
          <p:nvSpPr>
            <p:cNvPr name="Freeform 5" id="5"/>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6" id="6"/>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424601" y="1735767"/>
            <a:ext cx="8926123" cy="8481596"/>
            <a:chOff x="0" y="0"/>
            <a:chExt cx="2350913" cy="2233836"/>
          </a:xfrm>
        </p:grpSpPr>
        <p:sp>
          <p:nvSpPr>
            <p:cNvPr name="Freeform 8" id="8"/>
            <p:cNvSpPr/>
            <p:nvPr/>
          </p:nvSpPr>
          <p:spPr>
            <a:xfrm flipH="false" flipV="false" rot="0">
              <a:off x="0" y="0"/>
              <a:ext cx="2350913" cy="2233836"/>
            </a:xfrm>
            <a:custGeom>
              <a:avLst/>
              <a:gdLst/>
              <a:ahLst/>
              <a:cxnLst/>
              <a:rect r="r" b="b" t="t" l="l"/>
              <a:pathLst>
                <a:path h="2233836" w="2350913">
                  <a:moveTo>
                    <a:pt x="44234" y="0"/>
                  </a:moveTo>
                  <a:lnTo>
                    <a:pt x="2306679" y="0"/>
                  </a:lnTo>
                  <a:cubicBezTo>
                    <a:pt x="2331109" y="0"/>
                    <a:pt x="2350913" y="19804"/>
                    <a:pt x="2350913" y="44234"/>
                  </a:cubicBezTo>
                  <a:lnTo>
                    <a:pt x="2350913" y="2189602"/>
                  </a:lnTo>
                  <a:cubicBezTo>
                    <a:pt x="2350913" y="2214032"/>
                    <a:pt x="2331109" y="2233836"/>
                    <a:pt x="2306679" y="2233836"/>
                  </a:cubicBezTo>
                  <a:lnTo>
                    <a:pt x="44234" y="2233836"/>
                  </a:lnTo>
                  <a:cubicBezTo>
                    <a:pt x="32502" y="2233836"/>
                    <a:pt x="21251" y="2229176"/>
                    <a:pt x="12956" y="2220880"/>
                  </a:cubicBezTo>
                  <a:cubicBezTo>
                    <a:pt x="4660" y="2212585"/>
                    <a:pt x="0" y="2201334"/>
                    <a:pt x="0" y="2189602"/>
                  </a:cubicBezTo>
                  <a:lnTo>
                    <a:pt x="0" y="44234"/>
                  </a:lnTo>
                  <a:cubicBezTo>
                    <a:pt x="0" y="32502"/>
                    <a:pt x="4660" y="21251"/>
                    <a:pt x="12956" y="12956"/>
                  </a:cubicBezTo>
                  <a:cubicBezTo>
                    <a:pt x="21251" y="4660"/>
                    <a:pt x="32502" y="0"/>
                    <a:pt x="44234" y="0"/>
                  </a:cubicBezTo>
                  <a:close/>
                </a:path>
              </a:pathLst>
            </a:custGeom>
            <a:solidFill>
              <a:srgbClr val="FFFFFF"/>
            </a:solidFill>
          </p:spPr>
        </p:sp>
        <p:sp>
          <p:nvSpPr>
            <p:cNvPr name="TextBox 9" id="9"/>
            <p:cNvSpPr txBox="true"/>
            <p:nvPr/>
          </p:nvSpPr>
          <p:spPr>
            <a:xfrm>
              <a:off x="0" y="-19050"/>
              <a:ext cx="2350913" cy="2252886"/>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794707" y="2036686"/>
            <a:ext cx="8349293" cy="11336346"/>
          </a:xfrm>
          <a:prstGeom prst="rect">
            <a:avLst/>
          </a:prstGeom>
        </p:spPr>
        <p:txBody>
          <a:bodyPr anchor="t" rtlCol="false" tIns="0" lIns="0" bIns="0" rIns="0">
            <a:spAutoFit/>
          </a:bodyPr>
          <a:lstStyle/>
          <a:p>
            <a:pPr algn="l">
              <a:lnSpc>
                <a:spcPts val="5061"/>
              </a:lnSpc>
            </a:pPr>
            <a:r>
              <a:rPr lang="en-US" sz="3893" b="true">
                <a:solidFill>
                  <a:srgbClr val="282421"/>
                </a:solidFill>
                <a:latin typeface="Arimo Bold"/>
                <a:ea typeface="Arimo Bold"/>
                <a:cs typeface="Arimo Bold"/>
                <a:sym typeface="Arimo Bold"/>
              </a:rPr>
              <a:t>Applying Strategic Thinking Personally</a:t>
            </a:r>
          </a:p>
          <a:p>
            <a:pPr algn="l" marL="689516" indent="-344758" lvl="1">
              <a:lnSpc>
                <a:spcPts val="4151"/>
              </a:lnSpc>
              <a:buFont typeface="Arial"/>
              <a:buChar char="•"/>
            </a:pPr>
            <a:r>
              <a:rPr lang="en-US" b="true" sz="3193">
                <a:solidFill>
                  <a:srgbClr val="282421"/>
                </a:solidFill>
                <a:latin typeface="Arimo Bold"/>
                <a:ea typeface="Arimo Bold"/>
                <a:cs typeface="Arimo Bold"/>
                <a:sym typeface="Arimo Bold"/>
              </a:rPr>
              <a:t>Setting Personal Goals:</a:t>
            </a:r>
            <a:r>
              <a:rPr lang="en-US" sz="3193">
                <a:solidFill>
                  <a:srgbClr val="282421"/>
                </a:solidFill>
                <a:latin typeface="Arimo"/>
                <a:ea typeface="Arimo"/>
                <a:cs typeface="Arimo"/>
                <a:sym typeface="Arimo"/>
              </a:rPr>
              <a:t> Defining clear career, education, and lifestyle targets.</a:t>
            </a:r>
          </a:p>
          <a:p>
            <a:pPr algn="l" marL="689516" indent="-344758" lvl="1">
              <a:lnSpc>
                <a:spcPts val="4151"/>
              </a:lnSpc>
              <a:buFont typeface="Arial"/>
              <a:buChar char="•"/>
            </a:pPr>
            <a:r>
              <a:rPr lang="en-US" b="true" sz="3193">
                <a:solidFill>
                  <a:srgbClr val="282421"/>
                </a:solidFill>
                <a:latin typeface="Arimo Bold"/>
                <a:ea typeface="Arimo Bold"/>
                <a:cs typeface="Arimo Bold"/>
                <a:sym typeface="Arimo Bold"/>
              </a:rPr>
              <a:t>Career &amp; Ac</a:t>
            </a:r>
            <a:r>
              <a:rPr lang="en-US" b="true" sz="3193">
                <a:solidFill>
                  <a:srgbClr val="282421"/>
                </a:solidFill>
                <a:latin typeface="Arimo Bold"/>
                <a:ea typeface="Arimo Bold"/>
                <a:cs typeface="Arimo Bold"/>
                <a:sym typeface="Arimo Bold"/>
              </a:rPr>
              <a:t>ademic Planning:</a:t>
            </a:r>
            <a:r>
              <a:rPr lang="en-US" sz="3193">
                <a:solidFill>
                  <a:srgbClr val="282421"/>
                </a:solidFill>
                <a:latin typeface="Arimo"/>
                <a:ea typeface="Arimo"/>
                <a:cs typeface="Arimo"/>
                <a:sym typeface="Arimo"/>
              </a:rPr>
              <a:t> Choosing courses and skills needed for professional growth.</a:t>
            </a:r>
          </a:p>
          <a:p>
            <a:pPr algn="l" marL="689516" indent="-344758" lvl="1">
              <a:lnSpc>
                <a:spcPts val="4151"/>
              </a:lnSpc>
              <a:buFont typeface="Arial"/>
              <a:buChar char="•"/>
            </a:pPr>
            <a:r>
              <a:rPr lang="en-US" b="true" sz="3193">
                <a:solidFill>
                  <a:srgbClr val="282421"/>
                </a:solidFill>
                <a:latin typeface="Arimo Bold"/>
                <a:ea typeface="Arimo Bold"/>
                <a:cs typeface="Arimo Bold"/>
                <a:sym typeface="Arimo Bold"/>
              </a:rPr>
              <a:t>Fina</a:t>
            </a:r>
            <a:r>
              <a:rPr lang="en-US" b="true" sz="3193">
                <a:solidFill>
                  <a:srgbClr val="282421"/>
                </a:solidFill>
                <a:latin typeface="Arimo Bold"/>
                <a:ea typeface="Arimo Bold"/>
                <a:cs typeface="Arimo Bold"/>
                <a:sym typeface="Arimo Bold"/>
              </a:rPr>
              <a:t>ncial Management:</a:t>
            </a:r>
            <a:r>
              <a:rPr lang="en-US" sz="3193">
                <a:solidFill>
                  <a:srgbClr val="282421"/>
                </a:solidFill>
                <a:latin typeface="Arimo"/>
                <a:ea typeface="Arimo"/>
                <a:cs typeface="Arimo"/>
                <a:sym typeface="Arimo"/>
              </a:rPr>
              <a:t> Budgeting, investing, and allocating money wisely.</a:t>
            </a:r>
          </a:p>
          <a:p>
            <a:pPr algn="l" marL="689516" indent="-344758" lvl="1">
              <a:lnSpc>
                <a:spcPts val="4151"/>
              </a:lnSpc>
              <a:buFont typeface="Arial"/>
              <a:buChar char="•"/>
            </a:pPr>
            <a:r>
              <a:rPr lang="en-US" b="true" sz="3193">
                <a:solidFill>
                  <a:srgbClr val="282421"/>
                </a:solidFill>
                <a:latin typeface="Arimo Bold"/>
                <a:ea typeface="Arimo Bold"/>
                <a:cs typeface="Arimo Bold"/>
                <a:sym typeface="Arimo Bold"/>
              </a:rPr>
              <a:t>Problem Solving:</a:t>
            </a:r>
            <a:r>
              <a:rPr lang="en-US" sz="3193">
                <a:solidFill>
                  <a:srgbClr val="282421"/>
                </a:solidFill>
                <a:latin typeface="Arimo"/>
                <a:ea typeface="Arimo"/>
                <a:cs typeface="Arimo"/>
                <a:sym typeface="Arimo"/>
              </a:rPr>
              <a:t> Analyzing daily challenges carefully before taking action.</a:t>
            </a:r>
          </a:p>
          <a:p>
            <a:pPr algn="l" marL="689516" indent="-344758" lvl="1">
              <a:lnSpc>
                <a:spcPts val="4151"/>
              </a:lnSpc>
              <a:buFont typeface="Arial"/>
              <a:buChar char="•"/>
            </a:pPr>
            <a:r>
              <a:rPr lang="en-US" b="true" sz="3193">
                <a:solidFill>
                  <a:srgbClr val="282421"/>
                </a:solidFill>
                <a:latin typeface="Arimo Bold"/>
                <a:ea typeface="Arimo Bold"/>
                <a:cs typeface="Arimo Bold"/>
                <a:sym typeface="Arimo Bold"/>
              </a:rPr>
              <a:t>Time Management:</a:t>
            </a:r>
            <a:r>
              <a:rPr lang="en-US" sz="3193">
                <a:solidFill>
                  <a:srgbClr val="282421"/>
                </a:solidFill>
                <a:latin typeface="Arimo"/>
                <a:ea typeface="Arimo"/>
                <a:cs typeface="Arimo"/>
                <a:sym typeface="Arimo"/>
              </a:rPr>
              <a:t> Prioritizing daily activities to maximize personal productivity.</a:t>
            </a:r>
          </a:p>
          <a:p>
            <a:pPr algn="l">
              <a:lnSpc>
                <a:spcPts val="3761"/>
              </a:lnSpc>
            </a:pPr>
          </a:p>
          <a:p>
            <a:pPr algn="l">
              <a:lnSpc>
                <a:spcPts val="4281"/>
              </a:lnSpc>
            </a:pPr>
          </a:p>
          <a:p>
            <a:pPr algn="l">
              <a:lnSpc>
                <a:spcPts val="4281"/>
              </a:lnSpc>
            </a:pPr>
          </a:p>
          <a:p>
            <a:pPr algn="l">
              <a:lnSpc>
                <a:spcPts val="4281"/>
              </a:lnSpc>
            </a:pPr>
          </a:p>
          <a:p>
            <a:pPr algn="l">
              <a:lnSpc>
                <a:spcPts val="4361"/>
              </a:lnSpc>
            </a:pPr>
          </a:p>
          <a:p>
            <a:pPr algn="l">
              <a:lnSpc>
                <a:spcPts val="4361"/>
              </a:lnSpc>
            </a:pPr>
          </a:p>
          <a:p>
            <a:pPr algn="l">
              <a:lnSpc>
                <a:spcPts val="4361"/>
              </a:lnSpc>
            </a:pPr>
          </a:p>
        </p:txBody>
      </p:sp>
      <p:sp>
        <p:nvSpPr>
          <p:cNvPr name="Freeform 11" id="11"/>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1291835" y="518197"/>
            <a:ext cx="5967465" cy="9250606"/>
          </a:xfrm>
          <a:custGeom>
            <a:avLst/>
            <a:gdLst/>
            <a:ahLst/>
            <a:cxnLst/>
            <a:rect r="r" b="b" t="t" l="l"/>
            <a:pathLst>
              <a:path h="9250606" w="5967465">
                <a:moveTo>
                  <a:pt x="0" y="0"/>
                </a:moveTo>
                <a:lnTo>
                  <a:pt x="5967465" y="0"/>
                </a:lnTo>
                <a:lnTo>
                  <a:pt x="5967465" y="9250606"/>
                </a:lnTo>
                <a:lnTo>
                  <a:pt x="0" y="9250606"/>
                </a:lnTo>
                <a:lnTo>
                  <a:pt x="0" y="0"/>
                </a:lnTo>
                <a:close/>
              </a:path>
            </a:pathLst>
          </a:custGeom>
          <a:blipFill>
            <a:blip r:embed="rId9"/>
            <a:stretch>
              <a:fillRect l="0" t="-15484" r="0" b="0"/>
            </a:stretch>
          </a:blipFill>
        </p:spPr>
      </p:sp>
      <p:sp>
        <p:nvSpPr>
          <p:cNvPr name="TextBox 17" id="17"/>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Crueta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FD7"/>
        </a:solidFill>
      </p:bgPr>
    </p:bg>
    <p:spTree>
      <p:nvGrpSpPr>
        <p:cNvPr id="1" name=""/>
        <p:cNvGrpSpPr/>
        <p:nvPr/>
      </p:nvGrpSpPr>
      <p:grpSpPr>
        <a:xfrm>
          <a:off x="0" y="0"/>
          <a:ext cx="0" cy="0"/>
          <a:chOff x="0" y="0"/>
          <a:chExt cx="0" cy="0"/>
        </a:xfrm>
      </p:grpSpPr>
      <p:sp>
        <p:nvSpPr>
          <p:cNvPr name="Freeform 2" id="2"/>
          <p:cNvSpPr/>
          <p:nvPr/>
        </p:nvSpPr>
        <p:spPr>
          <a:xfrm flipH="false" flipV="false" rot="0">
            <a:off x="0" y="-127224"/>
            <a:ext cx="18288000" cy="12214252"/>
          </a:xfrm>
          <a:custGeom>
            <a:avLst/>
            <a:gdLst/>
            <a:ahLst/>
            <a:cxnLst/>
            <a:rect r="r" b="b" t="t" l="l"/>
            <a:pathLst>
              <a:path h="12214252" w="18288000">
                <a:moveTo>
                  <a:pt x="0" y="0"/>
                </a:moveTo>
                <a:lnTo>
                  <a:pt x="18288000" y="0"/>
                </a:lnTo>
                <a:lnTo>
                  <a:pt x="18288000" y="12214251"/>
                </a:lnTo>
                <a:lnTo>
                  <a:pt x="0" y="12214251"/>
                </a:lnTo>
                <a:lnTo>
                  <a:pt x="0" y="0"/>
                </a:lnTo>
                <a:close/>
              </a:path>
            </a:pathLst>
          </a:custGeom>
          <a:blipFill>
            <a:blip r:embed="rId2">
              <a:alphaModFix amt="9999"/>
            </a:blip>
            <a:stretch>
              <a:fillRect l="-6776" t="0" r="-4609" b="0"/>
            </a:stretch>
          </a:blipFill>
        </p:spPr>
      </p:sp>
      <p:grpSp>
        <p:nvGrpSpPr>
          <p:cNvPr name="Group 3" id="3"/>
          <p:cNvGrpSpPr/>
          <p:nvPr/>
        </p:nvGrpSpPr>
        <p:grpSpPr>
          <a:xfrm rot="0">
            <a:off x="-201702" y="8504942"/>
            <a:ext cx="19879210" cy="4543259"/>
            <a:chOff x="0" y="0"/>
            <a:chExt cx="5235677" cy="1196579"/>
          </a:xfrm>
        </p:grpSpPr>
        <p:sp>
          <p:nvSpPr>
            <p:cNvPr name="Freeform 4" id="4"/>
            <p:cNvSpPr/>
            <p:nvPr/>
          </p:nvSpPr>
          <p:spPr>
            <a:xfrm flipH="false" flipV="false" rot="0">
              <a:off x="0" y="0"/>
              <a:ext cx="5235677" cy="1196579"/>
            </a:xfrm>
            <a:custGeom>
              <a:avLst/>
              <a:gdLst/>
              <a:ahLst/>
              <a:cxnLst/>
              <a:rect r="r" b="b" t="t" l="l"/>
              <a:pathLst>
                <a:path h="1196579" w="5235677">
                  <a:moveTo>
                    <a:pt x="0" y="0"/>
                  </a:moveTo>
                  <a:lnTo>
                    <a:pt x="5235677" y="0"/>
                  </a:lnTo>
                  <a:lnTo>
                    <a:pt x="5235677" y="1196579"/>
                  </a:lnTo>
                  <a:lnTo>
                    <a:pt x="0" y="1196579"/>
                  </a:lnTo>
                  <a:close/>
                </a:path>
              </a:pathLst>
            </a:custGeom>
            <a:solidFill>
              <a:srgbClr val="563721"/>
            </a:solidFill>
          </p:spPr>
        </p:sp>
        <p:sp>
          <p:nvSpPr>
            <p:cNvPr name="TextBox 5" id="5"/>
            <p:cNvSpPr txBox="true"/>
            <p:nvPr/>
          </p:nvSpPr>
          <p:spPr>
            <a:xfrm>
              <a:off x="0" y="-19050"/>
              <a:ext cx="5235677" cy="1215629"/>
            </a:xfrm>
            <a:prstGeom prst="rect">
              <a:avLst/>
            </a:prstGeom>
          </p:spPr>
          <p:txBody>
            <a:bodyPr anchor="ctr" rtlCol="false" tIns="50800" lIns="50800" bIns="50800" rIns="50800"/>
            <a:lstStyle/>
            <a:p>
              <a:pPr algn="ctr">
                <a:lnSpc>
                  <a:spcPts val="2340"/>
                </a:lnSpc>
              </a:pPr>
            </a:p>
          </p:txBody>
        </p:sp>
      </p:grpSp>
      <p:grpSp>
        <p:nvGrpSpPr>
          <p:cNvPr name="Group 6" id="6"/>
          <p:cNvGrpSpPr/>
          <p:nvPr/>
        </p:nvGrpSpPr>
        <p:grpSpPr>
          <a:xfrm rot="0">
            <a:off x="4288034" y="2346950"/>
            <a:ext cx="9711932" cy="6330280"/>
            <a:chOff x="0" y="0"/>
            <a:chExt cx="12949243" cy="8440374"/>
          </a:xfrm>
        </p:grpSpPr>
        <p:sp>
          <p:nvSpPr>
            <p:cNvPr name="Freeform 7" id="7"/>
            <p:cNvSpPr/>
            <p:nvPr/>
          </p:nvSpPr>
          <p:spPr>
            <a:xfrm flipH="false" flipV="false" rot="0">
              <a:off x="0" y="0"/>
              <a:ext cx="12949243" cy="5791843"/>
            </a:xfrm>
            <a:custGeom>
              <a:avLst/>
              <a:gdLst/>
              <a:ahLst/>
              <a:cxnLst/>
              <a:rect r="r" b="b" t="t" l="l"/>
              <a:pathLst>
                <a:path h="5791843" w="12949243">
                  <a:moveTo>
                    <a:pt x="0" y="0"/>
                  </a:moveTo>
                  <a:lnTo>
                    <a:pt x="12949243" y="0"/>
                  </a:lnTo>
                  <a:lnTo>
                    <a:pt x="12949243" y="5791843"/>
                  </a:lnTo>
                  <a:lnTo>
                    <a:pt x="0" y="57918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0" y="2648531"/>
              <a:ext cx="12949243" cy="5791843"/>
            </a:xfrm>
            <a:custGeom>
              <a:avLst/>
              <a:gdLst/>
              <a:ahLst/>
              <a:cxnLst/>
              <a:rect r="r" b="b" t="t" l="l"/>
              <a:pathLst>
                <a:path h="5791843" w="12949243">
                  <a:moveTo>
                    <a:pt x="0" y="0"/>
                  </a:moveTo>
                  <a:lnTo>
                    <a:pt x="12949243" y="0"/>
                  </a:lnTo>
                  <a:lnTo>
                    <a:pt x="12949243" y="5791843"/>
                  </a:lnTo>
                  <a:lnTo>
                    <a:pt x="0" y="57918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9" id="9"/>
          <p:cNvSpPr/>
          <p:nvPr/>
        </p:nvSpPr>
        <p:spPr>
          <a:xfrm flipH="false" flipV="false" rot="3273250">
            <a:off x="4082084" y="7555477"/>
            <a:ext cx="1028874" cy="1898929"/>
          </a:xfrm>
          <a:custGeom>
            <a:avLst/>
            <a:gdLst/>
            <a:ahLst/>
            <a:cxnLst/>
            <a:rect r="r" b="b" t="t" l="l"/>
            <a:pathLst>
              <a:path h="1898929" w="1028874">
                <a:moveTo>
                  <a:pt x="0" y="0"/>
                </a:moveTo>
                <a:lnTo>
                  <a:pt x="1028875" y="0"/>
                </a:lnTo>
                <a:lnTo>
                  <a:pt x="1028875" y="1898930"/>
                </a:lnTo>
                <a:lnTo>
                  <a:pt x="0" y="1898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062272" y="2951111"/>
            <a:ext cx="6060795" cy="8081060"/>
          </a:xfrm>
          <a:custGeom>
            <a:avLst/>
            <a:gdLst/>
            <a:ahLst/>
            <a:cxnLst/>
            <a:rect r="r" b="b" t="t" l="l"/>
            <a:pathLst>
              <a:path h="8081060" w="6060795">
                <a:moveTo>
                  <a:pt x="6060795" y="0"/>
                </a:moveTo>
                <a:lnTo>
                  <a:pt x="0" y="0"/>
                </a:lnTo>
                <a:lnTo>
                  <a:pt x="0" y="8081060"/>
                </a:lnTo>
                <a:lnTo>
                  <a:pt x="6060795" y="8081060"/>
                </a:lnTo>
                <a:lnTo>
                  <a:pt x="6060795" y="0"/>
                </a:lnTo>
                <a:close/>
              </a:path>
            </a:pathLst>
          </a:custGeom>
          <a:blipFill>
            <a:blip r:embed="rId7"/>
            <a:stretch>
              <a:fillRect l="0" t="0" r="0" b="0"/>
            </a:stretch>
          </a:blipFill>
        </p:spPr>
      </p:sp>
      <p:sp>
        <p:nvSpPr>
          <p:cNvPr name="TextBox 11" id="11"/>
          <p:cNvSpPr txBox="true"/>
          <p:nvPr/>
        </p:nvSpPr>
        <p:spPr>
          <a:xfrm rot="0">
            <a:off x="4196803" y="650371"/>
            <a:ext cx="9894394" cy="1844593"/>
          </a:xfrm>
          <a:prstGeom prst="rect">
            <a:avLst/>
          </a:prstGeom>
        </p:spPr>
        <p:txBody>
          <a:bodyPr anchor="t" rtlCol="false" tIns="0" lIns="0" bIns="0" rIns="0">
            <a:spAutoFit/>
          </a:bodyPr>
          <a:lstStyle/>
          <a:p>
            <a:pPr algn="ctr">
              <a:lnSpc>
                <a:spcPts val="7194"/>
              </a:lnSpc>
            </a:pPr>
            <a:r>
              <a:rPr lang="en-US" sz="6423" spc="-192">
                <a:solidFill>
                  <a:srgbClr val="282421"/>
                </a:solidFill>
                <a:latin typeface="Lazydog 1"/>
                <a:ea typeface="Lazydog 1"/>
                <a:cs typeface="Lazydog 1"/>
                <a:sym typeface="Lazydog 1"/>
              </a:rPr>
              <a:t>Strategic Planning and Security Strategy</a:t>
            </a:r>
          </a:p>
        </p:txBody>
      </p:sp>
      <p:sp>
        <p:nvSpPr>
          <p:cNvPr name="TextBox 12" id="12"/>
          <p:cNvSpPr txBox="true"/>
          <p:nvPr/>
        </p:nvSpPr>
        <p:spPr>
          <a:xfrm rot="0">
            <a:off x="4256932" y="4010566"/>
            <a:ext cx="9774136" cy="2830759"/>
          </a:xfrm>
          <a:prstGeom prst="rect">
            <a:avLst/>
          </a:prstGeom>
        </p:spPr>
        <p:txBody>
          <a:bodyPr anchor="t" rtlCol="false" tIns="0" lIns="0" bIns="0" rIns="0">
            <a:spAutoFit/>
          </a:bodyPr>
          <a:lstStyle/>
          <a:p>
            <a:pPr algn="ctr">
              <a:lnSpc>
                <a:spcPts val="4490"/>
              </a:lnSpc>
            </a:pPr>
            <a:r>
              <a:rPr lang="en-US" sz="3742">
                <a:solidFill>
                  <a:srgbClr val="282421"/>
                </a:solidFill>
                <a:latin typeface="Sniglet"/>
                <a:ea typeface="Sniglet"/>
                <a:cs typeface="Sniglet"/>
                <a:sym typeface="Sniglet"/>
              </a:rPr>
              <a:t>"Information technology and business are becoming inextricably interwoven. I don't think anybody can talk meaningfully about one without talking about the other."— Bill Gates</a:t>
            </a:r>
          </a:p>
        </p:txBody>
      </p:sp>
      <p:sp>
        <p:nvSpPr>
          <p:cNvPr name="TextBox 13" id="13"/>
          <p:cNvSpPr txBox="true"/>
          <p:nvPr/>
        </p:nvSpPr>
        <p:spPr>
          <a:xfrm rot="0">
            <a:off x="15387532" y="9662761"/>
            <a:ext cx="3743537" cy="730063"/>
          </a:xfrm>
          <a:prstGeom prst="rect">
            <a:avLst/>
          </a:prstGeom>
        </p:spPr>
        <p:txBody>
          <a:bodyPr anchor="t" rtlCol="false" tIns="0" lIns="0" bIns="0" rIns="0">
            <a:spAutoFit/>
          </a:bodyPr>
          <a:lstStyle/>
          <a:p>
            <a:pPr algn="ctr">
              <a:lnSpc>
                <a:spcPts val="5533"/>
              </a:lnSpc>
            </a:pPr>
            <a:r>
              <a:rPr lang="en-US" sz="4940" spc="-148">
                <a:solidFill>
                  <a:srgbClr val="FFFFFF"/>
                </a:solidFill>
                <a:latin typeface="Lazydog 1"/>
                <a:ea typeface="Lazydog 1"/>
                <a:cs typeface="Lazydog 1"/>
                <a:sym typeface="Lazydog 1"/>
              </a:rPr>
              <a:t>EGO</a:t>
            </a:r>
          </a:p>
        </p:txBody>
      </p:sp>
      <p:sp>
        <p:nvSpPr>
          <p:cNvPr name="Freeform 14" id="14"/>
          <p:cNvSpPr/>
          <p:nvPr/>
        </p:nvSpPr>
        <p:spPr>
          <a:xfrm flipH="false" flipV="false" rot="0">
            <a:off x="4256932" y="2346950"/>
            <a:ext cx="869446" cy="861542"/>
          </a:xfrm>
          <a:custGeom>
            <a:avLst/>
            <a:gdLst/>
            <a:ahLst/>
            <a:cxnLst/>
            <a:rect r="r" b="b" t="t" l="l"/>
            <a:pathLst>
              <a:path h="861542" w="869446">
                <a:moveTo>
                  <a:pt x="0" y="0"/>
                </a:moveTo>
                <a:lnTo>
                  <a:pt x="869446" y="0"/>
                </a:lnTo>
                <a:lnTo>
                  <a:pt x="869446" y="861542"/>
                </a:lnTo>
                <a:lnTo>
                  <a:pt x="0" y="8615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true" rot="0">
            <a:off x="11438469" y="2494964"/>
            <a:ext cx="1252243" cy="1149787"/>
          </a:xfrm>
          <a:custGeom>
            <a:avLst/>
            <a:gdLst/>
            <a:ahLst/>
            <a:cxnLst/>
            <a:rect r="r" b="b" t="t" l="l"/>
            <a:pathLst>
              <a:path h="1149787" w="1252243">
                <a:moveTo>
                  <a:pt x="0" y="1149787"/>
                </a:moveTo>
                <a:lnTo>
                  <a:pt x="1252243" y="1149787"/>
                </a:lnTo>
                <a:lnTo>
                  <a:pt x="1252243" y="0"/>
                </a:lnTo>
                <a:lnTo>
                  <a:pt x="0" y="0"/>
                </a:lnTo>
                <a:lnTo>
                  <a:pt x="0" y="114978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sp>
        <p:nvSpPr>
          <p:cNvPr name="Freeform 2" id="2"/>
          <p:cNvSpPr/>
          <p:nvPr/>
        </p:nvSpPr>
        <p:spPr>
          <a:xfrm flipH="false" flipV="false" rot="0">
            <a:off x="-1240824" y="-410418"/>
            <a:ext cx="10621097" cy="11470785"/>
          </a:xfrm>
          <a:custGeom>
            <a:avLst/>
            <a:gdLst/>
            <a:ahLst/>
            <a:cxnLst/>
            <a:rect r="r" b="b" t="t" l="l"/>
            <a:pathLst>
              <a:path h="11470785" w="10621097">
                <a:moveTo>
                  <a:pt x="0" y="0"/>
                </a:moveTo>
                <a:lnTo>
                  <a:pt x="10621098" y="0"/>
                </a:lnTo>
                <a:lnTo>
                  <a:pt x="10621098" y="11470786"/>
                </a:lnTo>
                <a:lnTo>
                  <a:pt x="0" y="11470786"/>
                </a:lnTo>
                <a:lnTo>
                  <a:pt x="0" y="0"/>
                </a:lnTo>
                <a:close/>
              </a:path>
            </a:pathLst>
          </a:custGeom>
          <a:blipFill>
            <a:blip r:embed="rId2">
              <a:alphaModFix amt="36000"/>
            </a:blip>
            <a:stretch>
              <a:fillRect l="0" t="0" r="0" b="0"/>
            </a:stretch>
          </a:blipFill>
        </p:spPr>
      </p:sp>
      <p:sp>
        <p:nvSpPr>
          <p:cNvPr name="Freeform 3" id="3"/>
          <p:cNvSpPr/>
          <p:nvPr/>
        </p:nvSpPr>
        <p:spPr>
          <a:xfrm flipH="false" flipV="false" rot="0">
            <a:off x="10205251" y="-128408"/>
            <a:ext cx="10300451" cy="10300451"/>
          </a:xfrm>
          <a:custGeom>
            <a:avLst/>
            <a:gdLst/>
            <a:ahLst/>
            <a:cxnLst/>
            <a:rect r="r" b="b" t="t" l="l"/>
            <a:pathLst>
              <a:path h="10300451" w="10300451">
                <a:moveTo>
                  <a:pt x="0" y="0"/>
                </a:moveTo>
                <a:lnTo>
                  <a:pt x="10300452" y="0"/>
                </a:lnTo>
                <a:lnTo>
                  <a:pt x="10300452" y="10300452"/>
                </a:lnTo>
                <a:lnTo>
                  <a:pt x="0" y="10300452"/>
                </a:lnTo>
                <a:lnTo>
                  <a:pt x="0" y="0"/>
                </a:lnTo>
                <a:close/>
              </a:path>
            </a:pathLst>
          </a:custGeom>
          <a:blipFill>
            <a:blip r:embed="rId3">
              <a:alphaModFix amt="25000"/>
            </a:blip>
            <a:stretch>
              <a:fillRect l="0" t="0" r="0" b="0"/>
            </a:stretch>
          </a:blipFill>
        </p:spPr>
      </p:sp>
      <p:sp>
        <p:nvSpPr>
          <p:cNvPr name="TextBox 4" id="4"/>
          <p:cNvSpPr txBox="true"/>
          <p:nvPr/>
        </p:nvSpPr>
        <p:spPr>
          <a:xfrm rot="0">
            <a:off x="3886706" y="458586"/>
            <a:ext cx="10514588" cy="1368828"/>
          </a:xfrm>
          <a:prstGeom prst="rect">
            <a:avLst/>
          </a:prstGeom>
        </p:spPr>
        <p:txBody>
          <a:bodyPr anchor="t" rtlCol="false" tIns="0" lIns="0" bIns="0" rIns="0">
            <a:spAutoFit/>
          </a:bodyPr>
          <a:lstStyle/>
          <a:p>
            <a:pPr algn="ctr">
              <a:lnSpc>
                <a:spcPts val="5043"/>
              </a:lnSpc>
            </a:pPr>
            <a:r>
              <a:rPr lang="en-US" sz="6304" spc="-189">
                <a:solidFill>
                  <a:srgbClr val="F6766B"/>
                </a:solidFill>
                <a:latin typeface="Lazydog 1"/>
                <a:ea typeface="Lazydog 1"/>
                <a:cs typeface="Lazydog 1"/>
                <a:sym typeface="Lazydog 1"/>
              </a:rPr>
              <a:t>Strategic Planning and Security Strategy</a:t>
            </a:r>
          </a:p>
        </p:txBody>
      </p:sp>
      <p:grpSp>
        <p:nvGrpSpPr>
          <p:cNvPr name="Group 5" id="5"/>
          <p:cNvGrpSpPr/>
          <p:nvPr/>
        </p:nvGrpSpPr>
        <p:grpSpPr>
          <a:xfrm rot="0">
            <a:off x="1705622" y="1827414"/>
            <a:ext cx="14876757" cy="8344630"/>
            <a:chOff x="0" y="0"/>
            <a:chExt cx="19835675" cy="11126173"/>
          </a:xfrm>
        </p:grpSpPr>
        <p:sp>
          <p:nvSpPr>
            <p:cNvPr name="Freeform 6" id="6"/>
            <p:cNvSpPr/>
            <p:nvPr/>
          </p:nvSpPr>
          <p:spPr>
            <a:xfrm flipH="false" flipV="false" rot="0">
              <a:off x="0" y="0"/>
              <a:ext cx="19835675" cy="8871957"/>
            </a:xfrm>
            <a:custGeom>
              <a:avLst/>
              <a:gdLst/>
              <a:ahLst/>
              <a:cxnLst/>
              <a:rect r="r" b="b" t="t" l="l"/>
              <a:pathLst>
                <a:path h="8871957" w="19835675">
                  <a:moveTo>
                    <a:pt x="0" y="0"/>
                  </a:moveTo>
                  <a:lnTo>
                    <a:pt x="19835675" y="0"/>
                  </a:lnTo>
                  <a:lnTo>
                    <a:pt x="19835675" y="8871957"/>
                  </a:lnTo>
                  <a:lnTo>
                    <a:pt x="0" y="88719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2254217"/>
              <a:ext cx="19835675" cy="8871957"/>
            </a:xfrm>
            <a:custGeom>
              <a:avLst/>
              <a:gdLst/>
              <a:ahLst/>
              <a:cxnLst/>
              <a:rect r="r" b="b" t="t" l="l"/>
              <a:pathLst>
                <a:path h="8871957" w="19835675">
                  <a:moveTo>
                    <a:pt x="0" y="0"/>
                  </a:moveTo>
                  <a:lnTo>
                    <a:pt x="19835675" y="0"/>
                  </a:lnTo>
                  <a:lnTo>
                    <a:pt x="19835675" y="8871956"/>
                  </a:lnTo>
                  <a:lnTo>
                    <a:pt x="0" y="8871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8" id="8"/>
          <p:cNvSpPr txBox="true"/>
          <p:nvPr/>
        </p:nvSpPr>
        <p:spPr>
          <a:xfrm rot="0">
            <a:off x="2352866" y="2908633"/>
            <a:ext cx="13582268" cy="6115516"/>
          </a:xfrm>
          <a:prstGeom prst="rect">
            <a:avLst/>
          </a:prstGeom>
        </p:spPr>
        <p:txBody>
          <a:bodyPr anchor="t" rtlCol="false" tIns="0" lIns="0" bIns="0" rIns="0">
            <a:spAutoFit/>
          </a:bodyPr>
          <a:lstStyle/>
          <a:p>
            <a:pPr algn="just">
              <a:lnSpc>
                <a:spcPts val="4827"/>
              </a:lnSpc>
            </a:pPr>
            <a:r>
              <a:rPr lang="en-US" sz="3713" b="true">
                <a:solidFill>
                  <a:srgbClr val="28211E"/>
                </a:solidFill>
                <a:latin typeface="Arimo Bold"/>
                <a:ea typeface="Arimo Bold"/>
                <a:cs typeface="Arimo Bold"/>
                <a:sym typeface="Arimo Bold"/>
              </a:rPr>
              <a:t>Definition and Importance of Strategic Planning</a:t>
            </a:r>
          </a:p>
          <a:p>
            <a:pPr algn="just" marL="801700" indent="-400850" lvl="1">
              <a:lnSpc>
                <a:spcPts val="4827"/>
              </a:lnSpc>
              <a:buFont typeface="Arial"/>
              <a:buChar char="•"/>
            </a:pPr>
            <a:r>
              <a:rPr lang="en-US" b="true" sz="3713">
                <a:solidFill>
                  <a:srgbClr val="28211E"/>
                </a:solidFill>
                <a:latin typeface="Arimo Bold"/>
                <a:ea typeface="Arimo Bold"/>
                <a:cs typeface="Arimo Bold"/>
                <a:sym typeface="Arimo Bold"/>
              </a:rPr>
              <a:t>Strategic Planning is the roadmap</a:t>
            </a:r>
            <a:r>
              <a:rPr lang="en-US" sz="3713">
                <a:solidFill>
                  <a:srgbClr val="28211E"/>
                </a:solidFill>
                <a:latin typeface="Arimo"/>
                <a:ea typeface="Arimo"/>
                <a:cs typeface="Arimo"/>
                <a:sym typeface="Arimo"/>
              </a:rPr>
              <a:t>: it is the process of aligning IT investments with the overarching goals of the business to create value, drive innovation, and ensure long-term growth.</a:t>
            </a:r>
          </a:p>
          <a:p>
            <a:pPr algn="just" marL="801700" indent="-400850" lvl="1">
              <a:lnSpc>
                <a:spcPts val="4827"/>
              </a:lnSpc>
              <a:buFont typeface="Arial"/>
              <a:buChar char="•"/>
            </a:pPr>
            <a:r>
              <a:rPr lang="en-US" b="true" sz="3713">
                <a:solidFill>
                  <a:srgbClr val="28211E"/>
                </a:solidFill>
                <a:latin typeface="Arimo Bold"/>
                <a:ea typeface="Arimo Bold"/>
                <a:cs typeface="Arimo Bold"/>
                <a:sym typeface="Arimo Bold"/>
              </a:rPr>
              <a:t>Security Strategy is the shield</a:t>
            </a:r>
            <a:r>
              <a:rPr lang="en-US" sz="3713">
                <a:solidFill>
                  <a:srgbClr val="28211E"/>
                </a:solidFill>
                <a:latin typeface="Arimo"/>
                <a:ea typeface="Arimo"/>
                <a:cs typeface="Arimo"/>
                <a:sym typeface="Arimo"/>
              </a:rPr>
              <a:t>: it is the framework of policies, risk management, and governance that protects the organization's assets, ensuring that as the business grows, it remains resilient against evolving threats.</a:t>
            </a:r>
          </a:p>
          <a:p>
            <a:pPr algn="just">
              <a:lnSpc>
                <a:spcPts val="4827"/>
              </a:lnSpc>
            </a:pPr>
          </a:p>
        </p:txBody>
      </p:sp>
      <p:sp>
        <p:nvSpPr>
          <p:cNvPr name="TextBox 9" id="9"/>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EGO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IT STRATEGIC PLANNING</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grpSp>
        <p:nvGrpSpPr>
          <p:cNvPr name="Group 4" id="4"/>
          <p:cNvGrpSpPr/>
          <p:nvPr/>
        </p:nvGrpSpPr>
        <p:grpSpPr>
          <a:xfrm rot="0">
            <a:off x="581597" y="1178424"/>
            <a:ext cx="8562403" cy="2702351"/>
            <a:chOff x="0" y="0"/>
            <a:chExt cx="2255118" cy="711730"/>
          </a:xfrm>
        </p:grpSpPr>
        <p:sp>
          <p:nvSpPr>
            <p:cNvPr name="Freeform 5" id="5"/>
            <p:cNvSpPr/>
            <p:nvPr/>
          </p:nvSpPr>
          <p:spPr>
            <a:xfrm flipH="false" flipV="false" rot="0">
              <a:off x="0" y="0"/>
              <a:ext cx="2255118" cy="711730"/>
            </a:xfrm>
            <a:custGeom>
              <a:avLst/>
              <a:gdLst/>
              <a:ahLst/>
              <a:cxnLst/>
              <a:rect r="r" b="b" t="t" l="l"/>
              <a:pathLst>
                <a:path h="711730" w="2255118">
                  <a:moveTo>
                    <a:pt x="46113" y="0"/>
                  </a:moveTo>
                  <a:lnTo>
                    <a:pt x="2209005" y="0"/>
                  </a:lnTo>
                  <a:cubicBezTo>
                    <a:pt x="2221235" y="0"/>
                    <a:pt x="2232964" y="4858"/>
                    <a:pt x="2241612" y="13506"/>
                  </a:cubicBezTo>
                  <a:cubicBezTo>
                    <a:pt x="2250260" y="22154"/>
                    <a:pt x="2255118" y="33883"/>
                    <a:pt x="2255118" y="46113"/>
                  </a:cubicBezTo>
                  <a:lnTo>
                    <a:pt x="2255118" y="665617"/>
                  </a:lnTo>
                  <a:cubicBezTo>
                    <a:pt x="2255118" y="677847"/>
                    <a:pt x="2250260" y="689576"/>
                    <a:pt x="2241612" y="698224"/>
                  </a:cubicBezTo>
                  <a:cubicBezTo>
                    <a:pt x="2232964" y="706872"/>
                    <a:pt x="2221235" y="711730"/>
                    <a:pt x="2209005" y="711730"/>
                  </a:cubicBezTo>
                  <a:lnTo>
                    <a:pt x="46113" y="711730"/>
                  </a:lnTo>
                  <a:cubicBezTo>
                    <a:pt x="33883" y="711730"/>
                    <a:pt x="22154" y="706872"/>
                    <a:pt x="13506" y="698224"/>
                  </a:cubicBezTo>
                  <a:cubicBezTo>
                    <a:pt x="4858" y="689576"/>
                    <a:pt x="0" y="677847"/>
                    <a:pt x="0" y="665617"/>
                  </a:cubicBezTo>
                  <a:lnTo>
                    <a:pt x="0" y="46113"/>
                  </a:lnTo>
                  <a:cubicBezTo>
                    <a:pt x="0" y="33883"/>
                    <a:pt x="4858" y="22154"/>
                    <a:pt x="13506" y="13506"/>
                  </a:cubicBezTo>
                  <a:cubicBezTo>
                    <a:pt x="22154" y="4858"/>
                    <a:pt x="33883" y="0"/>
                    <a:pt x="46113" y="0"/>
                  </a:cubicBezTo>
                  <a:close/>
                </a:path>
              </a:pathLst>
            </a:custGeom>
            <a:solidFill>
              <a:srgbClr val="FFFFFF"/>
            </a:solidFill>
          </p:spPr>
        </p:sp>
        <p:sp>
          <p:nvSpPr>
            <p:cNvPr name="TextBox 6" id="6"/>
            <p:cNvSpPr txBox="true"/>
            <p:nvPr/>
          </p:nvSpPr>
          <p:spPr>
            <a:xfrm>
              <a:off x="0" y="-19050"/>
              <a:ext cx="2255118" cy="730780"/>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10961342" y="91944"/>
            <a:ext cx="6595912" cy="10137906"/>
            <a:chOff x="0" y="0"/>
            <a:chExt cx="1857493" cy="2854964"/>
          </a:xfrm>
        </p:grpSpPr>
        <p:sp>
          <p:nvSpPr>
            <p:cNvPr name="Freeform 8" id="8"/>
            <p:cNvSpPr/>
            <p:nvPr/>
          </p:nvSpPr>
          <p:spPr>
            <a:xfrm flipH="false" flipV="false" rot="0">
              <a:off x="0" y="0"/>
              <a:ext cx="1857493" cy="2854964"/>
            </a:xfrm>
            <a:custGeom>
              <a:avLst/>
              <a:gdLst/>
              <a:ahLst/>
              <a:cxnLst/>
              <a:rect r="r" b="b" t="t" l="l"/>
              <a:pathLst>
                <a:path h="2854964" w="1857493">
                  <a:moveTo>
                    <a:pt x="59861" y="0"/>
                  </a:moveTo>
                  <a:lnTo>
                    <a:pt x="1797632" y="0"/>
                  </a:lnTo>
                  <a:cubicBezTo>
                    <a:pt x="1830692" y="0"/>
                    <a:pt x="1857493" y="26801"/>
                    <a:pt x="1857493" y="59861"/>
                  </a:cubicBezTo>
                  <a:lnTo>
                    <a:pt x="1857493" y="2795103"/>
                  </a:lnTo>
                  <a:cubicBezTo>
                    <a:pt x="1857493" y="2810979"/>
                    <a:pt x="1851186" y="2826205"/>
                    <a:pt x="1839960" y="2837431"/>
                  </a:cubicBezTo>
                  <a:cubicBezTo>
                    <a:pt x="1828734" y="2848657"/>
                    <a:pt x="1813508" y="2854964"/>
                    <a:pt x="1797632" y="2854964"/>
                  </a:cubicBezTo>
                  <a:lnTo>
                    <a:pt x="59861" y="2854964"/>
                  </a:lnTo>
                  <a:cubicBezTo>
                    <a:pt x="26801" y="2854964"/>
                    <a:pt x="0" y="2828163"/>
                    <a:pt x="0" y="2795103"/>
                  </a:cubicBezTo>
                  <a:lnTo>
                    <a:pt x="0" y="59861"/>
                  </a:lnTo>
                  <a:cubicBezTo>
                    <a:pt x="0" y="26801"/>
                    <a:pt x="26801" y="0"/>
                    <a:pt x="59861" y="0"/>
                  </a:cubicBezTo>
                  <a:close/>
                </a:path>
              </a:pathLst>
            </a:custGeom>
            <a:solidFill>
              <a:srgbClr val="FFFFFF"/>
            </a:solidFill>
          </p:spPr>
        </p:sp>
        <p:sp>
          <p:nvSpPr>
            <p:cNvPr name="TextBox 9" id="9"/>
            <p:cNvSpPr txBox="true"/>
            <p:nvPr/>
          </p:nvSpPr>
          <p:spPr>
            <a:xfrm>
              <a:off x="0" y="-19050"/>
              <a:ext cx="1857493" cy="2874014"/>
            </a:xfrm>
            <a:prstGeom prst="rect">
              <a:avLst/>
            </a:prstGeom>
          </p:spPr>
          <p:txBody>
            <a:bodyPr anchor="ctr" rtlCol="false" tIns="50800" lIns="50800" bIns="50800" rIns="50800"/>
            <a:lstStyle/>
            <a:p>
              <a:pPr algn="ctr">
                <a:lnSpc>
                  <a:spcPts val="2236"/>
                </a:lnSpc>
              </a:pPr>
            </a:p>
          </p:txBody>
        </p:sp>
      </p:grpSp>
      <p:grpSp>
        <p:nvGrpSpPr>
          <p:cNvPr name="Group 10" id="10"/>
          <p:cNvGrpSpPr/>
          <p:nvPr/>
        </p:nvGrpSpPr>
        <p:grpSpPr>
          <a:xfrm rot="0">
            <a:off x="424601" y="4082112"/>
            <a:ext cx="8719399" cy="6005453"/>
            <a:chOff x="0" y="0"/>
            <a:chExt cx="2296467" cy="1581683"/>
          </a:xfrm>
        </p:grpSpPr>
        <p:sp>
          <p:nvSpPr>
            <p:cNvPr name="Freeform 11" id="11"/>
            <p:cNvSpPr/>
            <p:nvPr/>
          </p:nvSpPr>
          <p:spPr>
            <a:xfrm flipH="false" flipV="false" rot="0">
              <a:off x="0" y="0"/>
              <a:ext cx="2296467" cy="1581683"/>
            </a:xfrm>
            <a:custGeom>
              <a:avLst/>
              <a:gdLst/>
              <a:ahLst/>
              <a:cxnLst/>
              <a:rect r="r" b="b" t="t" l="l"/>
              <a:pathLst>
                <a:path h="1581683" w="2296467">
                  <a:moveTo>
                    <a:pt x="45283" y="0"/>
                  </a:moveTo>
                  <a:lnTo>
                    <a:pt x="2251185" y="0"/>
                  </a:lnTo>
                  <a:cubicBezTo>
                    <a:pt x="2276194" y="0"/>
                    <a:pt x="2296467" y="20274"/>
                    <a:pt x="2296467" y="45283"/>
                  </a:cubicBezTo>
                  <a:lnTo>
                    <a:pt x="2296467" y="1536401"/>
                  </a:lnTo>
                  <a:cubicBezTo>
                    <a:pt x="2296467" y="1561409"/>
                    <a:pt x="2276194" y="1581683"/>
                    <a:pt x="2251185" y="1581683"/>
                  </a:cubicBezTo>
                  <a:lnTo>
                    <a:pt x="45283" y="1581683"/>
                  </a:lnTo>
                  <a:cubicBezTo>
                    <a:pt x="20274" y="1581683"/>
                    <a:pt x="0" y="1561409"/>
                    <a:pt x="0" y="1536401"/>
                  </a:cubicBezTo>
                  <a:lnTo>
                    <a:pt x="0" y="45283"/>
                  </a:lnTo>
                  <a:cubicBezTo>
                    <a:pt x="0" y="20274"/>
                    <a:pt x="20274" y="0"/>
                    <a:pt x="45283" y="0"/>
                  </a:cubicBezTo>
                  <a:close/>
                </a:path>
              </a:pathLst>
            </a:custGeom>
            <a:solidFill>
              <a:srgbClr val="FFFFFF"/>
            </a:solidFill>
          </p:spPr>
        </p:sp>
        <p:sp>
          <p:nvSpPr>
            <p:cNvPr name="TextBox 12" id="12"/>
            <p:cNvSpPr txBox="true"/>
            <p:nvPr/>
          </p:nvSpPr>
          <p:spPr>
            <a:xfrm>
              <a:off x="0" y="-19050"/>
              <a:ext cx="2296467" cy="1600733"/>
            </a:xfrm>
            <a:prstGeom prst="rect">
              <a:avLst/>
            </a:prstGeom>
          </p:spPr>
          <p:txBody>
            <a:bodyPr anchor="ctr" rtlCol="false" tIns="50800" lIns="50800" bIns="50800" rIns="50800"/>
            <a:lstStyle/>
            <a:p>
              <a:pPr algn="ctr">
                <a:lnSpc>
                  <a:spcPts val="2236"/>
                </a:lnSpc>
              </a:pPr>
            </a:p>
          </p:txBody>
        </p:sp>
      </p:grpSp>
      <p:sp>
        <p:nvSpPr>
          <p:cNvPr name="Freeform 13" id="13"/>
          <p:cNvSpPr/>
          <p:nvPr/>
        </p:nvSpPr>
        <p:spPr>
          <a:xfrm flipH="false" flipV="false" rot="0">
            <a:off x="11218058" y="349557"/>
            <a:ext cx="6041242" cy="9587886"/>
          </a:xfrm>
          <a:custGeom>
            <a:avLst/>
            <a:gdLst/>
            <a:ahLst/>
            <a:cxnLst/>
            <a:rect r="r" b="b" t="t" l="l"/>
            <a:pathLst>
              <a:path h="9587886" w="6041242">
                <a:moveTo>
                  <a:pt x="0" y="0"/>
                </a:moveTo>
                <a:lnTo>
                  <a:pt x="6041242" y="0"/>
                </a:lnTo>
                <a:lnTo>
                  <a:pt x="6041242" y="9587886"/>
                </a:lnTo>
                <a:lnTo>
                  <a:pt x="0" y="9587886"/>
                </a:lnTo>
                <a:lnTo>
                  <a:pt x="0" y="0"/>
                </a:lnTo>
                <a:close/>
              </a:path>
            </a:pathLst>
          </a:custGeom>
          <a:blipFill>
            <a:blip r:embed="rId3"/>
            <a:stretch>
              <a:fillRect l="0" t="-4125" r="0" b="-8673"/>
            </a:stretch>
          </a:blipFill>
        </p:spPr>
      </p:sp>
      <p:sp>
        <p:nvSpPr>
          <p:cNvPr name="TextBox 14" id="14"/>
          <p:cNvSpPr txBox="true"/>
          <p:nvPr/>
        </p:nvSpPr>
        <p:spPr>
          <a:xfrm rot="0">
            <a:off x="794707" y="1428723"/>
            <a:ext cx="8136183" cy="2265258"/>
          </a:xfrm>
          <a:prstGeom prst="rect">
            <a:avLst/>
          </a:prstGeom>
        </p:spPr>
        <p:txBody>
          <a:bodyPr anchor="t" rtlCol="false" tIns="0" lIns="0" bIns="0" rIns="0">
            <a:spAutoFit/>
          </a:bodyPr>
          <a:lstStyle/>
          <a:p>
            <a:pPr algn="ctr">
              <a:lnSpc>
                <a:spcPts val="3554"/>
              </a:lnSpc>
            </a:pPr>
            <a:r>
              <a:rPr lang="en-US" sz="2734">
                <a:solidFill>
                  <a:srgbClr val="282421"/>
                </a:solidFill>
                <a:latin typeface="Arimo"/>
                <a:ea typeface="Arimo"/>
                <a:cs typeface="Arimo"/>
                <a:sym typeface="Arimo"/>
              </a:rPr>
              <a:t>Strategic planning is the process of setting an org</a:t>
            </a:r>
            <a:r>
              <a:rPr lang="en-US" sz="2734">
                <a:solidFill>
                  <a:srgbClr val="282421"/>
                </a:solidFill>
                <a:latin typeface="Arimo"/>
                <a:ea typeface="Arimo"/>
                <a:cs typeface="Arimo"/>
                <a:sym typeface="Arimo"/>
              </a:rPr>
              <a:t>anization's long-term goals and creating a roadmap to achieve them. In IT, it ensures that technology and cybersecurity initiatives support the organization's overall business objectives.</a:t>
            </a:r>
          </a:p>
        </p:txBody>
      </p:sp>
      <p:sp>
        <p:nvSpPr>
          <p:cNvPr name="TextBox 15" id="15"/>
          <p:cNvSpPr txBox="true"/>
          <p:nvPr/>
        </p:nvSpPr>
        <p:spPr>
          <a:xfrm rot="0">
            <a:off x="1028700" y="4427120"/>
            <a:ext cx="7550462" cy="5547480"/>
          </a:xfrm>
          <a:prstGeom prst="rect">
            <a:avLst/>
          </a:prstGeom>
        </p:spPr>
        <p:txBody>
          <a:bodyPr anchor="t" rtlCol="false" tIns="0" lIns="0" bIns="0" rIns="0">
            <a:spAutoFit/>
          </a:bodyPr>
          <a:lstStyle/>
          <a:p>
            <a:pPr algn="l">
              <a:lnSpc>
                <a:spcPts val="3182"/>
              </a:lnSpc>
            </a:pPr>
            <a:r>
              <a:rPr lang="en-US" sz="2448" b="true">
                <a:solidFill>
                  <a:srgbClr val="282421"/>
                </a:solidFill>
                <a:latin typeface="Arimo Bold"/>
                <a:ea typeface="Arimo Bold"/>
                <a:cs typeface="Arimo Bold"/>
                <a:sym typeface="Arimo Bold"/>
              </a:rPr>
              <a:t>Importance of Strategic Planning</a:t>
            </a:r>
          </a:p>
          <a:p>
            <a:pPr algn="l" marL="528568" indent="-264284" lvl="1">
              <a:lnSpc>
                <a:spcPts val="3182"/>
              </a:lnSpc>
              <a:buFont typeface="Arial"/>
              <a:buChar char="•"/>
            </a:pPr>
            <a:r>
              <a:rPr lang="en-US" b="true" sz="2448">
                <a:solidFill>
                  <a:srgbClr val="282421"/>
                </a:solidFill>
                <a:latin typeface="Arimo Bold"/>
                <a:ea typeface="Arimo Bold"/>
                <a:cs typeface="Arimo Bold"/>
                <a:sym typeface="Arimo Bold"/>
              </a:rPr>
              <a:t>Provides Direction</a:t>
            </a:r>
            <a:r>
              <a:rPr lang="en-US" sz="2448">
                <a:solidFill>
                  <a:srgbClr val="282421"/>
                </a:solidFill>
                <a:latin typeface="Arimo"/>
                <a:ea typeface="Arimo"/>
                <a:cs typeface="Arimo"/>
                <a:sym typeface="Arimo"/>
              </a:rPr>
              <a:t> – Establishes clear goals and priorities.</a:t>
            </a:r>
          </a:p>
          <a:p>
            <a:pPr algn="l" marL="528568" indent="-264284" lvl="1">
              <a:lnSpc>
                <a:spcPts val="3182"/>
              </a:lnSpc>
              <a:buFont typeface="Arial"/>
              <a:buChar char="•"/>
            </a:pPr>
            <a:r>
              <a:rPr lang="en-US" b="true" sz="2448">
                <a:solidFill>
                  <a:srgbClr val="282421"/>
                </a:solidFill>
                <a:latin typeface="Arimo Bold"/>
                <a:ea typeface="Arimo Bold"/>
                <a:cs typeface="Arimo Bold"/>
                <a:sym typeface="Arimo Bold"/>
              </a:rPr>
              <a:t>Aligns IT with Business Goals</a:t>
            </a:r>
            <a:r>
              <a:rPr lang="en-US" sz="2448">
                <a:solidFill>
                  <a:srgbClr val="282421"/>
                </a:solidFill>
                <a:latin typeface="Arimo"/>
                <a:ea typeface="Arimo"/>
                <a:cs typeface="Arimo"/>
                <a:sym typeface="Arimo"/>
              </a:rPr>
              <a:t> – Ensures technology supports organizational success.</a:t>
            </a:r>
          </a:p>
          <a:p>
            <a:pPr algn="l" marL="528568" indent="-264284" lvl="1">
              <a:lnSpc>
                <a:spcPts val="3182"/>
              </a:lnSpc>
              <a:buFont typeface="Arial"/>
              <a:buChar char="•"/>
            </a:pPr>
            <a:r>
              <a:rPr lang="en-US" b="true" sz="2448">
                <a:solidFill>
                  <a:srgbClr val="282421"/>
                </a:solidFill>
                <a:latin typeface="Arimo Bold"/>
                <a:ea typeface="Arimo Bold"/>
                <a:cs typeface="Arimo Bold"/>
                <a:sym typeface="Arimo Bold"/>
              </a:rPr>
              <a:t>Improves Resource Allocation</a:t>
            </a:r>
            <a:r>
              <a:rPr lang="en-US" sz="2448">
                <a:solidFill>
                  <a:srgbClr val="282421"/>
                </a:solidFill>
                <a:latin typeface="Arimo"/>
                <a:ea typeface="Arimo"/>
                <a:cs typeface="Arimo"/>
                <a:sym typeface="Arimo"/>
              </a:rPr>
              <a:t> – Helps prioritize budgets, people, and technology.</a:t>
            </a:r>
          </a:p>
          <a:p>
            <a:pPr algn="l" marL="528568" indent="-264284" lvl="1">
              <a:lnSpc>
                <a:spcPts val="3182"/>
              </a:lnSpc>
              <a:buFont typeface="Arial"/>
              <a:buChar char="•"/>
            </a:pPr>
            <a:r>
              <a:rPr lang="en-US" b="true" sz="2448">
                <a:solidFill>
                  <a:srgbClr val="282421"/>
                </a:solidFill>
                <a:latin typeface="Arimo Bold"/>
                <a:ea typeface="Arimo Bold"/>
                <a:cs typeface="Arimo Bold"/>
                <a:sym typeface="Arimo Bold"/>
              </a:rPr>
              <a:t>Manages Risks</a:t>
            </a:r>
            <a:r>
              <a:rPr lang="en-US" sz="2448">
                <a:solidFill>
                  <a:srgbClr val="282421"/>
                </a:solidFill>
                <a:latin typeface="Arimo"/>
                <a:ea typeface="Arimo"/>
                <a:cs typeface="Arimo"/>
                <a:sym typeface="Arimo"/>
              </a:rPr>
              <a:t> – Identifies and prepares for potential security threats.</a:t>
            </a:r>
          </a:p>
          <a:p>
            <a:pPr algn="l" marL="528568" indent="-264284" lvl="1">
              <a:lnSpc>
                <a:spcPts val="3182"/>
              </a:lnSpc>
              <a:buFont typeface="Arial"/>
              <a:buChar char="•"/>
            </a:pPr>
            <a:r>
              <a:rPr lang="en-US" b="true" sz="2448">
                <a:solidFill>
                  <a:srgbClr val="282421"/>
                </a:solidFill>
                <a:latin typeface="Arimo Bold"/>
                <a:ea typeface="Arimo Bold"/>
                <a:cs typeface="Arimo Bold"/>
                <a:sym typeface="Arimo Bold"/>
              </a:rPr>
              <a:t>Supports Business Continuity</a:t>
            </a:r>
            <a:r>
              <a:rPr lang="en-US" sz="2448">
                <a:solidFill>
                  <a:srgbClr val="282421"/>
                </a:solidFill>
                <a:latin typeface="Arimo"/>
                <a:ea typeface="Arimo"/>
                <a:cs typeface="Arimo"/>
                <a:sym typeface="Arimo"/>
              </a:rPr>
              <a:t> – Keeps operations running during disruptions.</a:t>
            </a:r>
          </a:p>
          <a:p>
            <a:pPr algn="l" marL="528568" indent="-264284" lvl="1">
              <a:lnSpc>
                <a:spcPts val="3182"/>
              </a:lnSpc>
              <a:buFont typeface="Arial"/>
              <a:buChar char="•"/>
            </a:pPr>
            <a:r>
              <a:rPr lang="en-US" b="true" sz="2448">
                <a:solidFill>
                  <a:srgbClr val="282421"/>
                </a:solidFill>
                <a:latin typeface="Arimo Bold"/>
                <a:ea typeface="Arimo Bold"/>
                <a:cs typeface="Arimo Bold"/>
                <a:sym typeface="Arimo Bold"/>
              </a:rPr>
              <a:t>Enhances Security</a:t>
            </a:r>
            <a:r>
              <a:rPr lang="en-US" sz="2448">
                <a:solidFill>
                  <a:srgbClr val="282421"/>
                </a:solidFill>
                <a:latin typeface="Arimo"/>
                <a:ea typeface="Arimo"/>
                <a:cs typeface="Arimo"/>
                <a:sym typeface="Arimo"/>
              </a:rPr>
              <a:t> – Strengthens protection of systems, data, and networks.</a:t>
            </a:r>
          </a:p>
          <a:p>
            <a:pPr algn="l">
              <a:lnSpc>
                <a:spcPts val="3182"/>
              </a:lnSpc>
            </a:pPr>
          </a:p>
        </p:txBody>
      </p:sp>
      <p:sp>
        <p:nvSpPr>
          <p:cNvPr name="TextBox 16" id="16"/>
          <p:cNvSpPr txBox="true"/>
          <p:nvPr/>
        </p:nvSpPr>
        <p:spPr>
          <a:xfrm rot="0">
            <a:off x="8579162" y="9666281"/>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EGO</a:t>
            </a:r>
          </a:p>
        </p:txBody>
      </p:sp>
      <p:sp>
        <p:nvSpPr>
          <p:cNvPr name="Freeform 17" id="17"/>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grpSp>
        <p:nvGrpSpPr>
          <p:cNvPr name="Group 2" id="2"/>
          <p:cNvGrpSpPr/>
          <p:nvPr/>
        </p:nvGrpSpPr>
        <p:grpSpPr>
          <a:xfrm rot="0">
            <a:off x="661102" y="1178424"/>
            <a:ext cx="8155522" cy="9291280"/>
            <a:chOff x="0" y="0"/>
            <a:chExt cx="2742567" cy="3124503"/>
          </a:xfrm>
        </p:grpSpPr>
        <p:sp>
          <p:nvSpPr>
            <p:cNvPr name="Freeform 3" id="3"/>
            <p:cNvSpPr/>
            <p:nvPr/>
          </p:nvSpPr>
          <p:spPr>
            <a:xfrm flipH="false" flipV="false" rot="0">
              <a:off x="0" y="0"/>
              <a:ext cx="2742567" cy="3124503"/>
            </a:xfrm>
            <a:custGeom>
              <a:avLst/>
              <a:gdLst/>
              <a:ahLst/>
              <a:cxnLst/>
              <a:rect r="r" b="b" t="t" l="l"/>
              <a:pathLst>
                <a:path h="3124503" w="2742567">
                  <a:moveTo>
                    <a:pt x="48414" y="0"/>
                  </a:moveTo>
                  <a:lnTo>
                    <a:pt x="2694153" y="0"/>
                  </a:lnTo>
                  <a:cubicBezTo>
                    <a:pt x="2706993" y="0"/>
                    <a:pt x="2719307" y="5101"/>
                    <a:pt x="2728387" y="14180"/>
                  </a:cubicBezTo>
                  <a:cubicBezTo>
                    <a:pt x="2737466" y="23259"/>
                    <a:pt x="2742567" y="35573"/>
                    <a:pt x="2742567" y="48414"/>
                  </a:cubicBezTo>
                  <a:lnTo>
                    <a:pt x="2742567" y="3076090"/>
                  </a:lnTo>
                  <a:cubicBezTo>
                    <a:pt x="2742567" y="3088930"/>
                    <a:pt x="2737466" y="3101244"/>
                    <a:pt x="2728387" y="3110323"/>
                  </a:cubicBezTo>
                  <a:cubicBezTo>
                    <a:pt x="2719307" y="3119402"/>
                    <a:pt x="2706993" y="3124503"/>
                    <a:pt x="2694153" y="3124503"/>
                  </a:cubicBezTo>
                  <a:lnTo>
                    <a:pt x="48414" y="3124503"/>
                  </a:lnTo>
                  <a:cubicBezTo>
                    <a:pt x="35573" y="3124503"/>
                    <a:pt x="23259" y="3119402"/>
                    <a:pt x="14180" y="3110323"/>
                  </a:cubicBezTo>
                  <a:cubicBezTo>
                    <a:pt x="5101" y="3101244"/>
                    <a:pt x="0" y="3088930"/>
                    <a:pt x="0" y="3076090"/>
                  </a:cubicBezTo>
                  <a:lnTo>
                    <a:pt x="0" y="48414"/>
                  </a:lnTo>
                  <a:cubicBezTo>
                    <a:pt x="0" y="35573"/>
                    <a:pt x="5101" y="23259"/>
                    <a:pt x="14180" y="14180"/>
                  </a:cubicBezTo>
                  <a:cubicBezTo>
                    <a:pt x="23259" y="5101"/>
                    <a:pt x="35573" y="0"/>
                    <a:pt x="48414" y="0"/>
                  </a:cubicBezTo>
                  <a:close/>
                </a:path>
              </a:pathLst>
            </a:custGeom>
            <a:solidFill>
              <a:srgbClr val="FFFFFF"/>
            </a:solidFill>
          </p:spPr>
        </p:sp>
        <p:sp>
          <p:nvSpPr>
            <p:cNvPr name="TextBox 4" id="4"/>
            <p:cNvSpPr txBox="true"/>
            <p:nvPr/>
          </p:nvSpPr>
          <p:spPr>
            <a:xfrm>
              <a:off x="0" y="-19050"/>
              <a:ext cx="2742567" cy="3143553"/>
            </a:xfrm>
            <a:prstGeom prst="rect">
              <a:avLst/>
            </a:prstGeom>
          </p:spPr>
          <p:txBody>
            <a:bodyPr anchor="ctr" rtlCol="false" tIns="50800" lIns="50800" bIns="50800" rIns="50800"/>
            <a:lstStyle/>
            <a:p>
              <a:pPr algn="ctr">
                <a:lnSpc>
                  <a:spcPts val="2236"/>
                </a:lnSpc>
              </a:pPr>
            </a:p>
          </p:txBody>
        </p:sp>
      </p:grpSp>
      <p:grpSp>
        <p:nvGrpSpPr>
          <p:cNvPr name="Group 5" id="5"/>
          <p:cNvGrpSpPr/>
          <p:nvPr/>
        </p:nvGrpSpPr>
        <p:grpSpPr>
          <a:xfrm rot="0">
            <a:off x="9471376" y="1178424"/>
            <a:ext cx="8155522" cy="9108576"/>
            <a:chOff x="0" y="0"/>
            <a:chExt cx="2742567" cy="3063063"/>
          </a:xfrm>
        </p:grpSpPr>
        <p:sp>
          <p:nvSpPr>
            <p:cNvPr name="Freeform 6" id="6"/>
            <p:cNvSpPr/>
            <p:nvPr/>
          </p:nvSpPr>
          <p:spPr>
            <a:xfrm flipH="false" flipV="false" rot="0">
              <a:off x="0" y="0"/>
              <a:ext cx="2742567" cy="3063063"/>
            </a:xfrm>
            <a:custGeom>
              <a:avLst/>
              <a:gdLst/>
              <a:ahLst/>
              <a:cxnLst/>
              <a:rect r="r" b="b" t="t" l="l"/>
              <a:pathLst>
                <a:path h="3063063" w="2742567">
                  <a:moveTo>
                    <a:pt x="48414" y="0"/>
                  </a:moveTo>
                  <a:lnTo>
                    <a:pt x="2694153" y="0"/>
                  </a:lnTo>
                  <a:cubicBezTo>
                    <a:pt x="2706993" y="0"/>
                    <a:pt x="2719307" y="5101"/>
                    <a:pt x="2728387" y="14180"/>
                  </a:cubicBezTo>
                  <a:cubicBezTo>
                    <a:pt x="2737466" y="23259"/>
                    <a:pt x="2742567" y="35573"/>
                    <a:pt x="2742567" y="48414"/>
                  </a:cubicBezTo>
                  <a:lnTo>
                    <a:pt x="2742567" y="3014649"/>
                  </a:lnTo>
                  <a:cubicBezTo>
                    <a:pt x="2742567" y="3027489"/>
                    <a:pt x="2737466" y="3039804"/>
                    <a:pt x="2728387" y="3048883"/>
                  </a:cubicBezTo>
                  <a:cubicBezTo>
                    <a:pt x="2719307" y="3057962"/>
                    <a:pt x="2706993" y="3063063"/>
                    <a:pt x="2694153" y="3063063"/>
                  </a:cubicBezTo>
                  <a:lnTo>
                    <a:pt x="48414" y="3063063"/>
                  </a:lnTo>
                  <a:cubicBezTo>
                    <a:pt x="35573" y="3063063"/>
                    <a:pt x="23259" y="3057962"/>
                    <a:pt x="14180" y="3048883"/>
                  </a:cubicBezTo>
                  <a:cubicBezTo>
                    <a:pt x="5101" y="3039804"/>
                    <a:pt x="0" y="3027489"/>
                    <a:pt x="0" y="3014649"/>
                  </a:cubicBezTo>
                  <a:lnTo>
                    <a:pt x="0" y="48414"/>
                  </a:lnTo>
                  <a:cubicBezTo>
                    <a:pt x="0" y="35573"/>
                    <a:pt x="5101" y="23259"/>
                    <a:pt x="14180" y="14180"/>
                  </a:cubicBezTo>
                  <a:cubicBezTo>
                    <a:pt x="23259" y="5101"/>
                    <a:pt x="35573" y="0"/>
                    <a:pt x="48414" y="0"/>
                  </a:cubicBezTo>
                  <a:close/>
                </a:path>
              </a:pathLst>
            </a:custGeom>
            <a:solidFill>
              <a:srgbClr val="FFFFFF"/>
            </a:solidFill>
          </p:spPr>
        </p:sp>
        <p:sp>
          <p:nvSpPr>
            <p:cNvPr name="TextBox 7" id="7"/>
            <p:cNvSpPr txBox="true"/>
            <p:nvPr/>
          </p:nvSpPr>
          <p:spPr>
            <a:xfrm>
              <a:off x="0" y="-19050"/>
              <a:ext cx="2742567" cy="3082113"/>
            </a:xfrm>
            <a:prstGeom prst="rect">
              <a:avLst/>
            </a:prstGeom>
          </p:spPr>
          <p:txBody>
            <a:bodyPr anchor="ctr" rtlCol="false" tIns="50800" lIns="50800" bIns="50800" rIns="50800"/>
            <a:lstStyle/>
            <a:p>
              <a:pPr algn="ctr">
                <a:lnSpc>
                  <a:spcPts val="2236"/>
                </a:lnSpc>
              </a:pPr>
            </a:p>
          </p:txBody>
        </p:sp>
      </p:grpSp>
      <p:sp>
        <p:nvSpPr>
          <p:cNvPr name="Freeform 8" id="8"/>
          <p:cNvSpPr/>
          <p:nvPr/>
        </p:nvSpPr>
        <p:spPr>
          <a:xfrm flipH="false" flipV="false" rot="0">
            <a:off x="10214393" y="6172858"/>
            <a:ext cx="6669489" cy="3725535"/>
          </a:xfrm>
          <a:custGeom>
            <a:avLst/>
            <a:gdLst/>
            <a:ahLst/>
            <a:cxnLst/>
            <a:rect r="r" b="b" t="t" l="l"/>
            <a:pathLst>
              <a:path h="3725535" w="6669489">
                <a:moveTo>
                  <a:pt x="0" y="0"/>
                </a:moveTo>
                <a:lnTo>
                  <a:pt x="6669488" y="0"/>
                </a:lnTo>
                <a:lnTo>
                  <a:pt x="6669488" y="3725534"/>
                </a:lnTo>
                <a:lnTo>
                  <a:pt x="0" y="3725534"/>
                </a:lnTo>
                <a:lnTo>
                  <a:pt x="0" y="0"/>
                </a:lnTo>
                <a:close/>
              </a:path>
            </a:pathLst>
          </a:custGeom>
          <a:blipFill>
            <a:blip r:embed="rId2"/>
            <a:stretch>
              <a:fillRect l="0" t="0" r="0" b="0"/>
            </a:stretch>
          </a:blipFill>
        </p:spPr>
      </p:sp>
      <p:sp>
        <p:nvSpPr>
          <p:cNvPr name="Freeform 9" id="9"/>
          <p:cNvSpPr/>
          <p:nvPr/>
        </p:nvSpPr>
        <p:spPr>
          <a:xfrm flipH="false" flipV="false" rot="0">
            <a:off x="1250659" y="6106183"/>
            <a:ext cx="6976408" cy="3896978"/>
          </a:xfrm>
          <a:custGeom>
            <a:avLst/>
            <a:gdLst/>
            <a:ahLst/>
            <a:cxnLst/>
            <a:rect r="r" b="b" t="t" l="l"/>
            <a:pathLst>
              <a:path h="3896978" w="6976408">
                <a:moveTo>
                  <a:pt x="0" y="0"/>
                </a:moveTo>
                <a:lnTo>
                  <a:pt x="6976408" y="0"/>
                </a:lnTo>
                <a:lnTo>
                  <a:pt x="6976408" y="3896977"/>
                </a:lnTo>
                <a:lnTo>
                  <a:pt x="0" y="3896977"/>
                </a:lnTo>
                <a:lnTo>
                  <a:pt x="0" y="0"/>
                </a:lnTo>
                <a:close/>
              </a:path>
            </a:pathLst>
          </a:custGeom>
          <a:blipFill>
            <a:blip r:embed="rId3"/>
            <a:stretch>
              <a:fillRect l="0" t="0" r="0" b="0"/>
            </a:stretch>
          </a:blipFill>
        </p:spPr>
      </p:sp>
      <p:sp>
        <p:nvSpPr>
          <p:cNvPr name="TextBox 10" id="10"/>
          <p:cNvSpPr txBox="true"/>
          <p:nvPr/>
        </p:nvSpPr>
        <p:spPr>
          <a:xfrm rot="0">
            <a:off x="5152987" y="200025"/>
            <a:ext cx="8424202" cy="628602"/>
          </a:xfrm>
          <a:prstGeom prst="rect">
            <a:avLst/>
          </a:prstGeom>
        </p:spPr>
        <p:txBody>
          <a:bodyPr anchor="t" rtlCol="false" tIns="0" lIns="0" bIns="0" rIns="0">
            <a:spAutoFit/>
          </a:bodyPr>
          <a:lstStyle/>
          <a:p>
            <a:pPr algn="ctr">
              <a:lnSpc>
                <a:spcPts val="4358"/>
              </a:lnSpc>
            </a:pPr>
            <a:r>
              <a:rPr lang="en-US" sz="5448" spc="-163">
                <a:solidFill>
                  <a:srgbClr val="F6766B"/>
                </a:solidFill>
                <a:latin typeface="Lazydog 1"/>
                <a:ea typeface="Lazydog 1"/>
                <a:cs typeface="Lazydog 1"/>
                <a:sym typeface="Lazydog 1"/>
              </a:rPr>
              <a:t>IT STRATEGIC PLANNING</a:t>
            </a:r>
          </a:p>
        </p:txBody>
      </p:sp>
      <p:sp>
        <p:nvSpPr>
          <p:cNvPr name="TextBox 11" id="11"/>
          <p:cNvSpPr txBox="true"/>
          <p:nvPr/>
        </p:nvSpPr>
        <p:spPr>
          <a:xfrm rot="0">
            <a:off x="955429" y="1307599"/>
            <a:ext cx="7635505" cy="871504"/>
          </a:xfrm>
          <a:prstGeom prst="rect">
            <a:avLst/>
          </a:prstGeom>
        </p:spPr>
        <p:txBody>
          <a:bodyPr anchor="t" rtlCol="false" tIns="0" lIns="0" bIns="0" rIns="0">
            <a:spAutoFit/>
          </a:bodyPr>
          <a:lstStyle/>
          <a:p>
            <a:pPr algn="l">
              <a:lnSpc>
                <a:spcPts val="3415"/>
              </a:lnSpc>
            </a:pPr>
            <a:r>
              <a:rPr lang="en-US" sz="2627" b="true">
                <a:solidFill>
                  <a:srgbClr val="28211E"/>
                </a:solidFill>
                <a:latin typeface="Arimo Bold"/>
                <a:ea typeface="Arimo Bold"/>
                <a:cs typeface="Arimo Bold"/>
                <a:sym typeface="Arimo Bold"/>
              </a:rPr>
              <a:t>Aligning IT investments with overarching business goals</a:t>
            </a:r>
          </a:p>
        </p:txBody>
      </p:sp>
      <p:sp>
        <p:nvSpPr>
          <p:cNvPr name="TextBox 12" id="12"/>
          <p:cNvSpPr txBox="true"/>
          <p:nvPr/>
        </p:nvSpPr>
        <p:spPr>
          <a:xfrm rot="0">
            <a:off x="921110" y="2211501"/>
            <a:ext cx="7635505" cy="3921987"/>
          </a:xfrm>
          <a:prstGeom prst="rect">
            <a:avLst/>
          </a:prstGeom>
        </p:spPr>
        <p:txBody>
          <a:bodyPr anchor="t" rtlCol="false" tIns="0" lIns="0" bIns="0" rIns="0">
            <a:spAutoFit/>
          </a:bodyPr>
          <a:lstStyle/>
          <a:p>
            <a:pPr algn="l">
              <a:lnSpc>
                <a:spcPts val="3212"/>
              </a:lnSpc>
            </a:pPr>
            <a:r>
              <a:rPr lang="en-US" sz="2471" b="true">
                <a:solidFill>
                  <a:srgbClr val="28211E"/>
                </a:solidFill>
                <a:latin typeface="Arimo Bold"/>
                <a:ea typeface="Arimo Bold"/>
                <a:cs typeface="Arimo Bold"/>
                <a:sym typeface="Arimo Bold"/>
              </a:rPr>
              <a:t>Definition</a:t>
            </a:r>
          </a:p>
          <a:p>
            <a:pPr algn="l">
              <a:lnSpc>
                <a:spcPts val="3110"/>
              </a:lnSpc>
            </a:pPr>
            <a:r>
              <a:rPr lang="en-US" sz="2392">
                <a:solidFill>
                  <a:srgbClr val="28211E"/>
                </a:solidFill>
                <a:latin typeface="Arimo"/>
                <a:ea typeface="Arimo"/>
                <a:cs typeface="Arimo"/>
                <a:sym typeface="Arimo"/>
              </a:rPr>
              <a:t>Ensuring IT investments support the organization's goals and long-term strategy.</a:t>
            </a:r>
          </a:p>
          <a:p>
            <a:pPr algn="l">
              <a:lnSpc>
                <a:spcPts val="3110"/>
              </a:lnSpc>
            </a:pPr>
          </a:p>
          <a:p>
            <a:pPr algn="l">
              <a:lnSpc>
                <a:spcPts val="3110"/>
              </a:lnSpc>
            </a:pPr>
            <a:r>
              <a:rPr lang="en-US" sz="2392" b="true">
                <a:solidFill>
                  <a:srgbClr val="28211E"/>
                </a:solidFill>
                <a:latin typeface="Arimo Bold"/>
                <a:ea typeface="Arimo Bold"/>
                <a:cs typeface="Arimo Bold"/>
                <a:sym typeface="Arimo Bold"/>
              </a:rPr>
              <a:t>Importance</a:t>
            </a:r>
          </a:p>
          <a:p>
            <a:pPr algn="l" marL="516638" indent="-258319" lvl="1">
              <a:lnSpc>
                <a:spcPts val="3110"/>
              </a:lnSpc>
              <a:buFont typeface="Arial"/>
              <a:buChar char="•"/>
            </a:pPr>
            <a:r>
              <a:rPr lang="en-US" sz="2392">
                <a:solidFill>
                  <a:srgbClr val="28211E"/>
                </a:solidFill>
                <a:latin typeface="Arimo"/>
                <a:ea typeface="Arimo"/>
                <a:cs typeface="Arimo"/>
                <a:sym typeface="Arimo"/>
              </a:rPr>
              <a:t>Supports business objectives</a:t>
            </a:r>
          </a:p>
          <a:p>
            <a:pPr algn="l" marL="516638" indent="-258319" lvl="1">
              <a:lnSpc>
                <a:spcPts val="3110"/>
              </a:lnSpc>
              <a:buFont typeface="Arial"/>
              <a:buChar char="•"/>
            </a:pPr>
            <a:r>
              <a:rPr lang="en-US" sz="2392">
                <a:solidFill>
                  <a:srgbClr val="28211E"/>
                </a:solidFill>
                <a:latin typeface="Arimo"/>
                <a:ea typeface="Arimo"/>
                <a:cs typeface="Arimo"/>
                <a:sym typeface="Arimo"/>
              </a:rPr>
              <a:t>Maximizes ROI</a:t>
            </a:r>
          </a:p>
          <a:p>
            <a:pPr algn="l" marL="516638" indent="-258319" lvl="1">
              <a:lnSpc>
                <a:spcPts val="3110"/>
              </a:lnSpc>
              <a:buFont typeface="Arial"/>
              <a:buChar char="•"/>
            </a:pPr>
            <a:r>
              <a:rPr lang="en-US" sz="2392">
                <a:solidFill>
                  <a:srgbClr val="28211E"/>
                </a:solidFill>
                <a:latin typeface="Arimo"/>
                <a:ea typeface="Arimo"/>
                <a:cs typeface="Arimo"/>
                <a:sym typeface="Arimo"/>
              </a:rPr>
              <a:t>Improves efficiency</a:t>
            </a:r>
          </a:p>
          <a:p>
            <a:pPr algn="l" marL="516638" indent="-258319" lvl="1">
              <a:lnSpc>
                <a:spcPts val="3110"/>
              </a:lnSpc>
              <a:buFont typeface="Arial"/>
              <a:buChar char="•"/>
            </a:pPr>
            <a:r>
              <a:rPr lang="en-US" sz="2392">
                <a:solidFill>
                  <a:srgbClr val="28211E"/>
                </a:solidFill>
                <a:latin typeface="Arimo"/>
                <a:ea typeface="Arimo"/>
                <a:cs typeface="Arimo"/>
                <a:sym typeface="Arimo"/>
              </a:rPr>
              <a:t>Prioritizes high-value projects</a:t>
            </a:r>
          </a:p>
          <a:p>
            <a:pPr algn="l">
              <a:lnSpc>
                <a:spcPts val="3110"/>
              </a:lnSpc>
            </a:pPr>
          </a:p>
        </p:txBody>
      </p:sp>
      <p:sp>
        <p:nvSpPr>
          <p:cNvPr name="TextBox 13" id="13"/>
          <p:cNvSpPr txBox="true"/>
          <p:nvPr/>
        </p:nvSpPr>
        <p:spPr>
          <a:xfrm rot="0">
            <a:off x="9765703" y="1307599"/>
            <a:ext cx="7635505" cy="871504"/>
          </a:xfrm>
          <a:prstGeom prst="rect">
            <a:avLst/>
          </a:prstGeom>
        </p:spPr>
        <p:txBody>
          <a:bodyPr anchor="t" rtlCol="false" tIns="0" lIns="0" bIns="0" rIns="0">
            <a:spAutoFit/>
          </a:bodyPr>
          <a:lstStyle/>
          <a:p>
            <a:pPr algn="l">
              <a:lnSpc>
                <a:spcPts val="3415"/>
              </a:lnSpc>
            </a:pPr>
            <a:r>
              <a:rPr lang="en-US" sz="2627" b="true">
                <a:solidFill>
                  <a:srgbClr val="28211E"/>
                </a:solidFill>
                <a:latin typeface="Arimo Bold"/>
                <a:ea typeface="Arimo Bold"/>
                <a:cs typeface="Arimo Bold"/>
                <a:sym typeface="Arimo Bold"/>
              </a:rPr>
              <a:t>Measuring IT value and return on investment (ROI)</a:t>
            </a:r>
          </a:p>
        </p:txBody>
      </p:sp>
      <p:sp>
        <p:nvSpPr>
          <p:cNvPr name="TextBox 14" id="14"/>
          <p:cNvSpPr txBox="true"/>
          <p:nvPr/>
        </p:nvSpPr>
        <p:spPr>
          <a:xfrm rot="0">
            <a:off x="9731384" y="2221026"/>
            <a:ext cx="7635505" cy="3885157"/>
          </a:xfrm>
          <a:prstGeom prst="rect">
            <a:avLst/>
          </a:prstGeom>
        </p:spPr>
        <p:txBody>
          <a:bodyPr anchor="t" rtlCol="false" tIns="0" lIns="0" bIns="0" rIns="0">
            <a:spAutoFit/>
          </a:bodyPr>
          <a:lstStyle/>
          <a:p>
            <a:pPr algn="l">
              <a:lnSpc>
                <a:spcPts val="3082"/>
              </a:lnSpc>
            </a:pPr>
            <a:r>
              <a:rPr lang="en-US" sz="2371" b="true">
                <a:solidFill>
                  <a:srgbClr val="28211E"/>
                </a:solidFill>
                <a:latin typeface="Arimo Bold"/>
                <a:ea typeface="Arimo Bold"/>
                <a:cs typeface="Arimo Bold"/>
                <a:sym typeface="Arimo Bold"/>
              </a:rPr>
              <a:t>Definition</a:t>
            </a:r>
          </a:p>
          <a:p>
            <a:pPr algn="l">
              <a:lnSpc>
                <a:spcPts val="3082"/>
              </a:lnSpc>
            </a:pPr>
            <a:r>
              <a:rPr lang="en-US" sz="2371">
                <a:solidFill>
                  <a:srgbClr val="28211E"/>
                </a:solidFill>
                <a:latin typeface="Arimo"/>
                <a:ea typeface="Arimo"/>
                <a:cs typeface="Arimo"/>
                <a:sym typeface="Arimo"/>
              </a:rPr>
              <a:t>Mea</a:t>
            </a:r>
            <a:r>
              <a:rPr lang="en-US" sz="2371">
                <a:solidFill>
                  <a:srgbClr val="28211E"/>
                </a:solidFill>
                <a:latin typeface="Arimo"/>
                <a:ea typeface="Arimo"/>
                <a:cs typeface="Arimo"/>
                <a:sym typeface="Arimo"/>
              </a:rPr>
              <a:t>suring IT value and ROI evaluates whether technology investments deliver benefits that justify their costs.</a:t>
            </a:r>
          </a:p>
          <a:p>
            <a:pPr algn="l">
              <a:lnSpc>
                <a:spcPts val="3082"/>
              </a:lnSpc>
            </a:pPr>
            <a:r>
              <a:rPr lang="en-US" sz="2371" b="true">
                <a:solidFill>
                  <a:srgbClr val="28211E"/>
                </a:solidFill>
                <a:latin typeface="Arimo Bold"/>
                <a:ea typeface="Arimo Bold"/>
                <a:cs typeface="Arimo Bold"/>
                <a:sym typeface="Arimo Bold"/>
              </a:rPr>
              <a:t>Importance</a:t>
            </a:r>
          </a:p>
          <a:p>
            <a:pPr algn="l" marL="511957" indent="-255978" lvl="1">
              <a:lnSpc>
                <a:spcPts val="3082"/>
              </a:lnSpc>
              <a:buFont typeface="Arial"/>
              <a:buChar char="•"/>
            </a:pPr>
            <a:r>
              <a:rPr lang="en-US" sz="2371">
                <a:solidFill>
                  <a:srgbClr val="28211E"/>
                </a:solidFill>
                <a:latin typeface="Arimo"/>
                <a:ea typeface="Arimo"/>
                <a:cs typeface="Arimo"/>
                <a:sym typeface="Arimo"/>
              </a:rPr>
              <a:t>Meas</a:t>
            </a:r>
            <a:r>
              <a:rPr lang="en-US" sz="2371">
                <a:solidFill>
                  <a:srgbClr val="28211E"/>
                </a:solidFill>
                <a:latin typeface="Arimo"/>
                <a:ea typeface="Arimo"/>
                <a:cs typeface="Arimo"/>
                <a:sym typeface="Arimo"/>
              </a:rPr>
              <a:t>ures investment effectiveness</a:t>
            </a:r>
          </a:p>
          <a:p>
            <a:pPr algn="l" marL="511957" indent="-255978" lvl="1">
              <a:lnSpc>
                <a:spcPts val="3082"/>
              </a:lnSpc>
              <a:buFont typeface="Arial"/>
              <a:buChar char="•"/>
            </a:pPr>
            <a:r>
              <a:rPr lang="en-US" sz="2371">
                <a:solidFill>
                  <a:srgbClr val="28211E"/>
                </a:solidFill>
                <a:latin typeface="Arimo"/>
                <a:ea typeface="Arimo"/>
                <a:cs typeface="Arimo"/>
                <a:sym typeface="Arimo"/>
              </a:rPr>
              <a:t>Sup</a:t>
            </a:r>
            <a:r>
              <a:rPr lang="en-US" sz="2371">
                <a:solidFill>
                  <a:srgbClr val="28211E"/>
                </a:solidFill>
                <a:latin typeface="Arimo"/>
                <a:ea typeface="Arimo"/>
                <a:cs typeface="Arimo"/>
                <a:sym typeface="Arimo"/>
              </a:rPr>
              <a:t>ports better decision-making</a:t>
            </a:r>
          </a:p>
          <a:p>
            <a:pPr algn="l" marL="511957" indent="-255978" lvl="1">
              <a:lnSpc>
                <a:spcPts val="3082"/>
              </a:lnSpc>
              <a:buFont typeface="Arial"/>
              <a:buChar char="•"/>
            </a:pPr>
            <a:r>
              <a:rPr lang="en-US" sz="2371">
                <a:solidFill>
                  <a:srgbClr val="28211E"/>
                </a:solidFill>
                <a:latin typeface="Arimo"/>
                <a:ea typeface="Arimo"/>
                <a:cs typeface="Arimo"/>
                <a:sym typeface="Arimo"/>
              </a:rPr>
              <a:t>Identifies high-value projects</a:t>
            </a:r>
          </a:p>
          <a:p>
            <a:pPr algn="l" marL="511957" indent="-255978" lvl="1">
              <a:lnSpc>
                <a:spcPts val="3082"/>
              </a:lnSpc>
              <a:buFont typeface="Arial"/>
              <a:buChar char="•"/>
            </a:pPr>
            <a:r>
              <a:rPr lang="en-US" sz="2371">
                <a:solidFill>
                  <a:srgbClr val="28211E"/>
                </a:solidFill>
                <a:latin typeface="Arimo"/>
                <a:ea typeface="Arimo"/>
                <a:cs typeface="Arimo"/>
                <a:sym typeface="Arimo"/>
              </a:rPr>
              <a:t>Optimizes IT spending</a:t>
            </a:r>
          </a:p>
          <a:p>
            <a:pPr algn="l">
              <a:lnSpc>
                <a:spcPts val="2980"/>
              </a:lnSpc>
            </a:pPr>
          </a:p>
        </p:txBody>
      </p:sp>
      <p:sp>
        <p:nvSpPr>
          <p:cNvPr name="TextBox 15" id="15"/>
          <p:cNvSpPr txBox="true"/>
          <p:nvPr/>
        </p:nvSpPr>
        <p:spPr>
          <a:xfrm rot="0">
            <a:off x="15849127" y="105995"/>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EGO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grpSp>
        <p:nvGrpSpPr>
          <p:cNvPr name="Group 2" id="2"/>
          <p:cNvGrpSpPr/>
          <p:nvPr/>
        </p:nvGrpSpPr>
        <p:grpSpPr>
          <a:xfrm rot="0">
            <a:off x="205761" y="2413891"/>
            <a:ext cx="5811635" cy="7562286"/>
            <a:chOff x="0" y="0"/>
            <a:chExt cx="2223912" cy="2893825"/>
          </a:xfrm>
        </p:grpSpPr>
        <p:sp>
          <p:nvSpPr>
            <p:cNvPr name="Freeform 3" id="3"/>
            <p:cNvSpPr/>
            <p:nvPr/>
          </p:nvSpPr>
          <p:spPr>
            <a:xfrm flipH="false" flipV="false" rot="0">
              <a:off x="0" y="0"/>
              <a:ext cx="2223912" cy="2893825"/>
            </a:xfrm>
            <a:custGeom>
              <a:avLst/>
              <a:gdLst/>
              <a:ahLst/>
              <a:cxnLst/>
              <a:rect r="r" b="b" t="t" l="l"/>
              <a:pathLst>
                <a:path h="2893825" w="2223912">
                  <a:moveTo>
                    <a:pt x="67939" y="0"/>
                  </a:moveTo>
                  <a:lnTo>
                    <a:pt x="2155972" y="0"/>
                  </a:lnTo>
                  <a:cubicBezTo>
                    <a:pt x="2173991" y="0"/>
                    <a:pt x="2191271" y="7158"/>
                    <a:pt x="2204013" y="19899"/>
                  </a:cubicBezTo>
                  <a:cubicBezTo>
                    <a:pt x="2216754" y="32640"/>
                    <a:pt x="2223912" y="49921"/>
                    <a:pt x="2223912" y="67939"/>
                  </a:cubicBezTo>
                  <a:lnTo>
                    <a:pt x="2223912" y="2825886"/>
                  </a:lnTo>
                  <a:cubicBezTo>
                    <a:pt x="2223912" y="2863408"/>
                    <a:pt x="2193494" y="2893825"/>
                    <a:pt x="2155972" y="2893825"/>
                  </a:cubicBezTo>
                  <a:lnTo>
                    <a:pt x="67939" y="2893825"/>
                  </a:lnTo>
                  <a:cubicBezTo>
                    <a:pt x="49921" y="2893825"/>
                    <a:pt x="32640" y="2886667"/>
                    <a:pt x="19899" y="2873926"/>
                  </a:cubicBezTo>
                  <a:cubicBezTo>
                    <a:pt x="7158" y="2861185"/>
                    <a:pt x="0" y="2843904"/>
                    <a:pt x="0" y="2825886"/>
                  </a:cubicBezTo>
                  <a:lnTo>
                    <a:pt x="0" y="67939"/>
                  </a:lnTo>
                  <a:cubicBezTo>
                    <a:pt x="0" y="49921"/>
                    <a:pt x="7158" y="32640"/>
                    <a:pt x="19899" y="19899"/>
                  </a:cubicBezTo>
                  <a:cubicBezTo>
                    <a:pt x="32640" y="7158"/>
                    <a:pt x="49921" y="0"/>
                    <a:pt x="67939" y="0"/>
                  </a:cubicBezTo>
                  <a:close/>
                </a:path>
              </a:pathLst>
            </a:custGeom>
            <a:solidFill>
              <a:srgbClr val="FFFFFF"/>
            </a:solidFill>
          </p:spPr>
        </p:sp>
        <p:sp>
          <p:nvSpPr>
            <p:cNvPr name="TextBox 4" id="4"/>
            <p:cNvSpPr txBox="true"/>
            <p:nvPr/>
          </p:nvSpPr>
          <p:spPr>
            <a:xfrm>
              <a:off x="0" y="-19050"/>
              <a:ext cx="2223912" cy="2912875"/>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0">
            <a:off x="1184221" y="2482917"/>
            <a:ext cx="3954502" cy="3487213"/>
          </a:xfrm>
          <a:custGeom>
            <a:avLst/>
            <a:gdLst/>
            <a:ahLst/>
            <a:cxnLst/>
            <a:rect r="r" b="b" t="t" l="l"/>
            <a:pathLst>
              <a:path h="3487213" w="3954502">
                <a:moveTo>
                  <a:pt x="0" y="0"/>
                </a:moveTo>
                <a:lnTo>
                  <a:pt x="3954502" y="0"/>
                </a:lnTo>
                <a:lnTo>
                  <a:pt x="3954502" y="3487213"/>
                </a:lnTo>
                <a:lnTo>
                  <a:pt x="0" y="3487213"/>
                </a:lnTo>
                <a:lnTo>
                  <a:pt x="0" y="0"/>
                </a:lnTo>
                <a:close/>
              </a:path>
            </a:pathLst>
          </a:custGeom>
          <a:blipFill>
            <a:blip r:embed="rId2"/>
            <a:stretch>
              <a:fillRect l="-24208" t="0" r="-22763" b="0"/>
            </a:stretch>
          </a:blipFill>
        </p:spPr>
      </p:sp>
      <p:sp>
        <p:nvSpPr>
          <p:cNvPr name="TextBox 6" id="6"/>
          <p:cNvSpPr txBox="true"/>
          <p:nvPr/>
        </p:nvSpPr>
        <p:spPr>
          <a:xfrm rot="0">
            <a:off x="15699152" y="19050"/>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EGO</a:t>
            </a:r>
          </a:p>
        </p:txBody>
      </p:sp>
      <p:grpSp>
        <p:nvGrpSpPr>
          <p:cNvPr name="Group 7" id="7"/>
          <p:cNvGrpSpPr/>
          <p:nvPr/>
        </p:nvGrpSpPr>
        <p:grpSpPr>
          <a:xfrm rot="0">
            <a:off x="6238182" y="2387544"/>
            <a:ext cx="5811635" cy="7562286"/>
            <a:chOff x="0" y="0"/>
            <a:chExt cx="2223912" cy="2893825"/>
          </a:xfrm>
        </p:grpSpPr>
        <p:sp>
          <p:nvSpPr>
            <p:cNvPr name="Freeform 8" id="8"/>
            <p:cNvSpPr/>
            <p:nvPr/>
          </p:nvSpPr>
          <p:spPr>
            <a:xfrm flipH="false" flipV="false" rot="0">
              <a:off x="0" y="0"/>
              <a:ext cx="2223912" cy="2893825"/>
            </a:xfrm>
            <a:custGeom>
              <a:avLst/>
              <a:gdLst/>
              <a:ahLst/>
              <a:cxnLst/>
              <a:rect r="r" b="b" t="t" l="l"/>
              <a:pathLst>
                <a:path h="2893825" w="2223912">
                  <a:moveTo>
                    <a:pt x="67939" y="0"/>
                  </a:moveTo>
                  <a:lnTo>
                    <a:pt x="2155972" y="0"/>
                  </a:lnTo>
                  <a:cubicBezTo>
                    <a:pt x="2173991" y="0"/>
                    <a:pt x="2191271" y="7158"/>
                    <a:pt x="2204013" y="19899"/>
                  </a:cubicBezTo>
                  <a:cubicBezTo>
                    <a:pt x="2216754" y="32640"/>
                    <a:pt x="2223912" y="49921"/>
                    <a:pt x="2223912" y="67939"/>
                  </a:cubicBezTo>
                  <a:lnTo>
                    <a:pt x="2223912" y="2825886"/>
                  </a:lnTo>
                  <a:cubicBezTo>
                    <a:pt x="2223912" y="2863408"/>
                    <a:pt x="2193494" y="2893825"/>
                    <a:pt x="2155972" y="2893825"/>
                  </a:cubicBezTo>
                  <a:lnTo>
                    <a:pt x="67939" y="2893825"/>
                  </a:lnTo>
                  <a:cubicBezTo>
                    <a:pt x="49921" y="2893825"/>
                    <a:pt x="32640" y="2886667"/>
                    <a:pt x="19899" y="2873926"/>
                  </a:cubicBezTo>
                  <a:cubicBezTo>
                    <a:pt x="7158" y="2861185"/>
                    <a:pt x="0" y="2843904"/>
                    <a:pt x="0" y="2825886"/>
                  </a:cubicBezTo>
                  <a:lnTo>
                    <a:pt x="0" y="67939"/>
                  </a:lnTo>
                  <a:cubicBezTo>
                    <a:pt x="0" y="49921"/>
                    <a:pt x="7158" y="32640"/>
                    <a:pt x="19899" y="19899"/>
                  </a:cubicBezTo>
                  <a:cubicBezTo>
                    <a:pt x="32640" y="7158"/>
                    <a:pt x="49921" y="0"/>
                    <a:pt x="67939" y="0"/>
                  </a:cubicBezTo>
                  <a:close/>
                </a:path>
              </a:pathLst>
            </a:custGeom>
            <a:solidFill>
              <a:srgbClr val="FFFFFF"/>
            </a:solidFill>
          </p:spPr>
        </p:sp>
        <p:sp>
          <p:nvSpPr>
            <p:cNvPr name="TextBox 9" id="9"/>
            <p:cNvSpPr txBox="true"/>
            <p:nvPr/>
          </p:nvSpPr>
          <p:spPr>
            <a:xfrm>
              <a:off x="0" y="-19050"/>
              <a:ext cx="2223912" cy="2912875"/>
            </a:xfrm>
            <a:prstGeom prst="rect">
              <a:avLst/>
            </a:prstGeom>
          </p:spPr>
          <p:txBody>
            <a:bodyPr anchor="ctr" rtlCol="false" tIns="50800" lIns="50800" bIns="50800" rIns="50800"/>
            <a:lstStyle/>
            <a:p>
              <a:pPr algn="ctr">
                <a:lnSpc>
                  <a:spcPts val="2236"/>
                </a:lnSpc>
              </a:pPr>
            </a:p>
          </p:txBody>
        </p:sp>
      </p:grpSp>
      <p:grpSp>
        <p:nvGrpSpPr>
          <p:cNvPr name="Group 10" id="10"/>
          <p:cNvGrpSpPr/>
          <p:nvPr/>
        </p:nvGrpSpPr>
        <p:grpSpPr>
          <a:xfrm rot="0">
            <a:off x="12261079" y="2387544"/>
            <a:ext cx="5811635" cy="7562286"/>
            <a:chOff x="0" y="0"/>
            <a:chExt cx="2223912" cy="2893825"/>
          </a:xfrm>
        </p:grpSpPr>
        <p:sp>
          <p:nvSpPr>
            <p:cNvPr name="Freeform 11" id="11"/>
            <p:cNvSpPr/>
            <p:nvPr/>
          </p:nvSpPr>
          <p:spPr>
            <a:xfrm flipH="false" flipV="false" rot="0">
              <a:off x="0" y="0"/>
              <a:ext cx="2223912" cy="2893825"/>
            </a:xfrm>
            <a:custGeom>
              <a:avLst/>
              <a:gdLst/>
              <a:ahLst/>
              <a:cxnLst/>
              <a:rect r="r" b="b" t="t" l="l"/>
              <a:pathLst>
                <a:path h="2893825" w="2223912">
                  <a:moveTo>
                    <a:pt x="67939" y="0"/>
                  </a:moveTo>
                  <a:lnTo>
                    <a:pt x="2155972" y="0"/>
                  </a:lnTo>
                  <a:cubicBezTo>
                    <a:pt x="2173991" y="0"/>
                    <a:pt x="2191271" y="7158"/>
                    <a:pt x="2204013" y="19899"/>
                  </a:cubicBezTo>
                  <a:cubicBezTo>
                    <a:pt x="2216754" y="32640"/>
                    <a:pt x="2223912" y="49921"/>
                    <a:pt x="2223912" y="67939"/>
                  </a:cubicBezTo>
                  <a:lnTo>
                    <a:pt x="2223912" y="2825886"/>
                  </a:lnTo>
                  <a:cubicBezTo>
                    <a:pt x="2223912" y="2863408"/>
                    <a:pt x="2193494" y="2893825"/>
                    <a:pt x="2155972" y="2893825"/>
                  </a:cubicBezTo>
                  <a:lnTo>
                    <a:pt x="67939" y="2893825"/>
                  </a:lnTo>
                  <a:cubicBezTo>
                    <a:pt x="49921" y="2893825"/>
                    <a:pt x="32640" y="2886667"/>
                    <a:pt x="19899" y="2873926"/>
                  </a:cubicBezTo>
                  <a:cubicBezTo>
                    <a:pt x="7158" y="2861185"/>
                    <a:pt x="0" y="2843904"/>
                    <a:pt x="0" y="2825886"/>
                  </a:cubicBezTo>
                  <a:lnTo>
                    <a:pt x="0" y="67939"/>
                  </a:lnTo>
                  <a:cubicBezTo>
                    <a:pt x="0" y="49921"/>
                    <a:pt x="7158" y="32640"/>
                    <a:pt x="19899" y="19899"/>
                  </a:cubicBezTo>
                  <a:cubicBezTo>
                    <a:pt x="32640" y="7158"/>
                    <a:pt x="49921" y="0"/>
                    <a:pt x="67939" y="0"/>
                  </a:cubicBezTo>
                  <a:close/>
                </a:path>
              </a:pathLst>
            </a:custGeom>
            <a:solidFill>
              <a:srgbClr val="FFFFFF"/>
            </a:solidFill>
          </p:spPr>
        </p:sp>
        <p:sp>
          <p:nvSpPr>
            <p:cNvPr name="TextBox 12" id="12"/>
            <p:cNvSpPr txBox="true"/>
            <p:nvPr/>
          </p:nvSpPr>
          <p:spPr>
            <a:xfrm>
              <a:off x="0" y="-19050"/>
              <a:ext cx="2223912" cy="2912875"/>
            </a:xfrm>
            <a:prstGeom prst="rect">
              <a:avLst/>
            </a:prstGeom>
          </p:spPr>
          <p:txBody>
            <a:bodyPr anchor="ctr" rtlCol="false" tIns="50800" lIns="50800" bIns="50800" rIns="50800"/>
            <a:lstStyle/>
            <a:p>
              <a:pPr algn="ctr">
                <a:lnSpc>
                  <a:spcPts val="2236"/>
                </a:lnSpc>
              </a:pPr>
            </a:p>
          </p:txBody>
        </p:sp>
      </p:grpSp>
      <p:sp>
        <p:nvSpPr>
          <p:cNvPr name="Freeform 13" id="13"/>
          <p:cNvSpPr/>
          <p:nvPr/>
        </p:nvSpPr>
        <p:spPr>
          <a:xfrm flipH="false" flipV="false" rot="0">
            <a:off x="7156080" y="2876800"/>
            <a:ext cx="4075627" cy="2699447"/>
          </a:xfrm>
          <a:custGeom>
            <a:avLst/>
            <a:gdLst/>
            <a:ahLst/>
            <a:cxnLst/>
            <a:rect r="r" b="b" t="t" l="l"/>
            <a:pathLst>
              <a:path h="2699447" w="4075627">
                <a:moveTo>
                  <a:pt x="0" y="0"/>
                </a:moveTo>
                <a:lnTo>
                  <a:pt x="4075627" y="0"/>
                </a:lnTo>
                <a:lnTo>
                  <a:pt x="4075627" y="2699447"/>
                </a:lnTo>
                <a:lnTo>
                  <a:pt x="0" y="2699447"/>
                </a:lnTo>
                <a:lnTo>
                  <a:pt x="0" y="0"/>
                </a:lnTo>
                <a:close/>
              </a:path>
            </a:pathLst>
          </a:custGeom>
          <a:blipFill>
            <a:blip r:embed="rId3"/>
            <a:stretch>
              <a:fillRect l="-23258" t="-35115" r="-14255" b="-20955"/>
            </a:stretch>
          </a:blipFill>
        </p:spPr>
      </p:sp>
      <p:sp>
        <p:nvSpPr>
          <p:cNvPr name="Freeform 14" id="14"/>
          <p:cNvSpPr/>
          <p:nvPr/>
        </p:nvSpPr>
        <p:spPr>
          <a:xfrm flipH="false" flipV="false" rot="0">
            <a:off x="13800566" y="2834420"/>
            <a:ext cx="2732661" cy="2735187"/>
          </a:xfrm>
          <a:custGeom>
            <a:avLst/>
            <a:gdLst/>
            <a:ahLst/>
            <a:cxnLst/>
            <a:rect r="r" b="b" t="t" l="l"/>
            <a:pathLst>
              <a:path h="2735187" w="2732661">
                <a:moveTo>
                  <a:pt x="0" y="0"/>
                </a:moveTo>
                <a:lnTo>
                  <a:pt x="2732661" y="0"/>
                </a:lnTo>
                <a:lnTo>
                  <a:pt x="2732661" y="2735187"/>
                </a:lnTo>
                <a:lnTo>
                  <a:pt x="0" y="2735187"/>
                </a:lnTo>
                <a:lnTo>
                  <a:pt x="0" y="0"/>
                </a:lnTo>
                <a:close/>
              </a:path>
            </a:pathLst>
          </a:custGeom>
          <a:blipFill>
            <a:blip r:embed="rId4"/>
            <a:stretch>
              <a:fillRect l="0" t="0" r="0" b="0"/>
            </a:stretch>
          </a:blipFill>
        </p:spPr>
      </p:sp>
      <p:sp>
        <p:nvSpPr>
          <p:cNvPr name="TextBox 15" id="15"/>
          <p:cNvSpPr txBox="true"/>
          <p:nvPr/>
        </p:nvSpPr>
        <p:spPr>
          <a:xfrm rot="0">
            <a:off x="3250026" y="483230"/>
            <a:ext cx="11789124" cy="1319539"/>
          </a:xfrm>
          <a:prstGeom prst="rect">
            <a:avLst/>
          </a:prstGeom>
        </p:spPr>
        <p:txBody>
          <a:bodyPr anchor="t" rtlCol="false" tIns="0" lIns="0" bIns="0" rIns="0">
            <a:spAutoFit/>
          </a:bodyPr>
          <a:lstStyle/>
          <a:p>
            <a:pPr algn="ctr">
              <a:lnSpc>
                <a:spcPts val="4880"/>
              </a:lnSpc>
            </a:pPr>
            <a:r>
              <a:rPr lang="en-US" sz="6100" spc="-183">
                <a:solidFill>
                  <a:srgbClr val="28211E"/>
                </a:solidFill>
                <a:latin typeface="Lazydog 1"/>
                <a:ea typeface="Lazydog 1"/>
                <a:cs typeface="Lazydog 1"/>
                <a:sym typeface="Lazydog 1"/>
              </a:rPr>
              <a:t>Foundations of Security Strategy</a:t>
            </a:r>
          </a:p>
        </p:txBody>
      </p:sp>
      <p:sp>
        <p:nvSpPr>
          <p:cNvPr name="TextBox 16" id="16"/>
          <p:cNvSpPr txBox="true"/>
          <p:nvPr/>
        </p:nvSpPr>
        <p:spPr>
          <a:xfrm rot="0">
            <a:off x="1806600" y="6069172"/>
            <a:ext cx="2609956" cy="329332"/>
          </a:xfrm>
          <a:prstGeom prst="rect">
            <a:avLst/>
          </a:prstGeom>
        </p:spPr>
        <p:txBody>
          <a:bodyPr anchor="t" rtlCol="false" tIns="0" lIns="0" bIns="0" rIns="0">
            <a:spAutoFit/>
          </a:bodyPr>
          <a:lstStyle/>
          <a:p>
            <a:pPr algn="ctr">
              <a:lnSpc>
                <a:spcPts val="2629"/>
              </a:lnSpc>
            </a:pPr>
            <a:r>
              <a:rPr lang="en-US" b="true" sz="2022">
                <a:solidFill>
                  <a:srgbClr val="28211E"/>
                </a:solidFill>
                <a:latin typeface="Arimo Bold"/>
                <a:ea typeface="Arimo Bold"/>
                <a:cs typeface="Arimo Bold"/>
                <a:sym typeface="Arimo Bold"/>
              </a:rPr>
              <a:t>C.I.A. TRIAD</a:t>
            </a:r>
          </a:p>
        </p:txBody>
      </p:sp>
      <p:sp>
        <p:nvSpPr>
          <p:cNvPr name="TextBox 17" id="17"/>
          <p:cNvSpPr txBox="true"/>
          <p:nvPr/>
        </p:nvSpPr>
        <p:spPr>
          <a:xfrm rot="0">
            <a:off x="417007" y="6599030"/>
            <a:ext cx="5488930" cy="3430635"/>
          </a:xfrm>
          <a:prstGeom prst="rect">
            <a:avLst/>
          </a:prstGeom>
        </p:spPr>
        <p:txBody>
          <a:bodyPr anchor="t" rtlCol="false" tIns="0" lIns="0" bIns="0" rIns="0">
            <a:spAutoFit/>
          </a:bodyPr>
          <a:lstStyle/>
          <a:p>
            <a:pPr algn="l">
              <a:lnSpc>
                <a:spcPts val="2757"/>
              </a:lnSpc>
            </a:pPr>
            <a:r>
              <a:rPr lang="en-US" sz="2121">
                <a:solidFill>
                  <a:srgbClr val="282421"/>
                </a:solidFill>
                <a:latin typeface="Arimo"/>
                <a:ea typeface="Arimo"/>
                <a:cs typeface="Arimo"/>
                <a:sym typeface="Arimo"/>
              </a:rPr>
              <a:t>The Core principle of information security used to protect org</a:t>
            </a:r>
            <a:r>
              <a:rPr lang="en-US" sz="2121">
                <a:solidFill>
                  <a:srgbClr val="282421"/>
                </a:solidFill>
                <a:latin typeface="Arimo"/>
                <a:ea typeface="Arimo"/>
                <a:cs typeface="Arimo"/>
                <a:sym typeface="Arimo"/>
              </a:rPr>
              <a:t>anizational data and systems.</a:t>
            </a:r>
          </a:p>
          <a:p>
            <a:pPr algn="l" marL="457972" indent="-228986" lvl="1">
              <a:lnSpc>
                <a:spcPts val="2757"/>
              </a:lnSpc>
              <a:buFont typeface="Arial"/>
              <a:buChar char="•"/>
            </a:pPr>
            <a:r>
              <a:rPr lang="en-US" b="true" sz="2121">
                <a:solidFill>
                  <a:srgbClr val="282421"/>
                </a:solidFill>
                <a:latin typeface="Arimo Bold"/>
                <a:ea typeface="Arimo Bold"/>
                <a:cs typeface="Arimo Bold"/>
                <a:sym typeface="Arimo Bold"/>
              </a:rPr>
              <a:t>Confidentiality</a:t>
            </a:r>
            <a:r>
              <a:rPr lang="en-US" sz="2121">
                <a:solidFill>
                  <a:srgbClr val="282421"/>
                </a:solidFill>
                <a:latin typeface="Arimo"/>
                <a:ea typeface="Arimo"/>
                <a:cs typeface="Arimo"/>
                <a:sym typeface="Arimo"/>
              </a:rPr>
              <a:t> – Prevents unauthorized access to information.</a:t>
            </a:r>
          </a:p>
          <a:p>
            <a:pPr algn="l" marL="457972" indent="-228986" lvl="1">
              <a:lnSpc>
                <a:spcPts val="2757"/>
              </a:lnSpc>
              <a:buFont typeface="Arial"/>
              <a:buChar char="•"/>
            </a:pPr>
            <a:r>
              <a:rPr lang="en-US" b="true" sz="2121">
                <a:solidFill>
                  <a:srgbClr val="282421"/>
                </a:solidFill>
                <a:latin typeface="Arimo Bold"/>
                <a:ea typeface="Arimo Bold"/>
                <a:cs typeface="Arimo Bold"/>
                <a:sym typeface="Arimo Bold"/>
              </a:rPr>
              <a:t>Integrity </a:t>
            </a:r>
            <a:r>
              <a:rPr lang="en-US" sz="2121">
                <a:solidFill>
                  <a:srgbClr val="282421"/>
                </a:solidFill>
                <a:latin typeface="Arimo"/>
                <a:ea typeface="Arimo"/>
                <a:cs typeface="Arimo"/>
                <a:sym typeface="Arimo"/>
              </a:rPr>
              <a:t>– Ensures data is accurate and unaltered.</a:t>
            </a:r>
          </a:p>
          <a:p>
            <a:pPr algn="l" marL="457972" indent="-228986" lvl="1">
              <a:lnSpc>
                <a:spcPts val="2757"/>
              </a:lnSpc>
              <a:buFont typeface="Arial"/>
              <a:buChar char="•"/>
            </a:pPr>
            <a:r>
              <a:rPr lang="en-US" b="true" sz="2121">
                <a:solidFill>
                  <a:srgbClr val="282421"/>
                </a:solidFill>
                <a:latin typeface="Arimo Bold"/>
                <a:ea typeface="Arimo Bold"/>
                <a:cs typeface="Arimo Bold"/>
                <a:sym typeface="Arimo Bold"/>
              </a:rPr>
              <a:t>Availability </a:t>
            </a:r>
            <a:r>
              <a:rPr lang="en-US" sz="2121">
                <a:solidFill>
                  <a:srgbClr val="282421"/>
                </a:solidFill>
                <a:latin typeface="Arimo"/>
                <a:ea typeface="Arimo"/>
                <a:cs typeface="Arimo"/>
                <a:sym typeface="Arimo"/>
              </a:rPr>
              <a:t>– Ensures systems and data are accessible when needed.</a:t>
            </a:r>
          </a:p>
          <a:p>
            <a:pPr algn="l">
              <a:lnSpc>
                <a:spcPts val="2757"/>
              </a:lnSpc>
            </a:pPr>
          </a:p>
        </p:txBody>
      </p:sp>
      <p:sp>
        <p:nvSpPr>
          <p:cNvPr name="TextBox 18" id="18"/>
          <p:cNvSpPr txBox="true"/>
          <p:nvPr/>
        </p:nvSpPr>
        <p:spPr>
          <a:xfrm rot="0">
            <a:off x="7298230" y="5852856"/>
            <a:ext cx="3791326" cy="655782"/>
          </a:xfrm>
          <a:prstGeom prst="rect">
            <a:avLst/>
          </a:prstGeom>
        </p:spPr>
        <p:txBody>
          <a:bodyPr anchor="t" rtlCol="false" tIns="0" lIns="0" bIns="0" rIns="0">
            <a:spAutoFit/>
          </a:bodyPr>
          <a:lstStyle/>
          <a:p>
            <a:pPr algn="ctr">
              <a:lnSpc>
                <a:spcPts val="2629"/>
              </a:lnSpc>
            </a:pPr>
            <a:r>
              <a:rPr lang="en-US" b="true" sz="2022">
                <a:solidFill>
                  <a:srgbClr val="28211E"/>
                </a:solidFill>
                <a:latin typeface="Arimo Bold"/>
                <a:ea typeface="Arimo Bold"/>
                <a:cs typeface="Arimo Bold"/>
                <a:sym typeface="Arimo Bold"/>
              </a:rPr>
              <a:t>Business Enabler vs. an IT Roadblock</a:t>
            </a:r>
          </a:p>
        </p:txBody>
      </p:sp>
      <p:sp>
        <p:nvSpPr>
          <p:cNvPr name="TextBox 19" id="19"/>
          <p:cNvSpPr txBox="true"/>
          <p:nvPr/>
        </p:nvSpPr>
        <p:spPr>
          <a:xfrm rot="0">
            <a:off x="6449428" y="6640391"/>
            <a:ext cx="5488930" cy="2895965"/>
          </a:xfrm>
          <a:prstGeom prst="rect">
            <a:avLst/>
          </a:prstGeom>
        </p:spPr>
        <p:txBody>
          <a:bodyPr anchor="t" rtlCol="false" tIns="0" lIns="0" bIns="0" rIns="0">
            <a:spAutoFit/>
          </a:bodyPr>
          <a:lstStyle/>
          <a:p>
            <a:pPr algn="l">
              <a:lnSpc>
                <a:spcPts val="2887"/>
              </a:lnSpc>
            </a:pPr>
            <a:r>
              <a:rPr lang="en-US" sz="2221" b="true">
                <a:solidFill>
                  <a:srgbClr val="282421"/>
                </a:solidFill>
                <a:latin typeface="Arimo Bold"/>
                <a:ea typeface="Arimo Bold"/>
                <a:cs typeface="Arimo Bold"/>
                <a:sym typeface="Arimo Bold"/>
              </a:rPr>
              <a:t>Business Enabler</a:t>
            </a:r>
          </a:p>
          <a:p>
            <a:pPr algn="l" marL="479562" indent="-239781" lvl="1">
              <a:lnSpc>
                <a:spcPts val="2887"/>
              </a:lnSpc>
              <a:buFont typeface="Arial"/>
              <a:buChar char="•"/>
            </a:pPr>
            <a:r>
              <a:rPr lang="en-US" sz="2221">
                <a:solidFill>
                  <a:srgbClr val="282421"/>
                </a:solidFill>
                <a:latin typeface="Arimo"/>
                <a:ea typeface="Arimo"/>
                <a:cs typeface="Arimo"/>
                <a:sym typeface="Arimo"/>
              </a:rPr>
              <a:t>Protects data and customer trust</a:t>
            </a:r>
          </a:p>
          <a:p>
            <a:pPr algn="l" marL="479562" indent="-239781" lvl="1">
              <a:lnSpc>
                <a:spcPts val="2887"/>
              </a:lnSpc>
              <a:buFont typeface="Arial"/>
              <a:buChar char="•"/>
            </a:pPr>
            <a:r>
              <a:rPr lang="en-US" sz="2221">
                <a:solidFill>
                  <a:srgbClr val="282421"/>
                </a:solidFill>
                <a:latin typeface="Arimo"/>
                <a:ea typeface="Arimo"/>
                <a:cs typeface="Arimo"/>
                <a:sym typeface="Arimo"/>
              </a:rPr>
              <a:t>Supports compliance</a:t>
            </a:r>
          </a:p>
          <a:p>
            <a:pPr algn="l" marL="479562" indent="-239781" lvl="1">
              <a:lnSpc>
                <a:spcPts val="2887"/>
              </a:lnSpc>
              <a:buFont typeface="Arial"/>
              <a:buChar char="•"/>
            </a:pPr>
            <a:r>
              <a:rPr lang="en-US" sz="2221">
                <a:solidFill>
                  <a:srgbClr val="282421"/>
                </a:solidFill>
                <a:latin typeface="Arimo"/>
                <a:ea typeface="Arimo"/>
                <a:cs typeface="Arimo"/>
                <a:sym typeface="Arimo"/>
              </a:rPr>
              <a:t>En</a:t>
            </a:r>
            <a:r>
              <a:rPr lang="en-US" sz="2221">
                <a:solidFill>
                  <a:srgbClr val="282421"/>
                </a:solidFill>
                <a:latin typeface="Arimo"/>
                <a:ea typeface="Arimo"/>
                <a:cs typeface="Arimo"/>
                <a:sym typeface="Arimo"/>
              </a:rPr>
              <a:t>abl</a:t>
            </a:r>
            <a:r>
              <a:rPr lang="en-US" sz="2221">
                <a:solidFill>
                  <a:srgbClr val="282421"/>
                </a:solidFill>
                <a:latin typeface="Arimo"/>
                <a:ea typeface="Arimo"/>
                <a:cs typeface="Arimo"/>
                <a:sym typeface="Arimo"/>
              </a:rPr>
              <a:t>es safe innovation</a:t>
            </a:r>
          </a:p>
          <a:p>
            <a:pPr algn="l">
              <a:lnSpc>
                <a:spcPts val="2887"/>
              </a:lnSpc>
            </a:pPr>
            <a:r>
              <a:rPr lang="en-US" sz="2221">
                <a:solidFill>
                  <a:srgbClr val="282421"/>
                </a:solidFill>
                <a:latin typeface="Arimo"/>
                <a:ea typeface="Arimo"/>
                <a:cs typeface="Arimo"/>
                <a:sym typeface="Arimo"/>
              </a:rPr>
              <a:t>I</a:t>
            </a:r>
            <a:r>
              <a:rPr lang="en-US" sz="2221" b="true">
                <a:solidFill>
                  <a:srgbClr val="282421"/>
                </a:solidFill>
                <a:latin typeface="Arimo Bold"/>
                <a:ea typeface="Arimo Bold"/>
                <a:cs typeface="Arimo Bold"/>
                <a:sym typeface="Arimo Bold"/>
              </a:rPr>
              <a:t>IT Roadblock</a:t>
            </a:r>
          </a:p>
          <a:p>
            <a:pPr algn="l" marL="479562" indent="-239781" lvl="1">
              <a:lnSpc>
                <a:spcPts val="2887"/>
              </a:lnSpc>
              <a:buFont typeface="Arial"/>
              <a:buChar char="•"/>
            </a:pPr>
            <a:r>
              <a:rPr lang="en-US" sz="2221">
                <a:solidFill>
                  <a:srgbClr val="282421"/>
                </a:solidFill>
                <a:latin typeface="Arimo"/>
                <a:ea typeface="Arimo"/>
                <a:cs typeface="Arimo"/>
                <a:sym typeface="Arimo"/>
              </a:rPr>
              <a:t>Overly restrictive controls</a:t>
            </a:r>
          </a:p>
          <a:p>
            <a:pPr algn="l" marL="479562" indent="-239781" lvl="1">
              <a:lnSpc>
                <a:spcPts val="2887"/>
              </a:lnSpc>
              <a:buFont typeface="Arial"/>
              <a:buChar char="•"/>
            </a:pPr>
            <a:r>
              <a:rPr lang="en-US" sz="2221">
                <a:solidFill>
                  <a:srgbClr val="282421"/>
                </a:solidFill>
                <a:latin typeface="Arimo"/>
                <a:ea typeface="Arimo"/>
                <a:cs typeface="Arimo"/>
                <a:sym typeface="Arimo"/>
              </a:rPr>
              <a:t>Reduced productivity</a:t>
            </a:r>
          </a:p>
          <a:p>
            <a:pPr algn="l" marL="479562" indent="-239781" lvl="1">
              <a:lnSpc>
                <a:spcPts val="2887"/>
              </a:lnSpc>
              <a:buFont typeface="Arial"/>
              <a:buChar char="•"/>
            </a:pPr>
            <a:r>
              <a:rPr lang="en-US" sz="2221">
                <a:solidFill>
                  <a:srgbClr val="282421"/>
                </a:solidFill>
                <a:latin typeface="Arimo"/>
                <a:ea typeface="Arimo"/>
                <a:cs typeface="Arimo"/>
                <a:sym typeface="Arimo"/>
              </a:rPr>
              <a:t>User frustration</a:t>
            </a:r>
          </a:p>
        </p:txBody>
      </p:sp>
      <p:sp>
        <p:nvSpPr>
          <p:cNvPr name="TextBox 20" id="20"/>
          <p:cNvSpPr txBox="true"/>
          <p:nvPr/>
        </p:nvSpPr>
        <p:spPr>
          <a:xfrm rot="0">
            <a:off x="13339302" y="5765093"/>
            <a:ext cx="3754976" cy="655782"/>
          </a:xfrm>
          <a:prstGeom prst="rect">
            <a:avLst/>
          </a:prstGeom>
        </p:spPr>
        <p:txBody>
          <a:bodyPr anchor="t" rtlCol="false" tIns="0" lIns="0" bIns="0" rIns="0">
            <a:spAutoFit/>
          </a:bodyPr>
          <a:lstStyle/>
          <a:p>
            <a:pPr algn="ctr">
              <a:lnSpc>
                <a:spcPts val="2629"/>
              </a:lnSpc>
            </a:pPr>
            <a:r>
              <a:rPr lang="en-US" b="true" sz="2022">
                <a:solidFill>
                  <a:srgbClr val="28211E"/>
                </a:solidFill>
                <a:latin typeface="Arimo Bold"/>
                <a:ea typeface="Arimo Bold"/>
                <a:cs typeface="Arimo Bold"/>
                <a:sym typeface="Arimo Bold"/>
              </a:rPr>
              <a:t> Balancing Usability, Budget, and Security Controls</a:t>
            </a:r>
          </a:p>
        </p:txBody>
      </p:sp>
      <p:sp>
        <p:nvSpPr>
          <p:cNvPr name="TextBox 21" id="21"/>
          <p:cNvSpPr txBox="true"/>
          <p:nvPr/>
        </p:nvSpPr>
        <p:spPr>
          <a:xfrm rot="0">
            <a:off x="12472324" y="6572683"/>
            <a:ext cx="5488930" cy="3430635"/>
          </a:xfrm>
          <a:prstGeom prst="rect">
            <a:avLst/>
          </a:prstGeom>
        </p:spPr>
        <p:txBody>
          <a:bodyPr anchor="t" rtlCol="false" tIns="0" lIns="0" bIns="0" rIns="0">
            <a:spAutoFit/>
          </a:bodyPr>
          <a:lstStyle/>
          <a:p>
            <a:pPr algn="l">
              <a:lnSpc>
                <a:spcPts val="2757"/>
              </a:lnSpc>
            </a:pPr>
            <a:r>
              <a:rPr lang="en-US" sz="2121">
                <a:solidFill>
                  <a:srgbClr val="282421"/>
                </a:solidFill>
                <a:latin typeface="Arimo"/>
                <a:ea typeface="Arimo"/>
                <a:cs typeface="Arimo"/>
                <a:sym typeface="Arimo"/>
              </a:rPr>
              <a:t>Organizations must balance security, user convenience, and cost when impleme</a:t>
            </a:r>
            <a:r>
              <a:rPr lang="en-US" sz="2121">
                <a:solidFill>
                  <a:srgbClr val="282421"/>
                </a:solidFill>
                <a:latin typeface="Arimo"/>
                <a:ea typeface="Arimo"/>
                <a:cs typeface="Arimo"/>
                <a:sym typeface="Arimo"/>
              </a:rPr>
              <a:t>nting security measures.</a:t>
            </a:r>
          </a:p>
          <a:p>
            <a:pPr algn="l">
              <a:lnSpc>
                <a:spcPts val="2757"/>
              </a:lnSpc>
            </a:pPr>
            <a:r>
              <a:rPr lang="en-US" sz="2121" b="true">
                <a:solidFill>
                  <a:srgbClr val="282421"/>
                </a:solidFill>
                <a:latin typeface="Arimo Bold"/>
                <a:ea typeface="Arimo Bold"/>
                <a:cs typeface="Arimo Bold"/>
                <a:sym typeface="Arimo Bold"/>
              </a:rPr>
              <a:t>Considerations</a:t>
            </a:r>
          </a:p>
          <a:p>
            <a:pPr algn="l" marL="457972" indent="-228986" lvl="1">
              <a:lnSpc>
                <a:spcPts val="2757"/>
              </a:lnSpc>
              <a:buFont typeface="Arial"/>
              <a:buChar char="•"/>
            </a:pPr>
            <a:r>
              <a:rPr lang="en-US" b="true" sz="2121">
                <a:solidFill>
                  <a:srgbClr val="282421"/>
                </a:solidFill>
                <a:latin typeface="Arimo Bold"/>
                <a:ea typeface="Arimo Bold"/>
                <a:cs typeface="Arimo Bold"/>
                <a:sym typeface="Arimo Bold"/>
              </a:rPr>
              <a:t>Usability </a:t>
            </a:r>
            <a:r>
              <a:rPr lang="en-US" sz="2121">
                <a:solidFill>
                  <a:srgbClr val="282421"/>
                </a:solidFill>
                <a:latin typeface="Arimo"/>
                <a:ea typeface="Arimo"/>
                <a:cs typeface="Arimo"/>
                <a:sym typeface="Arimo"/>
              </a:rPr>
              <a:t>– Easy for users to follow.</a:t>
            </a:r>
          </a:p>
          <a:p>
            <a:pPr algn="l" marL="457972" indent="-228986" lvl="1">
              <a:lnSpc>
                <a:spcPts val="2757"/>
              </a:lnSpc>
              <a:buFont typeface="Arial"/>
              <a:buChar char="•"/>
            </a:pPr>
            <a:r>
              <a:rPr lang="en-US" b="true" sz="2121">
                <a:solidFill>
                  <a:srgbClr val="282421"/>
                </a:solidFill>
                <a:latin typeface="Arimo Bold"/>
                <a:ea typeface="Arimo Bold"/>
                <a:cs typeface="Arimo Bold"/>
                <a:sym typeface="Arimo Bold"/>
              </a:rPr>
              <a:t>Budget </a:t>
            </a:r>
            <a:r>
              <a:rPr lang="en-US" sz="2121">
                <a:solidFill>
                  <a:srgbClr val="282421"/>
                </a:solidFill>
                <a:latin typeface="Arimo"/>
                <a:ea typeface="Arimo"/>
                <a:cs typeface="Arimo"/>
                <a:sym typeface="Arimo"/>
              </a:rPr>
              <a:t>– Cost-effective security investments.</a:t>
            </a:r>
          </a:p>
          <a:p>
            <a:pPr algn="l" marL="457972" indent="-228986" lvl="1">
              <a:lnSpc>
                <a:spcPts val="2757"/>
              </a:lnSpc>
              <a:buFont typeface="Arial"/>
              <a:buChar char="•"/>
            </a:pPr>
            <a:r>
              <a:rPr lang="en-US" b="true" sz="2121">
                <a:solidFill>
                  <a:srgbClr val="282421"/>
                </a:solidFill>
                <a:latin typeface="Arimo Bold"/>
                <a:ea typeface="Arimo Bold"/>
                <a:cs typeface="Arimo Bold"/>
                <a:sym typeface="Arimo Bold"/>
              </a:rPr>
              <a:t>Security Controls</a:t>
            </a:r>
            <a:r>
              <a:rPr lang="en-US" sz="2121">
                <a:solidFill>
                  <a:srgbClr val="282421"/>
                </a:solidFill>
                <a:latin typeface="Arimo"/>
                <a:ea typeface="Arimo"/>
                <a:cs typeface="Arimo"/>
                <a:sym typeface="Arimo"/>
              </a:rPr>
              <a:t> – Appropriate protection against risks.</a:t>
            </a:r>
          </a:p>
          <a:p>
            <a:pPr algn="l">
              <a:lnSpc>
                <a:spcPts val="275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grpSp>
        <p:nvGrpSpPr>
          <p:cNvPr name="Group 2" id="2"/>
          <p:cNvGrpSpPr/>
          <p:nvPr/>
        </p:nvGrpSpPr>
        <p:grpSpPr>
          <a:xfrm rot="0">
            <a:off x="486826" y="1809978"/>
            <a:ext cx="5601437" cy="7957220"/>
            <a:chOff x="0" y="0"/>
            <a:chExt cx="2237821" cy="3178976"/>
          </a:xfrm>
        </p:grpSpPr>
        <p:sp>
          <p:nvSpPr>
            <p:cNvPr name="Freeform 3" id="3"/>
            <p:cNvSpPr/>
            <p:nvPr/>
          </p:nvSpPr>
          <p:spPr>
            <a:xfrm flipH="false" flipV="false" rot="0">
              <a:off x="0" y="0"/>
              <a:ext cx="2237821" cy="3178976"/>
            </a:xfrm>
            <a:custGeom>
              <a:avLst/>
              <a:gdLst/>
              <a:ahLst/>
              <a:cxnLst/>
              <a:rect r="r" b="b" t="t" l="l"/>
              <a:pathLst>
                <a:path h="3178976" w="2237821">
                  <a:moveTo>
                    <a:pt x="70489" y="0"/>
                  </a:moveTo>
                  <a:lnTo>
                    <a:pt x="2167333" y="0"/>
                  </a:lnTo>
                  <a:cubicBezTo>
                    <a:pt x="2186027" y="0"/>
                    <a:pt x="2203957" y="7426"/>
                    <a:pt x="2217176" y="20646"/>
                  </a:cubicBezTo>
                  <a:cubicBezTo>
                    <a:pt x="2230395" y="33865"/>
                    <a:pt x="2237821" y="51794"/>
                    <a:pt x="2237821" y="70489"/>
                  </a:cubicBezTo>
                  <a:lnTo>
                    <a:pt x="2237821" y="3108488"/>
                  </a:lnTo>
                  <a:cubicBezTo>
                    <a:pt x="2237821" y="3127182"/>
                    <a:pt x="2230395" y="3145112"/>
                    <a:pt x="2217176" y="3158331"/>
                  </a:cubicBezTo>
                  <a:cubicBezTo>
                    <a:pt x="2203957" y="3171550"/>
                    <a:pt x="2186027" y="3178976"/>
                    <a:pt x="2167333" y="3178976"/>
                  </a:cubicBezTo>
                  <a:lnTo>
                    <a:pt x="70489" y="3178976"/>
                  </a:lnTo>
                  <a:cubicBezTo>
                    <a:pt x="51794" y="3178976"/>
                    <a:pt x="33865" y="3171550"/>
                    <a:pt x="20646" y="3158331"/>
                  </a:cubicBezTo>
                  <a:cubicBezTo>
                    <a:pt x="7426" y="3145112"/>
                    <a:pt x="0" y="3127182"/>
                    <a:pt x="0" y="3108488"/>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4" id="4"/>
            <p:cNvSpPr txBox="true"/>
            <p:nvPr/>
          </p:nvSpPr>
          <p:spPr>
            <a:xfrm>
              <a:off x="0" y="-19050"/>
              <a:ext cx="2237821" cy="3198026"/>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0">
            <a:off x="1982247" y="7016086"/>
            <a:ext cx="2610595" cy="2593610"/>
          </a:xfrm>
          <a:custGeom>
            <a:avLst/>
            <a:gdLst/>
            <a:ahLst/>
            <a:cxnLst/>
            <a:rect r="r" b="b" t="t" l="l"/>
            <a:pathLst>
              <a:path h="2593610" w="2610595">
                <a:moveTo>
                  <a:pt x="0" y="0"/>
                </a:moveTo>
                <a:lnTo>
                  <a:pt x="2610595" y="0"/>
                </a:lnTo>
                <a:lnTo>
                  <a:pt x="2610595" y="2593609"/>
                </a:lnTo>
                <a:lnTo>
                  <a:pt x="0" y="2593609"/>
                </a:lnTo>
                <a:lnTo>
                  <a:pt x="0" y="0"/>
                </a:lnTo>
                <a:close/>
              </a:path>
            </a:pathLst>
          </a:custGeom>
          <a:blipFill>
            <a:blip r:embed="rId2"/>
            <a:stretch>
              <a:fillRect l="-44320" t="0" r="-37672" b="0"/>
            </a:stretch>
          </a:blipFill>
        </p:spPr>
      </p:sp>
      <p:grpSp>
        <p:nvGrpSpPr>
          <p:cNvPr name="Group 6" id="6"/>
          <p:cNvGrpSpPr/>
          <p:nvPr/>
        </p:nvGrpSpPr>
        <p:grpSpPr>
          <a:xfrm rot="0">
            <a:off x="6342844" y="1809978"/>
            <a:ext cx="5601437" cy="7957220"/>
            <a:chOff x="0" y="0"/>
            <a:chExt cx="2237821" cy="3178976"/>
          </a:xfrm>
        </p:grpSpPr>
        <p:sp>
          <p:nvSpPr>
            <p:cNvPr name="Freeform 7" id="7"/>
            <p:cNvSpPr/>
            <p:nvPr/>
          </p:nvSpPr>
          <p:spPr>
            <a:xfrm flipH="false" flipV="false" rot="0">
              <a:off x="0" y="0"/>
              <a:ext cx="2237821" cy="3178976"/>
            </a:xfrm>
            <a:custGeom>
              <a:avLst/>
              <a:gdLst/>
              <a:ahLst/>
              <a:cxnLst/>
              <a:rect r="r" b="b" t="t" l="l"/>
              <a:pathLst>
                <a:path h="3178976" w="2237821">
                  <a:moveTo>
                    <a:pt x="70489" y="0"/>
                  </a:moveTo>
                  <a:lnTo>
                    <a:pt x="2167333" y="0"/>
                  </a:lnTo>
                  <a:cubicBezTo>
                    <a:pt x="2186027" y="0"/>
                    <a:pt x="2203957" y="7426"/>
                    <a:pt x="2217176" y="20646"/>
                  </a:cubicBezTo>
                  <a:cubicBezTo>
                    <a:pt x="2230395" y="33865"/>
                    <a:pt x="2237821" y="51794"/>
                    <a:pt x="2237821" y="70489"/>
                  </a:cubicBezTo>
                  <a:lnTo>
                    <a:pt x="2237821" y="3108488"/>
                  </a:lnTo>
                  <a:cubicBezTo>
                    <a:pt x="2237821" y="3127182"/>
                    <a:pt x="2230395" y="3145112"/>
                    <a:pt x="2217176" y="3158331"/>
                  </a:cubicBezTo>
                  <a:cubicBezTo>
                    <a:pt x="2203957" y="3171550"/>
                    <a:pt x="2186027" y="3178976"/>
                    <a:pt x="2167333" y="3178976"/>
                  </a:cubicBezTo>
                  <a:lnTo>
                    <a:pt x="70489" y="3178976"/>
                  </a:lnTo>
                  <a:cubicBezTo>
                    <a:pt x="51794" y="3178976"/>
                    <a:pt x="33865" y="3171550"/>
                    <a:pt x="20646" y="3158331"/>
                  </a:cubicBezTo>
                  <a:cubicBezTo>
                    <a:pt x="7426" y="3145112"/>
                    <a:pt x="0" y="3127182"/>
                    <a:pt x="0" y="3108488"/>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8" id="8"/>
            <p:cNvSpPr txBox="true"/>
            <p:nvPr/>
          </p:nvSpPr>
          <p:spPr>
            <a:xfrm>
              <a:off x="0" y="-19050"/>
              <a:ext cx="2237821" cy="3198026"/>
            </a:xfrm>
            <a:prstGeom prst="rect">
              <a:avLst/>
            </a:prstGeom>
          </p:spPr>
          <p:txBody>
            <a:bodyPr anchor="ctr" rtlCol="false" tIns="50800" lIns="50800" bIns="50800" rIns="50800"/>
            <a:lstStyle/>
            <a:p>
              <a:pPr algn="ctr">
                <a:lnSpc>
                  <a:spcPts val="2236"/>
                </a:lnSpc>
              </a:pPr>
            </a:p>
          </p:txBody>
        </p:sp>
      </p:grpSp>
      <p:grpSp>
        <p:nvGrpSpPr>
          <p:cNvPr name="Group 9" id="9"/>
          <p:cNvGrpSpPr/>
          <p:nvPr/>
        </p:nvGrpSpPr>
        <p:grpSpPr>
          <a:xfrm rot="0">
            <a:off x="12199737" y="1809978"/>
            <a:ext cx="5601437" cy="7957220"/>
            <a:chOff x="0" y="0"/>
            <a:chExt cx="2237821" cy="3178976"/>
          </a:xfrm>
        </p:grpSpPr>
        <p:sp>
          <p:nvSpPr>
            <p:cNvPr name="Freeform 10" id="10"/>
            <p:cNvSpPr/>
            <p:nvPr/>
          </p:nvSpPr>
          <p:spPr>
            <a:xfrm flipH="false" flipV="false" rot="0">
              <a:off x="0" y="0"/>
              <a:ext cx="2237821" cy="3178976"/>
            </a:xfrm>
            <a:custGeom>
              <a:avLst/>
              <a:gdLst/>
              <a:ahLst/>
              <a:cxnLst/>
              <a:rect r="r" b="b" t="t" l="l"/>
              <a:pathLst>
                <a:path h="3178976" w="2237821">
                  <a:moveTo>
                    <a:pt x="70489" y="0"/>
                  </a:moveTo>
                  <a:lnTo>
                    <a:pt x="2167333" y="0"/>
                  </a:lnTo>
                  <a:cubicBezTo>
                    <a:pt x="2186027" y="0"/>
                    <a:pt x="2203957" y="7426"/>
                    <a:pt x="2217176" y="20646"/>
                  </a:cubicBezTo>
                  <a:cubicBezTo>
                    <a:pt x="2230395" y="33865"/>
                    <a:pt x="2237821" y="51794"/>
                    <a:pt x="2237821" y="70489"/>
                  </a:cubicBezTo>
                  <a:lnTo>
                    <a:pt x="2237821" y="3108488"/>
                  </a:lnTo>
                  <a:cubicBezTo>
                    <a:pt x="2237821" y="3127182"/>
                    <a:pt x="2230395" y="3145112"/>
                    <a:pt x="2217176" y="3158331"/>
                  </a:cubicBezTo>
                  <a:cubicBezTo>
                    <a:pt x="2203957" y="3171550"/>
                    <a:pt x="2186027" y="3178976"/>
                    <a:pt x="2167333" y="3178976"/>
                  </a:cubicBezTo>
                  <a:lnTo>
                    <a:pt x="70489" y="3178976"/>
                  </a:lnTo>
                  <a:cubicBezTo>
                    <a:pt x="51794" y="3178976"/>
                    <a:pt x="33865" y="3171550"/>
                    <a:pt x="20646" y="3158331"/>
                  </a:cubicBezTo>
                  <a:cubicBezTo>
                    <a:pt x="7426" y="3145112"/>
                    <a:pt x="0" y="3127182"/>
                    <a:pt x="0" y="3108488"/>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11" id="11"/>
            <p:cNvSpPr txBox="true"/>
            <p:nvPr/>
          </p:nvSpPr>
          <p:spPr>
            <a:xfrm>
              <a:off x="0" y="-19050"/>
              <a:ext cx="2237821" cy="3198026"/>
            </a:xfrm>
            <a:prstGeom prst="rect">
              <a:avLst/>
            </a:prstGeom>
          </p:spPr>
          <p:txBody>
            <a:bodyPr anchor="ctr" rtlCol="false" tIns="50800" lIns="50800" bIns="50800" rIns="50800"/>
            <a:lstStyle/>
            <a:p>
              <a:pPr algn="ctr">
                <a:lnSpc>
                  <a:spcPts val="2236"/>
                </a:lnSpc>
              </a:pPr>
            </a:p>
          </p:txBody>
        </p:sp>
      </p:grpSp>
      <p:sp>
        <p:nvSpPr>
          <p:cNvPr name="Freeform 12" id="12"/>
          <p:cNvSpPr/>
          <p:nvPr/>
        </p:nvSpPr>
        <p:spPr>
          <a:xfrm flipH="false" flipV="false" rot="0">
            <a:off x="13764537" y="6937334"/>
            <a:ext cx="2471838" cy="2751112"/>
          </a:xfrm>
          <a:custGeom>
            <a:avLst/>
            <a:gdLst/>
            <a:ahLst/>
            <a:cxnLst/>
            <a:rect r="r" b="b" t="t" l="l"/>
            <a:pathLst>
              <a:path h="2751112" w="2471838">
                <a:moveTo>
                  <a:pt x="0" y="0"/>
                </a:moveTo>
                <a:lnTo>
                  <a:pt x="2471837" y="0"/>
                </a:lnTo>
                <a:lnTo>
                  <a:pt x="2471837" y="2751112"/>
                </a:lnTo>
                <a:lnTo>
                  <a:pt x="0" y="2751112"/>
                </a:lnTo>
                <a:lnTo>
                  <a:pt x="0" y="0"/>
                </a:lnTo>
                <a:close/>
              </a:path>
            </a:pathLst>
          </a:custGeom>
          <a:blipFill>
            <a:blip r:embed="rId3"/>
            <a:stretch>
              <a:fillRect l="-54113" t="0" r="-49767" b="0"/>
            </a:stretch>
          </a:blipFill>
        </p:spPr>
      </p:sp>
      <p:sp>
        <p:nvSpPr>
          <p:cNvPr name="Freeform 13" id="13"/>
          <p:cNvSpPr/>
          <p:nvPr/>
        </p:nvSpPr>
        <p:spPr>
          <a:xfrm flipH="false" flipV="false" rot="0">
            <a:off x="7574026" y="6742917"/>
            <a:ext cx="3139948" cy="3139948"/>
          </a:xfrm>
          <a:custGeom>
            <a:avLst/>
            <a:gdLst/>
            <a:ahLst/>
            <a:cxnLst/>
            <a:rect r="r" b="b" t="t" l="l"/>
            <a:pathLst>
              <a:path h="3139948" w="3139948">
                <a:moveTo>
                  <a:pt x="0" y="0"/>
                </a:moveTo>
                <a:lnTo>
                  <a:pt x="3139948" y="0"/>
                </a:lnTo>
                <a:lnTo>
                  <a:pt x="3139948" y="3139947"/>
                </a:lnTo>
                <a:lnTo>
                  <a:pt x="0" y="3139947"/>
                </a:lnTo>
                <a:lnTo>
                  <a:pt x="0" y="0"/>
                </a:lnTo>
                <a:close/>
              </a:path>
            </a:pathLst>
          </a:custGeom>
          <a:blipFill>
            <a:blip r:embed="rId4"/>
            <a:stretch>
              <a:fillRect l="0" t="0" r="0" b="0"/>
            </a:stretch>
          </a:blipFill>
        </p:spPr>
      </p:sp>
      <p:sp>
        <p:nvSpPr>
          <p:cNvPr name="TextBox 14" id="14"/>
          <p:cNvSpPr txBox="true"/>
          <p:nvPr/>
        </p:nvSpPr>
        <p:spPr>
          <a:xfrm rot="0">
            <a:off x="4285052" y="422571"/>
            <a:ext cx="9717896" cy="631825"/>
          </a:xfrm>
          <a:prstGeom prst="rect">
            <a:avLst/>
          </a:prstGeom>
        </p:spPr>
        <p:txBody>
          <a:bodyPr anchor="t" rtlCol="false" tIns="0" lIns="0" bIns="0" rIns="0">
            <a:spAutoFit/>
          </a:bodyPr>
          <a:lstStyle/>
          <a:p>
            <a:pPr algn="ctr">
              <a:lnSpc>
                <a:spcPts val="4399"/>
              </a:lnSpc>
            </a:pPr>
            <a:r>
              <a:rPr lang="en-US" sz="5499" spc="-164">
                <a:solidFill>
                  <a:srgbClr val="BA7FF6"/>
                </a:solidFill>
                <a:latin typeface="Lazydog 1"/>
                <a:ea typeface="Lazydog 1"/>
                <a:cs typeface="Lazydog 1"/>
                <a:sym typeface="Lazydog 1"/>
              </a:rPr>
              <a:t>IT Risk Management</a:t>
            </a:r>
          </a:p>
        </p:txBody>
      </p:sp>
      <p:sp>
        <p:nvSpPr>
          <p:cNvPr name="TextBox 15" id="15"/>
          <p:cNvSpPr txBox="true"/>
          <p:nvPr/>
        </p:nvSpPr>
        <p:spPr>
          <a:xfrm rot="0">
            <a:off x="798796" y="1910142"/>
            <a:ext cx="4956929" cy="1235090"/>
          </a:xfrm>
          <a:prstGeom prst="rect">
            <a:avLst/>
          </a:prstGeom>
        </p:spPr>
        <p:txBody>
          <a:bodyPr anchor="t" rtlCol="false" tIns="0" lIns="0" bIns="0" rIns="0">
            <a:spAutoFit/>
          </a:bodyPr>
          <a:lstStyle/>
          <a:p>
            <a:pPr algn="ctr">
              <a:lnSpc>
                <a:spcPts val="3248"/>
              </a:lnSpc>
            </a:pPr>
            <a:r>
              <a:rPr lang="en-US" b="true" sz="2498">
                <a:solidFill>
                  <a:srgbClr val="28211E"/>
                </a:solidFill>
                <a:latin typeface="Arimo Bold"/>
                <a:ea typeface="Arimo Bold"/>
                <a:cs typeface="Arimo Bold"/>
                <a:sym typeface="Arimo Bold"/>
              </a:rPr>
              <a:t>Risk Assessment: Identifying Assets, Threats, and Vulnerabilities</a:t>
            </a:r>
          </a:p>
        </p:txBody>
      </p:sp>
      <p:sp>
        <p:nvSpPr>
          <p:cNvPr name="TextBox 16" id="16"/>
          <p:cNvSpPr txBox="true"/>
          <p:nvPr/>
        </p:nvSpPr>
        <p:spPr>
          <a:xfrm rot="0">
            <a:off x="811743" y="3107133"/>
            <a:ext cx="4951603" cy="4199372"/>
          </a:xfrm>
          <a:prstGeom prst="rect">
            <a:avLst/>
          </a:prstGeom>
        </p:spPr>
        <p:txBody>
          <a:bodyPr anchor="t" rtlCol="false" tIns="0" lIns="0" bIns="0" rIns="0">
            <a:spAutoFit/>
          </a:bodyPr>
          <a:lstStyle/>
          <a:p>
            <a:pPr algn="l">
              <a:lnSpc>
                <a:spcPts val="3043"/>
              </a:lnSpc>
            </a:pPr>
            <a:r>
              <a:rPr lang="en-US" sz="2340">
                <a:solidFill>
                  <a:srgbClr val="282421"/>
                </a:solidFill>
                <a:latin typeface="Arimo"/>
                <a:ea typeface="Arimo"/>
                <a:cs typeface="Arimo"/>
                <a:sym typeface="Arimo"/>
              </a:rPr>
              <a:t>Risk assessment identifies what needs protection, what could cause harm, and the weaknesses that attackers can exploit.</a:t>
            </a:r>
          </a:p>
          <a:p>
            <a:pPr algn="l" marL="505374" indent="-252687" lvl="1">
              <a:lnSpc>
                <a:spcPts val="3043"/>
              </a:lnSpc>
              <a:buFont typeface="Arial"/>
              <a:buChar char="•"/>
            </a:pPr>
            <a:r>
              <a:rPr lang="en-US" b="true" sz="2340">
                <a:solidFill>
                  <a:srgbClr val="282421"/>
                </a:solidFill>
                <a:latin typeface="Arimo Bold"/>
                <a:ea typeface="Arimo Bold"/>
                <a:cs typeface="Arimo Bold"/>
                <a:sym typeface="Arimo Bold"/>
              </a:rPr>
              <a:t>Assets – </a:t>
            </a:r>
            <a:r>
              <a:rPr lang="en-US" sz="2340">
                <a:solidFill>
                  <a:srgbClr val="282421"/>
                </a:solidFill>
                <a:latin typeface="Arimo"/>
                <a:ea typeface="Arimo"/>
                <a:cs typeface="Arimo"/>
                <a:sym typeface="Arimo"/>
              </a:rPr>
              <a:t>Valuable resources (data, systems, hardware)</a:t>
            </a:r>
          </a:p>
          <a:p>
            <a:pPr algn="l" marL="505374" indent="-252687" lvl="1">
              <a:lnSpc>
                <a:spcPts val="3043"/>
              </a:lnSpc>
              <a:buFont typeface="Arial"/>
              <a:buChar char="•"/>
            </a:pPr>
            <a:r>
              <a:rPr lang="en-US" b="true" sz="2340">
                <a:solidFill>
                  <a:srgbClr val="282421"/>
                </a:solidFill>
                <a:latin typeface="Arimo Bold"/>
                <a:ea typeface="Arimo Bold"/>
                <a:cs typeface="Arimo Bold"/>
                <a:sym typeface="Arimo Bold"/>
              </a:rPr>
              <a:t>Threats – </a:t>
            </a:r>
            <a:r>
              <a:rPr lang="en-US" sz="2340">
                <a:solidFill>
                  <a:srgbClr val="282421"/>
                </a:solidFill>
                <a:latin typeface="Arimo"/>
                <a:ea typeface="Arimo"/>
                <a:cs typeface="Arimo"/>
                <a:sym typeface="Arimo"/>
              </a:rPr>
              <a:t>Potential dangers (hackers, malware, </a:t>
            </a:r>
            <a:r>
              <a:rPr lang="en-US" b="true" sz="2340">
                <a:solidFill>
                  <a:srgbClr val="282421"/>
                </a:solidFill>
                <a:latin typeface="Arimo Bold"/>
                <a:ea typeface="Arimo Bold"/>
                <a:cs typeface="Arimo Bold"/>
                <a:sym typeface="Arimo Bold"/>
              </a:rPr>
              <a:t>disasters)</a:t>
            </a:r>
          </a:p>
          <a:p>
            <a:pPr algn="l" marL="505374" indent="-252687" lvl="1">
              <a:lnSpc>
                <a:spcPts val="3043"/>
              </a:lnSpc>
              <a:buFont typeface="Arial"/>
              <a:buChar char="•"/>
            </a:pPr>
            <a:r>
              <a:rPr lang="en-US" b="true" sz="2340">
                <a:solidFill>
                  <a:srgbClr val="282421"/>
                </a:solidFill>
                <a:latin typeface="Arimo Bold"/>
                <a:ea typeface="Arimo Bold"/>
                <a:cs typeface="Arimo Bold"/>
                <a:sym typeface="Arimo Bold"/>
              </a:rPr>
              <a:t>Vulnerabilities – </a:t>
            </a:r>
            <a:r>
              <a:rPr lang="en-US" sz="2340">
                <a:solidFill>
                  <a:srgbClr val="282421"/>
                </a:solidFill>
                <a:latin typeface="Arimo"/>
                <a:ea typeface="Arimo"/>
                <a:cs typeface="Arimo"/>
                <a:sym typeface="Arimo"/>
              </a:rPr>
              <a:t>Weaknesses that threats can exploit</a:t>
            </a:r>
          </a:p>
          <a:p>
            <a:pPr algn="l">
              <a:lnSpc>
                <a:spcPts val="3043"/>
              </a:lnSpc>
            </a:pPr>
          </a:p>
        </p:txBody>
      </p:sp>
      <p:sp>
        <p:nvSpPr>
          <p:cNvPr name="TextBox 17" id="17"/>
          <p:cNvSpPr txBox="true"/>
          <p:nvPr/>
        </p:nvSpPr>
        <p:spPr>
          <a:xfrm rot="0">
            <a:off x="6654814" y="2048565"/>
            <a:ext cx="4956929" cy="415940"/>
          </a:xfrm>
          <a:prstGeom prst="rect">
            <a:avLst/>
          </a:prstGeom>
        </p:spPr>
        <p:txBody>
          <a:bodyPr anchor="t" rtlCol="false" tIns="0" lIns="0" bIns="0" rIns="0">
            <a:spAutoFit/>
          </a:bodyPr>
          <a:lstStyle/>
          <a:p>
            <a:pPr algn="ctr">
              <a:lnSpc>
                <a:spcPts val="3248"/>
              </a:lnSpc>
            </a:pPr>
            <a:r>
              <a:rPr lang="en-US" b="true" sz="2498">
                <a:solidFill>
                  <a:srgbClr val="28211E"/>
                </a:solidFill>
                <a:latin typeface="Arimo Bold"/>
                <a:ea typeface="Arimo Bold"/>
                <a:cs typeface="Arimo Bold"/>
                <a:sym typeface="Arimo Bold"/>
              </a:rPr>
              <a:t> Risk Treatment Strategies</a:t>
            </a:r>
          </a:p>
        </p:txBody>
      </p:sp>
      <p:sp>
        <p:nvSpPr>
          <p:cNvPr name="TextBox 18" id="18"/>
          <p:cNvSpPr txBox="true"/>
          <p:nvPr/>
        </p:nvSpPr>
        <p:spPr>
          <a:xfrm rot="0">
            <a:off x="6668198" y="2775461"/>
            <a:ext cx="4951603" cy="4398127"/>
          </a:xfrm>
          <a:prstGeom prst="rect">
            <a:avLst/>
          </a:prstGeom>
        </p:spPr>
        <p:txBody>
          <a:bodyPr anchor="t" rtlCol="false" tIns="0" lIns="0" bIns="0" rIns="0">
            <a:spAutoFit/>
          </a:bodyPr>
          <a:lstStyle/>
          <a:p>
            <a:pPr algn="l">
              <a:lnSpc>
                <a:spcPts val="3173"/>
              </a:lnSpc>
            </a:pPr>
            <a:r>
              <a:rPr lang="en-US" sz="2440">
                <a:solidFill>
                  <a:srgbClr val="282421"/>
                </a:solidFill>
                <a:latin typeface="Arimo"/>
                <a:ea typeface="Arimo"/>
                <a:cs typeface="Arimo"/>
                <a:sym typeface="Arimo"/>
              </a:rPr>
              <a:t>Risk treatment determines how an organization responds to identified risks.</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Accept </a:t>
            </a:r>
            <a:r>
              <a:rPr lang="en-US" sz="2440">
                <a:solidFill>
                  <a:srgbClr val="282421"/>
                </a:solidFill>
                <a:latin typeface="Arimo"/>
                <a:ea typeface="Arimo"/>
                <a:cs typeface="Arimo"/>
                <a:sym typeface="Arimo"/>
              </a:rPr>
              <a:t>– Tolerate the risk.</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Mitigate </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Reduce the risk with security controls.</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Transfer </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Shift the risk (e.g., </a:t>
            </a:r>
            <a:r>
              <a:rPr lang="en-US" sz="2440">
                <a:solidFill>
                  <a:srgbClr val="282421"/>
                </a:solidFill>
                <a:latin typeface="Arimo"/>
                <a:ea typeface="Arimo"/>
                <a:cs typeface="Arimo"/>
                <a:sym typeface="Arimo"/>
              </a:rPr>
              <a:t>i</a:t>
            </a:r>
            <a:r>
              <a:rPr lang="en-US" sz="2440">
                <a:solidFill>
                  <a:srgbClr val="282421"/>
                </a:solidFill>
                <a:latin typeface="Arimo"/>
                <a:ea typeface="Arimo"/>
                <a:cs typeface="Arimo"/>
                <a:sym typeface="Arimo"/>
              </a:rPr>
              <a:t>n</a:t>
            </a:r>
            <a:r>
              <a:rPr lang="en-US" sz="2440">
                <a:solidFill>
                  <a:srgbClr val="282421"/>
                </a:solidFill>
                <a:latin typeface="Arimo"/>
                <a:ea typeface="Arimo"/>
                <a:cs typeface="Arimo"/>
                <a:sym typeface="Arimo"/>
              </a:rPr>
              <a:t>s</a:t>
            </a:r>
            <a:r>
              <a:rPr lang="en-US" sz="2440">
                <a:solidFill>
                  <a:srgbClr val="282421"/>
                </a:solidFill>
                <a:latin typeface="Arimo"/>
                <a:ea typeface="Arimo"/>
                <a:cs typeface="Arimo"/>
                <a:sym typeface="Arimo"/>
              </a:rPr>
              <a:t>ur</a:t>
            </a:r>
            <a:r>
              <a:rPr lang="en-US" sz="2440">
                <a:solidFill>
                  <a:srgbClr val="282421"/>
                </a:solidFill>
                <a:latin typeface="Arimo"/>
                <a:ea typeface="Arimo"/>
                <a:cs typeface="Arimo"/>
                <a:sym typeface="Arimo"/>
              </a:rPr>
              <a:t>a</a:t>
            </a:r>
            <a:r>
              <a:rPr lang="en-US" sz="2440">
                <a:solidFill>
                  <a:srgbClr val="282421"/>
                </a:solidFill>
                <a:latin typeface="Arimo"/>
                <a:ea typeface="Arimo"/>
                <a:cs typeface="Arimo"/>
                <a:sym typeface="Arimo"/>
              </a:rPr>
              <a:t>nc</a:t>
            </a:r>
            <a:r>
              <a:rPr lang="en-US" sz="2440">
                <a:solidFill>
                  <a:srgbClr val="282421"/>
                </a:solidFill>
                <a:latin typeface="Arimo"/>
                <a:ea typeface="Arimo"/>
                <a:cs typeface="Arimo"/>
                <a:sym typeface="Arimo"/>
              </a:rPr>
              <a:t>e</a:t>
            </a:r>
            <a:r>
              <a:rPr lang="en-US" sz="2440">
                <a:solidFill>
                  <a:srgbClr val="282421"/>
                </a:solidFill>
                <a:latin typeface="Arimo"/>
                <a:ea typeface="Arimo"/>
                <a:cs typeface="Arimo"/>
                <a:sym typeface="Arimo"/>
              </a:rPr>
              <a:t> o</a:t>
            </a:r>
            <a:r>
              <a:rPr lang="en-US" sz="2440">
                <a:solidFill>
                  <a:srgbClr val="282421"/>
                </a:solidFill>
                <a:latin typeface="Arimo"/>
                <a:ea typeface="Arimo"/>
                <a:cs typeface="Arimo"/>
                <a:sym typeface="Arimo"/>
              </a:rPr>
              <a:t>r</a:t>
            </a:r>
            <a:r>
              <a:rPr lang="en-US" sz="2440">
                <a:solidFill>
                  <a:srgbClr val="282421"/>
                </a:solidFill>
                <a:latin typeface="Arimo"/>
                <a:ea typeface="Arimo"/>
                <a:cs typeface="Arimo"/>
                <a:sym typeface="Arimo"/>
              </a:rPr>
              <a:t> out</a:t>
            </a:r>
            <a:r>
              <a:rPr lang="en-US" sz="2440">
                <a:solidFill>
                  <a:srgbClr val="282421"/>
                </a:solidFill>
                <a:latin typeface="Arimo"/>
                <a:ea typeface="Arimo"/>
                <a:cs typeface="Arimo"/>
                <a:sym typeface="Arimo"/>
              </a:rPr>
              <a:t>s</a:t>
            </a:r>
            <a:r>
              <a:rPr lang="en-US" sz="2440">
                <a:solidFill>
                  <a:srgbClr val="282421"/>
                </a:solidFill>
                <a:latin typeface="Arimo"/>
                <a:ea typeface="Arimo"/>
                <a:cs typeface="Arimo"/>
                <a:sym typeface="Arimo"/>
              </a:rPr>
              <a:t>o</a:t>
            </a:r>
            <a:r>
              <a:rPr lang="en-US" sz="2440">
                <a:solidFill>
                  <a:srgbClr val="282421"/>
                </a:solidFill>
                <a:latin typeface="Arimo"/>
                <a:ea typeface="Arimo"/>
                <a:cs typeface="Arimo"/>
                <a:sym typeface="Arimo"/>
              </a:rPr>
              <a:t>ur</a:t>
            </a:r>
            <a:r>
              <a:rPr lang="en-US" sz="2440">
                <a:solidFill>
                  <a:srgbClr val="282421"/>
                </a:solidFill>
                <a:latin typeface="Arimo"/>
                <a:ea typeface="Arimo"/>
                <a:cs typeface="Arimo"/>
                <a:sym typeface="Arimo"/>
              </a:rPr>
              <a:t>c</a:t>
            </a:r>
            <a:r>
              <a:rPr lang="en-US" sz="2440">
                <a:solidFill>
                  <a:srgbClr val="282421"/>
                </a:solidFill>
                <a:latin typeface="Arimo"/>
                <a:ea typeface="Arimo"/>
                <a:cs typeface="Arimo"/>
                <a:sym typeface="Arimo"/>
              </a:rPr>
              <a:t>i</a:t>
            </a:r>
            <a:r>
              <a:rPr lang="en-US" sz="2440">
                <a:solidFill>
                  <a:srgbClr val="282421"/>
                </a:solidFill>
                <a:latin typeface="Arimo"/>
                <a:ea typeface="Arimo"/>
                <a:cs typeface="Arimo"/>
                <a:sym typeface="Arimo"/>
              </a:rPr>
              <a:t>ng).</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Avoid </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Eliminate the activity causing the risk.</a:t>
            </a:r>
          </a:p>
          <a:p>
            <a:pPr algn="l">
              <a:lnSpc>
                <a:spcPts val="3173"/>
              </a:lnSpc>
            </a:pPr>
          </a:p>
        </p:txBody>
      </p:sp>
      <p:sp>
        <p:nvSpPr>
          <p:cNvPr name="TextBox 19" id="19"/>
          <p:cNvSpPr txBox="true"/>
          <p:nvPr/>
        </p:nvSpPr>
        <p:spPr>
          <a:xfrm rot="0">
            <a:off x="12511707" y="1910142"/>
            <a:ext cx="4956929" cy="825515"/>
          </a:xfrm>
          <a:prstGeom prst="rect">
            <a:avLst/>
          </a:prstGeom>
        </p:spPr>
        <p:txBody>
          <a:bodyPr anchor="t" rtlCol="false" tIns="0" lIns="0" bIns="0" rIns="0">
            <a:spAutoFit/>
          </a:bodyPr>
          <a:lstStyle/>
          <a:p>
            <a:pPr algn="ctr">
              <a:lnSpc>
                <a:spcPts val="3248"/>
              </a:lnSpc>
            </a:pPr>
            <a:r>
              <a:rPr lang="en-US" b="true" sz="2498">
                <a:solidFill>
                  <a:srgbClr val="28211E"/>
                </a:solidFill>
                <a:latin typeface="Arimo Bold"/>
                <a:ea typeface="Arimo Bold"/>
                <a:cs typeface="Arimo Bold"/>
                <a:sym typeface="Arimo Bold"/>
              </a:rPr>
              <a:t>Conducting a Business Impact Analysis (BIA)</a:t>
            </a:r>
          </a:p>
        </p:txBody>
      </p:sp>
      <p:sp>
        <p:nvSpPr>
          <p:cNvPr name="TextBox 20" id="20"/>
          <p:cNvSpPr txBox="true"/>
          <p:nvPr/>
        </p:nvSpPr>
        <p:spPr>
          <a:xfrm rot="0">
            <a:off x="12639636" y="2977494"/>
            <a:ext cx="4701070" cy="4196094"/>
          </a:xfrm>
          <a:prstGeom prst="rect">
            <a:avLst/>
          </a:prstGeom>
        </p:spPr>
        <p:txBody>
          <a:bodyPr anchor="t" rtlCol="false" tIns="0" lIns="0" bIns="0" rIns="0">
            <a:spAutoFit/>
          </a:bodyPr>
          <a:lstStyle/>
          <a:p>
            <a:pPr algn="l">
              <a:lnSpc>
                <a:spcPts val="3012"/>
              </a:lnSpc>
            </a:pPr>
            <a:r>
              <a:rPr lang="en-US" sz="2317">
                <a:solidFill>
                  <a:srgbClr val="282421"/>
                </a:solidFill>
                <a:latin typeface="Arimo"/>
                <a:ea typeface="Arimo"/>
                <a:cs typeface="Arimo"/>
                <a:sym typeface="Arimo"/>
              </a:rPr>
              <a:t>A Business Impact Analysis </a:t>
            </a:r>
            <a:r>
              <a:rPr lang="en-US" sz="2317" b="true">
                <a:solidFill>
                  <a:srgbClr val="282421"/>
                </a:solidFill>
                <a:latin typeface="Arimo Bold"/>
                <a:ea typeface="Arimo Bold"/>
                <a:cs typeface="Arimo Bold"/>
                <a:sym typeface="Arimo Bold"/>
              </a:rPr>
              <a:t>(BIA)</a:t>
            </a:r>
            <a:r>
              <a:rPr lang="en-US" sz="2317">
                <a:solidFill>
                  <a:srgbClr val="282421"/>
                </a:solidFill>
                <a:latin typeface="Arimo"/>
                <a:ea typeface="Arimo"/>
                <a:cs typeface="Arimo"/>
                <a:sym typeface="Arimo"/>
              </a:rPr>
              <a:t> identifies critical business functions and evaluates the impact of disruptions.</a:t>
            </a:r>
          </a:p>
          <a:p>
            <a:pPr algn="l">
              <a:lnSpc>
                <a:spcPts val="3012"/>
              </a:lnSpc>
            </a:pPr>
            <a:r>
              <a:rPr lang="en-US" sz="2317" b="true">
                <a:solidFill>
                  <a:srgbClr val="282421"/>
                </a:solidFill>
                <a:latin typeface="Arimo Bold"/>
                <a:ea typeface="Arimo Bold"/>
                <a:cs typeface="Arimo Bold"/>
                <a:sym typeface="Arimo Bold"/>
              </a:rPr>
              <a:t>Importance</a:t>
            </a:r>
          </a:p>
          <a:p>
            <a:pPr algn="l" marL="500301" indent="-250151" lvl="1">
              <a:lnSpc>
                <a:spcPts val="3012"/>
              </a:lnSpc>
              <a:buFont typeface="Arial"/>
              <a:buChar char="•"/>
            </a:pPr>
            <a:r>
              <a:rPr lang="en-US" sz="2317">
                <a:solidFill>
                  <a:srgbClr val="282421"/>
                </a:solidFill>
                <a:latin typeface="Arimo"/>
                <a:ea typeface="Arimo"/>
                <a:cs typeface="Arimo"/>
                <a:sym typeface="Arimo"/>
              </a:rPr>
              <a:t>Id</a:t>
            </a:r>
            <a:r>
              <a:rPr lang="en-US" sz="2317">
                <a:solidFill>
                  <a:srgbClr val="282421"/>
                </a:solidFill>
                <a:latin typeface="Arimo"/>
                <a:ea typeface="Arimo"/>
                <a:cs typeface="Arimo"/>
                <a:sym typeface="Arimo"/>
              </a:rPr>
              <a:t>e</a:t>
            </a:r>
            <a:r>
              <a:rPr lang="en-US" sz="2317">
                <a:solidFill>
                  <a:srgbClr val="282421"/>
                </a:solidFill>
                <a:latin typeface="Arimo"/>
                <a:ea typeface="Arimo"/>
                <a:cs typeface="Arimo"/>
                <a:sym typeface="Arimo"/>
              </a:rPr>
              <a:t>n</a:t>
            </a:r>
            <a:r>
              <a:rPr lang="en-US" sz="2317">
                <a:solidFill>
                  <a:srgbClr val="282421"/>
                </a:solidFill>
                <a:latin typeface="Arimo"/>
                <a:ea typeface="Arimo"/>
                <a:cs typeface="Arimo"/>
                <a:sym typeface="Arimo"/>
              </a:rPr>
              <a:t>t</a:t>
            </a:r>
            <a:r>
              <a:rPr lang="en-US" sz="2317">
                <a:solidFill>
                  <a:srgbClr val="282421"/>
                </a:solidFill>
                <a:latin typeface="Arimo"/>
                <a:ea typeface="Arimo"/>
                <a:cs typeface="Arimo"/>
                <a:sym typeface="Arimo"/>
              </a:rPr>
              <a:t>ifie</a:t>
            </a:r>
            <a:r>
              <a:rPr lang="en-US" sz="2317">
                <a:solidFill>
                  <a:srgbClr val="282421"/>
                </a:solidFill>
                <a:latin typeface="Arimo"/>
                <a:ea typeface="Arimo"/>
                <a:cs typeface="Arimo"/>
                <a:sym typeface="Arimo"/>
              </a:rPr>
              <a:t>s </a:t>
            </a:r>
            <a:r>
              <a:rPr lang="en-US" sz="2317">
                <a:solidFill>
                  <a:srgbClr val="282421"/>
                </a:solidFill>
                <a:latin typeface="Arimo"/>
                <a:ea typeface="Arimo"/>
                <a:cs typeface="Arimo"/>
                <a:sym typeface="Arimo"/>
              </a:rPr>
              <a:t>critical operations</a:t>
            </a:r>
          </a:p>
          <a:p>
            <a:pPr algn="l" marL="500301" indent="-250151" lvl="1">
              <a:lnSpc>
                <a:spcPts val="3012"/>
              </a:lnSpc>
              <a:buFont typeface="Arial"/>
              <a:buChar char="•"/>
            </a:pPr>
            <a:r>
              <a:rPr lang="en-US" sz="2317">
                <a:solidFill>
                  <a:srgbClr val="282421"/>
                </a:solidFill>
                <a:latin typeface="Arimo"/>
                <a:ea typeface="Arimo"/>
                <a:cs typeface="Arimo"/>
                <a:sym typeface="Arimo"/>
              </a:rPr>
              <a:t>Estim</a:t>
            </a:r>
            <a:r>
              <a:rPr lang="en-US" sz="2317">
                <a:solidFill>
                  <a:srgbClr val="282421"/>
                </a:solidFill>
                <a:latin typeface="Arimo"/>
                <a:ea typeface="Arimo"/>
                <a:cs typeface="Arimo"/>
                <a:sym typeface="Arimo"/>
              </a:rPr>
              <a:t>at</a:t>
            </a:r>
            <a:r>
              <a:rPr lang="en-US" sz="2317">
                <a:solidFill>
                  <a:srgbClr val="282421"/>
                </a:solidFill>
                <a:latin typeface="Arimo"/>
                <a:ea typeface="Arimo"/>
                <a:cs typeface="Arimo"/>
                <a:sym typeface="Arimo"/>
              </a:rPr>
              <a:t>e</a:t>
            </a:r>
            <a:r>
              <a:rPr lang="en-US" sz="2317">
                <a:solidFill>
                  <a:srgbClr val="282421"/>
                </a:solidFill>
                <a:latin typeface="Arimo"/>
                <a:ea typeface="Arimo"/>
                <a:cs typeface="Arimo"/>
                <a:sym typeface="Arimo"/>
              </a:rPr>
              <a:t>s </a:t>
            </a:r>
            <a:r>
              <a:rPr lang="en-US" sz="2317">
                <a:solidFill>
                  <a:srgbClr val="282421"/>
                </a:solidFill>
                <a:latin typeface="Arimo"/>
                <a:ea typeface="Arimo"/>
                <a:cs typeface="Arimo"/>
                <a:sym typeface="Arimo"/>
              </a:rPr>
              <a:t>financial and operational </a:t>
            </a:r>
            <a:r>
              <a:rPr lang="en-US" sz="2317">
                <a:solidFill>
                  <a:srgbClr val="282421"/>
                </a:solidFill>
                <a:latin typeface="Arimo"/>
                <a:ea typeface="Arimo"/>
                <a:cs typeface="Arimo"/>
                <a:sym typeface="Arimo"/>
              </a:rPr>
              <a:t>i</a:t>
            </a:r>
            <a:r>
              <a:rPr lang="en-US" sz="2317">
                <a:solidFill>
                  <a:srgbClr val="282421"/>
                </a:solidFill>
                <a:latin typeface="Arimo"/>
                <a:ea typeface="Arimo"/>
                <a:cs typeface="Arimo"/>
                <a:sym typeface="Arimo"/>
              </a:rPr>
              <a:t>mp</a:t>
            </a:r>
            <a:r>
              <a:rPr lang="en-US" sz="2317">
                <a:solidFill>
                  <a:srgbClr val="282421"/>
                </a:solidFill>
                <a:latin typeface="Arimo"/>
                <a:ea typeface="Arimo"/>
                <a:cs typeface="Arimo"/>
                <a:sym typeface="Arimo"/>
              </a:rPr>
              <a:t>a</a:t>
            </a:r>
            <a:r>
              <a:rPr lang="en-US" sz="2317">
                <a:solidFill>
                  <a:srgbClr val="282421"/>
                </a:solidFill>
                <a:latin typeface="Arimo"/>
                <a:ea typeface="Arimo"/>
                <a:cs typeface="Arimo"/>
                <a:sym typeface="Arimo"/>
              </a:rPr>
              <a:t>c</a:t>
            </a:r>
            <a:r>
              <a:rPr lang="en-US" sz="2317">
                <a:solidFill>
                  <a:srgbClr val="282421"/>
                </a:solidFill>
                <a:latin typeface="Arimo"/>
                <a:ea typeface="Arimo"/>
                <a:cs typeface="Arimo"/>
                <a:sym typeface="Arimo"/>
              </a:rPr>
              <a:t>t</a:t>
            </a:r>
          </a:p>
          <a:p>
            <a:pPr algn="l" marL="500301" indent="-250151" lvl="1">
              <a:lnSpc>
                <a:spcPts val="3012"/>
              </a:lnSpc>
              <a:buFont typeface="Arial"/>
              <a:buChar char="•"/>
            </a:pPr>
            <a:r>
              <a:rPr lang="en-US" sz="2317">
                <a:solidFill>
                  <a:srgbClr val="282421"/>
                </a:solidFill>
                <a:latin typeface="Arimo"/>
                <a:ea typeface="Arimo"/>
                <a:cs typeface="Arimo"/>
                <a:sym typeface="Arimo"/>
              </a:rPr>
              <a:t>S</a:t>
            </a:r>
            <a:r>
              <a:rPr lang="en-US" sz="2317">
                <a:solidFill>
                  <a:srgbClr val="282421"/>
                </a:solidFill>
                <a:latin typeface="Arimo"/>
                <a:ea typeface="Arimo"/>
                <a:cs typeface="Arimo"/>
                <a:sym typeface="Arimo"/>
              </a:rPr>
              <a:t>u</a:t>
            </a:r>
            <a:r>
              <a:rPr lang="en-US" sz="2317">
                <a:solidFill>
                  <a:srgbClr val="282421"/>
                </a:solidFill>
                <a:latin typeface="Arimo"/>
                <a:ea typeface="Arimo"/>
                <a:cs typeface="Arimo"/>
                <a:sym typeface="Arimo"/>
              </a:rPr>
              <a:t>ppo</a:t>
            </a:r>
            <a:r>
              <a:rPr lang="en-US" sz="2317">
                <a:solidFill>
                  <a:srgbClr val="282421"/>
                </a:solidFill>
                <a:latin typeface="Arimo"/>
                <a:ea typeface="Arimo"/>
                <a:cs typeface="Arimo"/>
                <a:sym typeface="Arimo"/>
              </a:rPr>
              <a:t>rt</a:t>
            </a:r>
            <a:r>
              <a:rPr lang="en-US" sz="2317">
                <a:solidFill>
                  <a:srgbClr val="282421"/>
                </a:solidFill>
                <a:latin typeface="Arimo"/>
                <a:ea typeface="Arimo"/>
                <a:cs typeface="Arimo"/>
                <a:sym typeface="Arimo"/>
              </a:rPr>
              <a:t>s d</a:t>
            </a:r>
            <a:r>
              <a:rPr lang="en-US" sz="2317">
                <a:solidFill>
                  <a:srgbClr val="282421"/>
                </a:solidFill>
                <a:latin typeface="Arimo"/>
                <a:ea typeface="Arimo"/>
                <a:cs typeface="Arimo"/>
                <a:sym typeface="Arimo"/>
              </a:rPr>
              <a:t>is</a:t>
            </a:r>
            <a:r>
              <a:rPr lang="en-US" sz="2317">
                <a:solidFill>
                  <a:srgbClr val="282421"/>
                </a:solidFill>
                <a:latin typeface="Arimo"/>
                <a:ea typeface="Arimo"/>
                <a:cs typeface="Arimo"/>
                <a:sym typeface="Arimo"/>
              </a:rPr>
              <a:t>aster recovery planning</a:t>
            </a:r>
          </a:p>
          <a:p>
            <a:pPr algn="l">
              <a:lnSpc>
                <a:spcPts val="3012"/>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grpSp>
        <p:nvGrpSpPr>
          <p:cNvPr name="Group 2" id="2"/>
          <p:cNvGrpSpPr/>
          <p:nvPr/>
        </p:nvGrpSpPr>
        <p:grpSpPr>
          <a:xfrm rot="0">
            <a:off x="918520" y="2126867"/>
            <a:ext cx="7354866" cy="7828189"/>
            <a:chOff x="0" y="0"/>
            <a:chExt cx="2474288" cy="2633521"/>
          </a:xfrm>
        </p:grpSpPr>
        <p:sp>
          <p:nvSpPr>
            <p:cNvPr name="Freeform 3" id="3"/>
            <p:cNvSpPr/>
            <p:nvPr/>
          </p:nvSpPr>
          <p:spPr>
            <a:xfrm flipH="false" flipV="false" rot="0">
              <a:off x="0" y="0"/>
              <a:ext cx="2474288" cy="2633521"/>
            </a:xfrm>
            <a:custGeom>
              <a:avLst/>
              <a:gdLst/>
              <a:ahLst/>
              <a:cxnLst/>
              <a:rect r="r" b="b" t="t" l="l"/>
              <a:pathLst>
                <a:path h="2633521" w="2474288">
                  <a:moveTo>
                    <a:pt x="53684" y="0"/>
                  </a:moveTo>
                  <a:lnTo>
                    <a:pt x="2420604" y="0"/>
                  </a:lnTo>
                  <a:cubicBezTo>
                    <a:pt x="2450253" y="0"/>
                    <a:pt x="2474288" y="24035"/>
                    <a:pt x="2474288" y="53684"/>
                  </a:cubicBezTo>
                  <a:lnTo>
                    <a:pt x="2474288" y="2579837"/>
                  </a:lnTo>
                  <a:cubicBezTo>
                    <a:pt x="2474288" y="2609486"/>
                    <a:pt x="2450253" y="2633521"/>
                    <a:pt x="2420604" y="2633521"/>
                  </a:cubicBezTo>
                  <a:lnTo>
                    <a:pt x="53684" y="2633521"/>
                  </a:lnTo>
                  <a:cubicBezTo>
                    <a:pt x="39446" y="2633521"/>
                    <a:pt x="25791" y="2627865"/>
                    <a:pt x="15724" y="2617798"/>
                  </a:cubicBezTo>
                  <a:cubicBezTo>
                    <a:pt x="5656" y="2607730"/>
                    <a:pt x="0" y="2594075"/>
                    <a:pt x="0" y="2579837"/>
                  </a:cubicBezTo>
                  <a:lnTo>
                    <a:pt x="0" y="53684"/>
                  </a:lnTo>
                  <a:cubicBezTo>
                    <a:pt x="0" y="24035"/>
                    <a:pt x="24035" y="0"/>
                    <a:pt x="53684" y="0"/>
                  </a:cubicBezTo>
                  <a:close/>
                </a:path>
              </a:pathLst>
            </a:custGeom>
            <a:solidFill>
              <a:srgbClr val="FFFFFF"/>
            </a:solidFill>
          </p:spPr>
        </p:sp>
        <p:sp>
          <p:nvSpPr>
            <p:cNvPr name="TextBox 4" id="4"/>
            <p:cNvSpPr txBox="true"/>
            <p:nvPr/>
          </p:nvSpPr>
          <p:spPr>
            <a:xfrm>
              <a:off x="0" y="-19050"/>
              <a:ext cx="2474288" cy="2652571"/>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0">
            <a:off x="8559078" y="2155850"/>
            <a:ext cx="8434498" cy="7770224"/>
          </a:xfrm>
          <a:custGeom>
            <a:avLst/>
            <a:gdLst/>
            <a:ahLst/>
            <a:cxnLst/>
            <a:rect r="r" b="b" t="t" l="l"/>
            <a:pathLst>
              <a:path h="7770224" w="8434498">
                <a:moveTo>
                  <a:pt x="0" y="0"/>
                </a:moveTo>
                <a:lnTo>
                  <a:pt x="8434498" y="0"/>
                </a:lnTo>
                <a:lnTo>
                  <a:pt x="8434498" y="7770224"/>
                </a:lnTo>
                <a:lnTo>
                  <a:pt x="0" y="7770224"/>
                </a:lnTo>
                <a:lnTo>
                  <a:pt x="0" y="0"/>
                </a:lnTo>
                <a:close/>
              </a:path>
            </a:pathLst>
          </a:custGeom>
          <a:blipFill>
            <a:blip r:embed="rId2"/>
            <a:stretch>
              <a:fillRect l="-8283" t="-42787" r="-7696" b="-14581"/>
            </a:stretch>
          </a:blipFill>
        </p:spPr>
      </p:sp>
      <p:sp>
        <p:nvSpPr>
          <p:cNvPr name="TextBox 6" id="6"/>
          <p:cNvSpPr txBox="true"/>
          <p:nvPr/>
        </p:nvSpPr>
        <p:spPr>
          <a:xfrm rot="0">
            <a:off x="15699152" y="19050"/>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EGO</a:t>
            </a:r>
          </a:p>
        </p:txBody>
      </p:sp>
      <p:sp>
        <p:nvSpPr>
          <p:cNvPr name="TextBox 7" id="7"/>
          <p:cNvSpPr txBox="true"/>
          <p:nvPr/>
        </p:nvSpPr>
        <p:spPr>
          <a:xfrm rot="0">
            <a:off x="3250026" y="483230"/>
            <a:ext cx="11789124" cy="1319539"/>
          </a:xfrm>
          <a:prstGeom prst="rect">
            <a:avLst/>
          </a:prstGeom>
        </p:spPr>
        <p:txBody>
          <a:bodyPr anchor="t" rtlCol="false" tIns="0" lIns="0" bIns="0" rIns="0">
            <a:spAutoFit/>
          </a:bodyPr>
          <a:lstStyle/>
          <a:p>
            <a:pPr algn="ctr">
              <a:lnSpc>
                <a:spcPts val="4880"/>
              </a:lnSpc>
            </a:pPr>
            <a:r>
              <a:rPr lang="en-US" sz="6100" spc="-183">
                <a:solidFill>
                  <a:srgbClr val="28211E"/>
                </a:solidFill>
                <a:latin typeface="Lazydog 1"/>
                <a:ea typeface="Lazydog 1"/>
                <a:cs typeface="Lazydog 1"/>
                <a:sym typeface="Lazydog 1"/>
              </a:rPr>
              <a:t>Security Governance and Frameworks</a:t>
            </a:r>
          </a:p>
        </p:txBody>
      </p:sp>
      <p:sp>
        <p:nvSpPr>
          <p:cNvPr name="TextBox 8" id="8"/>
          <p:cNvSpPr txBox="true"/>
          <p:nvPr/>
        </p:nvSpPr>
        <p:spPr>
          <a:xfrm rot="0">
            <a:off x="1375080" y="2495933"/>
            <a:ext cx="6441747" cy="1005394"/>
          </a:xfrm>
          <a:prstGeom prst="rect">
            <a:avLst/>
          </a:prstGeom>
        </p:spPr>
        <p:txBody>
          <a:bodyPr anchor="t" rtlCol="false" tIns="0" lIns="0" bIns="0" rIns="0">
            <a:spAutoFit/>
          </a:bodyPr>
          <a:lstStyle/>
          <a:p>
            <a:pPr algn="ctr">
              <a:lnSpc>
                <a:spcPts val="3992"/>
              </a:lnSpc>
            </a:pPr>
            <a:r>
              <a:rPr lang="en-US" b="true" sz="3071">
                <a:solidFill>
                  <a:srgbClr val="28211E"/>
                </a:solidFill>
                <a:latin typeface="Arimo Bold"/>
                <a:ea typeface="Arimo Bold"/>
                <a:cs typeface="Arimo Bold"/>
                <a:sym typeface="Arimo Bold"/>
              </a:rPr>
              <a:t>Security Frameworks (NIST CSF &amp; ISO 27001)</a:t>
            </a:r>
          </a:p>
        </p:txBody>
      </p:sp>
      <p:sp>
        <p:nvSpPr>
          <p:cNvPr name="TextBox 9" id="9"/>
          <p:cNvSpPr txBox="true"/>
          <p:nvPr/>
        </p:nvSpPr>
        <p:spPr>
          <a:xfrm rot="0">
            <a:off x="1159626" y="3980190"/>
            <a:ext cx="6872655" cy="5249127"/>
          </a:xfrm>
          <a:prstGeom prst="rect">
            <a:avLst/>
          </a:prstGeom>
        </p:spPr>
        <p:txBody>
          <a:bodyPr anchor="t" rtlCol="false" tIns="0" lIns="0" bIns="0" rIns="0">
            <a:spAutoFit/>
          </a:bodyPr>
          <a:lstStyle/>
          <a:p>
            <a:pPr algn="l">
              <a:lnSpc>
                <a:spcPts val="3812"/>
              </a:lnSpc>
            </a:pPr>
            <a:r>
              <a:rPr lang="en-US" sz="2932">
                <a:solidFill>
                  <a:srgbClr val="282421"/>
                </a:solidFill>
                <a:latin typeface="Arimo"/>
                <a:ea typeface="Arimo"/>
                <a:cs typeface="Arimo"/>
                <a:sym typeface="Arimo"/>
              </a:rPr>
              <a:t>Security frameworks provide best practices and guidelines for managing cybersecurity risks and protecting information.</a:t>
            </a:r>
          </a:p>
          <a:p>
            <a:pPr algn="l" marL="633214" indent="-316607" lvl="1">
              <a:lnSpc>
                <a:spcPts val="3812"/>
              </a:lnSpc>
              <a:buFont typeface="Arial"/>
              <a:buChar char="•"/>
            </a:pPr>
            <a:r>
              <a:rPr lang="en-US" b="true" sz="2932">
                <a:solidFill>
                  <a:srgbClr val="282421"/>
                </a:solidFill>
                <a:latin typeface="Arimo Bold"/>
                <a:ea typeface="Arimo Bold"/>
                <a:cs typeface="Arimo Bold"/>
                <a:sym typeface="Arimo Bold"/>
              </a:rPr>
              <a:t>NIST Cybersecurity Framework (CSF)</a:t>
            </a:r>
            <a:r>
              <a:rPr lang="en-US" sz="2932">
                <a:solidFill>
                  <a:srgbClr val="282421"/>
                </a:solidFill>
                <a:latin typeface="Arimo"/>
                <a:ea typeface="Arimo"/>
                <a:cs typeface="Arimo"/>
                <a:sym typeface="Arimo"/>
              </a:rPr>
              <a:t> – Focuses on Identify, Protect, Detect, Respond, and Recover.</a:t>
            </a:r>
          </a:p>
          <a:p>
            <a:pPr algn="l" marL="633214" indent="-316607" lvl="1">
              <a:lnSpc>
                <a:spcPts val="3812"/>
              </a:lnSpc>
              <a:buFont typeface="Arial"/>
              <a:buChar char="•"/>
            </a:pPr>
            <a:r>
              <a:rPr lang="en-US" b="true" sz="2932">
                <a:solidFill>
                  <a:srgbClr val="282421"/>
                </a:solidFill>
                <a:latin typeface="Arimo Bold"/>
                <a:ea typeface="Arimo Bold"/>
                <a:cs typeface="Arimo Bold"/>
                <a:sym typeface="Arimo Bold"/>
              </a:rPr>
              <a:t>ISO 27001 </a:t>
            </a:r>
            <a:r>
              <a:rPr lang="en-US" sz="2932">
                <a:solidFill>
                  <a:srgbClr val="282421"/>
                </a:solidFill>
                <a:latin typeface="Arimo"/>
                <a:ea typeface="Arimo"/>
                <a:cs typeface="Arimo"/>
                <a:sym typeface="Arimo"/>
              </a:rPr>
              <a:t>– An international standard for establishing and managing an Information Security Management System (ISMS).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Freeform 2" id="2"/>
          <p:cNvSpPr/>
          <p:nvPr/>
        </p:nvSpPr>
        <p:spPr>
          <a:xfrm flipH="false" flipV="false" rot="0">
            <a:off x="8911386" y="1498563"/>
            <a:ext cx="13575532" cy="9095606"/>
          </a:xfrm>
          <a:custGeom>
            <a:avLst/>
            <a:gdLst/>
            <a:ahLst/>
            <a:cxnLst/>
            <a:rect r="r" b="b" t="t" l="l"/>
            <a:pathLst>
              <a:path h="9095606" w="13575532">
                <a:moveTo>
                  <a:pt x="0" y="0"/>
                </a:moveTo>
                <a:lnTo>
                  <a:pt x="13575532" y="0"/>
                </a:lnTo>
                <a:lnTo>
                  <a:pt x="13575532" y="9095606"/>
                </a:lnTo>
                <a:lnTo>
                  <a:pt x="0" y="9095606"/>
                </a:lnTo>
                <a:lnTo>
                  <a:pt x="0" y="0"/>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64058" y="1028700"/>
            <a:ext cx="11684765" cy="9565469"/>
          </a:xfrm>
          <a:custGeom>
            <a:avLst/>
            <a:gdLst/>
            <a:ahLst/>
            <a:cxnLst/>
            <a:rect r="r" b="b" t="t" l="l"/>
            <a:pathLst>
              <a:path h="9565469" w="11684765">
                <a:moveTo>
                  <a:pt x="0" y="0"/>
                </a:moveTo>
                <a:lnTo>
                  <a:pt x="11684764" y="0"/>
                </a:lnTo>
                <a:lnTo>
                  <a:pt x="11684764" y="9565469"/>
                </a:lnTo>
                <a:lnTo>
                  <a:pt x="0" y="9565469"/>
                </a:lnTo>
                <a:lnTo>
                  <a:pt x="0" y="0"/>
                </a:lnTo>
                <a:close/>
              </a:path>
            </a:pathLst>
          </a:custGeom>
          <a:blipFill>
            <a:blip r:embed="rId4">
              <a:alphaModFix amt="40000"/>
            </a:blip>
            <a:stretch>
              <a:fillRect l="0" t="0" r="0" b="0"/>
            </a:stretch>
          </a:blipFill>
        </p:spPr>
      </p:sp>
      <p:grpSp>
        <p:nvGrpSpPr>
          <p:cNvPr name="Group 4" id="4"/>
          <p:cNvGrpSpPr/>
          <p:nvPr/>
        </p:nvGrpSpPr>
        <p:grpSpPr>
          <a:xfrm rot="0">
            <a:off x="1353533" y="1999643"/>
            <a:ext cx="7354866" cy="7828189"/>
            <a:chOff x="0" y="0"/>
            <a:chExt cx="2474288" cy="2633521"/>
          </a:xfrm>
        </p:grpSpPr>
        <p:sp>
          <p:nvSpPr>
            <p:cNvPr name="Freeform 5" id="5"/>
            <p:cNvSpPr/>
            <p:nvPr/>
          </p:nvSpPr>
          <p:spPr>
            <a:xfrm flipH="false" flipV="false" rot="0">
              <a:off x="0" y="0"/>
              <a:ext cx="2474288" cy="2633521"/>
            </a:xfrm>
            <a:custGeom>
              <a:avLst/>
              <a:gdLst/>
              <a:ahLst/>
              <a:cxnLst/>
              <a:rect r="r" b="b" t="t" l="l"/>
              <a:pathLst>
                <a:path h="2633521" w="2474288">
                  <a:moveTo>
                    <a:pt x="53684" y="0"/>
                  </a:moveTo>
                  <a:lnTo>
                    <a:pt x="2420604" y="0"/>
                  </a:lnTo>
                  <a:cubicBezTo>
                    <a:pt x="2450253" y="0"/>
                    <a:pt x="2474288" y="24035"/>
                    <a:pt x="2474288" y="53684"/>
                  </a:cubicBezTo>
                  <a:lnTo>
                    <a:pt x="2474288" y="2579837"/>
                  </a:lnTo>
                  <a:cubicBezTo>
                    <a:pt x="2474288" y="2609486"/>
                    <a:pt x="2450253" y="2633521"/>
                    <a:pt x="2420604" y="2633521"/>
                  </a:cubicBezTo>
                  <a:lnTo>
                    <a:pt x="53684" y="2633521"/>
                  </a:lnTo>
                  <a:cubicBezTo>
                    <a:pt x="39446" y="2633521"/>
                    <a:pt x="25791" y="2627865"/>
                    <a:pt x="15724" y="2617798"/>
                  </a:cubicBezTo>
                  <a:cubicBezTo>
                    <a:pt x="5656" y="2607730"/>
                    <a:pt x="0" y="2594075"/>
                    <a:pt x="0" y="2579837"/>
                  </a:cubicBezTo>
                  <a:lnTo>
                    <a:pt x="0" y="53684"/>
                  </a:lnTo>
                  <a:cubicBezTo>
                    <a:pt x="0" y="24035"/>
                    <a:pt x="24035" y="0"/>
                    <a:pt x="53684" y="0"/>
                  </a:cubicBezTo>
                  <a:close/>
                </a:path>
              </a:pathLst>
            </a:custGeom>
            <a:solidFill>
              <a:srgbClr val="FFFFFF"/>
            </a:solidFill>
          </p:spPr>
        </p:sp>
        <p:sp>
          <p:nvSpPr>
            <p:cNvPr name="TextBox 6" id="6"/>
            <p:cNvSpPr txBox="true"/>
            <p:nvPr/>
          </p:nvSpPr>
          <p:spPr>
            <a:xfrm>
              <a:off x="0" y="-19050"/>
              <a:ext cx="2474288" cy="2652571"/>
            </a:xfrm>
            <a:prstGeom prst="rect">
              <a:avLst/>
            </a:prstGeom>
          </p:spPr>
          <p:txBody>
            <a:bodyPr anchor="ctr" rtlCol="false" tIns="50800" lIns="50800" bIns="50800" rIns="50800"/>
            <a:lstStyle/>
            <a:p>
              <a:pPr algn="ctr">
                <a:lnSpc>
                  <a:spcPts val="2236"/>
                </a:lnSpc>
              </a:pPr>
            </a:p>
          </p:txBody>
        </p:sp>
      </p:grpSp>
      <p:grpSp>
        <p:nvGrpSpPr>
          <p:cNvPr name="Group 7" id="7"/>
          <p:cNvGrpSpPr/>
          <p:nvPr/>
        </p:nvGrpSpPr>
        <p:grpSpPr>
          <a:xfrm rot="0">
            <a:off x="9579600" y="1999643"/>
            <a:ext cx="7354866" cy="7828189"/>
            <a:chOff x="0" y="0"/>
            <a:chExt cx="2474288" cy="2633521"/>
          </a:xfrm>
        </p:grpSpPr>
        <p:sp>
          <p:nvSpPr>
            <p:cNvPr name="Freeform 8" id="8"/>
            <p:cNvSpPr/>
            <p:nvPr/>
          </p:nvSpPr>
          <p:spPr>
            <a:xfrm flipH="false" flipV="false" rot="0">
              <a:off x="0" y="0"/>
              <a:ext cx="2474288" cy="2633521"/>
            </a:xfrm>
            <a:custGeom>
              <a:avLst/>
              <a:gdLst/>
              <a:ahLst/>
              <a:cxnLst/>
              <a:rect r="r" b="b" t="t" l="l"/>
              <a:pathLst>
                <a:path h="2633521" w="2474288">
                  <a:moveTo>
                    <a:pt x="53684" y="0"/>
                  </a:moveTo>
                  <a:lnTo>
                    <a:pt x="2420604" y="0"/>
                  </a:lnTo>
                  <a:cubicBezTo>
                    <a:pt x="2450253" y="0"/>
                    <a:pt x="2474288" y="24035"/>
                    <a:pt x="2474288" y="53684"/>
                  </a:cubicBezTo>
                  <a:lnTo>
                    <a:pt x="2474288" y="2579837"/>
                  </a:lnTo>
                  <a:cubicBezTo>
                    <a:pt x="2474288" y="2609486"/>
                    <a:pt x="2450253" y="2633521"/>
                    <a:pt x="2420604" y="2633521"/>
                  </a:cubicBezTo>
                  <a:lnTo>
                    <a:pt x="53684" y="2633521"/>
                  </a:lnTo>
                  <a:cubicBezTo>
                    <a:pt x="39446" y="2633521"/>
                    <a:pt x="25791" y="2627865"/>
                    <a:pt x="15724" y="2617798"/>
                  </a:cubicBezTo>
                  <a:cubicBezTo>
                    <a:pt x="5656" y="2607730"/>
                    <a:pt x="0" y="2594075"/>
                    <a:pt x="0" y="2579837"/>
                  </a:cubicBezTo>
                  <a:lnTo>
                    <a:pt x="0" y="53684"/>
                  </a:lnTo>
                  <a:cubicBezTo>
                    <a:pt x="0" y="24035"/>
                    <a:pt x="24035" y="0"/>
                    <a:pt x="53684" y="0"/>
                  </a:cubicBezTo>
                  <a:close/>
                </a:path>
              </a:pathLst>
            </a:custGeom>
            <a:solidFill>
              <a:srgbClr val="FFFFFF"/>
            </a:solidFill>
          </p:spPr>
        </p:sp>
        <p:sp>
          <p:nvSpPr>
            <p:cNvPr name="TextBox 9" id="9"/>
            <p:cNvSpPr txBox="true"/>
            <p:nvPr/>
          </p:nvSpPr>
          <p:spPr>
            <a:xfrm>
              <a:off x="0" y="-19050"/>
              <a:ext cx="2474288" cy="2652571"/>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EGO</a:t>
            </a:r>
          </a:p>
        </p:txBody>
      </p:sp>
      <p:sp>
        <p:nvSpPr>
          <p:cNvPr name="TextBox 11" id="11"/>
          <p:cNvSpPr txBox="true"/>
          <p:nvPr/>
        </p:nvSpPr>
        <p:spPr>
          <a:xfrm rot="0">
            <a:off x="3250026" y="483230"/>
            <a:ext cx="11789124" cy="1319539"/>
          </a:xfrm>
          <a:prstGeom prst="rect">
            <a:avLst/>
          </a:prstGeom>
        </p:spPr>
        <p:txBody>
          <a:bodyPr anchor="t" rtlCol="false" tIns="0" lIns="0" bIns="0" rIns="0">
            <a:spAutoFit/>
          </a:bodyPr>
          <a:lstStyle/>
          <a:p>
            <a:pPr algn="ctr">
              <a:lnSpc>
                <a:spcPts val="4880"/>
              </a:lnSpc>
            </a:pPr>
            <a:r>
              <a:rPr lang="en-US" sz="6100" spc="-183">
                <a:solidFill>
                  <a:srgbClr val="28211E"/>
                </a:solidFill>
                <a:latin typeface="Lazydog 1"/>
                <a:ea typeface="Lazydog 1"/>
                <a:cs typeface="Lazydog 1"/>
                <a:sym typeface="Lazydog 1"/>
              </a:rPr>
              <a:t>Security Governance and Frameworks</a:t>
            </a:r>
          </a:p>
        </p:txBody>
      </p:sp>
      <p:sp>
        <p:nvSpPr>
          <p:cNvPr name="TextBox 12" id="12"/>
          <p:cNvSpPr txBox="true"/>
          <p:nvPr/>
        </p:nvSpPr>
        <p:spPr>
          <a:xfrm rot="0">
            <a:off x="1810093" y="2368708"/>
            <a:ext cx="6441747" cy="1005394"/>
          </a:xfrm>
          <a:prstGeom prst="rect">
            <a:avLst/>
          </a:prstGeom>
        </p:spPr>
        <p:txBody>
          <a:bodyPr anchor="t" rtlCol="false" tIns="0" lIns="0" bIns="0" rIns="0">
            <a:spAutoFit/>
          </a:bodyPr>
          <a:lstStyle/>
          <a:p>
            <a:pPr algn="ctr">
              <a:lnSpc>
                <a:spcPts val="3992"/>
              </a:lnSpc>
            </a:pPr>
            <a:r>
              <a:rPr lang="en-US" b="true" sz="3071">
                <a:solidFill>
                  <a:srgbClr val="28211E"/>
                </a:solidFill>
                <a:latin typeface="Arimo Bold"/>
                <a:ea typeface="Arimo Bold"/>
                <a:cs typeface="Arimo Bold"/>
                <a:sym typeface="Arimo Bold"/>
              </a:rPr>
              <a:t>Regulatory Compliance and Data Privacy Laws</a:t>
            </a:r>
          </a:p>
        </p:txBody>
      </p:sp>
      <p:sp>
        <p:nvSpPr>
          <p:cNvPr name="TextBox 13" id="13"/>
          <p:cNvSpPr txBox="true"/>
          <p:nvPr/>
        </p:nvSpPr>
        <p:spPr>
          <a:xfrm rot="0">
            <a:off x="1594639" y="4069428"/>
            <a:ext cx="6872655" cy="4296627"/>
          </a:xfrm>
          <a:prstGeom prst="rect">
            <a:avLst/>
          </a:prstGeom>
        </p:spPr>
        <p:txBody>
          <a:bodyPr anchor="t" rtlCol="false" tIns="0" lIns="0" bIns="0" rIns="0">
            <a:spAutoFit/>
          </a:bodyPr>
          <a:lstStyle/>
          <a:p>
            <a:pPr algn="l">
              <a:lnSpc>
                <a:spcPts val="3812"/>
              </a:lnSpc>
            </a:pPr>
            <a:r>
              <a:rPr lang="en-US" sz="2932">
                <a:solidFill>
                  <a:srgbClr val="282421"/>
                </a:solidFill>
                <a:latin typeface="Arimo"/>
                <a:ea typeface="Arimo"/>
                <a:cs typeface="Arimo"/>
                <a:sym typeface="Arimo"/>
              </a:rPr>
              <a:t>Organizations must comply with laws and regulations that protect personal and sensitive information.</a:t>
            </a:r>
          </a:p>
          <a:p>
            <a:pPr algn="l">
              <a:lnSpc>
                <a:spcPts val="3812"/>
              </a:lnSpc>
            </a:pPr>
          </a:p>
          <a:p>
            <a:pPr algn="l">
              <a:lnSpc>
                <a:spcPts val="3812"/>
              </a:lnSpc>
            </a:pPr>
            <a:r>
              <a:rPr lang="en-US" sz="2932" b="true">
                <a:solidFill>
                  <a:srgbClr val="282421"/>
                </a:solidFill>
                <a:latin typeface="Arimo Bold"/>
                <a:ea typeface="Arimo Bold"/>
                <a:cs typeface="Arimo Bold"/>
                <a:sym typeface="Arimo Bold"/>
              </a:rPr>
              <a:t>Importance</a:t>
            </a:r>
          </a:p>
          <a:p>
            <a:pPr algn="l" marL="633214" indent="-316607" lvl="1">
              <a:lnSpc>
                <a:spcPts val="3812"/>
              </a:lnSpc>
              <a:buFont typeface="Arial"/>
              <a:buChar char="•"/>
            </a:pPr>
            <a:r>
              <a:rPr lang="en-US" sz="2932">
                <a:solidFill>
                  <a:srgbClr val="282421"/>
                </a:solidFill>
                <a:latin typeface="Arimo"/>
                <a:ea typeface="Arimo"/>
                <a:cs typeface="Arimo"/>
                <a:sym typeface="Arimo"/>
              </a:rPr>
              <a:t>Protects customer data</a:t>
            </a:r>
          </a:p>
          <a:p>
            <a:pPr algn="l" marL="633214" indent="-316607" lvl="1">
              <a:lnSpc>
                <a:spcPts val="3812"/>
              </a:lnSpc>
              <a:buFont typeface="Arial"/>
              <a:buChar char="•"/>
            </a:pPr>
            <a:r>
              <a:rPr lang="en-US" sz="2932">
                <a:solidFill>
                  <a:srgbClr val="282421"/>
                </a:solidFill>
                <a:latin typeface="Arimo"/>
                <a:ea typeface="Arimo"/>
                <a:cs typeface="Arimo"/>
                <a:sym typeface="Arimo"/>
              </a:rPr>
              <a:t>Avoids legal</a:t>
            </a:r>
            <a:r>
              <a:rPr lang="en-US" sz="2932">
                <a:solidFill>
                  <a:srgbClr val="282421"/>
                </a:solidFill>
                <a:latin typeface="Arimo"/>
                <a:ea typeface="Arimo"/>
                <a:cs typeface="Arimo"/>
                <a:sym typeface="Arimo"/>
              </a:rPr>
              <a:t> </a:t>
            </a:r>
            <a:r>
              <a:rPr lang="en-US" sz="2932">
                <a:solidFill>
                  <a:srgbClr val="282421"/>
                </a:solidFill>
                <a:latin typeface="Arimo"/>
                <a:ea typeface="Arimo"/>
                <a:cs typeface="Arimo"/>
                <a:sym typeface="Arimo"/>
              </a:rPr>
              <a:t>penalties</a:t>
            </a:r>
          </a:p>
          <a:p>
            <a:pPr algn="l" marL="633214" indent="-316607" lvl="1">
              <a:lnSpc>
                <a:spcPts val="3812"/>
              </a:lnSpc>
              <a:buFont typeface="Arial"/>
              <a:buChar char="•"/>
            </a:pPr>
            <a:r>
              <a:rPr lang="en-US" sz="2932">
                <a:solidFill>
                  <a:srgbClr val="282421"/>
                </a:solidFill>
                <a:latin typeface="Arimo"/>
                <a:ea typeface="Arimo"/>
                <a:cs typeface="Arimo"/>
                <a:sym typeface="Arimo"/>
              </a:rPr>
              <a:t>Builds trust and reputation</a:t>
            </a:r>
          </a:p>
          <a:p>
            <a:pPr algn="l" marL="633214" indent="-316607" lvl="1">
              <a:lnSpc>
                <a:spcPts val="3812"/>
              </a:lnSpc>
              <a:buFont typeface="Arial"/>
              <a:buChar char="•"/>
            </a:pPr>
            <a:r>
              <a:rPr lang="en-US" sz="2932">
                <a:solidFill>
                  <a:srgbClr val="282421"/>
                </a:solidFill>
                <a:latin typeface="Arimo"/>
                <a:ea typeface="Arimo"/>
                <a:cs typeface="Arimo"/>
                <a:sym typeface="Arimo"/>
              </a:rPr>
              <a:t>Ensures regulatory compliance</a:t>
            </a:r>
          </a:p>
        </p:txBody>
      </p:sp>
      <p:sp>
        <p:nvSpPr>
          <p:cNvPr name="TextBox 14" id="14"/>
          <p:cNvSpPr txBox="true"/>
          <p:nvPr/>
        </p:nvSpPr>
        <p:spPr>
          <a:xfrm rot="0">
            <a:off x="10036160" y="2368708"/>
            <a:ext cx="6441747" cy="1005394"/>
          </a:xfrm>
          <a:prstGeom prst="rect">
            <a:avLst/>
          </a:prstGeom>
        </p:spPr>
        <p:txBody>
          <a:bodyPr anchor="t" rtlCol="false" tIns="0" lIns="0" bIns="0" rIns="0">
            <a:spAutoFit/>
          </a:bodyPr>
          <a:lstStyle/>
          <a:p>
            <a:pPr algn="ctr">
              <a:lnSpc>
                <a:spcPts val="3992"/>
              </a:lnSpc>
            </a:pPr>
            <a:r>
              <a:rPr lang="en-US" b="true" sz="3071">
                <a:solidFill>
                  <a:srgbClr val="28211E"/>
                </a:solidFill>
                <a:latin typeface="Arimo Bold"/>
                <a:ea typeface="Arimo Bold"/>
                <a:cs typeface="Arimo Bold"/>
                <a:sym typeface="Arimo Bold"/>
              </a:rPr>
              <a:t>Role of Leadership and Security Governance Boards</a:t>
            </a:r>
          </a:p>
        </p:txBody>
      </p:sp>
      <p:sp>
        <p:nvSpPr>
          <p:cNvPr name="TextBox 15" id="15"/>
          <p:cNvSpPr txBox="true"/>
          <p:nvPr/>
        </p:nvSpPr>
        <p:spPr>
          <a:xfrm rot="0">
            <a:off x="9820706" y="3936078"/>
            <a:ext cx="6872655" cy="5249127"/>
          </a:xfrm>
          <a:prstGeom prst="rect">
            <a:avLst/>
          </a:prstGeom>
        </p:spPr>
        <p:txBody>
          <a:bodyPr anchor="t" rtlCol="false" tIns="0" lIns="0" bIns="0" rIns="0">
            <a:spAutoFit/>
          </a:bodyPr>
          <a:lstStyle/>
          <a:p>
            <a:pPr algn="l">
              <a:lnSpc>
                <a:spcPts val="3812"/>
              </a:lnSpc>
            </a:pPr>
            <a:r>
              <a:rPr lang="en-US" sz="2932">
                <a:solidFill>
                  <a:srgbClr val="282421"/>
                </a:solidFill>
                <a:latin typeface="Arimo"/>
                <a:ea typeface="Arimo"/>
                <a:cs typeface="Arimo"/>
                <a:sym typeface="Arimo"/>
              </a:rPr>
              <a:t>Leadership and governance boards oversee cybersecurity strategy, policies, and risk management to ensure security aligns with business goals.</a:t>
            </a:r>
          </a:p>
          <a:p>
            <a:pPr algn="l">
              <a:lnSpc>
                <a:spcPts val="3812"/>
              </a:lnSpc>
            </a:pPr>
          </a:p>
          <a:p>
            <a:pPr algn="l">
              <a:lnSpc>
                <a:spcPts val="3812"/>
              </a:lnSpc>
            </a:pPr>
            <a:r>
              <a:rPr lang="en-US" sz="2932" b="true">
                <a:solidFill>
                  <a:srgbClr val="282421"/>
                </a:solidFill>
                <a:latin typeface="Arimo Bold"/>
                <a:ea typeface="Arimo Bold"/>
                <a:cs typeface="Arimo Bold"/>
                <a:sym typeface="Arimo Bold"/>
              </a:rPr>
              <a:t>Res</a:t>
            </a:r>
            <a:r>
              <a:rPr lang="en-US" sz="2932" b="true">
                <a:solidFill>
                  <a:srgbClr val="282421"/>
                </a:solidFill>
                <a:latin typeface="Arimo Bold"/>
                <a:ea typeface="Arimo Bold"/>
                <a:cs typeface="Arimo Bold"/>
                <a:sym typeface="Arimo Bold"/>
              </a:rPr>
              <a:t>ponsibilities</a:t>
            </a:r>
          </a:p>
          <a:p>
            <a:pPr algn="l" marL="633214" indent="-316607" lvl="1">
              <a:lnSpc>
                <a:spcPts val="3812"/>
              </a:lnSpc>
              <a:buFont typeface="Arial"/>
              <a:buChar char="•"/>
            </a:pPr>
            <a:r>
              <a:rPr lang="en-US" sz="2932">
                <a:solidFill>
                  <a:srgbClr val="282421"/>
                </a:solidFill>
                <a:latin typeface="Arimo"/>
                <a:ea typeface="Arimo"/>
                <a:cs typeface="Arimo"/>
                <a:sym typeface="Arimo"/>
              </a:rPr>
              <a:t>S</a:t>
            </a:r>
            <a:r>
              <a:rPr lang="en-US" sz="2932">
                <a:solidFill>
                  <a:srgbClr val="282421"/>
                </a:solidFill>
                <a:latin typeface="Arimo"/>
                <a:ea typeface="Arimo"/>
                <a:cs typeface="Arimo"/>
                <a:sym typeface="Arimo"/>
              </a:rPr>
              <a:t>et security policies and</a:t>
            </a:r>
            <a:r>
              <a:rPr lang="en-US" sz="2932">
                <a:solidFill>
                  <a:srgbClr val="282421"/>
                </a:solidFill>
                <a:latin typeface="Arimo"/>
                <a:ea typeface="Arimo"/>
                <a:cs typeface="Arimo"/>
                <a:sym typeface="Arimo"/>
              </a:rPr>
              <a:t> obj</a:t>
            </a:r>
            <a:r>
              <a:rPr lang="en-US" sz="2932">
                <a:solidFill>
                  <a:srgbClr val="282421"/>
                </a:solidFill>
                <a:latin typeface="Arimo"/>
                <a:ea typeface="Arimo"/>
                <a:cs typeface="Arimo"/>
                <a:sym typeface="Arimo"/>
              </a:rPr>
              <a:t>ectives</a:t>
            </a:r>
          </a:p>
          <a:p>
            <a:pPr algn="l" marL="633214" indent="-316607" lvl="1">
              <a:lnSpc>
                <a:spcPts val="3812"/>
              </a:lnSpc>
              <a:buFont typeface="Arial"/>
              <a:buChar char="•"/>
            </a:pPr>
            <a:r>
              <a:rPr lang="en-US" sz="2932">
                <a:solidFill>
                  <a:srgbClr val="282421"/>
                </a:solidFill>
                <a:latin typeface="Arimo"/>
                <a:ea typeface="Arimo"/>
                <a:cs typeface="Arimo"/>
                <a:sym typeface="Arimo"/>
              </a:rPr>
              <a:t>Allocate security budgets and resources</a:t>
            </a:r>
          </a:p>
          <a:p>
            <a:pPr algn="l" marL="633214" indent="-316607" lvl="1">
              <a:lnSpc>
                <a:spcPts val="3812"/>
              </a:lnSpc>
              <a:buFont typeface="Arial"/>
              <a:buChar char="•"/>
            </a:pPr>
            <a:r>
              <a:rPr lang="en-US" sz="2932">
                <a:solidFill>
                  <a:srgbClr val="282421"/>
                </a:solidFill>
                <a:latin typeface="Arimo"/>
                <a:ea typeface="Arimo"/>
                <a:cs typeface="Arimo"/>
                <a:sym typeface="Arimo"/>
              </a:rPr>
              <a:t>Manage organizational risks</a:t>
            </a:r>
          </a:p>
          <a:p>
            <a:pPr algn="l" marL="633214" indent="-316607" lvl="1">
              <a:lnSpc>
                <a:spcPts val="3812"/>
              </a:lnSpc>
              <a:buFont typeface="Arial"/>
              <a:buChar char="•"/>
            </a:pPr>
            <a:r>
              <a:rPr lang="en-US" sz="2932">
                <a:solidFill>
                  <a:srgbClr val="282421"/>
                </a:solidFill>
                <a:latin typeface="Arimo"/>
                <a:ea typeface="Arimo"/>
                <a:cs typeface="Arimo"/>
                <a:sym typeface="Arimo"/>
              </a:rPr>
              <a:t>Ensure compliance with regulations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28211E"/>
        </a:solidFill>
      </p:bgPr>
    </p:bg>
    <p:spTree>
      <p:nvGrpSpPr>
        <p:cNvPr id="1" name=""/>
        <p:cNvGrpSpPr/>
        <p:nvPr/>
      </p:nvGrpSpPr>
      <p:grpSpPr>
        <a:xfrm>
          <a:off x="0" y="0"/>
          <a:ext cx="0" cy="0"/>
          <a:chOff x="0" y="0"/>
          <a:chExt cx="0" cy="0"/>
        </a:xfrm>
      </p:grpSpPr>
      <p:sp>
        <p:nvSpPr>
          <p:cNvPr name="TextBox 2" id="2"/>
          <p:cNvSpPr txBox="true"/>
          <p:nvPr/>
        </p:nvSpPr>
        <p:spPr>
          <a:xfrm rot="0">
            <a:off x="3270222" y="429256"/>
            <a:ext cx="11747556" cy="749168"/>
          </a:xfrm>
          <a:prstGeom prst="rect">
            <a:avLst/>
          </a:prstGeom>
        </p:spPr>
        <p:txBody>
          <a:bodyPr anchor="t" rtlCol="false" tIns="0" lIns="0" bIns="0" rIns="0">
            <a:spAutoFit/>
          </a:bodyPr>
          <a:lstStyle/>
          <a:p>
            <a:pPr algn="ctr">
              <a:lnSpc>
                <a:spcPts val="5197"/>
              </a:lnSpc>
            </a:pPr>
            <a:r>
              <a:rPr lang="en-US" sz="6497" spc="-194">
                <a:solidFill>
                  <a:srgbClr val="FABE57"/>
                </a:solidFill>
                <a:latin typeface="Lazydog 1"/>
                <a:ea typeface="Lazydog 1"/>
                <a:cs typeface="Lazydog 1"/>
                <a:sym typeface="Lazydog 1"/>
              </a:rPr>
              <a:t>Security Plans and Policies</a:t>
            </a:r>
          </a:p>
        </p:txBody>
      </p:sp>
      <p:grpSp>
        <p:nvGrpSpPr>
          <p:cNvPr name="Group 3" id="3"/>
          <p:cNvGrpSpPr/>
          <p:nvPr/>
        </p:nvGrpSpPr>
        <p:grpSpPr>
          <a:xfrm rot="0">
            <a:off x="486826" y="1809978"/>
            <a:ext cx="5601437" cy="7957220"/>
            <a:chOff x="0" y="0"/>
            <a:chExt cx="2237821" cy="3178976"/>
          </a:xfrm>
        </p:grpSpPr>
        <p:sp>
          <p:nvSpPr>
            <p:cNvPr name="Freeform 4" id="4"/>
            <p:cNvSpPr/>
            <p:nvPr/>
          </p:nvSpPr>
          <p:spPr>
            <a:xfrm flipH="false" flipV="false" rot="0">
              <a:off x="0" y="0"/>
              <a:ext cx="2237821" cy="3178976"/>
            </a:xfrm>
            <a:custGeom>
              <a:avLst/>
              <a:gdLst/>
              <a:ahLst/>
              <a:cxnLst/>
              <a:rect r="r" b="b" t="t" l="l"/>
              <a:pathLst>
                <a:path h="3178976" w="2237821">
                  <a:moveTo>
                    <a:pt x="70489" y="0"/>
                  </a:moveTo>
                  <a:lnTo>
                    <a:pt x="2167333" y="0"/>
                  </a:lnTo>
                  <a:cubicBezTo>
                    <a:pt x="2186027" y="0"/>
                    <a:pt x="2203957" y="7426"/>
                    <a:pt x="2217176" y="20646"/>
                  </a:cubicBezTo>
                  <a:cubicBezTo>
                    <a:pt x="2230395" y="33865"/>
                    <a:pt x="2237821" y="51794"/>
                    <a:pt x="2237821" y="70489"/>
                  </a:cubicBezTo>
                  <a:lnTo>
                    <a:pt x="2237821" y="3108488"/>
                  </a:lnTo>
                  <a:cubicBezTo>
                    <a:pt x="2237821" y="3127182"/>
                    <a:pt x="2230395" y="3145112"/>
                    <a:pt x="2217176" y="3158331"/>
                  </a:cubicBezTo>
                  <a:cubicBezTo>
                    <a:pt x="2203957" y="3171550"/>
                    <a:pt x="2186027" y="3178976"/>
                    <a:pt x="2167333" y="3178976"/>
                  </a:cubicBezTo>
                  <a:lnTo>
                    <a:pt x="70489" y="3178976"/>
                  </a:lnTo>
                  <a:cubicBezTo>
                    <a:pt x="51794" y="3178976"/>
                    <a:pt x="33865" y="3171550"/>
                    <a:pt x="20646" y="3158331"/>
                  </a:cubicBezTo>
                  <a:cubicBezTo>
                    <a:pt x="7426" y="3145112"/>
                    <a:pt x="0" y="3127182"/>
                    <a:pt x="0" y="3108488"/>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5" id="5"/>
            <p:cNvSpPr txBox="true"/>
            <p:nvPr/>
          </p:nvSpPr>
          <p:spPr>
            <a:xfrm>
              <a:off x="0" y="-19050"/>
              <a:ext cx="2237821" cy="3198026"/>
            </a:xfrm>
            <a:prstGeom prst="rect">
              <a:avLst/>
            </a:prstGeom>
          </p:spPr>
          <p:txBody>
            <a:bodyPr anchor="ctr" rtlCol="false" tIns="50800" lIns="50800" bIns="50800" rIns="50800"/>
            <a:lstStyle/>
            <a:p>
              <a:pPr algn="ctr">
                <a:lnSpc>
                  <a:spcPts val="2236"/>
                </a:lnSpc>
              </a:pPr>
            </a:p>
          </p:txBody>
        </p:sp>
      </p:grpSp>
      <p:grpSp>
        <p:nvGrpSpPr>
          <p:cNvPr name="Group 6" id="6"/>
          <p:cNvGrpSpPr/>
          <p:nvPr/>
        </p:nvGrpSpPr>
        <p:grpSpPr>
          <a:xfrm rot="0">
            <a:off x="6342844" y="1809978"/>
            <a:ext cx="5601437" cy="7957220"/>
            <a:chOff x="0" y="0"/>
            <a:chExt cx="2237821" cy="3178976"/>
          </a:xfrm>
        </p:grpSpPr>
        <p:sp>
          <p:nvSpPr>
            <p:cNvPr name="Freeform 7" id="7"/>
            <p:cNvSpPr/>
            <p:nvPr/>
          </p:nvSpPr>
          <p:spPr>
            <a:xfrm flipH="false" flipV="false" rot="0">
              <a:off x="0" y="0"/>
              <a:ext cx="2237821" cy="3178976"/>
            </a:xfrm>
            <a:custGeom>
              <a:avLst/>
              <a:gdLst/>
              <a:ahLst/>
              <a:cxnLst/>
              <a:rect r="r" b="b" t="t" l="l"/>
              <a:pathLst>
                <a:path h="3178976" w="2237821">
                  <a:moveTo>
                    <a:pt x="70489" y="0"/>
                  </a:moveTo>
                  <a:lnTo>
                    <a:pt x="2167333" y="0"/>
                  </a:lnTo>
                  <a:cubicBezTo>
                    <a:pt x="2186027" y="0"/>
                    <a:pt x="2203957" y="7426"/>
                    <a:pt x="2217176" y="20646"/>
                  </a:cubicBezTo>
                  <a:cubicBezTo>
                    <a:pt x="2230395" y="33865"/>
                    <a:pt x="2237821" y="51794"/>
                    <a:pt x="2237821" y="70489"/>
                  </a:cubicBezTo>
                  <a:lnTo>
                    <a:pt x="2237821" y="3108488"/>
                  </a:lnTo>
                  <a:cubicBezTo>
                    <a:pt x="2237821" y="3127182"/>
                    <a:pt x="2230395" y="3145112"/>
                    <a:pt x="2217176" y="3158331"/>
                  </a:cubicBezTo>
                  <a:cubicBezTo>
                    <a:pt x="2203957" y="3171550"/>
                    <a:pt x="2186027" y="3178976"/>
                    <a:pt x="2167333" y="3178976"/>
                  </a:cubicBezTo>
                  <a:lnTo>
                    <a:pt x="70489" y="3178976"/>
                  </a:lnTo>
                  <a:cubicBezTo>
                    <a:pt x="51794" y="3178976"/>
                    <a:pt x="33865" y="3171550"/>
                    <a:pt x="20646" y="3158331"/>
                  </a:cubicBezTo>
                  <a:cubicBezTo>
                    <a:pt x="7426" y="3145112"/>
                    <a:pt x="0" y="3127182"/>
                    <a:pt x="0" y="3108488"/>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8" id="8"/>
            <p:cNvSpPr txBox="true"/>
            <p:nvPr/>
          </p:nvSpPr>
          <p:spPr>
            <a:xfrm>
              <a:off x="0" y="-19050"/>
              <a:ext cx="2237821" cy="3198026"/>
            </a:xfrm>
            <a:prstGeom prst="rect">
              <a:avLst/>
            </a:prstGeom>
          </p:spPr>
          <p:txBody>
            <a:bodyPr anchor="ctr" rtlCol="false" tIns="50800" lIns="50800" bIns="50800" rIns="50800"/>
            <a:lstStyle/>
            <a:p>
              <a:pPr algn="ctr">
                <a:lnSpc>
                  <a:spcPts val="2236"/>
                </a:lnSpc>
              </a:pPr>
            </a:p>
          </p:txBody>
        </p:sp>
      </p:grpSp>
      <p:grpSp>
        <p:nvGrpSpPr>
          <p:cNvPr name="Group 9" id="9"/>
          <p:cNvGrpSpPr/>
          <p:nvPr/>
        </p:nvGrpSpPr>
        <p:grpSpPr>
          <a:xfrm rot="0">
            <a:off x="12199737" y="1809978"/>
            <a:ext cx="5601437" cy="7957220"/>
            <a:chOff x="0" y="0"/>
            <a:chExt cx="2237821" cy="3178976"/>
          </a:xfrm>
        </p:grpSpPr>
        <p:sp>
          <p:nvSpPr>
            <p:cNvPr name="Freeform 10" id="10"/>
            <p:cNvSpPr/>
            <p:nvPr/>
          </p:nvSpPr>
          <p:spPr>
            <a:xfrm flipH="false" flipV="false" rot="0">
              <a:off x="0" y="0"/>
              <a:ext cx="2237821" cy="3178976"/>
            </a:xfrm>
            <a:custGeom>
              <a:avLst/>
              <a:gdLst/>
              <a:ahLst/>
              <a:cxnLst/>
              <a:rect r="r" b="b" t="t" l="l"/>
              <a:pathLst>
                <a:path h="3178976" w="2237821">
                  <a:moveTo>
                    <a:pt x="70489" y="0"/>
                  </a:moveTo>
                  <a:lnTo>
                    <a:pt x="2167333" y="0"/>
                  </a:lnTo>
                  <a:cubicBezTo>
                    <a:pt x="2186027" y="0"/>
                    <a:pt x="2203957" y="7426"/>
                    <a:pt x="2217176" y="20646"/>
                  </a:cubicBezTo>
                  <a:cubicBezTo>
                    <a:pt x="2230395" y="33865"/>
                    <a:pt x="2237821" y="51794"/>
                    <a:pt x="2237821" y="70489"/>
                  </a:cubicBezTo>
                  <a:lnTo>
                    <a:pt x="2237821" y="3108488"/>
                  </a:lnTo>
                  <a:cubicBezTo>
                    <a:pt x="2237821" y="3127182"/>
                    <a:pt x="2230395" y="3145112"/>
                    <a:pt x="2217176" y="3158331"/>
                  </a:cubicBezTo>
                  <a:cubicBezTo>
                    <a:pt x="2203957" y="3171550"/>
                    <a:pt x="2186027" y="3178976"/>
                    <a:pt x="2167333" y="3178976"/>
                  </a:cubicBezTo>
                  <a:lnTo>
                    <a:pt x="70489" y="3178976"/>
                  </a:lnTo>
                  <a:cubicBezTo>
                    <a:pt x="51794" y="3178976"/>
                    <a:pt x="33865" y="3171550"/>
                    <a:pt x="20646" y="3158331"/>
                  </a:cubicBezTo>
                  <a:cubicBezTo>
                    <a:pt x="7426" y="3145112"/>
                    <a:pt x="0" y="3127182"/>
                    <a:pt x="0" y="3108488"/>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11" id="11"/>
            <p:cNvSpPr txBox="true"/>
            <p:nvPr/>
          </p:nvSpPr>
          <p:spPr>
            <a:xfrm>
              <a:off x="0" y="-19050"/>
              <a:ext cx="2237821" cy="3198026"/>
            </a:xfrm>
            <a:prstGeom prst="rect">
              <a:avLst/>
            </a:prstGeom>
          </p:spPr>
          <p:txBody>
            <a:bodyPr anchor="ctr" rtlCol="false" tIns="50800" lIns="50800" bIns="50800" rIns="50800"/>
            <a:lstStyle/>
            <a:p>
              <a:pPr algn="ctr">
                <a:lnSpc>
                  <a:spcPts val="2236"/>
                </a:lnSpc>
              </a:pPr>
            </a:p>
          </p:txBody>
        </p:sp>
      </p:grpSp>
      <p:sp>
        <p:nvSpPr>
          <p:cNvPr name="TextBox 12" id="12"/>
          <p:cNvSpPr txBox="true"/>
          <p:nvPr/>
        </p:nvSpPr>
        <p:spPr>
          <a:xfrm rot="0">
            <a:off x="791758" y="2080005"/>
            <a:ext cx="4956929" cy="485790"/>
          </a:xfrm>
          <a:prstGeom prst="rect">
            <a:avLst/>
          </a:prstGeom>
        </p:spPr>
        <p:txBody>
          <a:bodyPr anchor="t" rtlCol="false" tIns="0" lIns="0" bIns="0" rIns="0">
            <a:spAutoFit/>
          </a:bodyPr>
          <a:lstStyle/>
          <a:p>
            <a:pPr algn="ctr">
              <a:lnSpc>
                <a:spcPts val="3898"/>
              </a:lnSpc>
            </a:pPr>
            <a:r>
              <a:rPr lang="en-US" b="true" sz="2998">
                <a:solidFill>
                  <a:srgbClr val="28211E"/>
                </a:solidFill>
                <a:latin typeface="Arimo Bold"/>
                <a:ea typeface="Arimo Bold"/>
                <a:cs typeface="Arimo Bold"/>
                <a:sym typeface="Arimo Bold"/>
              </a:rPr>
              <a:t>Hierarchy of Governance</a:t>
            </a:r>
          </a:p>
        </p:txBody>
      </p:sp>
      <p:sp>
        <p:nvSpPr>
          <p:cNvPr name="TextBox 13" id="13"/>
          <p:cNvSpPr txBox="true"/>
          <p:nvPr/>
        </p:nvSpPr>
        <p:spPr>
          <a:xfrm rot="0">
            <a:off x="811743" y="2884510"/>
            <a:ext cx="4951603" cy="5998327"/>
          </a:xfrm>
          <a:prstGeom prst="rect">
            <a:avLst/>
          </a:prstGeom>
        </p:spPr>
        <p:txBody>
          <a:bodyPr anchor="t" rtlCol="false" tIns="0" lIns="0" bIns="0" rIns="0">
            <a:spAutoFit/>
          </a:bodyPr>
          <a:lstStyle/>
          <a:p>
            <a:pPr algn="l">
              <a:lnSpc>
                <a:spcPts val="3173"/>
              </a:lnSpc>
            </a:pPr>
            <a:r>
              <a:rPr lang="en-US" sz="2440">
                <a:solidFill>
                  <a:srgbClr val="282421"/>
                </a:solidFill>
                <a:latin typeface="Arimo"/>
                <a:ea typeface="Arimo"/>
                <a:cs typeface="Arimo"/>
                <a:sym typeface="Arimo"/>
              </a:rPr>
              <a:t>Security governance is organized into different levels to ensure consistent implementation.</a:t>
            </a:r>
          </a:p>
          <a:p>
            <a:pPr algn="l">
              <a:lnSpc>
                <a:spcPts val="3173"/>
              </a:lnSpc>
            </a:pP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Policies </a:t>
            </a:r>
            <a:r>
              <a:rPr lang="en-US" sz="2440">
                <a:solidFill>
                  <a:srgbClr val="282421"/>
                </a:solidFill>
                <a:latin typeface="Arimo"/>
                <a:ea typeface="Arimo"/>
                <a:cs typeface="Arimo"/>
                <a:sym typeface="Arimo"/>
              </a:rPr>
              <a:t>– High-level security rules and objectives.</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S</a:t>
            </a:r>
            <a:r>
              <a:rPr lang="en-US" b="true" sz="2440">
                <a:solidFill>
                  <a:srgbClr val="282421"/>
                </a:solidFill>
                <a:latin typeface="Arimo Bold"/>
                <a:ea typeface="Arimo Bold"/>
                <a:cs typeface="Arimo Bold"/>
                <a:sym typeface="Arimo Bold"/>
              </a:rPr>
              <a:t>tandards </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Mandatory requirements that support policies.</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Guidelines </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Recommended best practices (optional).</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Procedures</a:t>
            </a:r>
            <a:r>
              <a:rPr lang="en-US" sz="2440">
                <a:solidFill>
                  <a:srgbClr val="282421"/>
                </a:solidFill>
                <a:latin typeface="Arimo"/>
                <a:ea typeface="Arimo"/>
                <a:cs typeface="Arimo"/>
                <a:sym typeface="Arimo"/>
              </a:rPr>
              <a:t> – </a:t>
            </a:r>
            <a:r>
              <a:rPr lang="en-US" sz="2440">
                <a:solidFill>
                  <a:srgbClr val="282421"/>
                </a:solidFill>
                <a:latin typeface="Arimo"/>
                <a:ea typeface="Arimo"/>
                <a:cs typeface="Arimo"/>
                <a:sym typeface="Arimo"/>
              </a:rPr>
              <a:t>Step-by-step instructions for completing tasks.</a:t>
            </a:r>
          </a:p>
          <a:p>
            <a:pPr algn="l">
              <a:lnSpc>
                <a:spcPts val="3173"/>
              </a:lnSpc>
            </a:pPr>
          </a:p>
        </p:txBody>
      </p:sp>
      <p:sp>
        <p:nvSpPr>
          <p:cNvPr name="TextBox 14" id="14"/>
          <p:cNvSpPr txBox="true"/>
          <p:nvPr/>
        </p:nvSpPr>
        <p:spPr>
          <a:xfrm rot="0">
            <a:off x="6509113" y="2060970"/>
            <a:ext cx="5268899" cy="504825"/>
          </a:xfrm>
          <a:prstGeom prst="rect">
            <a:avLst/>
          </a:prstGeom>
        </p:spPr>
        <p:txBody>
          <a:bodyPr anchor="t" rtlCol="false" tIns="0" lIns="0" bIns="0" rIns="0">
            <a:spAutoFit/>
          </a:bodyPr>
          <a:lstStyle/>
          <a:p>
            <a:pPr algn="ctr">
              <a:lnSpc>
                <a:spcPts val="3900"/>
              </a:lnSpc>
            </a:pPr>
            <a:r>
              <a:rPr lang="en-US" b="true" sz="3000">
                <a:solidFill>
                  <a:srgbClr val="28211E"/>
                </a:solidFill>
                <a:latin typeface="Arimo Bold"/>
                <a:ea typeface="Arimo Bold"/>
                <a:cs typeface="Arimo Bold"/>
                <a:sym typeface="Arimo Bold"/>
              </a:rPr>
              <a:t>Essential Enterprise Policies</a:t>
            </a:r>
          </a:p>
        </p:txBody>
      </p:sp>
      <p:sp>
        <p:nvSpPr>
          <p:cNvPr name="TextBox 15" id="15"/>
          <p:cNvSpPr txBox="true"/>
          <p:nvPr/>
        </p:nvSpPr>
        <p:spPr>
          <a:xfrm rot="0">
            <a:off x="6668198" y="2884510"/>
            <a:ext cx="4951603" cy="5998327"/>
          </a:xfrm>
          <a:prstGeom prst="rect">
            <a:avLst/>
          </a:prstGeom>
        </p:spPr>
        <p:txBody>
          <a:bodyPr anchor="t" rtlCol="false" tIns="0" lIns="0" bIns="0" rIns="0">
            <a:spAutoFit/>
          </a:bodyPr>
          <a:lstStyle/>
          <a:p>
            <a:pPr algn="l">
              <a:lnSpc>
                <a:spcPts val="3173"/>
              </a:lnSpc>
            </a:pPr>
            <a:r>
              <a:rPr lang="en-US" sz="2440">
                <a:solidFill>
                  <a:srgbClr val="282421"/>
                </a:solidFill>
                <a:latin typeface="Arimo"/>
                <a:ea typeface="Arimo"/>
                <a:cs typeface="Arimo"/>
                <a:sym typeface="Arimo"/>
              </a:rPr>
              <a:t>Enterprise policies establish rules to protect organizational information and resources.</a:t>
            </a:r>
          </a:p>
          <a:p>
            <a:pPr algn="l">
              <a:lnSpc>
                <a:spcPts val="3173"/>
              </a:lnSpc>
            </a:pP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Acceptable Use Policy (AUP)</a:t>
            </a:r>
            <a:r>
              <a:rPr lang="en-US" sz="2440">
                <a:solidFill>
                  <a:srgbClr val="282421"/>
                </a:solidFill>
                <a:latin typeface="Arimo"/>
                <a:ea typeface="Arimo"/>
                <a:cs typeface="Arimo"/>
                <a:sym typeface="Arimo"/>
              </a:rPr>
              <a:t> – D</a:t>
            </a:r>
            <a:r>
              <a:rPr lang="en-US" sz="2440">
                <a:solidFill>
                  <a:srgbClr val="282421"/>
                </a:solidFill>
                <a:latin typeface="Arimo"/>
                <a:ea typeface="Arimo"/>
                <a:cs typeface="Arimo"/>
                <a:sym typeface="Arimo"/>
              </a:rPr>
              <a:t>efines proper use of company IT resources.</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Access Control Policy</a:t>
            </a:r>
            <a:r>
              <a:rPr lang="en-US" sz="2440">
                <a:solidFill>
                  <a:srgbClr val="282421"/>
                </a:solidFill>
                <a:latin typeface="Arimo"/>
                <a:ea typeface="Arimo"/>
                <a:cs typeface="Arimo"/>
                <a:sym typeface="Arimo"/>
              </a:rPr>
              <a:t> – </a:t>
            </a:r>
            <a:r>
              <a:rPr lang="en-US" sz="2440">
                <a:solidFill>
                  <a:srgbClr val="282421"/>
                </a:solidFill>
                <a:latin typeface="Arimo"/>
                <a:ea typeface="Arimo"/>
                <a:cs typeface="Arimo"/>
                <a:sym typeface="Arimo"/>
              </a:rPr>
              <a:t>Specifies who can access system</a:t>
            </a:r>
            <a:r>
              <a:rPr lang="en-US" sz="2440">
                <a:solidFill>
                  <a:srgbClr val="282421"/>
                </a:solidFill>
                <a:latin typeface="Arimo"/>
                <a:ea typeface="Arimo"/>
                <a:cs typeface="Arimo"/>
                <a:sym typeface="Arimo"/>
              </a:rPr>
              <a:t>s a</a:t>
            </a:r>
            <a:r>
              <a:rPr lang="en-US" sz="2440">
                <a:solidFill>
                  <a:srgbClr val="282421"/>
                </a:solidFill>
                <a:latin typeface="Arimo"/>
                <a:ea typeface="Arimo"/>
                <a:cs typeface="Arimo"/>
                <a:sym typeface="Arimo"/>
              </a:rPr>
              <a:t>nd data.</a:t>
            </a:r>
          </a:p>
          <a:p>
            <a:pPr algn="l" marL="526964" indent="-263482" lvl="1">
              <a:lnSpc>
                <a:spcPts val="3173"/>
              </a:lnSpc>
              <a:buFont typeface="Arial"/>
              <a:buChar char="•"/>
            </a:pPr>
            <a:r>
              <a:rPr lang="en-US" b="true" sz="2440">
                <a:solidFill>
                  <a:srgbClr val="282421"/>
                </a:solidFill>
                <a:latin typeface="Arimo Bold"/>
                <a:ea typeface="Arimo Bold"/>
                <a:cs typeface="Arimo Bold"/>
                <a:sym typeface="Arimo Bold"/>
              </a:rPr>
              <a:t>Data Classification Policy</a:t>
            </a:r>
            <a:r>
              <a:rPr lang="en-US" sz="2440">
                <a:solidFill>
                  <a:srgbClr val="282421"/>
                </a:solidFill>
                <a:latin typeface="Arimo"/>
                <a:ea typeface="Arimo"/>
                <a:cs typeface="Arimo"/>
                <a:sym typeface="Arimo"/>
              </a:rPr>
              <a:t> – C</a:t>
            </a:r>
            <a:r>
              <a:rPr lang="en-US" sz="2440">
                <a:solidFill>
                  <a:srgbClr val="282421"/>
                </a:solidFill>
                <a:latin typeface="Arimo"/>
                <a:ea typeface="Arimo"/>
                <a:cs typeface="Arimo"/>
                <a:sym typeface="Arimo"/>
              </a:rPr>
              <a:t>ategorizes data based on sensitivity (e.g., Public, Internal, Confidential).</a:t>
            </a:r>
          </a:p>
          <a:p>
            <a:pPr algn="l">
              <a:lnSpc>
                <a:spcPts val="3173"/>
              </a:lnSpc>
            </a:pPr>
          </a:p>
        </p:txBody>
      </p:sp>
      <p:sp>
        <p:nvSpPr>
          <p:cNvPr name="TextBox 16" id="16"/>
          <p:cNvSpPr txBox="true"/>
          <p:nvPr/>
        </p:nvSpPr>
        <p:spPr>
          <a:xfrm rot="0">
            <a:off x="12539313" y="2065725"/>
            <a:ext cx="4956929" cy="504825"/>
          </a:xfrm>
          <a:prstGeom prst="rect">
            <a:avLst/>
          </a:prstGeom>
        </p:spPr>
        <p:txBody>
          <a:bodyPr anchor="t" rtlCol="false" tIns="0" lIns="0" bIns="0" rIns="0">
            <a:spAutoFit/>
          </a:bodyPr>
          <a:lstStyle/>
          <a:p>
            <a:pPr algn="ctr">
              <a:lnSpc>
                <a:spcPts val="3900"/>
              </a:lnSpc>
            </a:pPr>
            <a:r>
              <a:rPr lang="en-US" b="true" sz="3000">
                <a:solidFill>
                  <a:srgbClr val="28211E"/>
                </a:solidFill>
                <a:latin typeface="Arimo Bold"/>
                <a:ea typeface="Arimo Bold"/>
                <a:cs typeface="Arimo Bold"/>
                <a:sym typeface="Arimo Bold"/>
              </a:rPr>
              <a:t>The Policy Lifecycle</a:t>
            </a:r>
          </a:p>
        </p:txBody>
      </p:sp>
      <p:sp>
        <p:nvSpPr>
          <p:cNvPr name="TextBox 17" id="17"/>
          <p:cNvSpPr txBox="true"/>
          <p:nvPr/>
        </p:nvSpPr>
        <p:spPr>
          <a:xfrm rot="0">
            <a:off x="12578952" y="2884510"/>
            <a:ext cx="4843007" cy="4798187"/>
          </a:xfrm>
          <a:prstGeom prst="rect">
            <a:avLst/>
          </a:prstGeom>
        </p:spPr>
        <p:txBody>
          <a:bodyPr anchor="t" rtlCol="false" tIns="0" lIns="0" bIns="0" rIns="0">
            <a:spAutoFit/>
          </a:bodyPr>
          <a:lstStyle/>
          <a:p>
            <a:pPr algn="l">
              <a:lnSpc>
                <a:spcPts val="3171"/>
              </a:lnSpc>
            </a:pPr>
            <a:r>
              <a:rPr lang="en-US" sz="2439">
                <a:solidFill>
                  <a:srgbClr val="282421"/>
                </a:solidFill>
                <a:latin typeface="Arimo"/>
                <a:ea typeface="Arimo"/>
                <a:cs typeface="Arimo"/>
                <a:sym typeface="Arimo"/>
              </a:rPr>
              <a:t>The policy lifecycle ensures security policies remain effective and up to date.</a:t>
            </a:r>
          </a:p>
          <a:p>
            <a:pPr algn="l">
              <a:lnSpc>
                <a:spcPts val="3171"/>
              </a:lnSpc>
            </a:pPr>
          </a:p>
          <a:p>
            <a:pPr algn="l" marL="526795" indent="-263398" lvl="1">
              <a:lnSpc>
                <a:spcPts val="3171"/>
              </a:lnSpc>
              <a:buFont typeface="Arial"/>
              <a:buChar char="•"/>
            </a:pPr>
            <a:r>
              <a:rPr lang="en-US" b="true" sz="2439">
                <a:solidFill>
                  <a:srgbClr val="282421"/>
                </a:solidFill>
                <a:latin typeface="Arimo Bold"/>
                <a:ea typeface="Arimo Bold"/>
                <a:cs typeface="Arimo Bold"/>
                <a:sym typeface="Arimo Bold"/>
              </a:rPr>
              <a:t>Creation </a:t>
            </a:r>
            <a:r>
              <a:rPr lang="en-US" sz="2439">
                <a:solidFill>
                  <a:srgbClr val="282421"/>
                </a:solidFill>
                <a:latin typeface="Arimo"/>
                <a:ea typeface="Arimo"/>
                <a:cs typeface="Arimo"/>
                <a:sym typeface="Arimo"/>
              </a:rPr>
              <a:t>– Develop the policy.</a:t>
            </a:r>
          </a:p>
          <a:p>
            <a:pPr algn="l" marL="526795" indent="-263398" lvl="1">
              <a:lnSpc>
                <a:spcPts val="3171"/>
              </a:lnSpc>
              <a:buFont typeface="Arial"/>
              <a:buChar char="•"/>
            </a:pPr>
            <a:r>
              <a:rPr lang="en-US" b="true" sz="2439">
                <a:solidFill>
                  <a:srgbClr val="282421"/>
                </a:solidFill>
                <a:latin typeface="Arimo Bold"/>
                <a:ea typeface="Arimo Bold"/>
                <a:cs typeface="Arimo Bold"/>
                <a:sym typeface="Arimo Bold"/>
              </a:rPr>
              <a:t>Enforcement </a:t>
            </a:r>
            <a:r>
              <a:rPr lang="en-US" sz="2439">
                <a:solidFill>
                  <a:srgbClr val="282421"/>
                </a:solidFill>
                <a:latin typeface="Arimo"/>
                <a:ea typeface="Arimo"/>
                <a:cs typeface="Arimo"/>
                <a:sym typeface="Arimo"/>
              </a:rPr>
              <a:t>– Implemen</a:t>
            </a:r>
            <a:r>
              <a:rPr lang="en-US" sz="2439">
                <a:solidFill>
                  <a:srgbClr val="282421"/>
                </a:solidFill>
                <a:latin typeface="Arimo"/>
                <a:ea typeface="Arimo"/>
                <a:cs typeface="Arimo"/>
                <a:sym typeface="Arimo"/>
              </a:rPr>
              <a:t>t and apply the policy.</a:t>
            </a:r>
          </a:p>
          <a:p>
            <a:pPr algn="l" marL="526795" indent="-263398" lvl="1">
              <a:lnSpc>
                <a:spcPts val="3171"/>
              </a:lnSpc>
              <a:buFont typeface="Arial"/>
              <a:buChar char="•"/>
            </a:pPr>
            <a:r>
              <a:rPr lang="en-US" b="true" sz="2439">
                <a:solidFill>
                  <a:srgbClr val="282421"/>
                </a:solidFill>
                <a:latin typeface="Arimo Bold"/>
                <a:ea typeface="Arimo Bold"/>
                <a:cs typeface="Arimo Bold"/>
                <a:sym typeface="Arimo Bold"/>
              </a:rPr>
              <a:t>Training </a:t>
            </a:r>
            <a:r>
              <a:rPr lang="en-US" sz="2439">
                <a:solidFill>
                  <a:srgbClr val="282421"/>
                </a:solidFill>
                <a:latin typeface="Arimo"/>
                <a:ea typeface="Arimo"/>
                <a:cs typeface="Arimo"/>
                <a:sym typeface="Arimo"/>
              </a:rPr>
              <a:t>– Educ</a:t>
            </a:r>
            <a:r>
              <a:rPr lang="en-US" sz="2439">
                <a:solidFill>
                  <a:srgbClr val="282421"/>
                </a:solidFill>
                <a:latin typeface="Arimo"/>
                <a:ea typeface="Arimo"/>
                <a:cs typeface="Arimo"/>
                <a:sym typeface="Arimo"/>
              </a:rPr>
              <a:t>at</a:t>
            </a:r>
            <a:r>
              <a:rPr lang="en-US" sz="2439">
                <a:solidFill>
                  <a:srgbClr val="282421"/>
                </a:solidFill>
                <a:latin typeface="Arimo"/>
                <a:ea typeface="Arimo"/>
                <a:cs typeface="Arimo"/>
                <a:sym typeface="Arimo"/>
              </a:rPr>
              <a:t>e employee</a:t>
            </a:r>
            <a:r>
              <a:rPr lang="en-US" sz="2439">
                <a:solidFill>
                  <a:srgbClr val="282421"/>
                </a:solidFill>
                <a:latin typeface="Arimo"/>
                <a:ea typeface="Arimo"/>
                <a:cs typeface="Arimo"/>
                <a:sym typeface="Arimo"/>
              </a:rPr>
              <a:t>s on compl</a:t>
            </a:r>
            <a:r>
              <a:rPr lang="en-US" sz="2439">
                <a:solidFill>
                  <a:srgbClr val="282421"/>
                </a:solidFill>
                <a:latin typeface="Arimo"/>
                <a:ea typeface="Arimo"/>
                <a:cs typeface="Arimo"/>
                <a:sym typeface="Arimo"/>
              </a:rPr>
              <a:t>iance.</a:t>
            </a:r>
          </a:p>
          <a:p>
            <a:pPr algn="l" marL="526795" indent="-263398" lvl="1">
              <a:lnSpc>
                <a:spcPts val="3171"/>
              </a:lnSpc>
              <a:buFont typeface="Arial"/>
              <a:buChar char="•"/>
            </a:pPr>
            <a:r>
              <a:rPr lang="en-US" b="true" sz="2439">
                <a:solidFill>
                  <a:srgbClr val="282421"/>
                </a:solidFill>
                <a:latin typeface="Arimo Bold"/>
                <a:ea typeface="Arimo Bold"/>
                <a:cs typeface="Arimo Bold"/>
                <a:sym typeface="Arimo Bold"/>
              </a:rPr>
              <a:t>Review </a:t>
            </a:r>
            <a:r>
              <a:rPr lang="en-US" sz="2439">
                <a:solidFill>
                  <a:srgbClr val="282421"/>
                </a:solidFill>
                <a:latin typeface="Arimo"/>
                <a:ea typeface="Arimo"/>
                <a:cs typeface="Arimo"/>
                <a:sym typeface="Arimo"/>
              </a:rPr>
              <a:t>– Update the policy </a:t>
            </a:r>
            <a:r>
              <a:rPr lang="en-US" sz="2439">
                <a:solidFill>
                  <a:srgbClr val="282421"/>
                </a:solidFill>
                <a:latin typeface="Arimo"/>
                <a:ea typeface="Arimo"/>
                <a:cs typeface="Arimo"/>
                <a:sym typeface="Arimo"/>
              </a:rPr>
              <a:t>as risk</a:t>
            </a:r>
            <a:r>
              <a:rPr lang="en-US" sz="2439">
                <a:solidFill>
                  <a:srgbClr val="282421"/>
                </a:solidFill>
                <a:latin typeface="Arimo"/>
                <a:ea typeface="Arimo"/>
                <a:cs typeface="Arimo"/>
                <a:sym typeface="Arimo"/>
              </a:rPr>
              <a:t>s and bus</a:t>
            </a:r>
            <a:r>
              <a:rPr lang="en-US" sz="2439">
                <a:solidFill>
                  <a:srgbClr val="282421"/>
                </a:solidFill>
                <a:latin typeface="Arimo"/>
                <a:ea typeface="Arimo"/>
                <a:cs typeface="Arimo"/>
                <a:sym typeface="Arimo"/>
              </a:rPr>
              <a:t>ines</a:t>
            </a:r>
            <a:r>
              <a:rPr lang="en-US" sz="2439">
                <a:solidFill>
                  <a:srgbClr val="282421"/>
                </a:solidFill>
                <a:latin typeface="Arimo"/>
                <a:ea typeface="Arimo"/>
                <a:cs typeface="Arimo"/>
                <a:sym typeface="Arimo"/>
              </a:rPr>
              <a:t>s needs change.</a:t>
            </a:r>
          </a:p>
        </p:txBody>
      </p:sp>
      <p:sp>
        <p:nvSpPr>
          <p:cNvPr name="TextBox 18" id="18"/>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EGO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grpSp>
        <p:nvGrpSpPr>
          <p:cNvPr name="Group 2" id="2"/>
          <p:cNvGrpSpPr/>
          <p:nvPr/>
        </p:nvGrpSpPr>
        <p:grpSpPr>
          <a:xfrm rot="0">
            <a:off x="370490" y="1949092"/>
            <a:ext cx="6792380" cy="6576237"/>
            <a:chOff x="0" y="0"/>
            <a:chExt cx="3243202" cy="3139999"/>
          </a:xfrm>
        </p:grpSpPr>
        <p:sp>
          <p:nvSpPr>
            <p:cNvPr name="Freeform 3" id="3"/>
            <p:cNvSpPr/>
            <p:nvPr/>
          </p:nvSpPr>
          <p:spPr>
            <a:xfrm flipH="false" flipV="false" rot="0">
              <a:off x="0" y="0"/>
              <a:ext cx="3243202" cy="3139999"/>
            </a:xfrm>
            <a:custGeom>
              <a:avLst/>
              <a:gdLst/>
              <a:ahLst/>
              <a:cxnLst/>
              <a:rect r="r" b="b" t="t" l="l"/>
              <a:pathLst>
                <a:path h="3139999" w="3243202">
                  <a:moveTo>
                    <a:pt x="58130" y="0"/>
                  </a:moveTo>
                  <a:lnTo>
                    <a:pt x="3185073" y="0"/>
                  </a:lnTo>
                  <a:cubicBezTo>
                    <a:pt x="3217177" y="0"/>
                    <a:pt x="3243202" y="26025"/>
                    <a:pt x="3243202" y="58130"/>
                  </a:cubicBezTo>
                  <a:lnTo>
                    <a:pt x="3243202" y="3081869"/>
                  </a:lnTo>
                  <a:cubicBezTo>
                    <a:pt x="3243202" y="3113973"/>
                    <a:pt x="3217177" y="3139999"/>
                    <a:pt x="3185073" y="3139999"/>
                  </a:cubicBezTo>
                  <a:lnTo>
                    <a:pt x="58130" y="3139999"/>
                  </a:lnTo>
                  <a:cubicBezTo>
                    <a:pt x="26025" y="3139999"/>
                    <a:pt x="0" y="3113973"/>
                    <a:pt x="0" y="3081869"/>
                  </a:cubicBezTo>
                  <a:lnTo>
                    <a:pt x="0" y="58130"/>
                  </a:lnTo>
                  <a:cubicBezTo>
                    <a:pt x="0" y="26025"/>
                    <a:pt x="26025" y="0"/>
                    <a:pt x="58130" y="0"/>
                  </a:cubicBezTo>
                  <a:close/>
                </a:path>
              </a:pathLst>
            </a:custGeom>
            <a:solidFill>
              <a:srgbClr val="FFFFFF"/>
            </a:solidFill>
          </p:spPr>
        </p:sp>
        <p:sp>
          <p:nvSpPr>
            <p:cNvPr name="TextBox 4" id="4"/>
            <p:cNvSpPr txBox="true"/>
            <p:nvPr/>
          </p:nvSpPr>
          <p:spPr>
            <a:xfrm>
              <a:off x="0" y="-19050"/>
              <a:ext cx="3243202" cy="3159049"/>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0">
            <a:off x="7528831" y="1832644"/>
            <a:ext cx="10213698" cy="6809132"/>
          </a:xfrm>
          <a:custGeom>
            <a:avLst/>
            <a:gdLst/>
            <a:ahLst/>
            <a:cxnLst/>
            <a:rect r="r" b="b" t="t" l="l"/>
            <a:pathLst>
              <a:path h="6809132" w="10213698">
                <a:moveTo>
                  <a:pt x="0" y="0"/>
                </a:moveTo>
                <a:lnTo>
                  <a:pt x="10213698" y="0"/>
                </a:lnTo>
                <a:lnTo>
                  <a:pt x="10213698" y="6809133"/>
                </a:lnTo>
                <a:lnTo>
                  <a:pt x="0" y="6809133"/>
                </a:lnTo>
                <a:lnTo>
                  <a:pt x="0" y="0"/>
                </a:lnTo>
                <a:close/>
              </a:path>
            </a:pathLst>
          </a:custGeom>
          <a:blipFill>
            <a:blip r:embed="rId2"/>
            <a:stretch>
              <a:fillRect l="0" t="0" r="0" b="0"/>
            </a:stretch>
          </a:blipFill>
        </p:spPr>
      </p:sp>
      <p:sp>
        <p:nvSpPr>
          <p:cNvPr name="TextBox 6" id="6"/>
          <p:cNvSpPr txBox="true"/>
          <p:nvPr/>
        </p:nvSpPr>
        <p:spPr>
          <a:xfrm rot="0">
            <a:off x="2325127" y="472351"/>
            <a:ext cx="13637746" cy="749168"/>
          </a:xfrm>
          <a:prstGeom prst="rect">
            <a:avLst/>
          </a:prstGeom>
        </p:spPr>
        <p:txBody>
          <a:bodyPr anchor="t" rtlCol="false" tIns="0" lIns="0" bIns="0" rIns="0">
            <a:spAutoFit/>
          </a:bodyPr>
          <a:lstStyle/>
          <a:p>
            <a:pPr algn="ctr">
              <a:lnSpc>
                <a:spcPts val="5197"/>
              </a:lnSpc>
            </a:pPr>
            <a:r>
              <a:rPr lang="en-US" sz="6497" spc="-194">
                <a:solidFill>
                  <a:srgbClr val="38B6FF"/>
                </a:solidFill>
                <a:latin typeface="Lazydog 1"/>
                <a:ea typeface="Lazydog 1"/>
                <a:cs typeface="Lazydog 1"/>
                <a:sym typeface="Lazydog 1"/>
              </a:rPr>
              <a:t>Incident Response and Continuity</a:t>
            </a:r>
          </a:p>
        </p:txBody>
      </p:sp>
      <p:sp>
        <p:nvSpPr>
          <p:cNvPr name="TextBox 7" id="7"/>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EGO</a:t>
            </a:r>
          </a:p>
        </p:txBody>
      </p:sp>
      <p:sp>
        <p:nvSpPr>
          <p:cNvPr name="TextBox 8" id="8"/>
          <p:cNvSpPr txBox="true"/>
          <p:nvPr/>
        </p:nvSpPr>
        <p:spPr>
          <a:xfrm rot="0">
            <a:off x="749185" y="2235644"/>
            <a:ext cx="6034990" cy="5974558"/>
          </a:xfrm>
          <a:prstGeom prst="rect">
            <a:avLst/>
          </a:prstGeom>
        </p:spPr>
        <p:txBody>
          <a:bodyPr anchor="t" rtlCol="false" tIns="0" lIns="0" bIns="0" rIns="0">
            <a:spAutoFit/>
          </a:bodyPr>
          <a:lstStyle/>
          <a:p>
            <a:pPr algn="l">
              <a:lnSpc>
                <a:spcPts val="3198"/>
              </a:lnSpc>
            </a:pPr>
            <a:r>
              <a:rPr lang="en-US" sz="2460" b="true">
                <a:solidFill>
                  <a:srgbClr val="282421"/>
                </a:solidFill>
                <a:latin typeface="Arimo Bold"/>
                <a:ea typeface="Arimo Bold"/>
                <a:cs typeface="Arimo Bold"/>
                <a:sym typeface="Arimo Bold"/>
              </a:rPr>
              <a:t>Incident Response Plan (IRP)</a:t>
            </a:r>
          </a:p>
          <a:p>
            <a:pPr algn="l" marL="531235" indent="-265618" lvl="1">
              <a:lnSpc>
                <a:spcPts val="3198"/>
              </a:lnSpc>
              <a:buFont typeface="Arial"/>
              <a:buChar char="•"/>
            </a:pPr>
            <a:r>
              <a:rPr lang="en-US" sz="2460">
                <a:solidFill>
                  <a:srgbClr val="282421"/>
                </a:solidFill>
                <a:latin typeface="Arimo"/>
                <a:ea typeface="Arimo"/>
                <a:cs typeface="Arimo"/>
                <a:sym typeface="Arimo"/>
              </a:rPr>
              <a:t>Detect, contain, investigate, and recover from security incidents.</a:t>
            </a:r>
          </a:p>
          <a:p>
            <a:pPr algn="l" marL="531235" indent="-265618" lvl="1">
              <a:lnSpc>
                <a:spcPts val="3198"/>
              </a:lnSpc>
              <a:buFont typeface="Arial"/>
              <a:buChar char="•"/>
            </a:pPr>
            <a:r>
              <a:rPr lang="en-US" sz="2460">
                <a:solidFill>
                  <a:srgbClr val="282421"/>
                </a:solidFill>
                <a:latin typeface="Arimo"/>
                <a:ea typeface="Arimo"/>
                <a:cs typeface="Arimo"/>
                <a:sym typeface="Arimo"/>
              </a:rPr>
              <a:t>Goal: Minimize th</a:t>
            </a:r>
            <a:r>
              <a:rPr lang="en-US" sz="2460">
                <a:solidFill>
                  <a:srgbClr val="282421"/>
                </a:solidFill>
                <a:latin typeface="Arimo"/>
                <a:ea typeface="Arimo"/>
                <a:cs typeface="Arimo"/>
                <a:sym typeface="Arimo"/>
              </a:rPr>
              <a:t>e</a:t>
            </a:r>
            <a:r>
              <a:rPr lang="en-US" sz="2460">
                <a:solidFill>
                  <a:srgbClr val="282421"/>
                </a:solidFill>
                <a:latin typeface="Arimo"/>
                <a:ea typeface="Arimo"/>
                <a:cs typeface="Arimo"/>
                <a:sym typeface="Arimo"/>
              </a:rPr>
              <a:t> im</a:t>
            </a:r>
            <a:r>
              <a:rPr lang="en-US" sz="2460">
                <a:solidFill>
                  <a:srgbClr val="282421"/>
                </a:solidFill>
                <a:latin typeface="Arimo"/>
                <a:ea typeface="Arimo"/>
                <a:cs typeface="Arimo"/>
                <a:sym typeface="Arimo"/>
              </a:rPr>
              <a:t>pa</a:t>
            </a:r>
            <a:r>
              <a:rPr lang="en-US" sz="2460">
                <a:solidFill>
                  <a:srgbClr val="282421"/>
                </a:solidFill>
                <a:latin typeface="Arimo"/>
                <a:ea typeface="Arimo"/>
                <a:cs typeface="Arimo"/>
                <a:sym typeface="Arimo"/>
              </a:rPr>
              <a:t>ct of cy</a:t>
            </a:r>
            <a:r>
              <a:rPr lang="en-US" sz="2460">
                <a:solidFill>
                  <a:srgbClr val="282421"/>
                </a:solidFill>
                <a:latin typeface="Arimo"/>
                <a:ea typeface="Arimo"/>
                <a:cs typeface="Arimo"/>
                <a:sym typeface="Arimo"/>
              </a:rPr>
              <a:t>be</a:t>
            </a:r>
            <a:r>
              <a:rPr lang="en-US" sz="2460">
                <a:solidFill>
                  <a:srgbClr val="282421"/>
                </a:solidFill>
                <a:latin typeface="Arimo"/>
                <a:ea typeface="Arimo"/>
                <a:cs typeface="Arimo"/>
                <a:sym typeface="Arimo"/>
              </a:rPr>
              <a:t>rattack</a:t>
            </a:r>
            <a:r>
              <a:rPr lang="en-US" sz="2460">
                <a:solidFill>
                  <a:srgbClr val="282421"/>
                </a:solidFill>
                <a:latin typeface="Arimo"/>
                <a:ea typeface="Arimo"/>
                <a:cs typeface="Arimo"/>
                <a:sym typeface="Arimo"/>
              </a:rPr>
              <a:t>s</a:t>
            </a:r>
            <a:r>
              <a:rPr lang="en-US" sz="2460">
                <a:solidFill>
                  <a:srgbClr val="282421"/>
                </a:solidFill>
                <a:latin typeface="Arimo"/>
                <a:ea typeface="Arimo"/>
                <a:cs typeface="Arimo"/>
                <a:sym typeface="Arimo"/>
              </a:rPr>
              <a:t>.</a:t>
            </a:r>
          </a:p>
          <a:p>
            <a:pPr algn="l">
              <a:lnSpc>
                <a:spcPts val="3198"/>
              </a:lnSpc>
            </a:pPr>
            <a:r>
              <a:rPr lang="en-US" sz="2460" b="true">
                <a:solidFill>
                  <a:srgbClr val="282421"/>
                </a:solidFill>
                <a:latin typeface="Arimo Bold"/>
                <a:ea typeface="Arimo Bold"/>
                <a:cs typeface="Arimo Bold"/>
                <a:sym typeface="Arimo Bold"/>
              </a:rPr>
              <a:t>Business Continuity Plan (BCP)</a:t>
            </a:r>
          </a:p>
          <a:p>
            <a:pPr algn="l" marL="531235" indent="-265618" lvl="1">
              <a:lnSpc>
                <a:spcPts val="3198"/>
              </a:lnSpc>
              <a:buFont typeface="Arial"/>
              <a:buChar char="•"/>
            </a:pPr>
            <a:r>
              <a:rPr lang="en-US" sz="2460">
                <a:solidFill>
                  <a:srgbClr val="282421"/>
                </a:solidFill>
                <a:latin typeface="Arimo"/>
                <a:ea typeface="Arimo"/>
                <a:cs typeface="Arimo"/>
                <a:sym typeface="Arimo"/>
              </a:rPr>
              <a:t>Ensures</a:t>
            </a:r>
            <a:r>
              <a:rPr lang="en-US" sz="2460">
                <a:solidFill>
                  <a:srgbClr val="282421"/>
                </a:solidFill>
                <a:latin typeface="Arimo"/>
                <a:ea typeface="Arimo"/>
                <a:cs typeface="Arimo"/>
                <a:sym typeface="Arimo"/>
              </a:rPr>
              <a:t> critical bus</a:t>
            </a:r>
            <a:r>
              <a:rPr lang="en-US" sz="2460">
                <a:solidFill>
                  <a:srgbClr val="282421"/>
                </a:solidFill>
                <a:latin typeface="Arimo"/>
                <a:ea typeface="Arimo"/>
                <a:cs typeface="Arimo"/>
                <a:sym typeface="Arimo"/>
              </a:rPr>
              <a:t>iness operations continue during disruptions.</a:t>
            </a:r>
          </a:p>
          <a:p>
            <a:pPr algn="l" marL="531235" indent="-265618" lvl="1">
              <a:lnSpc>
                <a:spcPts val="3198"/>
              </a:lnSpc>
              <a:buFont typeface="Arial"/>
              <a:buChar char="•"/>
            </a:pPr>
            <a:r>
              <a:rPr lang="en-US" sz="2460">
                <a:solidFill>
                  <a:srgbClr val="282421"/>
                </a:solidFill>
                <a:latin typeface="Arimo"/>
                <a:ea typeface="Arimo"/>
                <a:cs typeface="Arimo"/>
                <a:sym typeface="Arimo"/>
              </a:rPr>
              <a:t>Goal: Keep the business running.</a:t>
            </a:r>
          </a:p>
          <a:p>
            <a:pPr algn="l">
              <a:lnSpc>
                <a:spcPts val="3198"/>
              </a:lnSpc>
            </a:pPr>
            <a:r>
              <a:rPr lang="en-US" sz="2460" b="true">
                <a:solidFill>
                  <a:srgbClr val="282421"/>
                </a:solidFill>
                <a:latin typeface="Arimo Bold"/>
                <a:ea typeface="Arimo Bold"/>
                <a:cs typeface="Arimo Bold"/>
                <a:sym typeface="Arimo Bold"/>
              </a:rPr>
              <a:t>Disaster Recovery Plan (DRP)</a:t>
            </a:r>
          </a:p>
          <a:p>
            <a:pPr algn="l" marL="531235" indent="-265618" lvl="1">
              <a:lnSpc>
                <a:spcPts val="3198"/>
              </a:lnSpc>
              <a:buFont typeface="Arial"/>
              <a:buChar char="•"/>
            </a:pPr>
            <a:r>
              <a:rPr lang="en-US" sz="2460">
                <a:solidFill>
                  <a:srgbClr val="282421"/>
                </a:solidFill>
                <a:latin typeface="Arimo"/>
                <a:ea typeface="Arimo"/>
                <a:cs typeface="Arimo"/>
                <a:sym typeface="Arimo"/>
              </a:rPr>
              <a:t>Restores IT system</a:t>
            </a:r>
            <a:r>
              <a:rPr lang="en-US" sz="2460">
                <a:solidFill>
                  <a:srgbClr val="282421"/>
                </a:solidFill>
                <a:latin typeface="Arimo"/>
                <a:ea typeface="Arimo"/>
                <a:cs typeface="Arimo"/>
                <a:sym typeface="Arimo"/>
              </a:rPr>
              <a:t>s, application</a:t>
            </a:r>
            <a:r>
              <a:rPr lang="en-US" sz="2460">
                <a:solidFill>
                  <a:srgbClr val="282421"/>
                </a:solidFill>
                <a:latin typeface="Arimo"/>
                <a:ea typeface="Arimo"/>
                <a:cs typeface="Arimo"/>
                <a:sym typeface="Arimo"/>
              </a:rPr>
              <a:t>s,</a:t>
            </a:r>
            <a:r>
              <a:rPr lang="en-US" sz="2460">
                <a:solidFill>
                  <a:srgbClr val="282421"/>
                </a:solidFill>
                <a:latin typeface="Arimo"/>
                <a:ea typeface="Arimo"/>
                <a:cs typeface="Arimo"/>
                <a:sym typeface="Arimo"/>
              </a:rPr>
              <a:t> </a:t>
            </a:r>
            <a:r>
              <a:rPr lang="en-US" sz="2460">
                <a:solidFill>
                  <a:srgbClr val="282421"/>
                </a:solidFill>
                <a:latin typeface="Arimo"/>
                <a:ea typeface="Arimo"/>
                <a:cs typeface="Arimo"/>
                <a:sym typeface="Arimo"/>
              </a:rPr>
              <a:t>and data after a disaster.</a:t>
            </a:r>
          </a:p>
          <a:p>
            <a:pPr algn="l" marL="531235" indent="-265618" lvl="1">
              <a:lnSpc>
                <a:spcPts val="3198"/>
              </a:lnSpc>
              <a:buFont typeface="Arial"/>
              <a:buChar char="•"/>
            </a:pPr>
            <a:r>
              <a:rPr lang="en-US" sz="2460">
                <a:solidFill>
                  <a:srgbClr val="282421"/>
                </a:solidFill>
                <a:latin typeface="Arimo"/>
                <a:ea typeface="Arimo"/>
                <a:cs typeface="Arimo"/>
                <a:sym typeface="Arimo"/>
              </a:rPr>
              <a:t>Goal: Recover technical infrastructure quickly.</a:t>
            </a:r>
          </a:p>
          <a:p>
            <a:pPr algn="l">
              <a:lnSpc>
                <a:spcPts val="3198"/>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53959" y="1105977"/>
            <a:ext cx="2313201" cy="2313201"/>
          </a:xfrm>
          <a:custGeom>
            <a:avLst/>
            <a:gdLst/>
            <a:ahLst/>
            <a:cxnLst/>
            <a:rect r="r" b="b" t="t" l="l"/>
            <a:pathLst>
              <a:path h="2313201" w="2313201">
                <a:moveTo>
                  <a:pt x="0" y="0"/>
                </a:moveTo>
                <a:lnTo>
                  <a:pt x="2313201" y="0"/>
                </a:lnTo>
                <a:lnTo>
                  <a:pt x="2313201" y="2313201"/>
                </a:lnTo>
                <a:lnTo>
                  <a:pt x="0" y="2313201"/>
                </a:lnTo>
                <a:lnTo>
                  <a:pt x="0" y="0"/>
                </a:lnTo>
                <a:close/>
              </a:path>
            </a:pathLst>
          </a:custGeom>
          <a:blipFill>
            <a:blip r:embed="rId2"/>
            <a:stretch>
              <a:fillRect l="0" t="0" r="0" b="0"/>
            </a:stretch>
          </a:blipFill>
        </p:spPr>
      </p:sp>
      <p:sp>
        <p:nvSpPr>
          <p:cNvPr name="Freeform 3" id="3"/>
          <p:cNvSpPr/>
          <p:nvPr/>
        </p:nvSpPr>
        <p:spPr>
          <a:xfrm flipH="false" flipV="false" rot="0">
            <a:off x="-2122733" y="8934450"/>
            <a:ext cx="3457291" cy="3457291"/>
          </a:xfrm>
          <a:custGeom>
            <a:avLst/>
            <a:gdLst/>
            <a:ahLst/>
            <a:cxnLst/>
            <a:rect r="r" b="b" t="t" l="l"/>
            <a:pathLst>
              <a:path h="3457291" w="3457291">
                <a:moveTo>
                  <a:pt x="0" y="0"/>
                </a:moveTo>
                <a:lnTo>
                  <a:pt x="3457290" y="0"/>
                </a:lnTo>
                <a:lnTo>
                  <a:pt x="3457290" y="3457291"/>
                </a:lnTo>
                <a:lnTo>
                  <a:pt x="0" y="3457291"/>
                </a:lnTo>
                <a:lnTo>
                  <a:pt x="0" y="0"/>
                </a:lnTo>
                <a:close/>
              </a:path>
            </a:pathLst>
          </a:custGeom>
          <a:blipFill>
            <a:blip r:embed="rId2"/>
            <a:stretch>
              <a:fillRect l="0" t="0" r="0" b="0"/>
            </a:stretch>
          </a:blipFill>
        </p:spPr>
      </p:sp>
      <p:sp>
        <p:nvSpPr>
          <p:cNvPr name="Freeform 4" id="4"/>
          <p:cNvSpPr/>
          <p:nvPr/>
        </p:nvSpPr>
        <p:spPr>
          <a:xfrm flipH="false" flipV="false" rot="0">
            <a:off x="17053959" y="9048133"/>
            <a:ext cx="3070508" cy="3070508"/>
          </a:xfrm>
          <a:custGeom>
            <a:avLst/>
            <a:gdLst/>
            <a:ahLst/>
            <a:cxnLst/>
            <a:rect r="r" b="b" t="t" l="l"/>
            <a:pathLst>
              <a:path h="3070508" w="3070508">
                <a:moveTo>
                  <a:pt x="0" y="0"/>
                </a:moveTo>
                <a:lnTo>
                  <a:pt x="3070508" y="0"/>
                </a:lnTo>
                <a:lnTo>
                  <a:pt x="3070508" y="3070508"/>
                </a:lnTo>
                <a:lnTo>
                  <a:pt x="0" y="30705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0"/>
            <a:ext cx="18288000" cy="213007"/>
            <a:chOff x="0" y="0"/>
            <a:chExt cx="4816593" cy="56101"/>
          </a:xfrm>
        </p:grpSpPr>
        <p:sp>
          <p:nvSpPr>
            <p:cNvPr name="Freeform 6" id="6"/>
            <p:cNvSpPr/>
            <p:nvPr/>
          </p:nvSpPr>
          <p:spPr>
            <a:xfrm flipH="false" flipV="false" rot="0">
              <a:off x="0" y="0"/>
              <a:ext cx="4816592" cy="56101"/>
            </a:xfrm>
            <a:custGeom>
              <a:avLst/>
              <a:gdLst/>
              <a:ahLst/>
              <a:cxnLst/>
              <a:rect r="r" b="b" t="t" l="l"/>
              <a:pathLst>
                <a:path h="56101" w="4816592">
                  <a:moveTo>
                    <a:pt x="0" y="0"/>
                  </a:moveTo>
                  <a:lnTo>
                    <a:pt x="4816592" y="0"/>
                  </a:lnTo>
                  <a:lnTo>
                    <a:pt x="4816592" y="56101"/>
                  </a:lnTo>
                  <a:lnTo>
                    <a:pt x="0" y="56101"/>
                  </a:lnTo>
                  <a:close/>
                </a:path>
              </a:pathLst>
            </a:custGeom>
            <a:solidFill>
              <a:srgbClr val="182D88"/>
            </a:solidFill>
          </p:spPr>
        </p:sp>
        <p:sp>
          <p:nvSpPr>
            <p:cNvPr name="TextBox 7" id="7"/>
            <p:cNvSpPr txBox="true"/>
            <p:nvPr/>
          </p:nvSpPr>
          <p:spPr>
            <a:xfrm>
              <a:off x="0" y="-47625"/>
              <a:ext cx="4816593" cy="103726"/>
            </a:xfrm>
            <a:prstGeom prst="rect">
              <a:avLst/>
            </a:prstGeom>
          </p:spPr>
          <p:txBody>
            <a:bodyPr anchor="ctr" rtlCol="false" tIns="50800" lIns="50800" bIns="50800" rIns="50800"/>
            <a:lstStyle/>
            <a:p>
              <a:pPr algn="ctr">
                <a:lnSpc>
                  <a:spcPts val="3151"/>
                </a:lnSpc>
              </a:pPr>
            </a:p>
          </p:txBody>
        </p:sp>
      </p:grpSp>
      <p:sp>
        <p:nvSpPr>
          <p:cNvPr name="TextBox 8" id="8"/>
          <p:cNvSpPr txBox="true"/>
          <p:nvPr/>
        </p:nvSpPr>
        <p:spPr>
          <a:xfrm rot="0">
            <a:off x="1474098" y="1258377"/>
            <a:ext cx="15339804" cy="977519"/>
          </a:xfrm>
          <a:prstGeom prst="rect">
            <a:avLst/>
          </a:prstGeom>
        </p:spPr>
        <p:txBody>
          <a:bodyPr anchor="t" rtlCol="false" tIns="0" lIns="0" bIns="0" rIns="0">
            <a:spAutoFit/>
          </a:bodyPr>
          <a:lstStyle/>
          <a:p>
            <a:pPr algn="ctr">
              <a:lnSpc>
                <a:spcPts val="7217"/>
              </a:lnSpc>
            </a:pPr>
            <a:r>
              <a:rPr lang="en-US" sz="7440" spc="-74">
                <a:solidFill>
                  <a:srgbClr val="2657C1"/>
                </a:solidFill>
                <a:latin typeface="Etna Sans Serif"/>
                <a:ea typeface="Etna Sans Serif"/>
                <a:cs typeface="Etna Sans Serif"/>
                <a:sym typeface="Etna Sans Serif"/>
              </a:rPr>
              <a:t>The information security lifecycle </a:t>
            </a:r>
          </a:p>
        </p:txBody>
      </p:sp>
      <p:sp>
        <p:nvSpPr>
          <p:cNvPr name="Freeform 9" id="9"/>
          <p:cNvSpPr/>
          <p:nvPr/>
        </p:nvSpPr>
        <p:spPr>
          <a:xfrm flipH="false" flipV="false" rot="0">
            <a:off x="1028700" y="2814672"/>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880918" y="2854663"/>
            <a:ext cx="7224239"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The information security lifecycle </a:t>
            </a:r>
          </a:p>
        </p:txBody>
      </p:sp>
      <p:sp>
        <p:nvSpPr>
          <p:cNvPr name="TextBox 11" id="11"/>
          <p:cNvSpPr txBox="true"/>
          <p:nvPr/>
        </p:nvSpPr>
        <p:spPr>
          <a:xfrm rot="0">
            <a:off x="1028700" y="3987060"/>
            <a:ext cx="16903294" cy="5066082"/>
          </a:xfrm>
          <a:prstGeom prst="rect">
            <a:avLst/>
          </a:prstGeom>
        </p:spPr>
        <p:txBody>
          <a:bodyPr anchor="t" rtlCol="false" tIns="0" lIns="0" bIns="0" rIns="0">
            <a:spAutoFit/>
          </a:bodyPr>
          <a:lstStyle/>
          <a:p>
            <a:pPr algn="just" marL="0" indent="0" lvl="0">
              <a:lnSpc>
                <a:spcPts val="5026"/>
              </a:lnSpc>
              <a:spcBef>
                <a:spcPct val="0"/>
              </a:spcBef>
            </a:pPr>
            <a:r>
              <a:rPr lang="en-US" sz="3590">
                <a:solidFill>
                  <a:srgbClr val="2657C1"/>
                </a:solidFill>
                <a:latin typeface="TT Fors"/>
                <a:ea typeface="TT Fors"/>
                <a:cs typeface="TT Fors"/>
                <a:sym typeface="TT Fors"/>
              </a:rPr>
              <a:t>The Information Security Lifecycle is a continuous and systematic process used by organizations to protect information assets throughout their entire lifecycle. It involves planning, implementing, operating, monitoring, reviewing, and continuously improving security controls to ensure information remains secure against evolving cyber threats and business changes. Unlike a one-time security project, the Information Security Lifecycle is an ongoing cycle that adapts to new technologies, regulations, and security risks.</a:t>
            </a:r>
          </a:p>
          <a:p>
            <a:pPr algn="just" marL="0" indent="0" lvl="0">
              <a:lnSpc>
                <a:spcPts val="5026"/>
              </a:lnSpc>
              <a:spcBef>
                <a:spcPct val="0"/>
              </a:spcBef>
            </a:pPr>
          </a:p>
        </p:txBody>
      </p:sp>
      <p:sp>
        <p:nvSpPr>
          <p:cNvPr name="TextBox 12" id="12"/>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53959" y="1105977"/>
            <a:ext cx="2313201" cy="2313201"/>
          </a:xfrm>
          <a:custGeom>
            <a:avLst/>
            <a:gdLst/>
            <a:ahLst/>
            <a:cxnLst/>
            <a:rect r="r" b="b" t="t" l="l"/>
            <a:pathLst>
              <a:path h="2313201" w="2313201">
                <a:moveTo>
                  <a:pt x="0" y="0"/>
                </a:moveTo>
                <a:lnTo>
                  <a:pt x="2313201" y="0"/>
                </a:lnTo>
                <a:lnTo>
                  <a:pt x="2313201" y="2313201"/>
                </a:lnTo>
                <a:lnTo>
                  <a:pt x="0" y="2313201"/>
                </a:lnTo>
                <a:lnTo>
                  <a:pt x="0" y="0"/>
                </a:lnTo>
                <a:close/>
              </a:path>
            </a:pathLst>
          </a:custGeom>
          <a:blipFill>
            <a:blip r:embed="rId2"/>
            <a:stretch>
              <a:fillRect l="0" t="0" r="0" b="0"/>
            </a:stretch>
          </a:blipFill>
        </p:spPr>
      </p:sp>
      <p:sp>
        <p:nvSpPr>
          <p:cNvPr name="Freeform 3" id="3"/>
          <p:cNvSpPr/>
          <p:nvPr/>
        </p:nvSpPr>
        <p:spPr>
          <a:xfrm flipH="false" flipV="false" rot="0">
            <a:off x="-2151308" y="8413701"/>
            <a:ext cx="3457291" cy="3457291"/>
          </a:xfrm>
          <a:custGeom>
            <a:avLst/>
            <a:gdLst/>
            <a:ahLst/>
            <a:cxnLst/>
            <a:rect r="r" b="b" t="t" l="l"/>
            <a:pathLst>
              <a:path h="3457291" w="3457291">
                <a:moveTo>
                  <a:pt x="0" y="0"/>
                </a:moveTo>
                <a:lnTo>
                  <a:pt x="3457290" y="0"/>
                </a:lnTo>
                <a:lnTo>
                  <a:pt x="3457290" y="3457290"/>
                </a:lnTo>
                <a:lnTo>
                  <a:pt x="0" y="3457290"/>
                </a:lnTo>
                <a:lnTo>
                  <a:pt x="0" y="0"/>
                </a:lnTo>
                <a:close/>
              </a:path>
            </a:pathLst>
          </a:custGeom>
          <a:blipFill>
            <a:blip r:embed="rId2"/>
            <a:stretch>
              <a:fillRect l="0" t="0" r="0" b="0"/>
            </a:stretch>
          </a:blipFill>
        </p:spPr>
      </p:sp>
      <p:sp>
        <p:nvSpPr>
          <p:cNvPr name="Freeform 4" id="4"/>
          <p:cNvSpPr/>
          <p:nvPr/>
        </p:nvSpPr>
        <p:spPr>
          <a:xfrm flipH="false" flipV="false" rot="0">
            <a:off x="15226851" y="1614694"/>
            <a:ext cx="776370" cy="776370"/>
          </a:xfrm>
          <a:custGeom>
            <a:avLst/>
            <a:gdLst/>
            <a:ahLst/>
            <a:cxnLst/>
            <a:rect r="r" b="b" t="t" l="l"/>
            <a:pathLst>
              <a:path h="776370" w="776370">
                <a:moveTo>
                  <a:pt x="0" y="0"/>
                </a:moveTo>
                <a:lnTo>
                  <a:pt x="776369" y="0"/>
                </a:lnTo>
                <a:lnTo>
                  <a:pt x="776369" y="776370"/>
                </a:lnTo>
                <a:lnTo>
                  <a:pt x="0" y="7763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053959" y="9048133"/>
            <a:ext cx="3070508" cy="3070508"/>
          </a:xfrm>
          <a:custGeom>
            <a:avLst/>
            <a:gdLst/>
            <a:ahLst/>
            <a:cxnLst/>
            <a:rect r="r" b="b" t="t" l="l"/>
            <a:pathLst>
              <a:path h="3070508" w="3070508">
                <a:moveTo>
                  <a:pt x="0" y="0"/>
                </a:moveTo>
                <a:lnTo>
                  <a:pt x="3070508" y="0"/>
                </a:lnTo>
                <a:lnTo>
                  <a:pt x="3070508" y="3070508"/>
                </a:lnTo>
                <a:lnTo>
                  <a:pt x="0" y="30705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0" y="0"/>
            <a:ext cx="18288000" cy="213007"/>
            <a:chOff x="0" y="0"/>
            <a:chExt cx="4816593" cy="56101"/>
          </a:xfrm>
        </p:grpSpPr>
        <p:sp>
          <p:nvSpPr>
            <p:cNvPr name="Freeform 7" id="7"/>
            <p:cNvSpPr/>
            <p:nvPr/>
          </p:nvSpPr>
          <p:spPr>
            <a:xfrm flipH="false" flipV="false" rot="0">
              <a:off x="0" y="0"/>
              <a:ext cx="4816592" cy="56101"/>
            </a:xfrm>
            <a:custGeom>
              <a:avLst/>
              <a:gdLst/>
              <a:ahLst/>
              <a:cxnLst/>
              <a:rect r="r" b="b" t="t" l="l"/>
              <a:pathLst>
                <a:path h="56101" w="4816592">
                  <a:moveTo>
                    <a:pt x="0" y="0"/>
                  </a:moveTo>
                  <a:lnTo>
                    <a:pt x="4816592" y="0"/>
                  </a:lnTo>
                  <a:lnTo>
                    <a:pt x="4816592" y="56101"/>
                  </a:lnTo>
                  <a:lnTo>
                    <a:pt x="0" y="56101"/>
                  </a:lnTo>
                  <a:close/>
                </a:path>
              </a:pathLst>
            </a:custGeom>
            <a:solidFill>
              <a:srgbClr val="182D88"/>
            </a:solidFill>
          </p:spPr>
        </p:sp>
        <p:sp>
          <p:nvSpPr>
            <p:cNvPr name="TextBox 8" id="8"/>
            <p:cNvSpPr txBox="true"/>
            <p:nvPr/>
          </p:nvSpPr>
          <p:spPr>
            <a:xfrm>
              <a:off x="0" y="-47625"/>
              <a:ext cx="4816593" cy="103726"/>
            </a:xfrm>
            <a:prstGeom prst="rect">
              <a:avLst/>
            </a:prstGeom>
          </p:spPr>
          <p:txBody>
            <a:bodyPr anchor="ctr" rtlCol="false" tIns="50800" lIns="50800" bIns="50800" rIns="50800"/>
            <a:lstStyle/>
            <a:p>
              <a:pPr algn="ctr">
                <a:lnSpc>
                  <a:spcPts val="3151"/>
                </a:lnSpc>
              </a:pPr>
            </a:p>
          </p:txBody>
        </p:sp>
      </p:grpSp>
      <p:sp>
        <p:nvSpPr>
          <p:cNvPr name="TextBox 9" id="9"/>
          <p:cNvSpPr txBox="true"/>
          <p:nvPr/>
        </p:nvSpPr>
        <p:spPr>
          <a:xfrm rot="0">
            <a:off x="1000125" y="576374"/>
            <a:ext cx="15521267" cy="2209990"/>
          </a:xfrm>
          <a:prstGeom prst="rect">
            <a:avLst/>
          </a:prstGeom>
        </p:spPr>
        <p:txBody>
          <a:bodyPr anchor="t" rtlCol="false" tIns="0" lIns="0" bIns="0" rIns="0">
            <a:spAutoFit/>
          </a:bodyPr>
          <a:lstStyle/>
          <a:p>
            <a:pPr algn="ctr">
              <a:lnSpc>
                <a:spcPts val="5834"/>
              </a:lnSpc>
            </a:pPr>
            <a:r>
              <a:rPr lang="en-US" sz="6015" spc="-60">
                <a:solidFill>
                  <a:srgbClr val="2657C1"/>
                </a:solidFill>
                <a:latin typeface="Etna Sans Serif"/>
                <a:ea typeface="Etna Sans Serif"/>
                <a:cs typeface="Etna Sans Serif"/>
                <a:sym typeface="Etna Sans Serif"/>
              </a:rPr>
              <a:t>The Six Phases of the Information Security Lifecycle</a:t>
            </a:r>
          </a:p>
          <a:p>
            <a:pPr algn="ctr">
              <a:lnSpc>
                <a:spcPts val="5564"/>
              </a:lnSpc>
            </a:pPr>
          </a:p>
        </p:txBody>
      </p:sp>
      <p:sp>
        <p:nvSpPr>
          <p:cNvPr name="Freeform 10" id="10"/>
          <p:cNvSpPr/>
          <p:nvPr/>
        </p:nvSpPr>
        <p:spPr>
          <a:xfrm flipH="false" flipV="false" rot="0">
            <a:off x="1000125" y="2293923"/>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852343" y="2333914"/>
            <a:ext cx="1857080"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Planning</a:t>
            </a:r>
          </a:p>
        </p:txBody>
      </p:sp>
      <p:sp>
        <p:nvSpPr>
          <p:cNvPr name="TextBox 12" id="12"/>
          <p:cNvSpPr txBox="true"/>
          <p:nvPr/>
        </p:nvSpPr>
        <p:spPr>
          <a:xfrm rot="0">
            <a:off x="1000125" y="3094324"/>
            <a:ext cx="7887779" cy="2585085"/>
          </a:xfrm>
          <a:prstGeom prst="rect">
            <a:avLst/>
          </a:prstGeom>
        </p:spPr>
        <p:txBody>
          <a:bodyPr anchor="t" rtlCol="false" tIns="0" lIns="0" bIns="0" rIns="0">
            <a:spAutoFit/>
          </a:bodyPr>
          <a:lstStyle/>
          <a:p>
            <a:pPr algn="just" marL="0" indent="0" lvl="0">
              <a:lnSpc>
                <a:spcPts val="2940"/>
              </a:lnSpc>
              <a:spcBef>
                <a:spcPct val="0"/>
              </a:spcBef>
            </a:pPr>
            <a:r>
              <a:rPr lang="en-US" b="true" sz="2100">
                <a:solidFill>
                  <a:srgbClr val="2657C1"/>
                </a:solidFill>
                <a:latin typeface="TT Fors Bold"/>
                <a:ea typeface="TT Fors Bold"/>
                <a:cs typeface="TT Fors Bold"/>
                <a:sym typeface="TT Fors Bold"/>
              </a:rPr>
              <a:t>Planning </a:t>
            </a:r>
            <a:r>
              <a:rPr lang="en-US" sz="2100">
                <a:solidFill>
                  <a:srgbClr val="2657C1"/>
                </a:solidFill>
                <a:latin typeface="TT Fors"/>
                <a:ea typeface="TT Fors"/>
                <a:cs typeface="TT Fors"/>
                <a:sym typeface="TT Fors"/>
              </a:rPr>
              <a:t>is the first phase of the Information Security Lifecycle where an organization identifies its valuable information assets, evaluates potential threats and vulnerabilities, assesses risks, and develops security goals, policies, and strategies. This phase establishes the foundation for protecting information by determining what needs to be secured and how security measures will be implemented.</a:t>
            </a:r>
          </a:p>
        </p:txBody>
      </p:sp>
      <p:sp>
        <p:nvSpPr>
          <p:cNvPr name="Freeform 13" id="13"/>
          <p:cNvSpPr/>
          <p:nvPr/>
        </p:nvSpPr>
        <p:spPr>
          <a:xfrm flipH="false" flipV="false" rot="0">
            <a:off x="1000125" y="5908009"/>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852343" y="5948000"/>
            <a:ext cx="1857080"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Operation</a:t>
            </a:r>
          </a:p>
        </p:txBody>
      </p:sp>
      <p:sp>
        <p:nvSpPr>
          <p:cNvPr name="TextBox 15" id="15"/>
          <p:cNvSpPr txBox="true"/>
          <p:nvPr/>
        </p:nvSpPr>
        <p:spPr>
          <a:xfrm rot="0">
            <a:off x="1000125" y="6708410"/>
            <a:ext cx="7887779" cy="2213610"/>
          </a:xfrm>
          <a:prstGeom prst="rect">
            <a:avLst/>
          </a:prstGeom>
        </p:spPr>
        <p:txBody>
          <a:bodyPr anchor="t" rtlCol="false" tIns="0" lIns="0" bIns="0" rIns="0">
            <a:spAutoFit/>
          </a:bodyPr>
          <a:lstStyle/>
          <a:p>
            <a:pPr algn="just" marL="0" indent="0" lvl="0">
              <a:lnSpc>
                <a:spcPts val="2940"/>
              </a:lnSpc>
              <a:spcBef>
                <a:spcPct val="0"/>
              </a:spcBef>
            </a:pPr>
            <a:r>
              <a:rPr lang="en-US" b="true" sz="2100">
                <a:solidFill>
                  <a:srgbClr val="2657C1"/>
                </a:solidFill>
                <a:latin typeface="TT Fors Bold"/>
                <a:ea typeface="TT Fors Bold"/>
                <a:cs typeface="TT Fors Bold"/>
                <a:sym typeface="TT Fors Bold"/>
              </a:rPr>
              <a:t>Operation </a:t>
            </a:r>
            <a:r>
              <a:rPr lang="en-US" sz="2100">
                <a:solidFill>
                  <a:srgbClr val="2657C1"/>
                </a:solidFill>
                <a:latin typeface="TT Fors"/>
                <a:ea typeface="TT Fors"/>
                <a:cs typeface="TT Fors"/>
                <a:sym typeface="TT Fors"/>
              </a:rPr>
              <a:t>is the phase of the Information Security Lifecycle where implemented security controls are used, managed, and maintained during daily business operations. Organizations ensure that systems remain secure by performing routine maintenance, managing user accounts, creating backups, and responding to security incidents.</a:t>
            </a:r>
          </a:p>
        </p:txBody>
      </p:sp>
      <p:sp>
        <p:nvSpPr>
          <p:cNvPr name="Freeform 16" id="16"/>
          <p:cNvSpPr/>
          <p:nvPr/>
        </p:nvSpPr>
        <p:spPr>
          <a:xfrm flipH="false" flipV="false" rot="0">
            <a:off x="9430829" y="2293923"/>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0283047" y="2333914"/>
            <a:ext cx="2957907"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Implementation</a:t>
            </a:r>
          </a:p>
        </p:txBody>
      </p:sp>
      <p:sp>
        <p:nvSpPr>
          <p:cNvPr name="TextBox 18" id="18"/>
          <p:cNvSpPr txBox="true"/>
          <p:nvPr/>
        </p:nvSpPr>
        <p:spPr>
          <a:xfrm rot="0">
            <a:off x="9430829" y="3094324"/>
            <a:ext cx="7887779" cy="2213610"/>
          </a:xfrm>
          <a:prstGeom prst="rect">
            <a:avLst/>
          </a:prstGeom>
        </p:spPr>
        <p:txBody>
          <a:bodyPr anchor="t" rtlCol="false" tIns="0" lIns="0" bIns="0" rIns="0">
            <a:spAutoFit/>
          </a:bodyPr>
          <a:lstStyle/>
          <a:p>
            <a:pPr algn="just" marL="0" indent="0" lvl="0">
              <a:lnSpc>
                <a:spcPts val="2940"/>
              </a:lnSpc>
              <a:spcBef>
                <a:spcPct val="0"/>
              </a:spcBef>
            </a:pPr>
            <a:r>
              <a:rPr lang="en-US" b="true" sz="2100">
                <a:solidFill>
                  <a:srgbClr val="2657C1"/>
                </a:solidFill>
                <a:latin typeface="TT Fors Bold"/>
                <a:ea typeface="TT Fors Bold"/>
                <a:cs typeface="TT Fors Bold"/>
                <a:sym typeface="TT Fors Bold"/>
              </a:rPr>
              <a:t>Implementation</a:t>
            </a:r>
            <a:r>
              <a:rPr lang="en-US" sz="2100">
                <a:solidFill>
                  <a:srgbClr val="2657C1"/>
                </a:solidFill>
                <a:latin typeface="TT Fors"/>
                <a:ea typeface="TT Fors"/>
                <a:cs typeface="TT Fors"/>
                <a:sym typeface="TT Fors"/>
              </a:rPr>
              <a:t> is the phase of the Information Security Lifecycle where the planned security measures and controls are put into action. Organizations deploy technologies, configure security settings, enforce policies, and provide user training to protect information systems from threats and unauthorized access.</a:t>
            </a:r>
          </a:p>
        </p:txBody>
      </p:sp>
      <p:sp>
        <p:nvSpPr>
          <p:cNvPr name="Freeform 19" id="19"/>
          <p:cNvSpPr/>
          <p:nvPr/>
        </p:nvSpPr>
        <p:spPr>
          <a:xfrm flipH="false" flipV="false" rot="0">
            <a:off x="9430829" y="5908009"/>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10283047" y="5948000"/>
            <a:ext cx="4552856"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 Monitoring</a:t>
            </a:r>
          </a:p>
        </p:txBody>
      </p:sp>
      <p:sp>
        <p:nvSpPr>
          <p:cNvPr name="TextBox 21" id="21"/>
          <p:cNvSpPr txBox="true"/>
          <p:nvPr/>
        </p:nvSpPr>
        <p:spPr>
          <a:xfrm rot="0">
            <a:off x="9430829" y="6708410"/>
            <a:ext cx="7887779" cy="1842135"/>
          </a:xfrm>
          <a:prstGeom prst="rect">
            <a:avLst/>
          </a:prstGeom>
        </p:spPr>
        <p:txBody>
          <a:bodyPr anchor="t" rtlCol="false" tIns="0" lIns="0" bIns="0" rIns="0">
            <a:spAutoFit/>
          </a:bodyPr>
          <a:lstStyle/>
          <a:p>
            <a:pPr algn="just" marL="0" indent="0" lvl="0">
              <a:lnSpc>
                <a:spcPts val="2940"/>
              </a:lnSpc>
              <a:spcBef>
                <a:spcPct val="0"/>
              </a:spcBef>
            </a:pPr>
            <a:r>
              <a:rPr lang="en-US" b="true" sz="2100">
                <a:solidFill>
                  <a:srgbClr val="2657C1"/>
                </a:solidFill>
                <a:latin typeface="TT Fors Bold"/>
                <a:ea typeface="TT Fors Bold"/>
                <a:cs typeface="TT Fors Bold"/>
                <a:sym typeface="TT Fors Bold"/>
              </a:rPr>
              <a:t>Monitoring</a:t>
            </a:r>
            <a:r>
              <a:rPr lang="en-US" sz="2100">
                <a:solidFill>
                  <a:srgbClr val="2657C1"/>
                </a:solidFill>
                <a:latin typeface="TT Fors"/>
                <a:ea typeface="TT Fors"/>
                <a:cs typeface="TT Fors"/>
                <a:sym typeface="TT Fors"/>
              </a:rPr>
              <a:t> is the phase where organizations continuously observe their networks, systems, and applications to detect suspicious activities, security threats, or policy violations. This helps identify potential attacks early and enables a quick response to minimize damage.</a:t>
            </a:r>
          </a:p>
        </p:txBody>
      </p:sp>
      <p:sp>
        <p:nvSpPr>
          <p:cNvPr name="TextBox 22" id="22"/>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53959" y="1105977"/>
            <a:ext cx="2313201" cy="2313201"/>
          </a:xfrm>
          <a:custGeom>
            <a:avLst/>
            <a:gdLst/>
            <a:ahLst/>
            <a:cxnLst/>
            <a:rect r="r" b="b" t="t" l="l"/>
            <a:pathLst>
              <a:path h="2313201" w="2313201">
                <a:moveTo>
                  <a:pt x="0" y="0"/>
                </a:moveTo>
                <a:lnTo>
                  <a:pt x="2313201" y="0"/>
                </a:lnTo>
                <a:lnTo>
                  <a:pt x="2313201" y="2313201"/>
                </a:lnTo>
                <a:lnTo>
                  <a:pt x="0" y="2313201"/>
                </a:lnTo>
                <a:lnTo>
                  <a:pt x="0" y="0"/>
                </a:lnTo>
                <a:close/>
              </a:path>
            </a:pathLst>
          </a:custGeom>
          <a:blipFill>
            <a:blip r:embed="rId2"/>
            <a:stretch>
              <a:fillRect l="0" t="0" r="0" b="0"/>
            </a:stretch>
          </a:blipFill>
        </p:spPr>
      </p:sp>
      <p:sp>
        <p:nvSpPr>
          <p:cNvPr name="Freeform 3" id="3"/>
          <p:cNvSpPr/>
          <p:nvPr/>
        </p:nvSpPr>
        <p:spPr>
          <a:xfrm flipH="false" flipV="false" rot="0">
            <a:off x="-2151308" y="8413701"/>
            <a:ext cx="3457291" cy="3457291"/>
          </a:xfrm>
          <a:custGeom>
            <a:avLst/>
            <a:gdLst/>
            <a:ahLst/>
            <a:cxnLst/>
            <a:rect r="r" b="b" t="t" l="l"/>
            <a:pathLst>
              <a:path h="3457291" w="3457291">
                <a:moveTo>
                  <a:pt x="0" y="0"/>
                </a:moveTo>
                <a:lnTo>
                  <a:pt x="3457290" y="0"/>
                </a:lnTo>
                <a:lnTo>
                  <a:pt x="3457290" y="3457290"/>
                </a:lnTo>
                <a:lnTo>
                  <a:pt x="0" y="3457290"/>
                </a:lnTo>
                <a:lnTo>
                  <a:pt x="0" y="0"/>
                </a:lnTo>
                <a:close/>
              </a:path>
            </a:pathLst>
          </a:custGeom>
          <a:blipFill>
            <a:blip r:embed="rId2"/>
            <a:stretch>
              <a:fillRect l="0" t="0" r="0" b="0"/>
            </a:stretch>
          </a:blipFill>
        </p:spPr>
      </p:sp>
      <p:sp>
        <p:nvSpPr>
          <p:cNvPr name="Freeform 4" id="4"/>
          <p:cNvSpPr/>
          <p:nvPr/>
        </p:nvSpPr>
        <p:spPr>
          <a:xfrm flipH="false" flipV="false" rot="0">
            <a:off x="15226851" y="2718188"/>
            <a:ext cx="776370" cy="776370"/>
          </a:xfrm>
          <a:custGeom>
            <a:avLst/>
            <a:gdLst/>
            <a:ahLst/>
            <a:cxnLst/>
            <a:rect r="r" b="b" t="t" l="l"/>
            <a:pathLst>
              <a:path h="776370" w="776370">
                <a:moveTo>
                  <a:pt x="0" y="0"/>
                </a:moveTo>
                <a:lnTo>
                  <a:pt x="776369" y="0"/>
                </a:lnTo>
                <a:lnTo>
                  <a:pt x="776369" y="776370"/>
                </a:lnTo>
                <a:lnTo>
                  <a:pt x="0" y="7763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053959" y="9048133"/>
            <a:ext cx="3070508" cy="3070508"/>
          </a:xfrm>
          <a:custGeom>
            <a:avLst/>
            <a:gdLst/>
            <a:ahLst/>
            <a:cxnLst/>
            <a:rect r="r" b="b" t="t" l="l"/>
            <a:pathLst>
              <a:path h="3070508" w="3070508">
                <a:moveTo>
                  <a:pt x="0" y="0"/>
                </a:moveTo>
                <a:lnTo>
                  <a:pt x="3070508" y="0"/>
                </a:lnTo>
                <a:lnTo>
                  <a:pt x="3070508" y="3070508"/>
                </a:lnTo>
                <a:lnTo>
                  <a:pt x="0" y="30705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0" y="0"/>
            <a:ext cx="18288000" cy="213007"/>
            <a:chOff x="0" y="0"/>
            <a:chExt cx="4816593" cy="56101"/>
          </a:xfrm>
        </p:grpSpPr>
        <p:sp>
          <p:nvSpPr>
            <p:cNvPr name="Freeform 7" id="7"/>
            <p:cNvSpPr/>
            <p:nvPr/>
          </p:nvSpPr>
          <p:spPr>
            <a:xfrm flipH="false" flipV="false" rot="0">
              <a:off x="0" y="0"/>
              <a:ext cx="4816592" cy="56101"/>
            </a:xfrm>
            <a:custGeom>
              <a:avLst/>
              <a:gdLst/>
              <a:ahLst/>
              <a:cxnLst/>
              <a:rect r="r" b="b" t="t" l="l"/>
              <a:pathLst>
                <a:path h="56101" w="4816592">
                  <a:moveTo>
                    <a:pt x="0" y="0"/>
                  </a:moveTo>
                  <a:lnTo>
                    <a:pt x="4816592" y="0"/>
                  </a:lnTo>
                  <a:lnTo>
                    <a:pt x="4816592" y="56101"/>
                  </a:lnTo>
                  <a:lnTo>
                    <a:pt x="0" y="56101"/>
                  </a:lnTo>
                  <a:close/>
                </a:path>
              </a:pathLst>
            </a:custGeom>
            <a:solidFill>
              <a:srgbClr val="182D88"/>
            </a:solidFill>
          </p:spPr>
        </p:sp>
        <p:sp>
          <p:nvSpPr>
            <p:cNvPr name="TextBox 8" id="8"/>
            <p:cNvSpPr txBox="true"/>
            <p:nvPr/>
          </p:nvSpPr>
          <p:spPr>
            <a:xfrm>
              <a:off x="0" y="-47625"/>
              <a:ext cx="4816593" cy="103726"/>
            </a:xfrm>
            <a:prstGeom prst="rect">
              <a:avLst/>
            </a:prstGeom>
          </p:spPr>
          <p:txBody>
            <a:bodyPr anchor="ctr" rtlCol="false" tIns="50800" lIns="50800" bIns="50800" rIns="50800"/>
            <a:lstStyle/>
            <a:p>
              <a:pPr algn="ctr">
                <a:lnSpc>
                  <a:spcPts val="3151"/>
                </a:lnSpc>
              </a:pPr>
            </a:p>
          </p:txBody>
        </p:sp>
      </p:grpSp>
      <p:sp>
        <p:nvSpPr>
          <p:cNvPr name="TextBox 9" id="9"/>
          <p:cNvSpPr txBox="true"/>
          <p:nvPr/>
        </p:nvSpPr>
        <p:spPr>
          <a:xfrm rot="0">
            <a:off x="840942" y="1302249"/>
            <a:ext cx="16213017" cy="1518295"/>
          </a:xfrm>
          <a:prstGeom prst="rect">
            <a:avLst/>
          </a:prstGeom>
        </p:spPr>
        <p:txBody>
          <a:bodyPr anchor="t" rtlCol="false" tIns="0" lIns="0" bIns="0" rIns="0">
            <a:spAutoFit/>
          </a:bodyPr>
          <a:lstStyle/>
          <a:p>
            <a:pPr algn="ctr">
              <a:lnSpc>
                <a:spcPts val="5820"/>
              </a:lnSpc>
            </a:pPr>
            <a:r>
              <a:rPr lang="en-US" sz="6000" spc="-60">
                <a:solidFill>
                  <a:srgbClr val="2657C1"/>
                </a:solidFill>
                <a:latin typeface="Etna Sans Serif"/>
                <a:ea typeface="Etna Sans Serif"/>
                <a:cs typeface="Etna Sans Serif"/>
                <a:sym typeface="Etna Sans Serif"/>
              </a:rPr>
              <a:t>The Six Phases of the Information Security Lifecycle</a:t>
            </a:r>
          </a:p>
        </p:txBody>
      </p:sp>
      <p:sp>
        <p:nvSpPr>
          <p:cNvPr name="Freeform 10" id="10"/>
          <p:cNvSpPr/>
          <p:nvPr/>
        </p:nvSpPr>
        <p:spPr>
          <a:xfrm flipH="false" flipV="false" rot="0">
            <a:off x="1000125" y="3397417"/>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852343" y="3437408"/>
            <a:ext cx="1857080"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Review</a:t>
            </a:r>
          </a:p>
        </p:txBody>
      </p:sp>
      <p:sp>
        <p:nvSpPr>
          <p:cNvPr name="TextBox 12" id="12"/>
          <p:cNvSpPr txBox="true"/>
          <p:nvPr/>
        </p:nvSpPr>
        <p:spPr>
          <a:xfrm rot="0">
            <a:off x="1000125" y="4188293"/>
            <a:ext cx="7887779" cy="3638551"/>
          </a:xfrm>
          <a:prstGeom prst="rect">
            <a:avLst/>
          </a:prstGeom>
        </p:spPr>
        <p:txBody>
          <a:bodyPr anchor="t" rtlCol="false" tIns="0" lIns="0" bIns="0" rIns="0">
            <a:spAutoFit/>
          </a:bodyPr>
          <a:lstStyle/>
          <a:p>
            <a:pPr algn="just" marL="0" indent="0" lvl="0">
              <a:lnSpc>
                <a:spcPts val="4199"/>
              </a:lnSpc>
              <a:spcBef>
                <a:spcPct val="0"/>
              </a:spcBef>
            </a:pPr>
            <a:r>
              <a:rPr lang="en-US" b="true" sz="2999">
                <a:solidFill>
                  <a:srgbClr val="2657C1"/>
                </a:solidFill>
                <a:latin typeface="TT Fors Bold"/>
                <a:ea typeface="TT Fors Bold"/>
                <a:cs typeface="TT Fors Bold"/>
                <a:sym typeface="TT Fors Bold"/>
              </a:rPr>
              <a:t>Review</a:t>
            </a:r>
            <a:r>
              <a:rPr lang="en-US" sz="2999">
                <a:solidFill>
                  <a:srgbClr val="2657C1"/>
                </a:solidFill>
                <a:latin typeface="TT Fors"/>
                <a:ea typeface="TT Fors"/>
                <a:cs typeface="TT Fors"/>
                <a:sym typeface="TT Fors"/>
              </a:rPr>
              <a:t> is the phase where organizations evaluate the effectiveness of their information security controls, policies, and procedures. Regular audits, vulnerability assessments, and penetration testing help identify weaknesses and ensure compliance with security standards.</a:t>
            </a:r>
          </a:p>
        </p:txBody>
      </p:sp>
      <p:sp>
        <p:nvSpPr>
          <p:cNvPr name="Freeform 13" id="13"/>
          <p:cNvSpPr/>
          <p:nvPr/>
        </p:nvSpPr>
        <p:spPr>
          <a:xfrm flipH="false" flipV="false" rot="0">
            <a:off x="9430829" y="3397417"/>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0283047" y="3437408"/>
            <a:ext cx="5287403"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 Continuous Improvement</a:t>
            </a:r>
          </a:p>
        </p:txBody>
      </p:sp>
      <p:sp>
        <p:nvSpPr>
          <p:cNvPr name="TextBox 15" id="15"/>
          <p:cNvSpPr txBox="true"/>
          <p:nvPr/>
        </p:nvSpPr>
        <p:spPr>
          <a:xfrm rot="0">
            <a:off x="9430829" y="4188293"/>
            <a:ext cx="7887779" cy="3638551"/>
          </a:xfrm>
          <a:prstGeom prst="rect">
            <a:avLst/>
          </a:prstGeom>
        </p:spPr>
        <p:txBody>
          <a:bodyPr anchor="t" rtlCol="false" tIns="0" lIns="0" bIns="0" rIns="0">
            <a:spAutoFit/>
          </a:bodyPr>
          <a:lstStyle/>
          <a:p>
            <a:pPr algn="just" marL="0" indent="0" lvl="0">
              <a:lnSpc>
                <a:spcPts val="4199"/>
              </a:lnSpc>
              <a:spcBef>
                <a:spcPct val="0"/>
              </a:spcBef>
            </a:pPr>
            <a:r>
              <a:rPr lang="en-US" b="true" sz="2999">
                <a:solidFill>
                  <a:srgbClr val="2657C1"/>
                </a:solidFill>
                <a:latin typeface="TT Fors Bold"/>
                <a:ea typeface="TT Fors Bold"/>
                <a:cs typeface="TT Fors Bold"/>
                <a:sym typeface="TT Fors Bold"/>
              </a:rPr>
              <a:t>Continuous Improvement</a:t>
            </a:r>
            <a:r>
              <a:rPr lang="en-US" sz="2999">
                <a:solidFill>
                  <a:srgbClr val="2657C1"/>
                </a:solidFill>
                <a:latin typeface="TT Fors"/>
                <a:ea typeface="TT Fors"/>
                <a:cs typeface="TT Fors"/>
                <a:sym typeface="TT Fors"/>
              </a:rPr>
              <a:t> is the final phase of the Information Security Lifecycle where organizations enhance their security practices based on lessons learned, new technologies, and emerging cyber threats. This ensures that information security remains effective over time.</a:t>
            </a:r>
          </a:p>
        </p:txBody>
      </p:sp>
      <p:sp>
        <p:nvSpPr>
          <p:cNvPr name="TextBox 16" id="16"/>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259300" y="1677723"/>
            <a:ext cx="1765318" cy="1765318"/>
          </a:xfrm>
          <a:custGeom>
            <a:avLst/>
            <a:gdLst/>
            <a:ahLst/>
            <a:cxnLst/>
            <a:rect r="r" b="b" t="t" l="l"/>
            <a:pathLst>
              <a:path h="1765318" w="1765318">
                <a:moveTo>
                  <a:pt x="0" y="0"/>
                </a:moveTo>
                <a:lnTo>
                  <a:pt x="1765318" y="0"/>
                </a:lnTo>
                <a:lnTo>
                  <a:pt x="1765318" y="1765318"/>
                </a:lnTo>
                <a:lnTo>
                  <a:pt x="0" y="1765318"/>
                </a:lnTo>
                <a:lnTo>
                  <a:pt x="0" y="0"/>
                </a:lnTo>
                <a:close/>
              </a:path>
            </a:pathLst>
          </a:custGeom>
          <a:blipFill>
            <a:blip r:embed="rId3"/>
            <a:stretch>
              <a:fillRect l="0" t="0" r="0" b="0"/>
            </a:stretch>
          </a:blipFill>
        </p:spPr>
      </p:sp>
      <p:sp>
        <p:nvSpPr>
          <p:cNvPr name="Freeform 3" id="3"/>
          <p:cNvSpPr/>
          <p:nvPr/>
        </p:nvSpPr>
        <p:spPr>
          <a:xfrm flipH="false" flipV="false" rot="0">
            <a:off x="-1483608" y="8908955"/>
            <a:ext cx="2967217" cy="2967217"/>
          </a:xfrm>
          <a:custGeom>
            <a:avLst/>
            <a:gdLst/>
            <a:ahLst/>
            <a:cxnLst/>
            <a:rect r="r" b="b" t="t" l="l"/>
            <a:pathLst>
              <a:path h="2967217" w="2967217">
                <a:moveTo>
                  <a:pt x="0" y="0"/>
                </a:moveTo>
                <a:lnTo>
                  <a:pt x="2967216" y="0"/>
                </a:lnTo>
                <a:lnTo>
                  <a:pt x="2967216" y="2967217"/>
                </a:lnTo>
                <a:lnTo>
                  <a:pt x="0" y="2967217"/>
                </a:lnTo>
                <a:lnTo>
                  <a:pt x="0" y="0"/>
                </a:lnTo>
                <a:close/>
              </a:path>
            </a:pathLst>
          </a:custGeom>
          <a:blipFill>
            <a:blip r:embed="rId3"/>
            <a:stretch>
              <a:fillRect l="0" t="0" r="0" b="0"/>
            </a:stretch>
          </a:blipFill>
        </p:spPr>
      </p:sp>
      <p:sp>
        <p:nvSpPr>
          <p:cNvPr name="Freeform 4" id="4"/>
          <p:cNvSpPr/>
          <p:nvPr/>
        </p:nvSpPr>
        <p:spPr>
          <a:xfrm flipH="false" flipV="false" rot="0">
            <a:off x="16457375" y="9076075"/>
            <a:ext cx="3369168" cy="3369168"/>
          </a:xfrm>
          <a:custGeom>
            <a:avLst/>
            <a:gdLst/>
            <a:ahLst/>
            <a:cxnLst/>
            <a:rect r="r" b="b" t="t" l="l"/>
            <a:pathLst>
              <a:path h="3369168" w="3369168">
                <a:moveTo>
                  <a:pt x="0" y="0"/>
                </a:moveTo>
                <a:lnTo>
                  <a:pt x="3369168" y="0"/>
                </a:lnTo>
                <a:lnTo>
                  <a:pt x="3369168" y="3369168"/>
                </a:lnTo>
                <a:lnTo>
                  <a:pt x="0" y="33691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0" y="0"/>
            <a:ext cx="18288000" cy="213007"/>
            <a:chOff x="0" y="0"/>
            <a:chExt cx="4816593" cy="56101"/>
          </a:xfrm>
        </p:grpSpPr>
        <p:sp>
          <p:nvSpPr>
            <p:cNvPr name="Freeform 6" id="6"/>
            <p:cNvSpPr/>
            <p:nvPr/>
          </p:nvSpPr>
          <p:spPr>
            <a:xfrm flipH="false" flipV="false" rot="0">
              <a:off x="0" y="0"/>
              <a:ext cx="4816592" cy="56101"/>
            </a:xfrm>
            <a:custGeom>
              <a:avLst/>
              <a:gdLst/>
              <a:ahLst/>
              <a:cxnLst/>
              <a:rect r="r" b="b" t="t" l="l"/>
              <a:pathLst>
                <a:path h="56101" w="4816592">
                  <a:moveTo>
                    <a:pt x="0" y="0"/>
                  </a:moveTo>
                  <a:lnTo>
                    <a:pt x="4816592" y="0"/>
                  </a:lnTo>
                  <a:lnTo>
                    <a:pt x="4816592" y="56101"/>
                  </a:lnTo>
                  <a:lnTo>
                    <a:pt x="0" y="56101"/>
                  </a:lnTo>
                  <a:close/>
                </a:path>
              </a:pathLst>
            </a:custGeom>
            <a:solidFill>
              <a:srgbClr val="182D88"/>
            </a:solidFill>
          </p:spPr>
        </p:sp>
        <p:sp>
          <p:nvSpPr>
            <p:cNvPr name="TextBox 7" id="7"/>
            <p:cNvSpPr txBox="true"/>
            <p:nvPr/>
          </p:nvSpPr>
          <p:spPr>
            <a:xfrm>
              <a:off x="0" y="-47625"/>
              <a:ext cx="4816593" cy="103726"/>
            </a:xfrm>
            <a:prstGeom prst="rect">
              <a:avLst/>
            </a:prstGeom>
          </p:spPr>
          <p:txBody>
            <a:bodyPr anchor="ctr" rtlCol="false" tIns="50800" lIns="50800" bIns="50800" rIns="50800"/>
            <a:lstStyle/>
            <a:p>
              <a:pPr algn="ctr">
                <a:lnSpc>
                  <a:spcPts val="3151"/>
                </a:lnSpc>
              </a:pPr>
            </a:p>
          </p:txBody>
        </p:sp>
      </p:grpSp>
      <p:sp>
        <p:nvSpPr>
          <p:cNvPr name="Freeform 8" id="8"/>
          <p:cNvSpPr/>
          <p:nvPr/>
        </p:nvSpPr>
        <p:spPr>
          <a:xfrm flipH="false" flipV="false" rot="0">
            <a:off x="1704359" y="1377118"/>
            <a:ext cx="14879282" cy="8122577"/>
          </a:xfrm>
          <a:custGeom>
            <a:avLst/>
            <a:gdLst/>
            <a:ahLst/>
            <a:cxnLst/>
            <a:rect r="r" b="b" t="t" l="l"/>
            <a:pathLst>
              <a:path h="8122577" w="14879282">
                <a:moveTo>
                  <a:pt x="0" y="0"/>
                </a:moveTo>
                <a:lnTo>
                  <a:pt x="14879282" y="0"/>
                </a:lnTo>
                <a:lnTo>
                  <a:pt x="14879282" y="8122577"/>
                </a:lnTo>
                <a:lnTo>
                  <a:pt x="0" y="8122577"/>
                </a:lnTo>
                <a:lnTo>
                  <a:pt x="0" y="0"/>
                </a:lnTo>
                <a:close/>
              </a:path>
            </a:pathLst>
          </a:custGeom>
          <a:blipFill>
            <a:blip r:embed="rId6"/>
            <a:stretch>
              <a:fillRect l="0" t="0" r="0" b="0"/>
            </a:stretch>
          </a:blipFill>
        </p:spPr>
      </p:sp>
      <p:sp>
        <p:nvSpPr>
          <p:cNvPr name="TextBox 9" id="9"/>
          <p:cNvSpPr txBox="true"/>
          <p:nvPr/>
        </p:nvSpPr>
        <p:spPr>
          <a:xfrm rot="0">
            <a:off x="1028700" y="393554"/>
            <a:ext cx="16213017" cy="784870"/>
          </a:xfrm>
          <a:prstGeom prst="rect">
            <a:avLst/>
          </a:prstGeom>
        </p:spPr>
        <p:txBody>
          <a:bodyPr anchor="t" rtlCol="false" tIns="0" lIns="0" bIns="0" rIns="0">
            <a:spAutoFit/>
          </a:bodyPr>
          <a:lstStyle/>
          <a:p>
            <a:pPr algn="ctr">
              <a:lnSpc>
                <a:spcPts val="5820"/>
              </a:lnSpc>
            </a:pPr>
            <a:r>
              <a:rPr lang="en-US" sz="6000" spc="-60">
                <a:solidFill>
                  <a:srgbClr val="2657C1"/>
                </a:solidFill>
                <a:latin typeface="Etna Sans Serif"/>
                <a:ea typeface="Etna Sans Serif"/>
                <a:cs typeface="Etna Sans Serif"/>
                <a:sym typeface="Etna Sans Serif"/>
              </a:rPr>
              <a:t>Applying the Information Security Lifecycle</a:t>
            </a:r>
          </a:p>
        </p:txBody>
      </p:sp>
      <p:sp>
        <p:nvSpPr>
          <p:cNvPr name="TextBox 10" id="10"/>
          <p:cNvSpPr txBox="true"/>
          <p:nvPr/>
        </p:nvSpPr>
        <p:spPr>
          <a:xfrm rot="0">
            <a:off x="14003279" y="9645804"/>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1028700" y="2160669"/>
            <a:ext cx="16230600" cy="0"/>
          </a:xfrm>
          <a:prstGeom prst="line">
            <a:avLst/>
          </a:prstGeom>
          <a:ln cap="rnd" w="9525">
            <a:solidFill>
              <a:srgbClr val="182D88"/>
            </a:solidFill>
            <a:prstDash val="solid"/>
            <a:headEnd type="none" len="sm" w="sm"/>
            <a:tailEnd type="none" len="sm" w="sm"/>
          </a:ln>
        </p:spPr>
      </p:sp>
      <p:grpSp>
        <p:nvGrpSpPr>
          <p:cNvPr name="Group 3" id="3"/>
          <p:cNvGrpSpPr/>
          <p:nvPr/>
        </p:nvGrpSpPr>
        <p:grpSpPr>
          <a:xfrm rot="0">
            <a:off x="1028700" y="3472645"/>
            <a:ext cx="4443932" cy="6742696"/>
            <a:chOff x="0" y="0"/>
            <a:chExt cx="1141825" cy="1732470"/>
          </a:xfrm>
        </p:grpSpPr>
        <p:sp>
          <p:nvSpPr>
            <p:cNvPr name="Freeform 4" id="4"/>
            <p:cNvSpPr/>
            <p:nvPr/>
          </p:nvSpPr>
          <p:spPr>
            <a:xfrm flipH="false" flipV="false" rot="0">
              <a:off x="0" y="0"/>
              <a:ext cx="1141825" cy="1732470"/>
            </a:xfrm>
            <a:custGeom>
              <a:avLst/>
              <a:gdLst/>
              <a:ahLst/>
              <a:cxnLst/>
              <a:rect r="r" b="b" t="t" l="l"/>
              <a:pathLst>
                <a:path h="1732470" w="1141825">
                  <a:moveTo>
                    <a:pt x="74912" y="0"/>
                  </a:moveTo>
                  <a:lnTo>
                    <a:pt x="1066914" y="0"/>
                  </a:lnTo>
                  <a:cubicBezTo>
                    <a:pt x="1086781" y="0"/>
                    <a:pt x="1105836" y="7892"/>
                    <a:pt x="1119884" y="21941"/>
                  </a:cubicBezTo>
                  <a:cubicBezTo>
                    <a:pt x="1133933" y="35990"/>
                    <a:pt x="1141825" y="55044"/>
                    <a:pt x="1141825" y="74912"/>
                  </a:cubicBezTo>
                  <a:lnTo>
                    <a:pt x="1141825" y="1657559"/>
                  </a:lnTo>
                  <a:cubicBezTo>
                    <a:pt x="1141825" y="1677426"/>
                    <a:pt x="1133933" y="1696481"/>
                    <a:pt x="1119884" y="1710529"/>
                  </a:cubicBezTo>
                  <a:cubicBezTo>
                    <a:pt x="1105836" y="1724578"/>
                    <a:pt x="1086781" y="1732470"/>
                    <a:pt x="1066914" y="1732470"/>
                  </a:cubicBezTo>
                  <a:lnTo>
                    <a:pt x="74912" y="1732470"/>
                  </a:lnTo>
                  <a:cubicBezTo>
                    <a:pt x="33539" y="1732470"/>
                    <a:pt x="0" y="1698931"/>
                    <a:pt x="0" y="1657559"/>
                  </a:cubicBezTo>
                  <a:lnTo>
                    <a:pt x="0" y="74912"/>
                  </a:lnTo>
                  <a:cubicBezTo>
                    <a:pt x="0" y="55044"/>
                    <a:pt x="7892" y="35990"/>
                    <a:pt x="21941" y="21941"/>
                  </a:cubicBezTo>
                  <a:cubicBezTo>
                    <a:pt x="35990" y="7892"/>
                    <a:pt x="55044" y="0"/>
                    <a:pt x="74912" y="0"/>
                  </a:cubicBezTo>
                  <a:close/>
                </a:path>
              </a:pathLst>
            </a:custGeom>
            <a:solidFill>
              <a:srgbClr val="097C5C"/>
            </a:solidFill>
          </p:spPr>
        </p:sp>
        <p:sp>
          <p:nvSpPr>
            <p:cNvPr name="TextBox 5" id="5"/>
            <p:cNvSpPr txBox="true"/>
            <p:nvPr/>
          </p:nvSpPr>
          <p:spPr>
            <a:xfrm>
              <a:off x="0" y="-76200"/>
              <a:ext cx="1141825" cy="1808670"/>
            </a:xfrm>
            <a:prstGeom prst="rect">
              <a:avLst/>
            </a:prstGeom>
          </p:spPr>
          <p:txBody>
            <a:bodyPr anchor="ctr" rtlCol="false" tIns="53046" lIns="53046" bIns="53046" rIns="53046"/>
            <a:lstStyle/>
            <a:p>
              <a:pPr algn="ctr">
                <a:lnSpc>
                  <a:spcPts val="3451"/>
                </a:lnSpc>
              </a:pPr>
            </a:p>
          </p:txBody>
        </p:sp>
      </p:grpSp>
      <p:grpSp>
        <p:nvGrpSpPr>
          <p:cNvPr name="Group 6" id="6"/>
          <p:cNvGrpSpPr/>
          <p:nvPr/>
        </p:nvGrpSpPr>
        <p:grpSpPr>
          <a:xfrm rot="0">
            <a:off x="4420769" y="3048577"/>
            <a:ext cx="1362814" cy="136281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66675"/>
              <a:ext cx="660400" cy="803275"/>
            </a:xfrm>
            <a:prstGeom prst="rect">
              <a:avLst/>
            </a:prstGeom>
          </p:spPr>
          <p:txBody>
            <a:bodyPr anchor="ctr" rtlCol="false" tIns="50800" lIns="50800" bIns="50800" rIns="50800"/>
            <a:lstStyle/>
            <a:p>
              <a:pPr algn="ctr">
                <a:lnSpc>
                  <a:spcPts val="4233"/>
                </a:lnSpc>
              </a:pPr>
            </a:p>
          </p:txBody>
        </p:sp>
      </p:grpSp>
      <p:grpSp>
        <p:nvGrpSpPr>
          <p:cNvPr name="Group 9" id="9"/>
          <p:cNvGrpSpPr/>
          <p:nvPr/>
        </p:nvGrpSpPr>
        <p:grpSpPr>
          <a:xfrm rot="0">
            <a:off x="4572585" y="3200392"/>
            <a:ext cx="1059183" cy="105918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C5C"/>
            </a:solidFill>
          </p:spPr>
        </p:sp>
        <p:sp>
          <p:nvSpPr>
            <p:cNvPr name="TextBox 11" id="11"/>
            <p:cNvSpPr txBox="true"/>
            <p:nvPr/>
          </p:nvSpPr>
          <p:spPr>
            <a:xfrm>
              <a:off x="76200" y="-66675"/>
              <a:ext cx="660400" cy="803275"/>
            </a:xfrm>
            <a:prstGeom prst="rect">
              <a:avLst/>
            </a:prstGeom>
          </p:spPr>
          <p:txBody>
            <a:bodyPr anchor="ctr" rtlCol="false" tIns="50800" lIns="50800" bIns="50800" rIns="50800"/>
            <a:lstStyle/>
            <a:p>
              <a:pPr algn="ctr">
                <a:lnSpc>
                  <a:spcPts val="4233"/>
                </a:lnSpc>
              </a:pPr>
            </a:p>
          </p:txBody>
        </p:sp>
      </p:grpSp>
      <p:grpSp>
        <p:nvGrpSpPr>
          <p:cNvPr name="Group 12" id="12"/>
          <p:cNvGrpSpPr/>
          <p:nvPr/>
        </p:nvGrpSpPr>
        <p:grpSpPr>
          <a:xfrm rot="0">
            <a:off x="5935053" y="3733478"/>
            <a:ext cx="4655865" cy="5524822"/>
            <a:chOff x="0" y="0"/>
            <a:chExt cx="1157238" cy="1373221"/>
          </a:xfrm>
        </p:grpSpPr>
        <p:sp>
          <p:nvSpPr>
            <p:cNvPr name="Freeform 13" id="13"/>
            <p:cNvSpPr/>
            <p:nvPr/>
          </p:nvSpPr>
          <p:spPr>
            <a:xfrm flipH="false" flipV="false" rot="0">
              <a:off x="0" y="0"/>
              <a:ext cx="1157238" cy="1373222"/>
            </a:xfrm>
            <a:custGeom>
              <a:avLst/>
              <a:gdLst/>
              <a:ahLst/>
              <a:cxnLst/>
              <a:rect r="r" b="b" t="t" l="l"/>
              <a:pathLst>
                <a:path h="1373222" w="1157238">
                  <a:moveTo>
                    <a:pt x="71502" y="0"/>
                  </a:moveTo>
                  <a:lnTo>
                    <a:pt x="1085736" y="0"/>
                  </a:lnTo>
                  <a:cubicBezTo>
                    <a:pt x="1125226" y="0"/>
                    <a:pt x="1157238" y="32012"/>
                    <a:pt x="1157238" y="71502"/>
                  </a:cubicBezTo>
                  <a:lnTo>
                    <a:pt x="1157238" y="1301720"/>
                  </a:lnTo>
                  <a:cubicBezTo>
                    <a:pt x="1157238" y="1320683"/>
                    <a:pt x="1149705" y="1338870"/>
                    <a:pt x="1136296" y="1352279"/>
                  </a:cubicBezTo>
                  <a:cubicBezTo>
                    <a:pt x="1122886" y="1365688"/>
                    <a:pt x="1104700" y="1373222"/>
                    <a:pt x="1085736" y="1373222"/>
                  </a:cubicBezTo>
                  <a:lnTo>
                    <a:pt x="71502" y="1373222"/>
                  </a:lnTo>
                  <a:cubicBezTo>
                    <a:pt x="32012" y="1373222"/>
                    <a:pt x="0" y="1341209"/>
                    <a:pt x="0" y="1301720"/>
                  </a:cubicBezTo>
                  <a:lnTo>
                    <a:pt x="0" y="71502"/>
                  </a:lnTo>
                  <a:cubicBezTo>
                    <a:pt x="0" y="32012"/>
                    <a:pt x="32012" y="0"/>
                    <a:pt x="71502" y="0"/>
                  </a:cubicBezTo>
                  <a:close/>
                </a:path>
              </a:pathLst>
            </a:custGeom>
            <a:solidFill>
              <a:srgbClr val="182D88"/>
            </a:solidFill>
          </p:spPr>
        </p:sp>
        <p:sp>
          <p:nvSpPr>
            <p:cNvPr name="TextBox 14" id="14"/>
            <p:cNvSpPr txBox="true"/>
            <p:nvPr/>
          </p:nvSpPr>
          <p:spPr>
            <a:xfrm>
              <a:off x="0" y="-76200"/>
              <a:ext cx="1157238" cy="1449421"/>
            </a:xfrm>
            <a:prstGeom prst="rect">
              <a:avLst/>
            </a:prstGeom>
          </p:spPr>
          <p:txBody>
            <a:bodyPr anchor="ctr" rtlCol="false" tIns="53046" lIns="53046" bIns="53046" rIns="53046"/>
            <a:lstStyle/>
            <a:p>
              <a:pPr algn="ctr">
                <a:lnSpc>
                  <a:spcPts val="3451"/>
                </a:lnSpc>
              </a:pPr>
            </a:p>
          </p:txBody>
        </p:sp>
      </p:grpSp>
      <p:grpSp>
        <p:nvGrpSpPr>
          <p:cNvPr name="Group 15" id="15"/>
          <p:cNvGrpSpPr/>
          <p:nvPr/>
        </p:nvGrpSpPr>
        <p:grpSpPr>
          <a:xfrm rot="0">
            <a:off x="9435041" y="3048577"/>
            <a:ext cx="1408791" cy="14087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66675"/>
              <a:ext cx="660400" cy="803275"/>
            </a:xfrm>
            <a:prstGeom prst="rect">
              <a:avLst/>
            </a:prstGeom>
          </p:spPr>
          <p:txBody>
            <a:bodyPr anchor="ctr" rtlCol="false" tIns="50800" lIns="50800" bIns="50800" rIns="50800"/>
            <a:lstStyle/>
            <a:p>
              <a:pPr algn="ctr">
                <a:lnSpc>
                  <a:spcPts val="4233"/>
                </a:lnSpc>
              </a:pPr>
            </a:p>
          </p:txBody>
        </p:sp>
      </p:grpSp>
      <p:grpSp>
        <p:nvGrpSpPr>
          <p:cNvPr name="Group 18" id="18"/>
          <p:cNvGrpSpPr/>
          <p:nvPr/>
        </p:nvGrpSpPr>
        <p:grpSpPr>
          <a:xfrm rot="0">
            <a:off x="9591979" y="3205514"/>
            <a:ext cx="1094916" cy="109491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2D88"/>
            </a:solidFill>
          </p:spPr>
        </p:sp>
        <p:sp>
          <p:nvSpPr>
            <p:cNvPr name="TextBox 20" id="20"/>
            <p:cNvSpPr txBox="true"/>
            <p:nvPr/>
          </p:nvSpPr>
          <p:spPr>
            <a:xfrm>
              <a:off x="76200" y="-66675"/>
              <a:ext cx="660400" cy="803275"/>
            </a:xfrm>
            <a:prstGeom prst="rect">
              <a:avLst/>
            </a:prstGeom>
          </p:spPr>
          <p:txBody>
            <a:bodyPr anchor="ctr" rtlCol="false" tIns="50800" lIns="50800" bIns="50800" rIns="50800"/>
            <a:lstStyle/>
            <a:p>
              <a:pPr algn="ctr">
                <a:lnSpc>
                  <a:spcPts val="4233"/>
                </a:lnSpc>
              </a:pPr>
            </a:p>
          </p:txBody>
        </p:sp>
      </p:grpSp>
      <p:sp>
        <p:nvSpPr>
          <p:cNvPr name="TextBox 21" id="21"/>
          <p:cNvSpPr txBox="true"/>
          <p:nvPr/>
        </p:nvSpPr>
        <p:spPr>
          <a:xfrm rot="0">
            <a:off x="2061582" y="1292194"/>
            <a:ext cx="12070459" cy="653632"/>
          </a:xfrm>
          <a:prstGeom prst="rect">
            <a:avLst/>
          </a:prstGeom>
        </p:spPr>
        <p:txBody>
          <a:bodyPr anchor="t" rtlCol="false" tIns="0" lIns="0" bIns="0" rIns="0">
            <a:spAutoFit/>
          </a:bodyPr>
          <a:lstStyle/>
          <a:p>
            <a:pPr algn="l">
              <a:lnSpc>
                <a:spcPts val="4705"/>
              </a:lnSpc>
            </a:pPr>
            <a:r>
              <a:rPr lang="en-US" sz="4397" b="true">
                <a:solidFill>
                  <a:srgbClr val="182D88"/>
                </a:solidFill>
                <a:latin typeface="Poppins Bold"/>
                <a:ea typeface="Poppins Bold"/>
                <a:cs typeface="Poppins Bold"/>
                <a:sym typeface="Poppins Bold"/>
              </a:rPr>
              <a:t>Best Practices and Common Challenges</a:t>
            </a:r>
          </a:p>
        </p:txBody>
      </p:sp>
      <p:sp>
        <p:nvSpPr>
          <p:cNvPr name="Freeform 22" id="22"/>
          <p:cNvSpPr/>
          <p:nvPr/>
        </p:nvSpPr>
        <p:spPr>
          <a:xfrm flipH="false" flipV="false" rot="0">
            <a:off x="13849293" y="1282669"/>
            <a:ext cx="565496" cy="692702"/>
          </a:xfrm>
          <a:custGeom>
            <a:avLst/>
            <a:gdLst/>
            <a:ahLst/>
            <a:cxnLst/>
            <a:rect r="r" b="b" t="t" l="l"/>
            <a:pathLst>
              <a:path h="692702" w="565496">
                <a:moveTo>
                  <a:pt x="0" y="0"/>
                </a:moveTo>
                <a:lnTo>
                  <a:pt x="565496" y="0"/>
                </a:lnTo>
                <a:lnTo>
                  <a:pt x="565496" y="692701"/>
                </a:lnTo>
                <a:lnTo>
                  <a:pt x="0" y="692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230883"/>
            <a:ext cx="810364" cy="737183"/>
            <a:chOff x="0" y="0"/>
            <a:chExt cx="205622" cy="187053"/>
          </a:xfrm>
        </p:grpSpPr>
        <p:sp>
          <p:nvSpPr>
            <p:cNvPr name="Freeform 24" id="24"/>
            <p:cNvSpPr/>
            <p:nvPr/>
          </p:nvSpPr>
          <p:spPr>
            <a:xfrm flipH="false" flipV="false" rot="0">
              <a:off x="0" y="0"/>
              <a:ext cx="205622" cy="187053"/>
            </a:xfrm>
            <a:custGeom>
              <a:avLst/>
              <a:gdLst/>
              <a:ahLst/>
              <a:cxnLst/>
              <a:rect r="r" b="b" t="t" l="l"/>
              <a:pathLst>
                <a:path h="187053" w="205622">
                  <a:moveTo>
                    <a:pt x="93526" y="0"/>
                  </a:moveTo>
                  <a:lnTo>
                    <a:pt x="112095" y="0"/>
                  </a:lnTo>
                  <a:cubicBezTo>
                    <a:pt x="136900" y="0"/>
                    <a:pt x="160689" y="9854"/>
                    <a:pt x="178229" y="27393"/>
                  </a:cubicBezTo>
                  <a:cubicBezTo>
                    <a:pt x="195768" y="44933"/>
                    <a:pt x="205622" y="68722"/>
                    <a:pt x="205622" y="93526"/>
                  </a:cubicBezTo>
                  <a:lnTo>
                    <a:pt x="205622" y="93526"/>
                  </a:lnTo>
                  <a:cubicBezTo>
                    <a:pt x="205622" y="118331"/>
                    <a:pt x="195768" y="142120"/>
                    <a:pt x="178229" y="159660"/>
                  </a:cubicBezTo>
                  <a:cubicBezTo>
                    <a:pt x="160689" y="177199"/>
                    <a:pt x="136900" y="187053"/>
                    <a:pt x="112095" y="187053"/>
                  </a:cubicBezTo>
                  <a:lnTo>
                    <a:pt x="93526" y="187053"/>
                  </a:lnTo>
                  <a:cubicBezTo>
                    <a:pt x="68722" y="187053"/>
                    <a:pt x="44933" y="177199"/>
                    <a:pt x="27393" y="159660"/>
                  </a:cubicBezTo>
                  <a:cubicBezTo>
                    <a:pt x="9854" y="142120"/>
                    <a:pt x="0" y="118331"/>
                    <a:pt x="0" y="93526"/>
                  </a:cubicBezTo>
                  <a:lnTo>
                    <a:pt x="0" y="93526"/>
                  </a:lnTo>
                  <a:cubicBezTo>
                    <a:pt x="0" y="68722"/>
                    <a:pt x="9854" y="44933"/>
                    <a:pt x="27393" y="27393"/>
                  </a:cubicBezTo>
                  <a:cubicBezTo>
                    <a:pt x="44933" y="9854"/>
                    <a:pt x="68722" y="0"/>
                    <a:pt x="93526" y="0"/>
                  </a:cubicBezTo>
                  <a:close/>
                </a:path>
              </a:pathLst>
            </a:custGeom>
            <a:solidFill>
              <a:srgbClr val="182D88"/>
            </a:solidFill>
            <a:ln cap="sq">
              <a:noFill/>
              <a:prstDash val="solid"/>
              <a:miter/>
            </a:ln>
          </p:spPr>
        </p:sp>
        <p:sp>
          <p:nvSpPr>
            <p:cNvPr name="TextBox 25" id="25"/>
            <p:cNvSpPr txBox="true"/>
            <p:nvPr/>
          </p:nvSpPr>
          <p:spPr>
            <a:xfrm>
              <a:off x="0" y="0"/>
              <a:ext cx="205622" cy="187053"/>
            </a:xfrm>
            <a:prstGeom prst="rect">
              <a:avLst/>
            </a:prstGeom>
          </p:spPr>
          <p:txBody>
            <a:bodyPr anchor="ctr" rtlCol="false" tIns="50800" lIns="50800" bIns="50800" rIns="50800"/>
            <a:lstStyle/>
            <a:p>
              <a:pPr algn="ctr">
                <a:lnSpc>
                  <a:spcPts val="2904"/>
                </a:lnSpc>
              </a:pPr>
              <a:r>
                <a:rPr lang="en-US" b="true" sz="2617">
                  <a:solidFill>
                    <a:srgbClr val="FFFFFF"/>
                  </a:solidFill>
                  <a:latin typeface="Poppins Bold"/>
                  <a:ea typeface="Poppins Bold"/>
                  <a:cs typeface="Poppins Bold"/>
                  <a:sym typeface="Poppins Bold"/>
                </a:rPr>
                <a:t>2/2</a:t>
              </a:r>
            </a:p>
          </p:txBody>
        </p:sp>
      </p:grpSp>
      <p:sp>
        <p:nvSpPr>
          <p:cNvPr name="Freeform 26" id="26"/>
          <p:cNvSpPr/>
          <p:nvPr/>
        </p:nvSpPr>
        <p:spPr>
          <a:xfrm flipH="false" flipV="false" rot="0">
            <a:off x="11415734" y="2508331"/>
            <a:ext cx="5843566" cy="7214279"/>
          </a:xfrm>
          <a:custGeom>
            <a:avLst/>
            <a:gdLst/>
            <a:ahLst/>
            <a:cxnLst/>
            <a:rect r="r" b="b" t="t" l="l"/>
            <a:pathLst>
              <a:path h="7214279" w="5843566">
                <a:moveTo>
                  <a:pt x="0" y="0"/>
                </a:moveTo>
                <a:lnTo>
                  <a:pt x="5843566" y="0"/>
                </a:lnTo>
                <a:lnTo>
                  <a:pt x="5843566" y="7214279"/>
                </a:lnTo>
                <a:lnTo>
                  <a:pt x="0" y="72142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1433882" y="4145275"/>
            <a:ext cx="3767623" cy="5680140"/>
          </a:xfrm>
          <a:prstGeom prst="rect">
            <a:avLst/>
          </a:prstGeom>
        </p:spPr>
        <p:txBody>
          <a:bodyPr anchor="t" rtlCol="false" tIns="0" lIns="0" bIns="0" rIns="0">
            <a:spAutoFit/>
          </a:bodyPr>
          <a:lstStyle/>
          <a:p>
            <a:pPr algn="l" marL="442374" indent="-221187" lvl="1">
              <a:lnSpc>
                <a:spcPts val="3483"/>
              </a:lnSpc>
              <a:buFont typeface="Arial"/>
              <a:buChar char="•"/>
            </a:pPr>
            <a:r>
              <a:rPr lang="en-US" sz="2048">
                <a:solidFill>
                  <a:srgbClr val="FFFFFF"/>
                </a:solidFill>
                <a:latin typeface="Poppins"/>
                <a:ea typeface="Poppins"/>
                <a:cs typeface="Poppins"/>
                <a:sym typeface="Poppins"/>
              </a:rPr>
              <a:t>C</a:t>
            </a:r>
            <a:r>
              <a:rPr lang="en-US" sz="2048">
                <a:solidFill>
                  <a:srgbClr val="FFFFFF"/>
                </a:solidFill>
                <a:latin typeface="Poppins"/>
                <a:ea typeface="Poppins"/>
                <a:cs typeface="Poppins"/>
                <a:sym typeface="Poppins"/>
              </a:rPr>
              <a:t>onduct regular risk assessments.</a:t>
            </a:r>
          </a:p>
          <a:p>
            <a:pPr algn="l" marL="442374" indent="-221187" lvl="1">
              <a:lnSpc>
                <a:spcPts val="3483"/>
              </a:lnSpc>
              <a:buFont typeface="Arial"/>
              <a:buChar char="•"/>
            </a:pPr>
            <a:r>
              <a:rPr lang="en-US" sz="2048">
                <a:solidFill>
                  <a:srgbClr val="FFFFFF"/>
                </a:solidFill>
                <a:latin typeface="Poppins"/>
                <a:ea typeface="Poppins"/>
                <a:cs typeface="Poppins"/>
                <a:sym typeface="Poppins"/>
              </a:rPr>
              <a:t>Keep systems updated.</a:t>
            </a:r>
          </a:p>
          <a:p>
            <a:pPr algn="l" marL="442374" indent="-221187" lvl="1">
              <a:lnSpc>
                <a:spcPts val="3483"/>
              </a:lnSpc>
              <a:buFont typeface="Arial"/>
              <a:buChar char="•"/>
            </a:pPr>
            <a:r>
              <a:rPr lang="en-US" sz="2048">
                <a:solidFill>
                  <a:srgbClr val="FFFFFF"/>
                </a:solidFill>
                <a:latin typeface="Poppins"/>
                <a:ea typeface="Poppins"/>
                <a:cs typeface="Poppins"/>
                <a:sym typeface="Poppins"/>
              </a:rPr>
              <a:t>Train employees regularly.</a:t>
            </a:r>
          </a:p>
          <a:p>
            <a:pPr algn="l" marL="442374" indent="-221187" lvl="1">
              <a:lnSpc>
                <a:spcPts val="3483"/>
              </a:lnSpc>
              <a:buFont typeface="Arial"/>
              <a:buChar char="•"/>
            </a:pPr>
            <a:r>
              <a:rPr lang="en-US" sz="2048">
                <a:solidFill>
                  <a:srgbClr val="FFFFFF"/>
                </a:solidFill>
                <a:latin typeface="Poppins"/>
                <a:ea typeface="Poppins"/>
                <a:cs typeface="Poppins"/>
                <a:sym typeface="Poppins"/>
              </a:rPr>
              <a:t>Implement Multi-Factor Authentication (MFA).</a:t>
            </a:r>
          </a:p>
          <a:p>
            <a:pPr algn="l" marL="442374" indent="-221187" lvl="1">
              <a:lnSpc>
                <a:spcPts val="3483"/>
              </a:lnSpc>
              <a:buFont typeface="Arial"/>
              <a:buChar char="•"/>
            </a:pPr>
            <a:r>
              <a:rPr lang="en-US" sz="2048">
                <a:solidFill>
                  <a:srgbClr val="FFFFFF"/>
                </a:solidFill>
                <a:latin typeface="Poppins"/>
                <a:ea typeface="Poppins"/>
                <a:cs typeface="Poppins"/>
                <a:sym typeface="Poppins"/>
              </a:rPr>
              <a:t>Perform regular backups.</a:t>
            </a:r>
          </a:p>
          <a:p>
            <a:pPr algn="l" marL="442374" indent="-221187" lvl="1">
              <a:lnSpc>
                <a:spcPts val="3483"/>
              </a:lnSpc>
              <a:buFont typeface="Arial"/>
              <a:buChar char="•"/>
            </a:pPr>
            <a:r>
              <a:rPr lang="en-US" sz="2048">
                <a:solidFill>
                  <a:srgbClr val="FFFFFF"/>
                </a:solidFill>
                <a:latin typeface="Poppins"/>
                <a:ea typeface="Poppins"/>
                <a:cs typeface="Poppins"/>
                <a:sym typeface="Poppins"/>
              </a:rPr>
              <a:t>Develop an incident response plan.</a:t>
            </a:r>
          </a:p>
          <a:p>
            <a:pPr algn="l" marL="442374" indent="-221187" lvl="1">
              <a:lnSpc>
                <a:spcPts val="3483"/>
              </a:lnSpc>
              <a:buFont typeface="Arial"/>
              <a:buChar char="•"/>
            </a:pPr>
            <a:r>
              <a:rPr lang="en-US" sz="2048">
                <a:solidFill>
                  <a:srgbClr val="FFFFFF"/>
                </a:solidFill>
                <a:latin typeface="Poppins"/>
                <a:ea typeface="Poppins"/>
                <a:cs typeface="Poppins"/>
                <a:sym typeface="Poppins"/>
              </a:rPr>
              <a:t>Monitor systems continuously.</a:t>
            </a:r>
          </a:p>
          <a:p>
            <a:pPr algn="l">
              <a:lnSpc>
                <a:spcPts val="3483"/>
              </a:lnSpc>
            </a:pPr>
          </a:p>
        </p:txBody>
      </p:sp>
      <p:sp>
        <p:nvSpPr>
          <p:cNvPr name="TextBox 28" id="28"/>
          <p:cNvSpPr txBox="true"/>
          <p:nvPr/>
        </p:nvSpPr>
        <p:spPr>
          <a:xfrm rot="0">
            <a:off x="4740375" y="3282145"/>
            <a:ext cx="723603" cy="705177"/>
          </a:xfrm>
          <a:prstGeom prst="rect">
            <a:avLst/>
          </a:prstGeom>
        </p:spPr>
        <p:txBody>
          <a:bodyPr anchor="t" rtlCol="false" tIns="0" lIns="0" bIns="0" rIns="0">
            <a:spAutoFit/>
          </a:bodyPr>
          <a:lstStyle/>
          <a:p>
            <a:pPr algn="ctr">
              <a:lnSpc>
                <a:spcPts val="5847"/>
              </a:lnSpc>
            </a:pPr>
            <a:r>
              <a:rPr lang="en-US" sz="3439">
                <a:solidFill>
                  <a:srgbClr val="FFFFFF"/>
                </a:solidFill>
                <a:latin typeface="Poppins"/>
                <a:ea typeface="Poppins"/>
                <a:cs typeface="Poppins"/>
                <a:sym typeface="Poppins"/>
              </a:rPr>
              <a:t>01</a:t>
            </a:r>
          </a:p>
        </p:txBody>
      </p:sp>
      <p:sp>
        <p:nvSpPr>
          <p:cNvPr name="TextBox 29" id="29"/>
          <p:cNvSpPr txBox="true"/>
          <p:nvPr/>
        </p:nvSpPr>
        <p:spPr>
          <a:xfrm rot="0">
            <a:off x="1433882" y="3711745"/>
            <a:ext cx="2628171" cy="474955"/>
          </a:xfrm>
          <a:prstGeom prst="rect">
            <a:avLst/>
          </a:prstGeom>
        </p:spPr>
        <p:txBody>
          <a:bodyPr anchor="t" rtlCol="false" tIns="0" lIns="0" bIns="0" rIns="0">
            <a:spAutoFit/>
          </a:bodyPr>
          <a:lstStyle/>
          <a:p>
            <a:pPr algn="l">
              <a:lnSpc>
                <a:spcPts val="3746"/>
              </a:lnSpc>
            </a:pPr>
            <a:r>
              <a:rPr lang="en-US" sz="2676">
                <a:solidFill>
                  <a:srgbClr val="FFFFFF"/>
                </a:solidFill>
                <a:latin typeface="Poppins"/>
                <a:ea typeface="Poppins"/>
                <a:cs typeface="Poppins"/>
                <a:sym typeface="Poppins"/>
              </a:rPr>
              <a:t>Best Pr</a:t>
            </a:r>
            <a:r>
              <a:rPr lang="en-US" sz="2676">
                <a:solidFill>
                  <a:srgbClr val="FFFFFF"/>
                </a:solidFill>
                <a:latin typeface="Poppins"/>
                <a:ea typeface="Poppins"/>
                <a:cs typeface="Poppins"/>
                <a:sym typeface="Poppins"/>
              </a:rPr>
              <a:t>actices</a:t>
            </a:r>
          </a:p>
        </p:txBody>
      </p:sp>
      <p:sp>
        <p:nvSpPr>
          <p:cNvPr name="TextBox 30" id="30"/>
          <p:cNvSpPr txBox="true"/>
          <p:nvPr/>
        </p:nvSpPr>
        <p:spPr>
          <a:xfrm rot="0">
            <a:off x="6516505" y="5077948"/>
            <a:ext cx="3996939" cy="3376769"/>
          </a:xfrm>
          <a:prstGeom prst="rect">
            <a:avLst/>
          </a:prstGeom>
        </p:spPr>
        <p:txBody>
          <a:bodyPr anchor="t" rtlCol="false" tIns="0" lIns="0" bIns="0" rIns="0">
            <a:spAutoFit/>
          </a:bodyPr>
          <a:lstStyle/>
          <a:p>
            <a:pPr algn="just" marL="426116" indent="-213058" lvl="1">
              <a:lnSpc>
                <a:spcPts val="3355"/>
              </a:lnSpc>
              <a:buFont typeface="Arial"/>
              <a:buChar char="•"/>
            </a:pPr>
            <a:r>
              <a:rPr lang="en-US" sz="1973">
                <a:solidFill>
                  <a:srgbClr val="FFFFFF"/>
                </a:solidFill>
                <a:latin typeface="Poppins"/>
                <a:ea typeface="Poppins"/>
                <a:cs typeface="Poppins"/>
                <a:sym typeface="Poppins"/>
              </a:rPr>
              <a:t>Ra</a:t>
            </a:r>
            <a:r>
              <a:rPr lang="en-US" sz="1973">
                <a:solidFill>
                  <a:srgbClr val="FFFFFF"/>
                </a:solidFill>
                <a:latin typeface="Poppins"/>
                <a:ea typeface="Poppins"/>
                <a:cs typeface="Poppins"/>
                <a:sym typeface="Poppins"/>
              </a:rPr>
              <a:t>pidly evolving cyber threats</a:t>
            </a:r>
          </a:p>
          <a:p>
            <a:pPr algn="just" marL="426116" indent="-213058" lvl="1">
              <a:lnSpc>
                <a:spcPts val="3355"/>
              </a:lnSpc>
              <a:buFont typeface="Arial"/>
              <a:buChar char="•"/>
            </a:pPr>
            <a:r>
              <a:rPr lang="en-US" sz="1973">
                <a:solidFill>
                  <a:srgbClr val="FFFFFF"/>
                </a:solidFill>
                <a:latin typeface="Poppins"/>
                <a:ea typeface="Poppins"/>
                <a:cs typeface="Poppins"/>
                <a:sym typeface="Poppins"/>
              </a:rPr>
              <a:t>Human error</a:t>
            </a:r>
          </a:p>
          <a:p>
            <a:pPr algn="just" marL="426116" indent="-213058" lvl="1">
              <a:lnSpc>
                <a:spcPts val="3355"/>
              </a:lnSpc>
              <a:buFont typeface="Arial"/>
              <a:buChar char="•"/>
            </a:pPr>
            <a:r>
              <a:rPr lang="en-US" sz="1973">
                <a:solidFill>
                  <a:srgbClr val="FFFFFF"/>
                </a:solidFill>
                <a:latin typeface="Poppins"/>
                <a:ea typeface="Poppins"/>
                <a:cs typeface="Poppins"/>
                <a:sym typeface="Poppins"/>
              </a:rPr>
              <a:t>Insider attacks</a:t>
            </a:r>
          </a:p>
          <a:p>
            <a:pPr algn="just" marL="426116" indent="-213058" lvl="1">
              <a:lnSpc>
                <a:spcPts val="3355"/>
              </a:lnSpc>
              <a:buFont typeface="Arial"/>
              <a:buChar char="•"/>
            </a:pPr>
            <a:r>
              <a:rPr lang="en-US" sz="1973">
                <a:solidFill>
                  <a:srgbClr val="FFFFFF"/>
                </a:solidFill>
                <a:latin typeface="Poppins"/>
                <a:ea typeface="Poppins"/>
                <a:cs typeface="Poppins"/>
                <a:sym typeface="Poppins"/>
              </a:rPr>
              <a:t>Budget limitations</a:t>
            </a:r>
          </a:p>
          <a:p>
            <a:pPr algn="just" marL="426116" indent="-213058" lvl="1">
              <a:lnSpc>
                <a:spcPts val="3355"/>
              </a:lnSpc>
              <a:buFont typeface="Arial"/>
              <a:buChar char="•"/>
            </a:pPr>
            <a:r>
              <a:rPr lang="en-US" sz="1973">
                <a:solidFill>
                  <a:srgbClr val="FFFFFF"/>
                </a:solidFill>
                <a:latin typeface="Poppins"/>
                <a:ea typeface="Poppins"/>
                <a:cs typeface="Poppins"/>
                <a:sym typeface="Poppins"/>
              </a:rPr>
              <a:t>Legacy systems</a:t>
            </a:r>
          </a:p>
          <a:p>
            <a:pPr algn="just" marL="426116" indent="-213058" lvl="1">
              <a:lnSpc>
                <a:spcPts val="3355"/>
              </a:lnSpc>
              <a:buFont typeface="Arial"/>
              <a:buChar char="•"/>
            </a:pPr>
            <a:r>
              <a:rPr lang="en-US" sz="1973">
                <a:solidFill>
                  <a:srgbClr val="FFFFFF"/>
                </a:solidFill>
                <a:latin typeface="Poppins"/>
                <a:ea typeface="Poppins"/>
                <a:cs typeface="Poppins"/>
                <a:sym typeface="Poppins"/>
              </a:rPr>
              <a:t>Regulatory compliance</a:t>
            </a:r>
          </a:p>
          <a:p>
            <a:pPr algn="just">
              <a:lnSpc>
                <a:spcPts val="3355"/>
              </a:lnSpc>
            </a:pPr>
          </a:p>
        </p:txBody>
      </p:sp>
      <p:sp>
        <p:nvSpPr>
          <p:cNvPr name="TextBox 31" id="31"/>
          <p:cNvSpPr txBox="true"/>
          <p:nvPr/>
        </p:nvSpPr>
        <p:spPr>
          <a:xfrm rot="0">
            <a:off x="9765429" y="3286927"/>
            <a:ext cx="748015" cy="732066"/>
          </a:xfrm>
          <a:prstGeom prst="rect">
            <a:avLst/>
          </a:prstGeom>
        </p:spPr>
        <p:txBody>
          <a:bodyPr anchor="t" rtlCol="false" tIns="0" lIns="0" bIns="0" rIns="0">
            <a:spAutoFit/>
          </a:bodyPr>
          <a:lstStyle/>
          <a:p>
            <a:pPr algn="ctr">
              <a:lnSpc>
                <a:spcPts val="6044"/>
              </a:lnSpc>
            </a:pPr>
            <a:r>
              <a:rPr lang="en-US" sz="3555">
                <a:solidFill>
                  <a:srgbClr val="FFFFFF"/>
                </a:solidFill>
                <a:latin typeface="Poppins"/>
                <a:ea typeface="Poppins"/>
                <a:cs typeface="Poppins"/>
                <a:sym typeface="Poppins"/>
              </a:rPr>
              <a:t>02</a:t>
            </a:r>
          </a:p>
        </p:txBody>
      </p:sp>
      <p:sp>
        <p:nvSpPr>
          <p:cNvPr name="TextBox 32" id="32"/>
          <p:cNvSpPr txBox="true"/>
          <p:nvPr/>
        </p:nvSpPr>
        <p:spPr>
          <a:xfrm rot="0">
            <a:off x="6548377" y="4004751"/>
            <a:ext cx="2716836" cy="970878"/>
          </a:xfrm>
          <a:prstGeom prst="rect">
            <a:avLst/>
          </a:prstGeom>
        </p:spPr>
        <p:txBody>
          <a:bodyPr anchor="t" rtlCol="false" tIns="0" lIns="0" bIns="0" rIns="0">
            <a:spAutoFit/>
          </a:bodyPr>
          <a:lstStyle/>
          <a:p>
            <a:pPr algn="l">
              <a:lnSpc>
                <a:spcPts val="3872"/>
              </a:lnSpc>
            </a:pPr>
            <a:r>
              <a:rPr lang="en-US" sz="2766">
                <a:solidFill>
                  <a:srgbClr val="FFFFFF"/>
                </a:solidFill>
                <a:latin typeface="Poppins"/>
                <a:ea typeface="Poppins"/>
                <a:cs typeface="Poppins"/>
                <a:sym typeface="Poppins"/>
              </a:rPr>
              <a:t>Comm</a:t>
            </a:r>
            <a:r>
              <a:rPr lang="en-US" sz="2766">
                <a:solidFill>
                  <a:srgbClr val="FFFFFF"/>
                </a:solidFill>
                <a:latin typeface="Poppins"/>
                <a:ea typeface="Poppins"/>
                <a:cs typeface="Poppins"/>
                <a:sym typeface="Poppins"/>
              </a:rPr>
              <a:t>on Challenges</a:t>
            </a:r>
          </a:p>
        </p:txBody>
      </p:sp>
      <p:sp>
        <p:nvSpPr>
          <p:cNvPr name="TextBox 33" id="33"/>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53959" y="1105977"/>
            <a:ext cx="2313201" cy="2313201"/>
          </a:xfrm>
          <a:custGeom>
            <a:avLst/>
            <a:gdLst/>
            <a:ahLst/>
            <a:cxnLst/>
            <a:rect r="r" b="b" t="t" l="l"/>
            <a:pathLst>
              <a:path h="2313201" w="2313201">
                <a:moveTo>
                  <a:pt x="0" y="0"/>
                </a:moveTo>
                <a:lnTo>
                  <a:pt x="2313201" y="0"/>
                </a:lnTo>
                <a:lnTo>
                  <a:pt x="2313201" y="2313201"/>
                </a:lnTo>
                <a:lnTo>
                  <a:pt x="0" y="2313201"/>
                </a:lnTo>
                <a:lnTo>
                  <a:pt x="0" y="0"/>
                </a:lnTo>
                <a:close/>
              </a:path>
            </a:pathLst>
          </a:custGeom>
          <a:blipFill>
            <a:blip r:embed="rId2"/>
            <a:stretch>
              <a:fillRect l="0" t="0" r="0" b="0"/>
            </a:stretch>
          </a:blipFill>
        </p:spPr>
      </p:sp>
      <p:sp>
        <p:nvSpPr>
          <p:cNvPr name="Freeform 3" id="3"/>
          <p:cNvSpPr/>
          <p:nvPr/>
        </p:nvSpPr>
        <p:spPr>
          <a:xfrm flipH="false" flipV="false" rot="0">
            <a:off x="-2122733" y="8934450"/>
            <a:ext cx="3457291" cy="3457291"/>
          </a:xfrm>
          <a:custGeom>
            <a:avLst/>
            <a:gdLst/>
            <a:ahLst/>
            <a:cxnLst/>
            <a:rect r="r" b="b" t="t" l="l"/>
            <a:pathLst>
              <a:path h="3457291" w="3457291">
                <a:moveTo>
                  <a:pt x="0" y="0"/>
                </a:moveTo>
                <a:lnTo>
                  <a:pt x="3457290" y="0"/>
                </a:lnTo>
                <a:lnTo>
                  <a:pt x="3457290" y="3457291"/>
                </a:lnTo>
                <a:lnTo>
                  <a:pt x="0" y="3457291"/>
                </a:lnTo>
                <a:lnTo>
                  <a:pt x="0" y="0"/>
                </a:lnTo>
                <a:close/>
              </a:path>
            </a:pathLst>
          </a:custGeom>
          <a:blipFill>
            <a:blip r:embed="rId2"/>
            <a:stretch>
              <a:fillRect l="0" t="0" r="0" b="0"/>
            </a:stretch>
          </a:blipFill>
        </p:spPr>
      </p:sp>
      <p:sp>
        <p:nvSpPr>
          <p:cNvPr name="Freeform 4" id="4"/>
          <p:cNvSpPr/>
          <p:nvPr/>
        </p:nvSpPr>
        <p:spPr>
          <a:xfrm flipH="false" flipV="false" rot="0">
            <a:off x="17053959" y="9048133"/>
            <a:ext cx="3070508" cy="3070508"/>
          </a:xfrm>
          <a:custGeom>
            <a:avLst/>
            <a:gdLst/>
            <a:ahLst/>
            <a:cxnLst/>
            <a:rect r="r" b="b" t="t" l="l"/>
            <a:pathLst>
              <a:path h="3070508" w="3070508">
                <a:moveTo>
                  <a:pt x="0" y="0"/>
                </a:moveTo>
                <a:lnTo>
                  <a:pt x="3070508" y="0"/>
                </a:lnTo>
                <a:lnTo>
                  <a:pt x="3070508" y="3070508"/>
                </a:lnTo>
                <a:lnTo>
                  <a:pt x="0" y="30705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0"/>
            <a:ext cx="18288000" cy="213007"/>
            <a:chOff x="0" y="0"/>
            <a:chExt cx="4816593" cy="56101"/>
          </a:xfrm>
        </p:grpSpPr>
        <p:sp>
          <p:nvSpPr>
            <p:cNvPr name="Freeform 6" id="6"/>
            <p:cNvSpPr/>
            <p:nvPr/>
          </p:nvSpPr>
          <p:spPr>
            <a:xfrm flipH="false" flipV="false" rot="0">
              <a:off x="0" y="0"/>
              <a:ext cx="4816592" cy="56101"/>
            </a:xfrm>
            <a:custGeom>
              <a:avLst/>
              <a:gdLst/>
              <a:ahLst/>
              <a:cxnLst/>
              <a:rect r="r" b="b" t="t" l="l"/>
              <a:pathLst>
                <a:path h="56101" w="4816592">
                  <a:moveTo>
                    <a:pt x="0" y="0"/>
                  </a:moveTo>
                  <a:lnTo>
                    <a:pt x="4816592" y="0"/>
                  </a:lnTo>
                  <a:lnTo>
                    <a:pt x="4816592" y="56101"/>
                  </a:lnTo>
                  <a:lnTo>
                    <a:pt x="0" y="56101"/>
                  </a:lnTo>
                  <a:close/>
                </a:path>
              </a:pathLst>
            </a:custGeom>
            <a:solidFill>
              <a:srgbClr val="182D88"/>
            </a:solidFill>
          </p:spPr>
        </p:sp>
        <p:sp>
          <p:nvSpPr>
            <p:cNvPr name="TextBox 7" id="7"/>
            <p:cNvSpPr txBox="true"/>
            <p:nvPr/>
          </p:nvSpPr>
          <p:spPr>
            <a:xfrm>
              <a:off x="0" y="-47625"/>
              <a:ext cx="4816593" cy="103726"/>
            </a:xfrm>
            <a:prstGeom prst="rect">
              <a:avLst/>
            </a:prstGeom>
          </p:spPr>
          <p:txBody>
            <a:bodyPr anchor="ctr" rtlCol="false" tIns="50800" lIns="50800" bIns="50800" rIns="50800"/>
            <a:lstStyle/>
            <a:p>
              <a:pPr algn="ctr">
                <a:lnSpc>
                  <a:spcPts val="3151"/>
                </a:lnSpc>
              </a:pPr>
            </a:p>
          </p:txBody>
        </p:sp>
      </p:grpSp>
      <p:sp>
        <p:nvSpPr>
          <p:cNvPr name="TextBox 8" id="8"/>
          <p:cNvSpPr txBox="true"/>
          <p:nvPr/>
        </p:nvSpPr>
        <p:spPr>
          <a:xfrm rot="0">
            <a:off x="1474098" y="1258377"/>
            <a:ext cx="15339804" cy="977519"/>
          </a:xfrm>
          <a:prstGeom prst="rect">
            <a:avLst/>
          </a:prstGeom>
        </p:spPr>
        <p:txBody>
          <a:bodyPr anchor="t" rtlCol="false" tIns="0" lIns="0" bIns="0" rIns="0">
            <a:spAutoFit/>
          </a:bodyPr>
          <a:lstStyle/>
          <a:p>
            <a:pPr algn="ctr">
              <a:lnSpc>
                <a:spcPts val="7217"/>
              </a:lnSpc>
            </a:pPr>
            <a:r>
              <a:rPr lang="en-US" sz="7440" spc="-74">
                <a:solidFill>
                  <a:srgbClr val="2657C1"/>
                </a:solidFill>
                <a:latin typeface="Etna Sans Serif"/>
                <a:ea typeface="Etna Sans Serif"/>
                <a:cs typeface="Etna Sans Serif"/>
                <a:sym typeface="Etna Sans Serif"/>
              </a:rPr>
              <a:t>Architecting the Enterprise</a:t>
            </a:r>
          </a:p>
        </p:txBody>
      </p:sp>
      <p:sp>
        <p:nvSpPr>
          <p:cNvPr name="Freeform 9" id="9"/>
          <p:cNvSpPr/>
          <p:nvPr/>
        </p:nvSpPr>
        <p:spPr>
          <a:xfrm flipH="false" flipV="false" rot="0">
            <a:off x="1028700" y="2814672"/>
            <a:ext cx="611715" cy="618462"/>
          </a:xfrm>
          <a:custGeom>
            <a:avLst/>
            <a:gdLst/>
            <a:ahLst/>
            <a:cxnLst/>
            <a:rect r="r" b="b" t="t" l="l"/>
            <a:pathLst>
              <a:path h="618462" w="611715">
                <a:moveTo>
                  <a:pt x="0" y="0"/>
                </a:moveTo>
                <a:lnTo>
                  <a:pt x="611715" y="0"/>
                </a:lnTo>
                <a:lnTo>
                  <a:pt x="611715" y="618462"/>
                </a:lnTo>
                <a:lnTo>
                  <a:pt x="0" y="61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880918" y="2854663"/>
            <a:ext cx="5416550" cy="481330"/>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2657C1"/>
                </a:solidFill>
                <a:latin typeface="TT Fors Bold"/>
                <a:ea typeface="TT Fors Bold"/>
                <a:cs typeface="TT Fors Bold"/>
                <a:sym typeface="TT Fors Bold"/>
              </a:rPr>
              <a:t>Architecting the Enterprise</a:t>
            </a:r>
          </a:p>
        </p:txBody>
      </p:sp>
      <p:sp>
        <p:nvSpPr>
          <p:cNvPr name="TextBox 11" id="11"/>
          <p:cNvSpPr txBox="true"/>
          <p:nvPr/>
        </p:nvSpPr>
        <p:spPr>
          <a:xfrm rot="0">
            <a:off x="1028700" y="3987060"/>
            <a:ext cx="16903294" cy="4430947"/>
          </a:xfrm>
          <a:prstGeom prst="rect">
            <a:avLst/>
          </a:prstGeom>
        </p:spPr>
        <p:txBody>
          <a:bodyPr anchor="t" rtlCol="false" tIns="0" lIns="0" bIns="0" rIns="0">
            <a:spAutoFit/>
          </a:bodyPr>
          <a:lstStyle/>
          <a:p>
            <a:pPr algn="just" marL="0" indent="0" lvl="0">
              <a:lnSpc>
                <a:spcPts val="5026"/>
              </a:lnSpc>
              <a:spcBef>
                <a:spcPct val="0"/>
              </a:spcBef>
            </a:pPr>
            <a:r>
              <a:rPr lang="en-US" sz="3590">
                <a:solidFill>
                  <a:srgbClr val="2657C1"/>
                </a:solidFill>
                <a:latin typeface="TT Fors"/>
                <a:ea typeface="TT Fors"/>
                <a:cs typeface="TT Fors"/>
                <a:sym typeface="TT Fors"/>
              </a:rPr>
              <a:t>Enterprise Architecture (EA) is the process of designing and organizing an organization's business processes, information systems, data, applications, and technology infrastructure into a unified framework that supports its strategic goals. Enterprise Architecture acts as the organization's blueprint, ensuring that technology investments align with business objectives while improving efficiency, security, scalability, and decision-making.</a:t>
            </a:r>
          </a:p>
          <a:p>
            <a:pPr algn="just" marL="0" indent="0" lvl="0">
              <a:lnSpc>
                <a:spcPts val="5026"/>
              </a:lnSpc>
              <a:spcBef>
                <a:spcPct val="0"/>
              </a:spcBef>
            </a:pPr>
          </a:p>
        </p:txBody>
      </p:sp>
      <p:sp>
        <p:nvSpPr>
          <p:cNvPr name="TextBox 12" id="12"/>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1028700" y="2160669"/>
            <a:ext cx="16230600" cy="0"/>
          </a:xfrm>
          <a:prstGeom prst="line">
            <a:avLst/>
          </a:prstGeom>
          <a:ln cap="rnd" w="9525">
            <a:solidFill>
              <a:srgbClr val="182D88"/>
            </a:solidFill>
            <a:prstDash val="solid"/>
            <a:headEnd type="none" len="sm" w="sm"/>
            <a:tailEnd type="none" len="sm" w="sm"/>
          </a:ln>
        </p:spPr>
      </p:sp>
      <p:grpSp>
        <p:nvGrpSpPr>
          <p:cNvPr name="Group 3" id="3"/>
          <p:cNvGrpSpPr/>
          <p:nvPr/>
        </p:nvGrpSpPr>
        <p:grpSpPr>
          <a:xfrm rot="0">
            <a:off x="1251951" y="4280213"/>
            <a:ext cx="7668798" cy="1929159"/>
            <a:chOff x="0" y="0"/>
            <a:chExt cx="2310683" cy="581274"/>
          </a:xfrm>
        </p:grpSpPr>
        <p:sp>
          <p:nvSpPr>
            <p:cNvPr name="Freeform 4" id="4"/>
            <p:cNvSpPr/>
            <p:nvPr/>
          </p:nvSpPr>
          <p:spPr>
            <a:xfrm flipH="false" flipV="false" rot="0">
              <a:off x="0" y="0"/>
              <a:ext cx="2310683" cy="581274"/>
            </a:xfrm>
            <a:custGeom>
              <a:avLst/>
              <a:gdLst/>
              <a:ahLst/>
              <a:cxnLst/>
              <a:rect r="r" b="b" t="t" l="l"/>
              <a:pathLst>
                <a:path h="581274" w="2310683">
                  <a:moveTo>
                    <a:pt x="32305" y="0"/>
                  </a:moveTo>
                  <a:lnTo>
                    <a:pt x="2278378" y="0"/>
                  </a:lnTo>
                  <a:cubicBezTo>
                    <a:pt x="2296219" y="0"/>
                    <a:pt x="2310683" y="14463"/>
                    <a:pt x="2310683" y="32305"/>
                  </a:cubicBezTo>
                  <a:lnTo>
                    <a:pt x="2310683" y="548969"/>
                  </a:lnTo>
                  <a:cubicBezTo>
                    <a:pt x="2310683" y="557537"/>
                    <a:pt x="2307279" y="565754"/>
                    <a:pt x="2301221" y="571812"/>
                  </a:cubicBezTo>
                  <a:cubicBezTo>
                    <a:pt x="2295162" y="577871"/>
                    <a:pt x="2286945" y="581274"/>
                    <a:pt x="2278378" y="581274"/>
                  </a:cubicBezTo>
                  <a:lnTo>
                    <a:pt x="32305" y="581274"/>
                  </a:lnTo>
                  <a:cubicBezTo>
                    <a:pt x="14463" y="581274"/>
                    <a:pt x="0" y="566811"/>
                    <a:pt x="0" y="548969"/>
                  </a:cubicBezTo>
                  <a:lnTo>
                    <a:pt x="0" y="32305"/>
                  </a:lnTo>
                  <a:cubicBezTo>
                    <a:pt x="0" y="23737"/>
                    <a:pt x="3404" y="15520"/>
                    <a:pt x="9462" y="9462"/>
                  </a:cubicBezTo>
                  <a:cubicBezTo>
                    <a:pt x="15520" y="3404"/>
                    <a:pt x="23737" y="0"/>
                    <a:pt x="32305" y="0"/>
                  </a:cubicBezTo>
                  <a:close/>
                </a:path>
              </a:pathLst>
            </a:custGeom>
            <a:solidFill>
              <a:srgbClr val="182D88"/>
            </a:solidFill>
          </p:spPr>
        </p:sp>
        <p:sp>
          <p:nvSpPr>
            <p:cNvPr name="TextBox 5" id="5"/>
            <p:cNvSpPr txBox="true"/>
            <p:nvPr/>
          </p:nvSpPr>
          <p:spPr>
            <a:xfrm>
              <a:off x="0" y="-76200"/>
              <a:ext cx="2310683" cy="657474"/>
            </a:xfrm>
            <a:prstGeom prst="rect">
              <a:avLst/>
            </a:prstGeom>
          </p:spPr>
          <p:txBody>
            <a:bodyPr anchor="ctr" rtlCol="false" tIns="53046" lIns="53046" bIns="53046" rIns="53046"/>
            <a:lstStyle/>
            <a:p>
              <a:pPr algn="ctr">
                <a:lnSpc>
                  <a:spcPts val="3451"/>
                </a:lnSpc>
              </a:pPr>
            </a:p>
          </p:txBody>
        </p:sp>
      </p:grpSp>
      <p:sp>
        <p:nvSpPr>
          <p:cNvPr name="AutoShape 6" id="6"/>
          <p:cNvSpPr/>
          <p:nvPr/>
        </p:nvSpPr>
        <p:spPr>
          <a:xfrm flipV="true">
            <a:off x="4118374" y="4494571"/>
            <a:ext cx="0" cy="1500444"/>
          </a:xfrm>
          <a:prstGeom prst="line">
            <a:avLst/>
          </a:prstGeom>
          <a:ln cap="rnd" w="9525">
            <a:solidFill>
              <a:srgbClr val="FFFFFF">
                <a:alpha val="84706"/>
              </a:srgbClr>
            </a:solidFill>
            <a:prstDash val="solid"/>
            <a:headEnd type="none" len="sm" w="sm"/>
            <a:tailEnd type="none" len="sm" w="sm"/>
          </a:ln>
        </p:spPr>
      </p:sp>
      <p:grpSp>
        <p:nvGrpSpPr>
          <p:cNvPr name="Group 7" id="7"/>
          <p:cNvGrpSpPr/>
          <p:nvPr/>
        </p:nvGrpSpPr>
        <p:grpSpPr>
          <a:xfrm rot="0">
            <a:off x="1251951" y="6628472"/>
            <a:ext cx="7668798" cy="1929159"/>
            <a:chOff x="0" y="0"/>
            <a:chExt cx="2310683" cy="581274"/>
          </a:xfrm>
        </p:grpSpPr>
        <p:sp>
          <p:nvSpPr>
            <p:cNvPr name="Freeform 8" id="8"/>
            <p:cNvSpPr/>
            <p:nvPr/>
          </p:nvSpPr>
          <p:spPr>
            <a:xfrm flipH="false" flipV="false" rot="0">
              <a:off x="0" y="0"/>
              <a:ext cx="2310683" cy="581274"/>
            </a:xfrm>
            <a:custGeom>
              <a:avLst/>
              <a:gdLst/>
              <a:ahLst/>
              <a:cxnLst/>
              <a:rect r="r" b="b" t="t" l="l"/>
              <a:pathLst>
                <a:path h="581274" w="2310683">
                  <a:moveTo>
                    <a:pt x="32305" y="0"/>
                  </a:moveTo>
                  <a:lnTo>
                    <a:pt x="2278378" y="0"/>
                  </a:lnTo>
                  <a:cubicBezTo>
                    <a:pt x="2296219" y="0"/>
                    <a:pt x="2310683" y="14463"/>
                    <a:pt x="2310683" y="32305"/>
                  </a:cubicBezTo>
                  <a:lnTo>
                    <a:pt x="2310683" y="548969"/>
                  </a:lnTo>
                  <a:cubicBezTo>
                    <a:pt x="2310683" y="557537"/>
                    <a:pt x="2307279" y="565754"/>
                    <a:pt x="2301221" y="571812"/>
                  </a:cubicBezTo>
                  <a:cubicBezTo>
                    <a:pt x="2295162" y="577871"/>
                    <a:pt x="2286945" y="581274"/>
                    <a:pt x="2278378" y="581274"/>
                  </a:cubicBezTo>
                  <a:lnTo>
                    <a:pt x="32305" y="581274"/>
                  </a:lnTo>
                  <a:cubicBezTo>
                    <a:pt x="14463" y="581274"/>
                    <a:pt x="0" y="566811"/>
                    <a:pt x="0" y="548969"/>
                  </a:cubicBezTo>
                  <a:lnTo>
                    <a:pt x="0" y="32305"/>
                  </a:lnTo>
                  <a:cubicBezTo>
                    <a:pt x="0" y="23737"/>
                    <a:pt x="3404" y="15520"/>
                    <a:pt x="9462" y="9462"/>
                  </a:cubicBezTo>
                  <a:cubicBezTo>
                    <a:pt x="15520" y="3404"/>
                    <a:pt x="23737" y="0"/>
                    <a:pt x="32305" y="0"/>
                  </a:cubicBezTo>
                  <a:close/>
                </a:path>
              </a:pathLst>
            </a:custGeom>
            <a:solidFill>
              <a:srgbClr val="08966E"/>
            </a:solidFill>
          </p:spPr>
        </p:sp>
        <p:sp>
          <p:nvSpPr>
            <p:cNvPr name="TextBox 9" id="9"/>
            <p:cNvSpPr txBox="true"/>
            <p:nvPr/>
          </p:nvSpPr>
          <p:spPr>
            <a:xfrm>
              <a:off x="0" y="-76200"/>
              <a:ext cx="2310683" cy="657474"/>
            </a:xfrm>
            <a:prstGeom prst="rect">
              <a:avLst/>
            </a:prstGeom>
          </p:spPr>
          <p:txBody>
            <a:bodyPr anchor="ctr" rtlCol="false" tIns="53046" lIns="53046" bIns="53046" rIns="53046"/>
            <a:lstStyle/>
            <a:p>
              <a:pPr algn="ctr">
                <a:lnSpc>
                  <a:spcPts val="3451"/>
                </a:lnSpc>
              </a:pPr>
            </a:p>
          </p:txBody>
        </p:sp>
      </p:grpSp>
      <p:sp>
        <p:nvSpPr>
          <p:cNvPr name="AutoShape 10" id="10"/>
          <p:cNvSpPr/>
          <p:nvPr/>
        </p:nvSpPr>
        <p:spPr>
          <a:xfrm flipV="true">
            <a:off x="4123137" y="6842830"/>
            <a:ext cx="0" cy="1500444"/>
          </a:xfrm>
          <a:prstGeom prst="line">
            <a:avLst/>
          </a:prstGeom>
          <a:ln cap="rnd" w="9525">
            <a:solidFill>
              <a:srgbClr val="FFFFFF">
                <a:alpha val="84706"/>
              </a:srgbClr>
            </a:solidFill>
            <a:prstDash val="solid"/>
            <a:headEnd type="none" len="sm" w="sm"/>
            <a:tailEnd type="none" len="sm" w="sm"/>
          </a:ln>
        </p:spPr>
      </p:sp>
      <p:grpSp>
        <p:nvGrpSpPr>
          <p:cNvPr name="Group 11" id="11"/>
          <p:cNvGrpSpPr/>
          <p:nvPr/>
        </p:nvGrpSpPr>
        <p:grpSpPr>
          <a:xfrm rot="0">
            <a:off x="9367251" y="4280213"/>
            <a:ext cx="7668798" cy="1929159"/>
            <a:chOff x="0" y="0"/>
            <a:chExt cx="2310683" cy="581274"/>
          </a:xfrm>
        </p:grpSpPr>
        <p:sp>
          <p:nvSpPr>
            <p:cNvPr name="Freeform 12" id="12"/>
            <p:cNvSpPr/>
            <p:nvPr/>
          </p:nvSpPr>
          <p:spPr>
            <a:xfrm flipH="false" flipV="false" rot="0">
              <a:off x="0" y="0"/>
              <a:ext cx="2310683" cy="581274"/>
            </a:xfrm>
            <a:custGeom>
              <a:avLst/>
              <a:gdLst/>
              <a:ahLst/>
              <a:cxnLst/>
              <a:rect r="r" b="b" t="t" l="l"/>
              <a:pathLst>
                <a:path h="581274" w="2310683">
                  <a:moveTo>
                    <a:pt x="32305" y="0"/>
                  </a:moveTo>
                  <a:lnTo>
                    <a:pt x="2278378" y="0"/>
                  </a:lnTo>
                  <a:cubicBezTo>
                    <a:pt x="2296219" y="0"/>
                    <a:pt x="2310683" y="14463"/>
                    <a:pt x="2310683" y="32305"/>
                  </a:cubicBezTo>
                  <a:lnTo>
                    <a:pt x="2310683" y="548969"/>
                  </a:lnTo>
                  <a:cubicBezTo>
                    <a:pt x="2310683" y="557537"/>
                    <a:pt x="2307279" y="565754"/>
                    <a:pt x="2301221" y="571812"/>
                  </a:cubicBezTo>
                  <a:cubicBezTo>
                    <a:pt x="2295162" y="577871"/>
                    <a:pt x="2286945" y="581274"/>
                    <a:pt x="2278378" y="581274"/>
                  </a:cubicBezTo>
                  <a:lnTo>
                    <a:pt x="32305" y="581274"/>
                  </a:lnTo>
                  <a:cubicBezTo>
                    <a:pt x="14463" y="581274"/>
                    <a:pt x="0" y="566811"/>
                    <a:pt x="0" y="548969"/>
                  </a:cubicBezTo>
                  <a:lnTo>
                    <a:pt x="0" y="32305"/>
                  </a:lnTo>
                  <a:cubicBezTo>
                    <a:pt x="0" y="23737"/>
                    <a:pt x="3404" y="15520"/>
                    <a:pt x="9462" y="9462"/>
                  </a:cubicBezTo>
                  <a:cubicBezTo>
                    <a:pt x="15520" y="3404"/>
                    <a:pt x="23737" y="0"/>
                    <a:pt x="32305" y="0"/>
                  </a:cubicBezTo>
                  <a:close/>
                </a:path>
              </a:pathLst>
            </a:custGeom>
            <a:solidFill>
              <a:srgbClr val="08966E"/>
            </a:solidFill>
          </p:spPr>
        </p:sp>
        <p:sp>
          <p:nvSpPr>
            <p:cNvPr name="TextBox 13" id="13"/>
            <p:cNvSpPr txBox="true"/>
            <p:nvPr/>
          </p:nvSpPr>
          <p:spPr>
            <a:xfrm>
              <a:off x="0" y="-76200"/>
              <a:ext cx="2310683" cy="657474"/>
            </a:xfrm>
            <a:prstGeom prst="rect">
              <a:avLst/>
            </a:prstGeom>
          </p:spPr>
          <p:txBody>
            <a:bodyPr anchor="ctr" rtlCol="false" tIns="53046" lIns="53046" bIns="53046" rIns="53046"/>
            <a:lstStyle/>
            <a:p>
              <a:pPr algn="ctr">
                <a:lnSpc>
                  <a:spcPts val="3451"/>
                </a:lnSpc>
              </a:pPr>
            </a:p>
          </p:txBody>
        </p:sp>
      </p:grpSp>
      <p:sp>
        <p:nvSpPr>
          <p:cNvPr name="AutoShape 14" id="14"/>
          <p:cNvSpPr/>
          <p:nvPr/>
        </p:nvSpPr>
        <p:spPr>
          <a:xfrm flipV="true">
            <a:off x="12261175" y="4494571"/>
            <a:ext cx="0" cy="1500444"/>
          </a:xfrm>
          <a:prstGeom prst="line">
            <a:avLst/>
          </a:prstGeom>
          <a:ln cap="rnd" w="9525">
            <a:solidFill>
              <a:srgbClr val="FFFFFF">
                <a:alpha val="84706"/>
              </a:srgbClr>
            </a:solidFill>
            <a:prstDash val="solid"/>
            <a:headEnd type="none" len="sm" w="sm"/>
            <a:tailEnd type="none" len="sm" w="sm"/>
          </a:ln>
        </p:spPr>
      </p:sp>
      <p:grpSp>
        <p:nvGrpSpPr>
          <p:cNvPr name="Group 15" id="15"/>
          <p:cNvGrpSpPr/>
          <p:nvPr/>
        </p:nvGrpSpPr>
        <p:grpSpPr>
          <a:xfrm rot="0">
            <a:off x="9367251" y="6628472"/>
            <a:ext cx="7668798" cy="1929159"/>
            <a:chOff x="0" y="0"/>
            <a:chExt cx="2310683" cy="581274"/>
          </a:xfrm>
        </p:grpSpPr>
        <p:sp>
          <p:nvSpPr>
            <p:cNvPr name="Freeform 16" id="16"/>
            <p:cNvSpPr/>
            <p:nvPr/>
          </p:nvSpPr>
          <p:spPr>
            <a:xfrm flipH="false" flipV="false" rot="0">
              <a:off x="0" y="0"/>
              <a:ext cx="2310683" cy="581274"/>
            </a:xfrm>
            <a:custGeom>
              <a:avLst/>
              <a:gdLst/>
              <a:ahLst/>
              <a:cxnLst/>
              <a:rect r="r" b="b" t="t" l="l"/>
              <a:pathLst>
                <a:path h="581274" w="2310683">
                  <a:moveTo>
                    <a:pt x="32305" y="0"/>
                  </a:moveTo>
                  <a:lnTo>
                    <a:pt x="2278378" y="0"/>
                  </a:lnTo>
                  <a:cubicBezTo>
                    <a:pt x="2296219" y="0"/>
                    <a:pt x="2310683" y="14463"/>
                    <a:pt x="2310683" y="32305"/>
                  </a:cubicBezTo>
                  <a:lnTo>
                    <a:pt x="2310683" y="548969"/>
                  </a:lnTo>
                  <a:cubicBezTo>
                    <a:pt x="2310683" y="557537"/>
                    <a:pt x="2307279" y="565754"/>
                    <a:pt x="2301221" y="571812"/>
                  </a:cubicBezTo>
                  <a:cubicBezTo>
                    <a:pt x="2295162" y="577871"/>
                    <a:pt x="2286945" y="581274"/>
                    <a:pt x="2278378" y="581274"/>
                  </a:cubicBezTo>
                  <a:lnTo>
                    <a:pt x="32305" y="581274"/>
                  </a:lnTo>
                  <a:cubicBezTo>
                    <a:pt x="14463" y="581274"/>
                    <a:pt x="0" y="566811"/>
                    <a:pt x="0" y="548969"/>
                  </a:cubicBezTo>
                  <a:lnTo>
                    <a:pt x="0" y="32305"/>
                  </a:lnTo>
                  <a:cubicBezTo>
                    <a:pt x="0" y="23737"/>
                    <a:pt x="3404" y="15520"/>
                    <a:pt x="9462" y="9462"/>
                  </a:cubicBezTo>
                  <a:cubicBezTo>
                    <a:pt x="15520" y="3404"/>
                    <a:pt x="23737" y="0"/>
                    <a:pt x="32305" y="0"/>
                  </a:cubicBezTo>
                  <a:close/>
                </a:path>
              </a:pathLst>
            </a:custGeom>
            <a:solidFill>
              <a:srgbClr val="182D88"/>
            </a:solidFill>
          </p:spPr>
        </p:sp>
        <p:sp>
          <p:nvSpPr>
            <p:cNvPr name="TextBox 17" id="17"/>
            <p:cNvSpPr txBox="true"/>
            <p:nvPr/>
          </p:nvSpPr>
          <p:spPr>
            <a:xfrm>
              <a:off x="0" y="-76200"/>
              <a:ext cx="2310683" cy="657474"/>
            </a:xfrm>
            <a:prstGeom prst="rect">
              <a:avLst/>
            </a:prstGeom>
          </p:spPr>
          <p:txBody>
            <a:bodyPr anchor="ctr" rtlCol="false" tIns="53046" lIns="53046" bIns="53046" rIns="53046"/>
            <a:lstStyle/>
            <a:p>
              <a:pPr algn="ctr">
                <a:lnSpc>
                  <a:spcPts val="3451"/>
                </a:lnSpc>
              </a:pPr>
            </a:p>
          </p:txBody>
        </p:sp>
      </p:grpSp>
      <p:sp>
        <p:nvSpPr>
          <p:cNvPr name="AutoShape 18" id="18"/>
          <p:cNvSpPr/>
          <p:nvPr/>
        </p:nvSpPr>
        <p:spPr>
          <a:xfrm flipV="true">
            <a:off x="12265937" y="6842830"/>
            <a:ext cx="0" cy="1500444"/>
          </a:xfrm>
          <a:prstGeom prst="line">
            <a:avLst/>
          </a:prstGeom>
          <a:ln cap="rnd" w="9525">
            <a:solidFill>
              <a:srgbClr val="FFFFFF">
                <a:alpha val="84706"/>
              </a:srgbClr>
            </a:solidFill>
            <a:prstDash val="solid"/>
            <a:headEnd type="none" len="sm" w="sm"/>
            <a:tailEnd type="none" len="sm" w="sm"/>
          </a:ln>
        </p:spPr>
      </p:sp>
      <p:sp>
        <p:nvSpPr>
          <p:cNvPr name="Freeform 19" id="19"/>
          <p:cNvSpPr/>
          <p:nvPr/>
        </p:nvSpPr>
        <p:spPr>
          <a:xfrm flipH="false" flipV="false" rot="0">
            <a:off x="13644492" y="2840971"/>
            <a:ext cx="567996" cy="560767"/>
          </a:xfrm>
          <a:custGeom>
            <a:avLst/>
            <a:gdLst/>
            <a:ahLst/>
            <a:cxnLst/>
            <a:rect r="r" b="b" t="t" l="l"/>
            <a:pathLst>
              <a:path h="560767" w="567996">
                <a:moveTo>
                  <a:pt x="0" y="0"/>
                </a:moveTo>
                <a:lnTo>
                  <a:pt x="567996" y="0"/>
                </a:lnTo>
                <a:lnTo>
                  <a:pt x="567996" y="560768"/>
                </a:lnTo>
                <a:lnTo>
                  <a:pt x="0" y="560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4075512" y="2840971"/>
            <a:ext cx="567996" cy="560767"/>
          </a:xfrm>
          <a:custGeom>
            <a:avLst/>
            <a:gdLst/>
            <a:ahLst/>
            <a:cxnLst/>
            <a:rect r="r" b="b" t="t" l="l"/>
            <a:pathLst>
              <a:path h="560767" w="567996">
                <a:moveTo>
                  <a:pt x="0" y="0"/>
                </a:moveTo>
                <a:lnTo>
                  <a:pt x="567996" y="0"/>
                </a:lnTo>
                <a:lnTo>
                  <a:pt x="567996" y="560768"/>
                </a:lnTo>
                <a:lnTo>
                  <a:pt x="0" y="560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2161403" y="1224018"/>
            <a:ext cx="13598565" cy="760438"/>
          </a:xfrm>
          <a:prstGeom prst="rect">
            <a:avLst/>
          </a:prstGeom>
        </p:spPr>
        <p:txBody>
          <a:bodyPr anchor="t" rtlCol="false" tIns="0" lIns="0" bIns="0" rIns="0">
            <a:spAutoFit/>
          </a:bodyPr>
          <a:lstStyle/>
          <a:p>
            <a:pPr algn="l">
              <a:lnSpc>
                <a:spcPts val="5454"/>
              </a:lnSpc>
            </a:pPr>
            <a:r>
              <a:rPr lang="en-US" b="true" sz="5097">
                <a:solidFill>
                  <a:srgbClr val="182D88"/>
                </a:solidFill>
                <a:latin typeface="Poppins Bold"/>
                <a:ea typeface="Poppins Bold"/>
                <a:cs typeface="Poppins Bold"/>
                <a:sym typeface="Poppins Bold"/>
              </a:rPr>
              <a:t>Components of Enterprise Architecture</a:t>
            </a:r>
          </a:p>
        </p:txBody>
      </p:sp>
      <p:sp>
        <p:nvSpPr>
          <p:cNvPr name="TextBox 22" id="22"/>
          <p:cNvSpPr txBox="true"/>
          <p:nvPr/>
        </p:nvSpPr>
        <p:spPr>
          <a:xfrm rot="0">
            <a:off x="2145160" y="4846252"/>
            <a:ext cx="1863330" cy="710571"/>
          </a:xfrm>
          <a:prstGeom prst="rect">
            <a:avLst/>
          </a:prstGeom>
        </p:spPr>
        <p:txBody>
          <a:bodyPr anchor="t" rtlCol="false" tIns="0" lIns="0" bIns="0" rIns="0">
            <a:spAutoFit/>
          </a:bodyPr>
          <a:lstStyle/>
          <a:p>
            <a:pPr algn="just">
              <a:lnSpc>
                <a:spcPts val="2834"/>
              </a:lnSpc>
            </a:pPr>
            <a:r>
              <a:rPr lang="en-US" sz="2024">
                <a:solidFill>
                  <a:srgbClr val="FFFFFF"/>
                </a:solidFill>
                <a:latin typeface="Poppins"/>
                <a:ea typeface="Poppins"/>
                <a:cs typeface="Poppins"/>
                <a:sym typeface="Poppins"/>
              </a:rPr>
              <a:t>BUSI</a:t>
            </a:r>
            <a:r>
              <a:rPr lang="en-US" sz="2024">
                <a:solidFill>
                  <a:srgbClr val="FFFFFF"/>
                </a:solidFill>
                <a:latin typeface="Poppins"/>
                <a:ea typeface="Poppins"/>
                <a:cs typeface="Poppins"/>
                <a:sym typeface="Poppins"/>
              </a:rPr>
              <a:t>NESS ARCHITECTURE</a:t>
            </a:r>
          </a:p>
        </p:txBody>
      </p:sp>
      <p:sp>
        <p:nvSpPr>
          <p:cNvPr name="TextBox 23" id="23"/>
          <p:cNvSpPr txBox="true"/>
          <p:nvPr/>
        </p:nvSpPr>
        <p:spPr>
          <a:xfrm rot="0">
            <a:off x="4462291" y="4711183"/>
            <a:ext cx="3851686" cy="1332505"/>
          </a:xfrm>
          <a:prstGeom prst="rect">
            <a:avLst/>
          </a:prstGeom>
        </p:spPr>
        <p:txBody>
          <a:bodyPr anchor="t" rtlCol="false" tIns="0" lIns="0" bIns="0" rIns="0">
            <a:spAutoFit/>
          </a:bodyPr>
          <a:lstStyle/>
          <a:p>
            <a:pPr algn="l">
              <a:lnSpc>
                <a:spcPts val="2154"/>
              </a:lnSpc>
            </a:pPr>
            <a:r>
              <a:rPr lang="en-US" sz="1539">
                <a:solidFill>
                  <a:srgbClr val="FFFFFF"/>
                </a:solidFill>
                <a:latin typeface="Poppins"/>
                <a:ea typeface="Poppins"/>
                <a:cs typeface="Poppins"/>
                <a:sym typeface="Poppins"/>
              </a:rPr>
              <a:t>Defines busi</a:t>
            </a:r>
            <a:r>
              <a:rPr lang="en-US" sz="1539">
                <a:solidFill>
                  <a:srgbClr val="FFFFFF"/>
                </a:solidFill>
                <a:latin typeface="Poppins"/>
                <a:ea typeface="Poppins"/>
                <a:cs typeface="Poppins"/>
                <a:sym typeface="Poppins"/>
              </a:rPr>
              <a:t>ness goals, organizational structure, and business processes.</a:t>
            </a:r>
          </a:p>
          <a:p>
            <a:pPr algn="l">
              <a:lnSpc>
                <a:spcPts val="2154"/>
              </a:lnSpc>
            </a:pPr>
          </a:p>
          <a:p>
            <a:pPr algn="l">
              <a:lnSpc>
                <a:spcPts val="2154"/>
              </a:lnSpc>
            </a:pPr>
            <a:r>
              <a:rPr lang="en-US" sz="1539">
                <a:solidFill>
                  <a:srgbClr val="FFFFFF"/>
                </a:solidFill>
                <a:latin typeface="Poppins"/>
                <a:ea typeface="Poppins"/>
                <a:cs typeface="Poppins"/>
                <a:sym typeface="Poppins"/>
              </a:rPr>
              <a:t>Example: Customer Service Process</a:t>
            </a:r>
          </a:p>
          <a:p>
            <a:pPr algn="l">
              <a:lnSpc>
                <a:spcPts val="2154"/>
              </a:lnSpc>
            </a:pPr>
          </a:p>
        </p:txBody>
      </p:sp>
      <p:sp>
        <p:nvSpPr>
          <p:cNvPr name="TextBox 24" id="24"/>
          <p:cNvSpPr txBox="true"/>
          <p:nvPr/>
        </p:nvSpPr>
        <p:spPr>
          <a:xfrm rot="0">
            <a:off x="1595738" y="5070228"/>
            <a:ext cx="565666" cy="354315"/>
          </a:xfrm>
          <a:prstGeom prst="rect">
            <a:avLst/>
          </a:prstGeom>
        </p:spPr>
        <p:txBody>
          <a:bodyPr anchor="t" rtlCol="false" tIns="0" lIns="0" bIns="0" rIns="0">
            <a:spAutoFit/>
          </a:bodyPr>
          <a:lstStyle/>
          <a:p>
            <a:pPr algn="l">
              <a:lnSpc>
                <a:spcPts val="2591"/>
              </a:lnSpc>
            </a:pPr>
            <a:r>
              <a:rPr lang="en-US" sz="2422">
                <a:solidFill>
                  <a:srgbClr val="FFFFFF">
                    <a:alpha val="77647"/>
                  </a:srgbClr>
                </a:solidFill>
                <a:latin typeface="Poppins"/>
                <a:ea typeface="Poppins"/>
                <a:cs typeface="Poppins"/>
                <a:sym typeface="Poppins"/>
              </a:rPr>
              <a:t>01</a:t>
            </a:r>
          </a:p>
        </p:txBody>
      </p:sp>
      <p:sp>
        <p:nvSpPr>
          <p:cNvPr name="TextBox 25" id="25"/>
          <p:cNvSpPr txBox="true"/>
          <p:nvPr/>
        </p:nvSpPr>
        <p:spPr>
          <a:xfrm rot="0">
            <a:off x="10276703" y="7194511"/>
            <a:ext cx="1858507" cy="710571"/>
          </a:xfrm>
          <a:prstGeom prst="rect">
            <a:avLst/>
          </a:prstGeom>
        </p:spPr>
        <p:txBody>
          <a:bodyPr anchor="t" rtlCol="false" tIns="0" lIns="0" bIns="0" rIns="0">
            <a:spAutoFit/>
          </a:bodyPr>
          <a:lstStyle/>
          <a:p>
            <a:pPr algn="just">
              <a:lnSpc>
                <a:spcPts val="2834"/>
              </a:lnSpc>
            </a:pPr>
            <a:r>
              <a:rPr lang="en-US" sz="2024">
                <a:solidFill>
                  <a:srgbClr val="FFFFFF"/>
                </a:solidFill>
                <a:latin typeface="Poppins"/>
                <a:ea typeface="Poppins"/>
                <a:cs typeface="Poppins"/>
                <a:sym typeface="Poppins"/>
              </a:rPr>
              <a:t>TECHN</a:t>
            </a:r>
            <a:r>
              <a:rPr lang="en-US" sz="2024">
                <a:solidFill>
                  <a:srgbClr val="FFFFFF"/>
                </a:solidFill>
                <a:latin typeface="Poppins"/>
                <a:ea typeface="Poppins"/>
                <a:cs typeface="Poppins"/>
                <a:sym typeface="Poppins"/>
              </a:rPr>
              <a:t>OLOGY ARCHITECTURE</a:t>
            </a:r>
          </a:p>
        </p:txBody>
      </p:sp>
      <p:sp>
        <p:nvSpPr>
          <p:cNvPr name="TextBox 26" id="26"/>
          <p:cNvSpPr txBox="true"/>
          <p:nvPr/>
        </p:nvSpPr>
        <p:spPr>
          <a:xfrm rot="0">
            <a:off x="12577591" y="6804730"/>
            <a:ext cx="3851686" cy="1865905"/>
          </a:xfrm>
          <a:prstGeom prst="rect">
            <a:avLst/>
          </a:prstGeom>
        </p:spPr>
        <p:txBody>
          <a:bodyPr anchor="t" rtlCol="false" tIns="0" lIns="0" bIns="0" rIns="0">
            <a:spAutoFit/>
          </a:bodyPr>
          <a:lstStyle/>
          <a:p>
            <a:pPr algn="l">
              <a:lnSpc>
                <a:spcPts val="2154"/>
              </a:lnSpc>
            </a:pPr>
            <a:r>
              <a:rPr lang="en-US" sz="1539">
                <a:solidFill>
                  <a:srgbClr val="FFFFFF"/>
                </a:solidFill>
                <a:latin typeface="Poppins"/>
                <a:ea typeface="Poppins"/>
                <a:cs typeface="Poppins"/>
                <a:sym typeface="Poppins"/>
              </a:rPr>
              <a:t>Defines hardware, </a:t>
            </a:r>
            <a:r>
              <a:rPr lang="en-US" sz="1539">
                <a:solidFill>
                  <a:srgbClr val="FFFFFF"/>
                </a:solidFill>
                <a:latin typeface="Poppins"/>
                <a:ea typeface="Poppins"/>
                <a:cs typeface="Poppins"/>
                <a:sym typeface="Poppins"/>
              </a:rPr>
              <a:t>servers, cloud services, operating systems, and networking infrastructure.</a:t>
            </a:r>
          </a:p>
          <a:p>
            <a:pPr algn="l">
              <a:lnSpc>
                <a:spcPts val="2154"/>
              </a:lnSpc>
            </a:pPr>
          </a:p>
          <a:p>
            <a:pPr algn="l">
              <a:lnSpc>
                <a:spcPts val="2154"/>
              </a:lnSpc>
            </a:pPr>
            <a:r>
              <a:rPr lang="en-US" sz="1539">
                <a:solidFill>
                  <a:srgbClr val="FFFFFF"/>
                </a:solidFill>
                <a:latin typeface="Poppins"/>
                <a:ea typeface="Poppins"/>
                <a:cs typeface="Poppins"/>
                <a:sym typeface="Poppins"/>
              </a:rPr>
              <a:t>Example: Cloud Computing, Firewalls, Routers, and Virtual Machines</a:t>
            </a:r>
          </a:p>
          <a:p>
            <a:pPr algn="l">
              <a:lnSpc>
                <a:spcPts val="2154"/>
              </a:lnSpc>
            </a:pPr>
          </a:p>
        </p:txBody>
      </p:sp>
      <p:sp>
        <p:nvSpPr>
          <p:cNvPr name="TextBox 27" id="27"/>
          <p:cNvSpPr txBox="true"/>
          <p:nvPr/>
        </p:nvSpPr>
        <p:spPr>
          <a:xfrm rot="0">
            <a:off x="9711038" y="7418488"/>
            <a:ext cx="565666" cy="354315"/>
          </a:xfrm>
          <a:prstGeom prst="rect">
            <a:avLst/>
          </a:prstGeom>
        </p:spPr>
        <p:txBody>
          <a:bodyPr anchor="t" rtlCol="false" tIns="0" lIns="0" bIns="0" rIns="0">
            <a:spAutoFit/>
          </a:bodyPr>
          <a:lstStyle/>
          <a:p>
            <a:pPr algn="l">
              <a:lnSpc>
                <a:spcPts val="2591"/>
              </a:lnSpc>
            </a:pPr>
            <a:r>
              <a:rPr lang="en-US" sz="2422">
                <a:solidFill>
                  <a:srgbClr val="FFFFFF">
                    <a:alpha val="77647"/>
                  </a:srgbClr>
                </a:solidFill>
                <a:latin typeface="Poppins"/>
                <a:ea typeface="Poppins"/>
                <a:cs typeface="Poppins"/>
                <a:sym typeface="Poppins"/>
              </a:rPr>
              <a:t>04</a:t>
            </a:r>
          </a:p>
        </p:txBody>
      </p:sp>
      <p:sp>
        <p:nvSpPr>
          <p:cNvPr name="TextBox 28" id="28"/>
          <p:cNvSpPr txBox="true"/>
          <p:nvPr/>
        </p:nvSpPr>
        <p:spPr>
          <a:xfrm rot="0">
            <a:off x="2145160" y="7194511"/>
            <a:ext cx="1902659" cy="710571"/>
          </a:xfrm>
          <a:prstGeom prst="rect">
            <a:avLst/>
          </a:prstGeom>
        </p:spPr>
        <p:txBody>
          <a:bodyPr anchor="t" rtlCol="false" tIns="0" lIns="0" bIns="0" rIns="0">
            <a:spAutoFit/>
          </a:bodyPr>
          <a:lstStyle/>
          <a:p>
            <a:pPr algn="just">
              <a:lnSpc>
                <a:spcPts val="2834"/>
              </a:lnSpc>
            </a:pPr>
            <a:r>
              <a:rPr lang="en-US" sz="2024">
                <a:solidFill>
                  <a:srgbClr val="FFFFFF"/>
                </a:solidFill>
                <a:latin typeface="Poppins"/>
                <a:ea typeface="Poppins"/>
                <a:cs typeface="Poppins"/>
                <a:sym typeface="Poppins"/>
              </a:rPr>
              <a:t>DAT</a:t>
            </a:r>
            <a:r>
              <a:rPr lang="en-US" sz="2024">
                <a:solidFill>
                  <a:srgbClr val="FFFFFF"/>
                </a:solidFill>
                <a:latin typeface="Poppins"/>
                <a:ea typeface="Poppins"/>
                <a:cs typeface="Poppins"/>
                <a:sym typeface="Poppins"/>
              </a:rPr>
              <a:t>A ARCHITECTURE</a:t>
            </a:r>
          </a:p>
        </p:txBody>
      </p:sp>
      <p:sp>
        <p:nvSpPr>
          <p:cNvPr name="TextBox 29" id="29"/>
          <p:cNvSpPr txBox="true"/>
          <p:nvPr/>
        </p:nvSpPr>
        <p:spPr>
          <a:xfrm rot="0">
            <a:off x="4462291" y="6665865"/>
            <a:ext cx="3851686" cy="1865905"/>
          </a:xfrm>
          <a:prstGeom prst="rect">
            <a:avLst/>
          </a:prstGeom>
        </p:spPr>
        <p:txBody>
          <a:bodyPr anchor="t" rtlCol="false" tIns="0" lIns="0" bIns="0" rIns="0">
            <a:spAutoFit/>
          </a:bodyPr>
          <a:lstStyle/>
          <a:p>
            <a:pPr algn="l">
              <a:lnSpc>
                <a:spcPts val="2154"/>
              </a:lnSpc>
            </a:pPr>
            <a:r>
              <a:rPr lang="en-US" sz="1539">
                <a:solidFill>
                  <a:srgbClr val="FFFFFF"/>
                </a:solidFill>
                <a:latin typeface="Poppins"/>
                <a:ea typeface="Poppins"/>
                <a:cs typeface="Poppins"/>
                <a:sym typeface="Poppins"/>
              </a:rPr>
              <a:t>Defines how organizational data is</a:t>
            </a:r>
            <a:r>
              <a:rPr lang="en-US" sz="1539">
                <a:solidFill>
                  <a:srgbClr val="FFFFFF"/>
                </a:solidFill>
                <a:latin typeface="Poppins"/>
                <a:ea typeface="Poppins"/>
                <a:cs typeface="Poppins"/>
                <a:sym typeface="Poppins"/>
              </a:rPr>
              <a:t> collected, stored, managed, and protected.</a:t>
            </a:r>
          </a:p>
          <a:p>
            <a:pPr algn="l">
              <a:lnSpc>
                <a:spcPts val="2154"/>
              </a:lnSpc>
            </a:pPr>
          </a:p>
          <a:p>
            <a:pPr algn="l">
              <a:lnSpc>
                <a:spcPts val="2154"/>
              </a:lnSpc>
            </a:pPr>
            <a:r>
              <a:rPr lang="en-US" sz="1539">
                <a:solidFill>
                  <a:srgbClr val="FFFFFF"/>
                </a:solidFill>
                <a:latin typeface="Poppins"/>
                <a:ea typeface="Poppins"/>
                <a:cs typeface="Poppins"/>
                <a:sym typeface="Poppins"/>
              </a:rPr>
              <a:t>Example: Student Information Database</a:t>
            </a:r>
          </a:p>
          <a:p>
            <a:pPr algn="l">
              <a:lnSpc>
                <a:spcPts val="2154"/>
              </a:lnSpc>
            </a:pPr>
          </a:p>
        </p:txBody>
      </p:sp>
      <p:sp>
        <p:nvSpPr>
          <p:cNvPr name="TextBox 30" id="30"/>
          <p:cNvSpPr txBox="true"/>
          <p:nvPr/>
        </p:nvSpPr>
        <p:spPr>
          <a:xfrm rot="0">
            <a:off x="1595738" y="7418488"/>
            <a:ext cx="565666" cy="354315"/>
          </a:xfrm>
          <a:prstGeom prst="rect">
            <a:avLst/>
          </a:prstGeom>
        </p:spPr>
        <p:txBody>
          <a:bodyPr anchor="t" rtlCol="false" tIns="0" lIns="0" bIns="0" rIns="0">
            <a:spAutoFit/>
          </a:bodyPr>
          <a:lstStyle/>
          <a:p>
            <a:pPr algn="l">
              <a:lnSpc>
                <a:spcPts val="2591"/>
              </a:lnSpc>
            </a:pPr>
            <a:r>
              <a:rPr lang="en-US" sz="2422">
                <a:solidFill>
                  <a:srgbClr val="FFFFFF">
                    <a:alpha val="77647"/>
                  </a:srgbClr>
                </a:solidFill>
                <a:latin typeface="Poppins"/>
                <a:ea typeface="Poppins"/>
                <a:cs typeface="Poppins"/>
                <a:sym typeface="Poppins"/>
              </a:rPr>
              <a:t>02</a:t>
            </a:r>
          </a:p>
        </p:txBody>
      </p:sp>
      <p:sp>
        <p:nvSpPr>
          <p:cNvPr name="TextBox 31" id="31"/>
          <p:cNvSpPr txBox="true"/>
          <p:nvPr/>
        </p:nvSpPr>
        <p:spPr>
          <a:xfrm rot="0">
            <a:off x="10300010" y="4846252"/>
            <a:ext cx="1851627" cy="710571"/>
          </a:xfrm>
          <a:prstGeom prst="rect">
            <a:avLst/>
          </a:prstGeom>
        </p:spPr>
        <p:txBody>
          <a:bodyPr anchor="t" rtlCol="false" tIns="0" lIns="0" bIns="0" rIns="0">
            <a:spAutoFit/>
          </a:bodyPr>
          <a:lstStyle/>
          <a:p>
            <a:pPr algn="just">
              <a:lnSpc>
                <a:spcPts val="2834"/>
              </a:lnSpc>
            </a:pPr>
            <a:r>
              <a:rPr lang="en-US" sz="2024">
                <a:solidFill>
                  <a:srgbClr val="FFFFFF"/>
                </a:solidFill>
                <a:latin typeface="Poppins"/>
                <a:ea typeface="Poppins"/>
                <a:cs typeface="Poppins"/>
                <a:sym typeface="Poppins"/>
              </a:rPr>
              <a:t>APPLICATION</a:t>
            </a:r>
            <a:r>
              <a:rPr lang="en-US" sz="2024">
                <a:solidFill>
                  <a:srgbClr val="FFFFFF"/>
                </a:solidFill>
                <a:latin typeface="Poppins"/>
                <a:ea typeface="Poppins"/>
                <a:cs typeface="Poppins"/>
                <a:sym typeface="Poppins"/>
              </a:rPr>
              <a:t> ARCHITECTURE</a:t>
            </a:r>
          </a:p>
        </p:txBody>
      </p:sp>
      <p:sp>
        <p:nvSpPr>
          <p:cNvPr name="TextBox 32" id="32"/>
          <p:cNvSpPr txBox="true"/>
          <p:nvPr/>
        </p:nvSpPr>
        <p:spPr>
          <a:xfrm rot="0">
            <a:off x="12577591" y="4577833"/>
            <a:ext cx="3851686" cy="1599205"/>
          </a:xfrm>
          <a:prstGeom prst="rect">
            <a:avLst/>
          </a:prstGeom>
        </p:spPr>
        <p:txBody>
          <a:bodyPr anchor="t" rtlCol="false" tIns="0" lIns="0" bIns="0" rIns="0">
            <a:spAutoFit/>
          </a:bodyPr>
          <a:lstStyle/>
          <a:p>
            <a:pPr algn="l">
              <a:lnSpc>
                <a:spcPts val="2154"/>
              </a:lnSpc>
            </a:pPr>
            <a:r>
              <a:rPr lang="en-US" sz="1539">
                <a:solidFill>
                  <a:srgbClr val="FFFFFF"/>
                </a:solidFill>
                <a:latin typeface="Poppins"/>
                <a:ea typeface="Poppins"/>
                <a:cs typeface="Poppins"/>
                <a:sym typeface="Poppins"/>
              </a:rPr>
              <a:t>Defines how software applications interact.</a:t>
            </a:r>
          </a:p>
          <a:p>
            <a:pPr algn="l">
              <a:lnSpc>
                <a:spcPts val="2154"/>
              </a:lnSpc>
            </a:pPr>
          </a:p>
          <a:p>
            <a:pPr algn="l">
              <a:lnSpc>
                <a:spcPts val="2154"/>
              </a:lnSpc>
            </a:pPr>
            <a:r>
              <a:rPr lang="en-US" sz="1539">
                <a:solidFill>
                  <a:srgbClr val="FFFFFF"/>
                </a:solidFill>
                <a:latin typeface="Poppins"/>
                <a:ea typeface="Poppins"/>
                <a:cs typeface="Poppins"/>
                <a:sym typeface="Poppins"/>
              </a:rPr>
              <a:t>Example: Payroll Sy</a:t>
            </a:r>
            <a:r>
              <a:rPr lang="en-US" sz="1539">
                <a:solidFill>
                  <a:srgbClr val="FFFFFF"/>
                </a:solidFill>
                <a:latin typeface="Poppins"/>
                <a:ea typeface="Poppins"/>
                <a:cs typeface="Poppins"/>
                <a:sym typeface="Poppins"/>
              </a:rPr>
              <a:t>stem connected to the Human Resource System</a:t>
            </a:r>
          </a:p>
          <a:p>
            <a:pPr algn="l">
              <a:lnSpc>
                <a:spcPts val="2154"/>
              </a:lnSpc>
            </a:pPr>
          </a:p>
        </p:txBody>
      </p:sp>
      <p:sp>
        <p:nvSpPr>
          <p:cNvPr name="TextBox 33" id="33"/>
          <p:cNvSpPr txBox="true"/>
          <p:nvPr/>
        </p:nvSpPr>
        <p:spPr>
          <a:xfrm rot="0">
            <a:off x="9711038" y="5070228"/>
            <a:ext cx="565666" cy="354315"/>
          </a:xfrm>
          <a:prstGeom prst="rect">
            <a:avLst/>
          </a:prstGeom>
        </p:spPr>
        <p:txBody>
          <a:bodyPr anchor="t" rtlCol="false" tIns="0" lIns="0" bIns="0" rIns="0">
            <a:spAutoFit/>
          </a:bodyPr>
          <a:lstStyle/>
          <a:p>
            <a:pPr algn="l">
              <a:lnSpc>
                <a:spcPts val="2591"/>
              </a:lnSpc>
            </a:pPr>
            <a:r>
              <a:rPr lang="en-US" sz="2422">
                <a:solidFill>
                  <a:srgbClr val="FFFFFF">
                    <a:alpha val="77647"/>
                  </a:srgbClr>
                </a:solidFill>
                <a:latin typeface="Poppins"/>
                <a:ea typeface="Poppins"/>
                <a:cs typeface="Poppins"/>
                <a:sym typeface="Poppins"/>
              </a:rPr>
              <a:t>03</a:t>
            </a:r>
          </a:p>
        </p:txBody>
      </p:sp>
      <p:sp>
        <p:nvSpPr>
          <p:cNvPr name="TextBox 34" id="34"/>
          <p:cNvSpPr txBox="true"/>
          <p:nvPr/>
        </p:nvSpPr>
        <p:spPr>
          <a:xfrm rot="0">
            <a:off x="4643508" y="2810222"/>
            <a:ext cx="9000984" cy="631791"/>
          </a:xfrm>
          <a:prstGeom prst="rect">
            <a:avLst/>
          </a:prstGeom>
        </p:spPr>
        <p:txBody>
          <a:bodyPr anchor="t" rtlCol="false" tIns="0" lIns="0" bIns="0" rIns="0">
            <a:spAutoFit/>
          </a:bodyPr>
          <a:lstStyle/>
          <a:p>
            <a:pPr algn="ctr">
              <a:lnSpc>
                <a:spcPts val="4524"/>
              </a:lnSpc>
            </a:pPr>
            <a:r>
              <a:rPr lang="en-US" b="true" sz="4228">
                <a:solidFill>
                  <a:srgbClr val="182D88"/>
                </a:solidFill>
                <a:latin typeface="Poppins Bold"/>
                <a:ea typeface="Poppins Bold"/>
                <a:cs typeface="Poppins Bold"/>
                <a:sym typeface="Poppins Bold"/>
              </a:rPr>
              <a:t>Key Components to Understand</a:t>
            </a:r>
          </a:p>
        </p:txBody>
      </p:sp>
      <p:grpSp>
        <p:nvGrpSpPr>
          <p:cNvPr name="Group 35" id="35"/>
          <p:cNvGrpSpPr/>
          <p:nvPr/>
        </p:nvGrpSpPr>
        <p:grpSpPr>
          <a:xfrm rot="0">
            <a:off x="1028700" y="1230883"/>
            <a:ext cx="810364" cy="737183"/>
            <a:chOff x="0" y="0"/>
            <a:chExt cx="205622" cy="187053"/>
          </a:xfrm>
        </p:grpSpPr>
        <p:sp>
          <p:nvSpPr>
            <p:cNvPr name="Freeform 36" id="36"/>
            <p:cNvSpPr/>
            <p:nvPr/>
          </p:nvSpPr>
          <p:spPr>
            <a:xfrm flipH="false" flipV="false" rot="0">
              <a:off x="0" y="0"/>
              <a:ext cx="205622" cy="187053"/>
            </a:xfrm>
            <a:custGeom>
              <a:avLst/>
              <a:gdLst/>
              <a:ahLst/>
              <a:cxnLst/>
              <a:rect r="r" b="b" t="t" l="l"/>
              <a:pathLst>
                <a:path h="187053" w="205622">
                  <a:moveTo>
                    <a:pt x="93526" y="0"/>
                  </a:moveTo>
                  <a:lnTo>
                    <a:pt x="112095" y="0"/>
                  </a:lnTo>
                  <a:cubicBezTo>
                    <a:pt x="136900" y="0"/>
                    <a:pt x="160689" y="9854"/>
                    <a:pt x="178229" y="27393"/>
                  </a:cubicBezTo>
                  <a:cubicBezTo>
                    <a:pt x="195768" y="44933"/>
                    <a:pt x="205622" y="68722"/>
                    <a:pt x="205622" y="93526"/>
                  </a:cubicBezTo>
                  <a:lnTo>
                    <a:pt x="205622" y="93526"/>
                  </a:lnTo>
                  <a:cubicBezTo>
                    <a:pt x="205622" y="118331"/>
                    <a:pt x="195768" y="142120"/>
                    <a:pt x="178229" y="159660"/>
                  </a:cubicBezTo>
                  <a:cubicBezTo>
                    <a:pt x="160689" y="177199"/>
                    <a:pt x="136900" y="187053"/>
                    <a:pt x="112095" y="187053"/>
                  </a:cubicBezTo>
                  <a:lnTo>
                    <a:pt x="93526" y="187053"/>
                  </a:lnTo>
                  <a:cubicBezTo>
                    <a:pt x="68722" y="187053"/>
                    <a:pt x="44933" y="177199"/>
                    <a:pt x="27393" y="159660"/>
                  </a:cubicBezTo>
                  <a:cubicBezTo>
                    <a:pt x="9854" y="142120"/>
                    <a:pt x="0" y="118331"/>
                    <a:pt x="0" y="93526"/>
                  </a:cubicBezTo>
                  <a:lnTo>
                    <a:pt x="0" y="93526"/>
                  </a:lnTo>
                  <a:cubicBezTo>
                    <a:pt x="0" y="68722"/>
                    <a:pt x="9854" y="44933"/>
                    <a:pt x="27393" y="27393"/>
                  </a:cubicBezTo>
                  <a:cubicBezTo>
                    <a:pt x="44933" y="9854"/>
                    <a:pt x="68722" y="0"/>
                    <a:pt x="93526" y="0"/>
                  </a:cubicBezTo>
                  <a:close/>
                </a:path>
              </a:pathLst>
            </a:custGeom>
            <a:solidFill>
              <a:srgbClr val="182D88"/>
            </a:solidFill>
            <a:ln cap="sq">
              <a:noFill/>
              <a:prstDash val="solid"/>
              <a:miter/>
            </a:ln>
          </p:spPr>
        </p:sp>
        <p:sp>
          <p:nvSpPr>
            <p:cNvPr name="TextBox 37" id="37"/>
            <p:cNvSpPr txBox="true"/>
            <p:nvPr/>
          </p:nvSpPr>
          <p:spPr>
            <a:xfrm>
              <a:off x="0" y="0"/>
              <a:ext cx="205622" cy="187053"/>
            </a:xfrm>
            <a:prstGeom prst="rect">
              <a:avLst/>
            </a:prstGeom>
          </p:spPr>
          <p:txBody>
            <a:bodyPr anchor="ctr" rtlCol="false" tIns="50800" lIns="50800" bIns="50800" rIns="50800"/>
            <a:lstStyle/>
            <a:p>
              <a:pPr algn="ctr">
                <a:lnSpc>
                  <a:spcPts val="2904"/>
                </a:lnSpc>
              </a:pPr>
              <a:r>
                <a:rPr lang="en-US" b="true" sz="2617">
                  <a:solidFill>
                    <a:srgbClr val="FFFFFF"/>
                  </a:solidFill>
                  <a:latin typeface="Poppins Bold"/>
                  <a:ea typeface="Poppins Bold"/>
                  <a:cs typeface="Poppins Bold"/>
                  <a:sym typeface="Poppins Bold"/>
                </a:rPr>
                <a:t>4/4</a:t>
              </a:r>
            </a:p>
          </p:txBody>
        </p:sp>
      </p:grpSp>
      <p:sp>
        <p:nvSpPr>
          <p:cNvPr name="TextBox 38" id="38"/>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grpSp>
        <p:nvGrpSpPr>
          <p:cNvPr name="Group 2" id="2"/>
          <p:cNvGrpSpPr/>
          <p:nvPr/>
        </p:nvGrpSpPr>
        <p:grpSpPr>
          <a:xfrm rot="0">
            <a:off x="7027934" y="3252562"/>
            <a:ext cx="4232132" cy="5222010"/>
            <a:chOff x="0" y="0"/>
            <a:chExt cx="1114636" cy="1375344"/>
          </a:xfrm>
        </p:grpSpPr>
        <p:sp>
          <p:nvSpPr>
            <p:cNvPr name="Freeform 3" id="3"/>
            <p:cNvSpPr/>
            <p:nvPr/>
          </p:nvSpPr>
          <p:spPr>
            <a:xfrm flipH="false" flipV="false" rot="0">
              <a:off x="0" y="0"/>
              <a:ext cx="1114636" cy="1375344"/>
            </a:xfrm>
            <a:custGeom>
              <a:avLst/>
              <a:gdLst/>
              <a:ahLst/>
              <a:cxnLst/>
              <a:rect r="r" b="b" t="t" l="l"/>
              <a:pathLst>
                <a:path h="1375344" w="1114636">
                  <a:moveTo>
                    <a:pt x="60368" y="0"/>
                  </a:moveTo>
                  <a:lnTo>
                    <a:pt x="1054268" y="0"/>
                  </a:lnTo>
                  <a:cubicBezTo>
                    <a:pt x="1087608" y="0"/>
                    <a:pt x="1114636" y="27027"/>
                    <a:pt x="1114636" y="60368"/>
                  </a:cubicBezTo>
                  <a:lnTo>
                    <a:pt x="1114636" y="1314977"/>
                  </a:lnTo>
                  <a:cubicBezTo>
                    <a:pt x="1114636" y="1348317"/>
                    <a:pt x="1087608" y="1375344"/>
                    <a:pt x="1054268" y="1375344"/>
                  </a:cubicBezTo>
                  <a:lnTo>
                    <a:pt x="60368" y="1375344"/>
                  </a:lnTo>
                  <a:cubicBezTo>
                    <a:pt x="27027" y="1375344"/>
                    <a:pt x="0" y="1348317"/>
                    <a:pt x="0" y="1314977"/>
                  </a:cubicBezTo>
                  <a:lnTo>
                    <a:pt x="0" y="60368"/>
                  </a:lnTo>
                  <a:cubicBezTo>
                    <a:pt x="0" y="27027"/>
                    <a:pt x="27027" y="0"/>
                    <a:pt x="60368" y="0"/>
                  </a:cubicBezTo>
                  <a:close/>
                </a:path>
              </a:pathLst>
            </a:custGeom>
            <a:ln w="38100" cap="rnd">
              <a:solidFill>
                <a:srgbClr val="2D5986"/>
              </a:solidFill>
              <a:prstDash val="solid"/>
              <a:round/>
            </a:ln>
          </p:spPr>
        </p:sp>
        <p:sp>
          <p:nvSpPr>
            <p:cNvPr name="TextBox 4" id="4"/>
            <p:cNvSpPr txBox="true"/>
            <p:nvPr/>
          </p:nvSpPr>
          <p:spPr>
            <a:xfrm>
              <a:off x="0" y="-38100"/>
              <a:ext cx="1114636" cy="141344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174466" y="3252562"/>
            <a:ext cx="5084834" cy="5222010"/>
            <a:chOff x="0" y="0"/>
            <a:chExt cx="1339216" cy="1375344"/>
          </a:xfrm>
        </p:grpSpPr>
        <p:sp>
          <p:nvSpPr>
            <p:cNvPr name="Freeform 6" id="6"/>
            <p:cNvSpPr/>
            <p:nvPr/>
          </p:nvSpPr>
          <p:spPr>
            <a:xfrm flipH="false" flipV="false" rot="0">
              <a:off x="0" y="0"/>
              <a:ext cx="1339216" cy="1375344"/>
            </a:xfrm>
            <a:custGeom>
              <a:avLst/>
              <a:gdLst/>
              <a:ahLst/>
              <a:cxnLst/>
              <a:rect r="r" b="b" t="t" l="l"/>
              <a:pathLst>
                <a:path h="1375344" w="1339216">
                  <a:moveTo>
                    <a:pt x="50244" y="0"/>
                  </a:moveTo>
                  <a:lnTo>
                    <a:pt x="1288971" y="0"/>
                  </a:lnTo>
                  <a:cubicBezTo>
                    <a:pt x="1316721" y="0"/>
                    <a:pt x="1339216" y="22495"/>
                    <a:pt x="1339216" y="50244"/>
                  </a:cubicBezTo>
                  <a:lnTo>
                    <a:pt x="1339216" y="1325100"/>
                  </a:lnTo>
                  <a:cubicBezTo>
                    <a:pt x="1339216" y="1352849"/>
                    <a:pt x="1316721" y="1375344"/>
                    <a:pt x="1288971" y="1375344"/>
                  </a:cubicBezTo>
                  <a:lnTo>
                    <a:pt x="50244" y="1375344"/>
                  </a:lnTo>
                  <a:cubicBezTo>
                    <a:pt x="36919" y="1375344"/>
                    <a:pt x="24139" y="1370051"/>
                    <a:pt x="14716" y="1360628"/>
                  </a:cubicBezTo>
                  <a:cubicBezTo>
                    <a:pt x="5294" y="1351205"/>
                    <a:pt x="0" y="1338426"/>
                    <a:pt x="0" y="1325100"/>
                  </a:cubicBezTo>
                  <a:lnTo>
                    <a:pt x="0" y="50244"/>
                  </a:lnTo>
                  <a:cubicBezTo>
                    <a:pt x="0" y="22495"/>
                    <a:pt x="22495" y="0"/>
                    <a:pt x="50244" y="0"/>
                  </a:cubicBezTo>
                  <a:close/>
                </a:path>
              </a:pathLst>
            </a:custGeom>
            <a:ln w="38100" cap="rnd">
              <a:solidFill>
                <a:srgbClr val="2D5986"/>
              </a:solidFill>
              <a:prstDash val="solid"/>
              <a:round/>
            </a:ln>
          </p:spPr>
        </p:sp>
        <p:sp>
          <p:nvSpPr>
            <p:cNvPr name="TextBox 7" id="7"/>
            <p:cNvSpPr txBox="true"/>
            <p:nvPr/>
          </p:nvSpPr>
          <p:spPr>
            <a:xfrm>
              <a:off x="0" y="-38100"/>
              <a:ext cx="1339216" cy="14134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879128" y="3252562"/>
            <a:ext cx="4232132" cy="5222010"/>
            <a:chOff x="0" y="0"/>
            <a:chExt cx="1114636" cy="1375344"/>
          </a:xfrm>
        </p:grpSpPr>
        <p:sp>
          <p:nvSpPr>
            <p:cNvPr name="Freeform 9" id="9"/>
            <p:cNvSpPr/>
            <p:nvPr/>
          </p:nvSpPr>
          <p:spPr>
            <a:xfrm flipH="false" flipV="false" rot="0">
              <a:off x="0" y="0"/>
              <a:ext cx="1114636" cy="1375344"/>
            </a:xfrm>
            <a:custGeom>
              <a:avLst/>
              <a:gdLst/>
              <a:ahLst/>
              <a:cxnLst/>
              <a:rect r="r" b="b" t="t" l="l"/>
              <a:pathLst>
                <a:path h="1375344" w="1114636">
                  <a:moveTo>
                    <a:pt x="60368" y="0"/>
                  </a:moveTo>
                  <a:lnTo>
                    <a:pt x="1054268" y="0"/>
                  </a:lnTo>
                  <a:cubicBezTo>
                    <a:pt x="1087608" y="0"/>
                    <a:pt x="1114636" y="27027"/>
                    <a:pt x="1114636" y="60368"/>
                  </a:cubicBezTo>
                  <a:lnTo>
                    <a:pt x="1114636" y="1314977"/>
                  </a:lnTo>
                  <a:cubicBezTo>
                    <a:pt x="1114636" y="1348317"/>
                    <a:pt x="1087608" y="1375344"/>
                    <a:pt x="1054268" y="1375344"/>
                  </a:cubicBezTo>
                  <a:lnTo>
                    <a:pt x="60368" y="1375344"/>
                  </a:lnTo>
                  <a:cubicBezTo>
                    <a:pt x="27027" y="1375344"/>
                    <a:pt x="0" y="1348317"/>
                    <a:pt x="0" y="1314977"/>
                  </a:cubicBezTo>
                  <a:lnTo>
                    <a:pt x="0" y="60368"/>
                  </a:lnTo>
                  <a:cubicBezTo>
                    <a:pt x="0" y="27027"/>
                    <a:pt x="27027" y="0"/>
                    <a:pt x="60368" y="0"/>
                  </a:cubicBezTo>
                  <a:close/>
                </a:path>
              </a:pathLst>
            </a:custGeom>
            <a:ln w="38100" cap="rnd">
              <a:solidFill>
                <a:srgbClr val="2D5986"/>
              </a:solidFill>
              <a:prstDash val="solid"/>
              <a:round/>
            </a:ln>
          </p:spPr>
        </p:sp>
        <p:sp>
          <p:nvSpPr>
            <p:cNvPr name="TextBox 10" id="10"/>
            <p:cNvSpPr txBox="true"/>
            <p:nvPr/>
          </p:nvSpPr>
          <p:spPr>
            <a:xfrm>
              <a:off x="0" y="-38100"/>
              <a:ext cx="1114636" cy="1413444"/>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547352" y="8671521"/>
            <a:ext cx="893177" cy="893177"/>
          </a:xfrm>
          <a:custGeom>
            <a:avLst/>
            <a:gdLst/>
            <a:ahLst/>
            <a:cxnLst/>
            <a:rect r="r" b="b" t="t" l="l"/>
            <a:pathLst>
              <a:path h="893177" w="893177">
                <a:moveTo>
                  <a:pt x="0" y="0"/>
                </a:moveTo>
                <a:lnTo>
                  <a:pt x="893177" y="0"/>
                </a:lnTo>
                <a:lnTo>
                  <a:pt x="893177" y="893177"/>
                </a:lnTo>
                <a:lnTo>
                  <a:pt x="0" y="893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697411" y="8671521"/>
            <a:ext cx="893177" cy="893177"/>
          </a:xfrm>
          <a:custGeom>
            <a:avLst/>
            <a:gdLst/>
            <a:ahLst/>
            <a:cxnLst/>
            <a:rect r="r" b="b" t="t" l="l"/>
            <a:pathLst>
              <a:path h="893177" w="893177">
                <a:moveTo>
                  <a:pt x="0" y="0"/>
                </a:moveTo>
                <a:lnTo>
                  <a:pt x="893178" y="0"/>
                </a:lnTo>
                <a:lnTo>
                  <a:pt x="893178" y="893177"/>
                </a:lnTo>
                <a:lnTo>
                  <a:pt x="0" y="893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309615" y="8671693"/>
            <a:ext cx="893177" cy="893177"/>
          </a:xfrm>
          <a:custGeom>
            <a:avLst/>
            <a:gdLst/>
            <a:ahLst/>
            <a:cxnLst/>
            <a:rect r="r" b="b" t="t" l="l"/>
            <a:pathLst>
              <a:path h="893177" w="893177">
                <a:moveTo>
                  <a:pt x="0" y="0"/>
                </a:moveTo>
                <a:lnTo>
                  <a:pt x="893177" y="0"/>
                </a:lnTo>
                <a:lnTo>
                  <a:pt x="893177" y="893177"/>
                </a:lnTo>
                <a:lnTo>
                  <a:pt x="0" y="8931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300828" y="1526769"/>
            <a:ext cx="15686343" cy="2078218"/>
          </a:xfrm>
          <a:prstGeom prst="rect">
            <a:avLst/>
          </a:prstGeom>
        </p:spPr>
        <p:txBody>
          <a:bodyPr anchor="t" rtlCol="false" tIns="0" lIns="0" bIns="0" rIns="0">
            <a:spAutoFit/>
          </a:bodyPr>
          <a:lstStyle/>
          <a:p>
            <a:pPr algn="ctr">
              <a:lnSpc>
                <a:spcPts val="8218"/>
              </a:lnSpc>
            </a:pPr>
            <a:r>
              <a:rPr lang="en-US" sz="6627">
                <a:solidFill>
                  <a:srgbClr val="2D5986"/>
                </a:solidFill>
                <a:latin typeface="Anton"/>
                <a:ea typeface="Anton"/>
                <a:cs typeface="Anton"/>
                <a:sym typeface="Anton"/>
              </a:rPr>
              <a:t>Enterprise Architecture Frameworks</a:t>
            </a:r>
          </a:p>
          <a:p>
            <a:pPr algn="ctr">
              <a:lnSpc>
                <a:spcPts val="8218"/>
              </a:lnSpc>
            </a:pPr>
          </a:p>
        </p:txBody>
      </p:sp>
      <p:sp>
        <p:nvSpPr>
          <p:cNvPr name="TextBox 15" id="15"/>
          <p:cNvSpPr txBox="true"/>
          <p:nvPr/>
        </p:nvSpPr>
        <p:spPr>
          <a:xfrm rot="0">
            <a:off x="2275144" y="3376296"/>
            <a:ext cx="3440100" cy="1471929"/>
          </a:xfrm>
          <a:prstGeom prst="rect">
            <a:avLst/>
          </a:prstGeom>
        </p:spPr>
        <p:txBody>
          <a:bodyPr anchor="t" rtlCol="false" tIns="0" lIns="0" bIns="0" rIns="0">
            <a:spAutoFit/>
          </a:bodyPr>
          <a:lstStyle/>
          <a:p>
            <a:pPr algn="ctr">
              <a:lnSpc>
                <a:spcPts val="3920"/>
              </a:lnSpc>
              <a:spcBef>
                <a:spcPct val="0"/>
              </a:spcBef>
            </a:pPr>
            <a:r>
              <a:rPr lang="en-US" b="true" sz="2800">
                <a:solidFill>
                  <a:srgbClr val="2D5986"/>
                </a:solidFill>
                <a:latin typeface="Glacial Indifference Bold"/>
                <a:ea typeface="Glacial Indifference Bold"/>
                <a:cs typeface="Glacial Indifference Bold"/>
                <a:sym typeface="Glacial Indifference Bold"/>
              </a:rPr>
              <a:t>TOGA</a:t>
            </a:r>
            <a:r>
              <a:rPr lang="en-US" b="true" sz="2800">
                <a:solidFill>
                  <a:srgbClr val="2D5986"/>
                </a:solidFill>
                <a:latin typeface="Glacial Indifference Bold"/>
                <a:ea typeface="Glacial Indifference Bold"/>
                <a:cs typeface="Glacial Indifference Bold"/>
                <a:sym typeface="Glacial Indifference Bold"/>
              </a:rPr>
              <a:t>F (The Open Group Architecture Framework)</a:t>
            </a:r>
          </a:p>
        </p:txBody>
      </p:sp>
      <p:sp>
        <p:nvSpPr>
          <p:cNvPr name="TextBox 16" id="16"/>
          <p:cNvSpPr txBox="true"/>
          <p:nvPr/>
        </p:nvSpPr>
        <p:spPr>
          <a:xfrm rot="0">
            <a:off x="6944269" y="3471870"/>
            <a:ext cx="4399462"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Zachman F</a:t>
            </a:r>
            <a:r>
              <a:rPr lang="en-US" b="true" sz="3600">
                <a:solidFill>
                  <a:srgbClr val="2D5986"/>
                </a:solidFill>
                <a:latin typeface="Glacial Indifference Bold"/>
                <a:ea typeface="Glacial Indifference Bold"/>
                <a:cs typeface="Glacial Indifference Bold"/>
                <a:sym typeface="Glacial Indifference Bold"/>
              </a:rPr>
              <a:t>ramework</a:t>
            </a:r>
          </a:p>
        </p:txBody>
      </p:sp>
      <p:sp>
        <p:nvSpPr>
          <p:cNvPr name="TextBox 17" id="17"/>
          <p:cNvSpPr txBox="true"/>
          <p:nvPr/>
        </p:nvSpPr>
        <p:spPr>
          <a:xfrm rot="0">
            <a:off x="12765931" y="3376296"/>
            <a:ext cx="3980543" cy="1471929"/>
          </a:xfrm>
          <a:prstGeom prst="rect">
            <a:avLst/>
          </a:prstGeom>
        </p:spPr>
        <p:txBody>
          <a:bodyPr anchor="t" rtlCol="false" tIns="0" lIns="0" bIns="0" rIns="0">
            <a:spAutoFit/>
          </a:bodyPr>
          <a:lstStyle/>
          <a:p>
            <a:pPr algn="ctr">
              <a:lnSpc>
                <a:spcPts val="3920"/>
              </a:lnSpc>
              <a:spcBef>
                <a:spcPct val="0"/>
              </a:spcBef>
            </a:pPr>
            <a:r>
              <a:rPr lang="en-US" b="true" sz="2800">
                <a:solidFill>
                  <a:srgbClr val="2D5986"/>
                </a:solidFill>
                <a:latin typeface="Glacial Indifference Bold"/>
                <a:ea typeface="Glacial Indifference Bold"/>
                <a:cs typeface="Glacial Indifference Bold"/>
                <a:sym typeface="Glacial Indifference Bold"/>
              </a:rPr>
              <a:t>FEAF (Federal Enterpr</a:t>
            </a:r>
            <a:r>
              <a:rPr lang="en-US" b="true" sz="2800">
                <a:solidFill>
                  <a:srgbClr val="2D5986"/>
                </a:solidFill>
                <a:latin typeface="Glacial Indifference Bold"/>
                <a:ea typeface="Glacial Indifference Bold"/>
                <a:cs typeface="Glacial Indifference Bold"/>
                <a:sym typeface="Glacial Indifference Bold"/>
              </a:rPr>
              <a:t>ise Architecture Framework)</a:t>
            </a:r>
          </a:p>
        </p:txBody>
      </p:sp>
      <p:sp>
        <p:nvSpPr>
          <p:cNvPr name="TextBox 18" id="18"/>
          <p:cNvSpPr txBox="true"/>
          <p:nvPr/>
        </p:nvSpPr>
        <p:spPr>
          <a:xfrm rot="0">
            <a:off x="2106486" y="5000282"/>
            <a:ext cx="3774908" cy="2277110"/>
          </a:xfrm>
          <a:prstGeom prst="rect">
            <a:avLst/>
          </a:prstGeom>
        </p:spPr>
        <p:txBody>
          <a:bodyPr anchor="t" rtlCol="false" tIns="0" lIns="0" bIns="0" rIns="0">
            <a:spAutoFit/>
          </a:bodyPr>
          <a:lstStyle/>
          <a:p>
            <a:pPr algn="ctr">
              <a:lnSpc>
                <a:spcPts val="3640"/>
              </a:lnSpc>
            </a:pPr>
            <a:r>
              <a:rPr lang="en-US" sz="2600">
                <a:solidFill>
                  <a:srgbClr val="2D5986"/>
                </a:solidFill>
                <a:latin typeface="Glacial Indifference"/>
                <a:ea typeface="Glacial Indifference"/>
                <a:cs typeface="Glacial Indifference"/>
                <a:sym typeface="Glacial Indifference"/>
              </a:rPr>
              <a:t>Pr</a:t>
            </a:r>
            <a:r>
              <a:rPr lang="en-US" sz="2600">
                <a:solidFill>
                  <a:srgbClr val="2D5986"/>
                </a:solidFill>
                <a:latin typeface="Glacial Indifference"/>
                <a:ea typeface="Glacial Indifference"/>
                <a:cs typeface="Glacial Indifference"/>
                <a:sym typeface="Glacial Indifference"/>
              </a:rPr>
              <a:t>ovides a structured methodology for designing, implementing, and managing Enterprise Architecture.</a:t>
            </a:r>
          </a:p>
        </p:txBody>
      </p:sp>
      <p:sp>
        <p:nvSpPr>
          <p:cNvPr name="TextBox 19" id="19"/>
          <p:cNvSpPr txBox="true"/>
          <p:nvPr/>
        </p:nvSpPr>
        <p:spPr>
          <a:xfrm rot="0">
            <a:off x="7256546" y="5000282"/>
            <a:ext cx="3774908" cy="2734310"/>
          </a:xfrm>
          <a:prstGeom prst="rect">
            <a:avLst/>
          </a:prstGeom>
        </p:spPr>
        <p:txBody>
          <a:bodyPr anchor="t" rtlCol="false" tIns="0" lIns="0" bIns="0" rIns="0">
            <a:spAutoFit/>
          </a:bodyPr>
          <a:lstStyle/>
          <a:p>
            <a:pPr algn="ctr">
              <a:lnSpc>
                <a:spcPts val="3640"/>
              </a:lnSpc>
            </a:pPr>
            <a:r>
              <a:rPr lang="en-US" sz="2600">
                <a:solidFill>
                  <a:srgbClr val="2D5986"/>
                </a:solidFill>
                <a:latin typeface="Glacial Indifference"/>
                <a:ea typeface="Glacial Indifference"/>
                <a:cs typeface="Glacial Indifference"/>
                <a:sym typeface="Glacial Indifference"/>
              </a:rPr>
              <a:t>O</a:t>
            </a:r>
            <a:r>
              <a:rPr lang="en-US" sz="2600">
                <a:solidFill>
                  <a:srgbClr val="2D5986"/>
                </a:solidFill>
                <a:latin typeface="Glacial Indifference"/>
                <a:ea typeface="Glacial Indifference"/>
                <a:cs typeface="Glacial Indifference"/>
                <a:sym typeface="Glacial Indifference"/>
              </a:rPr>
              <a:t>rganizes Enterprise Architecture using different stakeholder perspectives, making complex systems easier to understand.</a:t>
            </a:r>
          </a:p>
        </p:txBody>
      </p:sp>
      <p:sp>
        <p:nvSpPr>
          <p:cNvPr name="TextBox 20" id="20"/>
          <p:cNvSpPr txBox="true"/>
          <p:nvPr/>
        </p:nvSpPr>
        <p:spPr>
          <a:xfrm rot="0">
            <a:off x="12406606" y="4905203"/>
            <a:ext cx="4699195" cy="3661714"/>
          </a:xfrm>
          <a:prstGeom prst="rect">
            <a:avLst/>
          </a:prstGeom>
        </p:spPr>
        <p:txBody>
          <a:bodyPr anchor="t" rtlCol="false" tIns="0" lIns="0" bIns="0" rIns="0">
            <a:spAutoFit/>
          </a:bodyPr>
          <a:lstStyle/>
          <a:p>
            <a:pPr algn="just">
              <a:lnSpc>
                <a:spcPts val="2913"/>
              </a:lnSpc>
            </a:pPr>
            <a:r>
              <a:rPr lang="en-US" sz="2080">
                <a:solidFill>
                  <a:srgbClr val="2D5986"/>
                </a:solidFill>
                <a:latin typeface="Glacial Indifference"/>
                <a:ea typeface="Glacial Indifference"/>
                <a:cs typeface="Glacial Indifference"/>
                <a:sym typeface="Glacial Indifference"/>
              </a:rPr>
              <a:t>Developed f</a:t>
            </a:r>
            <a:r>
              <a:rPr lang="en-US" sz="2080">
                <a:solidFill>
                  <a:srgbClr val="2D5986"/>
                </a:solidFill>
                <a:latin typeface="Glacial Indifference"/>
                <a:ea typeface="Glacial Indifference"/>
                <a:cs typeface="Glacial Indifference"/>
                <a:sym typeface="Glacial Indifference"/>
              </a:rPr>
              <a:t>or government agencies to standardize IT systems and improve interoperability between organizations.</a:t>
            </a:r>
          </a:p>
          <a:p>
            <a:pPr algn="just">
              <a:lnSpc>
                <a:spcPts val="2913"/>
              </a:lnSpc>
            </a:pPr>
            <a:r>
              <a:rPr lang="en-US" sz="2080">
                <a:solidFill>
                  <a:srgbClr val="2D5986"/>
                </a:solidFill>
                <a:latin typeface="Glacial Indifference"/>
                <a:ea typeface="Glacial Indifference"/>
                <a:cs typeface="Glacial Indifference"/>
                <a:sym typeface="Glacial Indifference"/>
              </a:rPr>
              <a:t>Benefits</a:t>
            </a:r>
          </a:p>
          <a:p>
            <a:pPr algn="just" marL="449288" indent="-224644" lvl="1">
              <a:lnSpc>
                <a:spcPts val="2913"/>
              </a:lnSpc>
              <a:buFont typeface="Arial"/>
              <a:buChar char="•"/>
            </a:pPr>
            <a:r>
              <a:rPr lang="en-US" sz="2080">
                <a:solidFill>
                  <a:srgbClr val="2D5986"/>
                </a:solidFill>
                <a:latin typeface="Glacial Indifference"/>
                <a:ea typeface="Glacial Indifference"/>
                <a:cs typeface="Glacial Indifference"/>
                <a:sym typeface="Glacial Indifference"/>
              </a:rPr>
              <a:t>Better decision-making</a:t>
            </a:r>
          </a:p>
          <a:p>
            <a:pPr algn="just" marL="449288" indent="-224644" lvl="1">
              <a:lnSpc>
                <a:spcPts val="2913"/>
              </a:lnSpc>
              <a:buFont typeface="Arial"/>
              <a:buChar char="•"/>
            </a:pPr>
            <a:r>
              <a:rPr lang="en-US" sz="2080">
                <a:solidFill>
                  <a:srgbClr val="2D5986"/>
                </a:solidFill>
                <a:latin typeface="Glacial Indifference"/>
                <a:ea typeface="Glacial Indifference"/>
                <a:cs typeface="Glacial Indifference"/>
                <a:sym typeface="Glacial Indifference"/>
              </a:rPr>
              <a:t>Improved system integration</a:t>
            </a:r>
          </a:p>
          <a:p>
            <a:pPr algn="just" marL="449288" indent="-224644" lvl="1">
              <a:lnSpc>
                <a:spcPts val="2913"/>
              </a:lnSpc>
              <a:buFont typeface="Arial"/>
              <a:buChar char="•"/>
            </a:pPr>
            <a:r>
              <a:rPr lang="en-US" sz="2080">
                <a:solidFill>
                  <a:srgbClr val="2D5986"/>
                </a:solidFill>
                <a:latin typeface="Glacial Indifference"/>
                <a:ea typeface="Glacial Indifference"/>
                <a:cs typeface="Glacial Indifference"/>
                <a:sym typeface="Glacial Indifference"/>
              </a:rPr>
              <a:t>Reduced IT costs</a:t>
            </a:r>
          </a:p>
          <a:p>
            <a:pPr algn="just" marL="449288" indent="-224644" lvl="1">
              <a:lnSpc>
                <a:spcPts val="2913"/>
              </a:lnSpc>
              <a:buFont typeface="Arial"/>
              <a:buChar char="•"/>
            </a:pPr>
            <a:r>
              <a:rPr lang="en-US" sz="2080">
                <a:solidFill>
                  <a:srgbClr val="2D5986"/>
                </a:solidFill>
                <a:latin typeface="Glacial Indifference"/>
                <a:ea typeface="Glacial Indifference"/>
                <a:cs typeface="Glacial Indifference"/>
                <a:sym typeface="Glacial Indifference"/>
              </a:rPr>
              <a:t>Easier scalability</a:t>
            </a:r>
          </a:p>
          <a:p>
            <a:pPr algn="just" marL="449288" indent="-224644" lvl="1">
              <a:lnSpc>
                <a:spcPts val="2913"/>
              </a:lnSpc>
              <a:buFont typeface="Arial"/>
              <a:buChar char="•"/>
            </a:pPr>
            <a:r>
              <a:rPr lang="en-US" sz="2080">
                <a:solidFill>
                  <a:srgbClr val="2D5986"/>
                </a:solidFill>
                <a:latin typeface="Glacial Indifference"/>
                <a:ea typeface="Glacial Indifference"/>
                <a:cs typeface="Glacial Indifference"/>
                <a:sym typeface="Glacial Indifference"/>
              </a:rPr>
              <a:t>Enhanced information security</a:t>
            </a:r>
          </a:p>
          <a:p>
            <a:pPr algn="just">
              <a:lnSpc>
                <a:spcPts val="2913"/>
              </a:lnSpc>
            </a:pPr>
          </a:p>
        </p:txBody>
      </p:sp>
      <p:sp>
        <p:nvSpPr>
          <p:cNvPr name="TextBox 21" id="21"/>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1028700" y="2160669"/>
            <a:ext cx="16230600" cy="0"/>
          </a:xfrm>
          <a:prstGeom prst="line">
            <a:avLst/>
          </a:prstGeom>
          <a:ln cap="rnd" w="9525">
            <a:solidFill>
              <a:srgbClr val="182D88"/>
            </a:solidFill>
            <a:prstDash val="solid"/>
            <a:headEnd type="none" len="sm" w="sm"/>
            <a:tailEnd type="none" len="sm" w="sm"/>
          </a:ln>
        </p:spPr>
      </p:sp>
      <p:grpSp>
        <p:nvGrpSpPr>
          <p:cNvPr name="Group 3" id="3"/>
          <p:cNvGrpSpPr/>
          <p:nvPr/>
        </p:nvGrpSpPr>
        <p:grpSpPr>
          <a:xfrm rot="0">
            <a:off x="1028700" y="2730827"/>
            <a:ext cx="810364" cy="737183"/>
            <a:chOff x="0" y="0"/>
            <a:chExt cx="205622" cy="187053"/>
          </a:xfrm>
        </p:grpSpPr>
        <p:sp>
          <p:nvSpPr>
            <p:cNvPr name="Freeform 4" id="4"/>
            <p:cNvSpPr/>
            <p:nvPr/>
          </p:nvSpPr>
          <p:spPr>
            <a:xfrm flipH="false" flipV="false" rot="0">
              <a:off x="0" y="0"/>
              <a:ext cx="205622" cy="187053"/>
            </a:xfrm>
            <a:custGeom>
              <a:avLst/>
              <a:gdLst/>
              <a:ahLst/>
              <a:cxnLst/>
              <a:rect r="r" b="b" t="t" l="l"/>
              <a:pathLst>
                <a:path h="187053" w="205622">
                  <a:moveTo>
                    <a:pt x="93526" y="0"/>
                  </a:moveTo>
                  <a:lnTo>
                    <a:pt x="112095" y="0"/>
                  </a:lnTo>
                  <a:cubicBezTo>
                    <a:pt x="136900" y="0"/>
                    <a:pt x="160689" y="9854"/>
                    <a:pt x="178229" y="27393"/>
                  </a:cubicBezTo>
                  <a:cubicBezTo>
                    <a:pt x="195768" y="44933"/>
                    <a:pt x="205622" y="68722"/>
                    <a:pt x="205622" y="93526"/>
                  </a:cubicBezTo>
                  <a:lnTo>
                    <a:pt x="205622" y="93526"/>
                  </a:lnTo>
                  <a:cubicBezTo>
                    <a:pt x="205622" y="118331"/>
                    <a:pt x="195768" y="142120"/>
                    <a:pt x="178229" y="159660"/>
                  </a:cubicBezTo>
                  <a:cubicBezTo>
                    <a:pt x="160689" y="177199"/>
                    <a:pt x="136900" y="187053"/>
                    <a:pt x="112095" y="187053"/>
                  </a:cubicBezTo>
                  <a:lnTo>
                    <a:pt x="93526" y="187053"/>
                  </a:lnTo>
                  <a:cubicBezTo>
                    <a:pt x="68722" y="187053"/>
                    <a:pt x="44933" y="177199"/>
                    <a:pt x="27393" y="159660"/>
                  </a:cubicBezTo>
                  <a:cubicBezTo>
                    <a:pt x="9854" y="142120"/>
                    <a:pt x="0" y="118331"/>
                    <a:pt x="0" y="93526"/>
                  </a:cubicBezTo>
                  <a:lnTo>
                    <a:pt x="0" y="93526"/>
                  </a:lnTo>
                  <a:cubicBezTo>
                    <a:pt x="0" y="68722"/>
                    <a:pt x="9854" y="44933"/>
                    <a:pt x="27393" y="27393"/>
                  </a:cubicBezTo>
                  <a:cubicBezTo>
                    <a:pt x="44933" y="9854"/>
                    <a:pt x="68722" y="0"/>
                    <a:pt x="93526" y="0"/>
                  </a:cubicBezTo>
                  <a:close/>
                </a:path>
              </a:pathLst>
            </a:custGeom>
            <a:solidFill>
              <a:srgbClr val="182D88"/>
            </a:solidFill>
            <a:ln cap="sq">
              <a:noFill/>
              <a:prstDash val="solid"/>
              <a:miter/>
            </a:ln>
          </p:spPr>
        </p:sp>
        <p:sp>
          <p:nvSpPr>
            <p:cNvPr name="TextBox 5" id="5"/>
            <p:cNvSpPr txBox="true"/>
            <p:nvPr/>
          </p:nvSpPr>
          <p:spPr>
            <a:xfrm>
              <a:off x="0" y="0"/>
              <a:ext cx="205622" cy="187053"/>
            </a:xfrm>
            <a:prstGeom prst="rect">
              <a:avLst/>
            </a:prstGeom>
          </p:spPr>
          <p:txBody>
            <a:bodyPr anchor="ctr" rtlCol="false" tIns="50800" lIns="50800" bIns="50800" rIns="50800"/>
            <a:lstStyle/>
            <a:p>
              <a:pPr algn="ctr">
                <a:lnSpc>
                  <a:spcPts val="2904"/>
                </a:lnSpc>
              </a:pPr>
              <a:r>
                <a:rPr lang="en-US" b="true" sz="2617">
                  <a:solidFill>
                    <a:srgbClr val="FFFFFF"/>
                  </a:solidFill>
                  <a:latin typeface="Poppins Bold"/>
                  <a:ea typeface="Poppins Bold"/>
                  <a:cs typeface="Poppins Bold"/>
                  <a:sym typeface="Poppins Bold"/>
                </a:rPr>
                <a:t>4/4</a:t>
              </a:r>
            </a:p>
          </p:txBody>
        </p:sp>
      </p:grpSp>
      <p:grpSp>
        <p:nvGrpSpPr>
          <p:cNvPr name="Group 6" id="6"/>
          <p:cNvGrpSpPr/>
          <p:nvPr/>
        </p:nvGrpSpPr>
        <p:grpSpPr>
          <a:xfrm rot="0">
            <a:off x="1015421" y="4029986"/>
            <a:ext cx="3760327" cy="5047339"/>
            <a:chOff x="0" y="0"/>
            <a:chExt cx="991587" cy="1330968"/>
          </a:xfrm>
        </p:grpSpPr>
        <p:sp>
          <p:nvSpPr>
            <p:cNvPr name="Freeform 7" id="7"/>
            <p:cNvSpPr/>
            <p:nvPr/>
          </p:nvSpPr>
          <p:spPr>
            <a:xfrm flipH="false" flipV="false" rot="0">
              <a:off x="0" y="0"/>
              <a:ext cx="991587" cy="1330968"/>
            </a:xfrm>
            <a:custGeom>
              <a:avLst/>
              <a:gdLst/>
              <a:ahLst/>
              <a:cxnLst/>
              <a:rect r="r" b="b" t="t" l="l"/>
              <a:pathLst>
                <a:path h="1330968" w="991587">
                  <a:moveTo>
                    <a:pt x="63824" y="0"/>
                  </a:moveTo>
                  <a:lnTo>
                    <a:pt x="927763" y="0"/>
                  </a:lnTo>
                  <a:cubicBezTo>
                    <a:pt x="963012" y="0"/>
                    <a:pt x="991587" y="28575"/>
                    <a:pt x="991587" y="63824"/>
                  </a:cubicBezTo>
                  <a:lnTo>
                    <a:pt x="991587" y="1267144"/>
                  </a:lnTo>
                  <a:cubicBezTo>
                    <a:pt x="991587" y="1284071"/>
                    <a:pt x="984862" y="1300305"/>
                    <a:pt x="972893" y="1312274"/>
                  </a:cubicBezTo>
                  <a:cubicBezTo>
                    <a:pt x="960924" y="1324243"/>
                    <a:pt x="944690" y="1330968"/>
                    <a:pt x="927763" y="1330968"/>
                  </a:cubicBezTo>
                  <a:lnTo>
                    <a:pt x="63824" y="1330968"/>
                  </a:lnTo>
                  <a:cubicBezTo>
                    <a:pt x="46897" y="1330968"/>
                    <a:pt x="30663" y="1324243"/>
                    <a:pt x="18694" y="1312274"/>
                  </a:cubicBezTo>
                  <a:cubicBezTo>
                    <a:pt x="6724" y="1300305"/>
                    <a:pt x="0" y="1284071"/>
                    <a:pt x="0" y="1267144"/>
                  </a:cubicBezTo>
                  <a:lnTo>
                    <a:pt x="0" y="63824"/>
                  </a:lnTo>
                  <a:cubicBezTo>
                    <a:pt x="0" y="46897"/>
                    <a:pt x="6724" y="30663"/>
                    <a:pt x="18694" y="18694"/>
                  </a:cubicBezTo>
                  <a:cubicBezTo>
                    <a:pt x="30663" y="6724"/>
                    <a:pt x="46897" y="0"/>
                    <a:pt x="63824" y="0"/>
                  </a:cubicBezTo>
                  <a:close/>
                </a:path>
              </a:pathLst>
            </a:custGeom>
            <a:solidFill>
              <a:srgbClr val="097C5C"/>
            </a:solidFill>
          </p:spPr>
        </p:sp>
        <p:sp>
          <p:nvSpPr>
            <p:cNvPr name="TextBox 8" id="8"/>
            <p:cNvSpPr txBox="true"/>
            <p:nvPr/>
          </p:nvSpPr>
          <p:spPr>
            <a:xfrm>
              <a:off x="0" y="-76200"/>
              <a:ext cx="991587" cy="1407168"/>
            </a:xfrm>
            <a:prstGeom prst="rect">
              <a:avLst/>
            </a:prstGeom>
          </p:spPr>
          <p:txBody>
            <a:bodyPr anchor="ctr" rtlCol="false" tIns="53046" lIns="53046" bIns="53046" rIns="53046"/>
            <a:lstStyle/>
            <a:p>
              <a:pPr algn="ctr">
                <a:lnSpc>
                  <a:spcPts val="3451"/>
                </a:lnSpc>
              </a:pPr>
            </a:p>
          </p:txBody>
        </p:sp>
      </p:grpSp>
      <p:grpSp>
        <p:nvGrpSpPr>
          <p:cNvPr name="Group 9" id="9"/>
          <p:cNvGrpSpPr/>
          <p:nvPr/>
        </p:nvGrpSpPr>
        <p:grpSpPr>
          <a:xfrm rot="0">
            <a:off x="5177008" y="4029986"/>
            <a:ext cx="3760327" cy="5047339"/>
            <a:chOff x="0" y="0"/>
            <a:chExt cx="991587" cy="1330968"/>
          </a:xfrm>
        </p:grpSpPr>
        <p:sp>
          <p:nvSpPr>
            <p:cNvPr name="Freeform 10" id="10"/>
            <p:cNvSpPr/>
            <p:nvPr/>
          </p:nvSpPr>
          <p:spPr>
            <a:xfrm flipH="false" flipV="false" rot="0">
              <a:off x="0" y="0"/>
              <a:ext cx="991587" cy="1330968"/>
            </a:xfrm>
            <a:custGeom>
              <a:avLst/>
              <a:gdLst/>
              <a:ahLst/>
              <a:cxnLst/>
              <a:rect r="r" b="b" t="t" l="l"/>
              <a:pathLst>
                <a:path h="1330968" w="991587">
                  <a:moveTo>
                    <a:pt x="63824" y="0"/>
                  </a:moveTo>
                  <a:lnTo>
                    <a:pt x="927763" y="0"/>
                  </a:lnTo>
                  <a:cubicBezTo>
                    <a:pt x="963012" y="0"/>
                    <a:pt x="991587" y="28575"/>
                    <a:pt x="991587" y="63824"/>
                  </a:cubicBezTo>
                  <a:lnTo>
                    <a:pt x="991587" y="1267144"/>
                  </a:lnTo>
                  <a:cubicBezTo>
                    <a:pt x="991587" y="1284071"/>
                    <a:pt x="984862" y="1300305"/>
                    <a:pt x="972893" y="1312274"/>
                  </a:cubicBezTo>
                  <a:cubicBezTo>
                    <a:pt x="960924" y="1324243"/>
                    <a:pt x="944690" y="1330968"/>
                    <a:pt x="927763" y="1330968"/>
                  </a:cubicBezTo>
                  <a:lnTo>
                    <a:pt x="63824" y="1330968"/>
                  </a:lnTo>
                  <a:cubicBezTo>
                    <a:pt x="46897" y="1330968"/>
                    <a:pt x="30663" y="1324243"/>
                    <a:pt x="18694" y="1312274"/>
                  </a:cubicBezTo>
                  <a:cubicBezTo>
                    <a:pt x="6724" y="1300305"/>
                    <a:pt x="0" y="1284071"/>
                    <a:pt x="0" y="1267144"/>
                  </a:cubicBezTo>
                  <a:lnTo>
                    <a:pt x="0" y="63824"/>
                  </a:lnTo>
                  <a:cubicBezTo>
                    <a:pt x="0" y="46897"/>
                    <a:pt x="6724" y="30663"/>
                    <a:pt x="18694" y="18694"/>
                  </a:cubicBezTo>
                  <a:cubicBezTo>
                    <a:pt x="30663" y="6724"/>
                    <a:pt x="46897" y="0"/>
                    <a:pt x="63824" y="0"/>
                  </a:cubicBezTo>
                  <a:close/>
                </a:path>
              </a:pathLst>
            </a:custGeom>
            <a:solidFill>
              <a:srgbClr val="182D88"/>
            </a:solidFill>
          </p:spPr>
        </p:sp>
        <p:sp>
          <p:nvSpPr>
            <p:cNvPr name="TextBox 11" id="11"/>
            <p:cNvSpPr txBox="true"/>
            <p:nvPr/>
          </p:nvSpPr>
          <p:spPr>
            <a:xfrm>
              <a:off x="0" y="-76200"/>
              <a:ext cx="991587" cy="1407168"/>
            </a:xfrm>
            <a:prstGeom prst="rect">
              <a:avLst/>
            </a:prstGeom>
          </p:spPr>
          <p:txBody>
            <a:bodyPr anchor="ctr" rtlCol="false" tIns="50740" lIns="50740" bIns="50740" rIns="50740"/>
            <a:lstStyle/>
            <a:p>
              <a:pPr algn="ctr">
                <a:lnSpc>
                  <a:spcPts val="3451"/>
                </a:lnSpc>
              </a:pPr>
            </a:p>
          </p:txBody>
        </p:sp>
      </p:grpSp>
      <p:grpSp>
        <p:nvGrpSpPr>
          <p:cNvPr name="Group 12" id="12"/>
          <p:cNvGrpSpPr/>
          <p:nvPr/>
        </p:nvGrpSpPr>
        <p:grpSpPr>
          <a:xfrm rot="0">
            <a:off x="9337386" y="4029986"/>
            <a:ext cx="3760327" cy="5047339"/>
            <a:chOff x="0" y="0"/>
            <a:chExt cx="991587" cy="1330968"/>
          </a:xfrm>
        </p:grpSpPr>
        <p:sp>
          <p:nvSpPr>
            <p:cNvPr name="Freeform 13" id="13"/>
            <p:cNvSpPr/>
            <p:nvPr/>
          </p:nvSpPr>
          <p:spPr>
            <a:xfrm flipH="false" flipV="false" rot="0">
              <a:off x="0" y="0"/>
              <a:ext cx="991587" cy="1330968"/>
            </a:xfrm>
            <a:custGeom>
              <a:avLst/>
              <a:gdLst/>
              <a:ahLst/>
              <a:cxnLst/>
              <a:rect r="r" b="b" t="t" l="l"/>
              <a:pathLst>
                <a:path h="1330968" w="991587">
                  <a:moveTo>
                    <a:pt x="63824" y="0"/>
                  </a:moveTo>
                  <a:lnTo>
                    <a:pt x="927763" y="0"/>
                  </a:lnTo>
                  <a:cubicBezTo>
                    <a:pt x="963012" y="0"/>
                    <a:pt x="991587" y="28575"/>
                    <a:pt x="991587" y="63824"/>
                  </a:cubicBezTo>
                  <a:lnTo>
                    <a:pt x="991587" y="1267144"/>
                  </a:lnTo>
                  <a:cubicBezTo>
                    <a:pt x="991587" y="1284071"/>
                    <a:pt x="984862" y="1300305"/>
                    <a:pt x="972893" y="1312274"/>
                  </a:cubicBezTo>
                  <a:cubicBezTo>
                    <a:pt x="960924" y="1324243"/>
                    <a:pt x="944690" y="1330968"/>
                    <a:pt x="927763" y="1330968"/>
                  </a:cubicBezTo>
                  <a:lnTo>
                    <a:pt x="63824" y="1330968"/>
                  </a:lnTo>
                  <a:cubicBezTo>
                    <a:pt x="46897" y="1330968"/>
                    <a:pt x="30663" y="1324243"/>
                    <a:pt x="18694" y="1312274"/>
                  </a:cubicBezTo>
                  <a:cubicBezTo>
                    <a:pt x="6724" y="1300305"/>
                    <a:pt x="0" y="1284071"/>
                    <a:pt x="0" y="1267144"/>
                  </a:cubicBezTo>
                  <a:lnTo>
                    <a:pt x="0" y="63824"/>
                  </a:lnTo>
                  <a:cubicBezTo>
                    <a:pt x="0" y="46897"/>
                    <a:pt x="6724" y="30663"/>
                    <a:pt x="18694" y="18694"/>
                  </a:cubicBezTo>
                  <a:cubicBezTo>
                    <a:pt x="30663" y="6724"/>
                    <a:pt x="46897" y="0"/>
                    <a:pt x="63824" y="0"/>
                  </a:cubicBezTo>
                  <a:close/>
                </a:path>
              </a:pathLst>
            </a:custGeom>
            <a:solidFill>
              <a:srgbClr val="097C5C"/>
            </a:solidFill>
          </p:spPr>
        </p:sp>
        <p:sp>
          <p:nvSpPr>
            <p:cNvPr name="TextBox 14" id="14"/>
            <p:cNvSpPr txBox="true"/>
            <p:nvPr/>
          </p:nvSpPr>
          <p:spPr>
            <a:xfrm>
              <a:off x="0" y="-76200"/>
              <a:ext cx="991587" cy="1407168"/>
            </a:xfrm>
            <a:prstGeom prst="rect">
              <a:avLst/>
            </a:prstGeom>
          </p:spPr>
          <p:txBody>
            <a:bodyPr anchor="ctr" rtlCol="false" tIns="53046" lIns="53046" bIns="53046" rIns="53046"/>
            <a:lstStyle/>
            <a:p>
              <a:pPr algn="ctr">
                <a:lnSpc>
                  <a:spcPts val="3451"/>
                </a:lnSpc>
              </a:pPr>
            </a:p>
          </p:txBody>
        </p:sp>
      </p:grpSp>
      <p:grpSp>
        <p:nvGrpSpPr>
          <p:cNvPr name="Group 15" id="15"/>
          <p:cNvGrpSpPr/>
          <p:nvPr/>
        </p:nvGrpSpPr>
        <p:grpSpPr>
          <a:xfrm rot="0">
            <a:off x="13497763" y="4029986"/>
            <a:ext cx="3760327" cy="5047339"/>
            <a:chOff x="0" y="0"/>
            <a:chExt cx="991587" cy="1330968"/>
          </a:xfrm>
        </p:grpSpPr>
        <p:sp>
          <p:nvSpPr>
            <p:cNvPr name="Freeform 16" id="16"/>
            <p:cNvSpPr/>
            <p:nvPr/>
          </p:nvSpPr>
          <p:spPr>
            <a:xfrm flipH="false" flipV="false" rot="0">
              <a:off x="0" y="0"/>
              <a:ext cx="991587" cy="1330968"/>
            </a:xfrm>
            <a:custGeom>
              <a:avLst/>
              <a:gdLst/>
              <a:ahLst/>
              <a:cxnLst/>
              <a:rect r="r" b="b" t="t" l="l"/>
              <a:pathLst>
                <a:path h="1330968" w="991587">
                  <a:moveTo>
                    <a:pt x="63824" y="0"/>
                  </a:moveTo>
                  <a:lnTo>
                    <a:pt x="927763" y="0"/>
                  </a:lnTo>
                  <a:cubicBezTo>
                    <a:pt x="963012" y="0"/>
                    <a:pt x="991587" y="28575"/>
                    <a:pt x="991587" y="63824"/>
                  </a:cubicBezTo>
                  <a:lnTo>
                    <a:pt x="991587" y="1267144"/>
                  </a:lnTo>
                  <a:cubicBezTo>
                    <a:pt x="991587" y="1284071"/>
                    <a:pt x="984862" y="1300305"/>
                    <a:pt x="972893" y="1312274"/>
                  </a:cubicBezTo>
                  <a:cubicBezTo>
                    <a:pt x="960924" y="1324243"/>
                    <a:pt x="944690" y="1330968"/>
                    <a:pt x="927763" y="1330968"/>
                  </a:cubicBezTo>
                  <a:lnTo>
                    <a:pt x="63824" y="1330968"/>
                  </a:lnTo>
                  <a:cubicBezTo>
                    <a:pt x="46897" y="1330968"/>
                    <a:pt x="30663" y="1324243"/>
                    <a:pt x="18694" y="1312274"/>
                  </a:cubicBezTo>
                  <a:cubicBezTo>
                    <a:pt x="6724" y="1300305"/>
                    <a:pt x="0" y="1284071"/>
                    <a:pt x="0" y="1267144"/>
                  </a:cubicBezTo>
                  <a:lnTo>
                    <a:pt x="0" y="63824"/>
                  </a:lnTo>
                  <a:cubicBezTo>
                    <a:pt x="0" y="46897"/>
                    <a:pt x="6724" y="30663"/>
                    <a:pt x="18694" y="18694"/>
                  </a:cubicBezTo>
                  <a:cubicBezTo>
                    <a:pt x="30663" y="6724"/>
                    <a:pt x="46897" y="0"/>
                    <a:pt x="63824" y="0"/>
                  </a:cubicBezTo>
                  <a:close/>
                </a:path>
              </a:pathLst>
            </a:custGeom>
            <a:solidFill>
              <a:srgbClr val="182D88"/>
            </a:solidFill>
          </p:spPr>
        </p:sp>
        <p:sp>
          <p:nvSpPr>
            <p:cNvPr name="TextBox 17" id="17"/>
            <p:cNvSpPr txBox="true"/>
            <p:nvPr/>
          </p:nvSpPr>
          <p:spPr>
            <a:xfrm>
              <a:off x="0" y="-76200"/>
              <a:ext cx="991587" cy="1407168"/>
            </a:xfrm>
            <a:prstGeom prst="rect">
              <a:avLst/>
            </a:prstGeom>
          </p:spPr>
          <p:txBody>
            <a:bodyPr anchor="ctr" rtlCol="false" tIns="50740" lIns="50740" bIns="50740" rIns="50740"/>
            <a:lstStyle/>
            <a:p>
              <a:pPr algn="ctr">
                <a:lnSpc>
                  <a:spcPts val="3451"/>
                </a:lnSpc>
              </a:pPr>
            </a:p>
          </p:txBody>
        </p:sp>
      </p:grpSp>
      <p:sp>
        <p:nvSpPr>
          <p:cNvPr name="Freeform 18" id="18"/>
          <p:cNvSpPr/>
          <p:nvPr/>
        </p:nvSpPr>
        <p:spPr>
          <a:xfrm flipH="false" flipV="false" rot="0">
            <a:off x="8224522" y="1229561"/>
            <a:ext cx="712813" cy="712813"/>
          </a:xfrm>
          <a:custGeom>
            <a:avLst/>
            <a:gdLst/>
            <a:ahLst/>
            <a:cxnLst/>
            <a:rect r="r" b="b" t="t" l="l"/>
            <a:pathLst>
              <a:path h="712813" w="712813">
                <a:moveTo>
                  <a:pt x="0" y="0"/>
                </a:moveTo>
                <a:lnTo>
                  <a:pt x="712814" y="0"/>
                </a:lnTo>
                <a:lnTo>
                  <a:pt x="712814" y="712813"/>
                </a:lnTo>
                <a:lnTo>
                  <a:pt x="0" y="712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19" id="19"/>
          <p:cNvPicPr>
            <a:picLocks noChangeAspect="true"/>
          </p:cNvPicPr>
          <p:nvPr/>
        </p:nvPicPr>
        <p:blipFill>
          <a:blip r:embed="rId4"/>
          <a:stretch>
            <a:fillRect/>
          </a:stretch>
        </p:blipFill>
        <p:spPr>
          <a:xfrm rot="0">
            <a:off x="2169280" y="4168948"/>
            <a:ext cx="1452610" cy="1539593"/>
          </a:xfrm>
          <a:prstGeom prst="rect">
            <a:avLst/>
          </a:prstGeom>
        </p:spPr>
      </p:pic>
      <p:pic>
        <p:nvPicPr>
          <p:cNvPr name="Picture 20" id="20"/>
          <p:cNvPicPr>
            <a:picLocks noChangeAspect="true"/>
          </p:cNvPicPr>
          <p:nvPr/>
        </p:nvPicPr>
        <p:blipFill>
          <a:blip r:embed="rId5"/>
          <a:stretch>
            <a:fillRect/>
          </a:stretch>
        </p:blipFill>
        <p:spPr>
          <a:xfrm rot="0">
            <a:off x="6316115" y="4164568"/>
            <a:ext cx="1482113" cy="1592143"/>
          </a:xfrm>
          <a:prstGeom prst="rect">
            <a:avLst/>
          </a:prstGeom>
        </p:spPr>
      </p:pic>
      <p:sp>
        <p:nvSpPr>
          <p:cNvPr name="Freeform 21" id="21"/>
          <p:cNvSpPr/>
          <p:nvPr/>
        </p:nvSpPr>
        <p:spPr>
          <a:xfrm flipH="false" flipV="false" rot="0">
            <a:off x="10538858" y="4265359"/>
            <a:ext cx="1346770" cy="1346770"/>
          </a:xfrm>
          <a:custGeom>
            <a:avLst/>
            <a:gdLst/>
            <a:ahLst/>
            <a:cxnLst/>
            <a:rect r="r" b="b" t="t" l="l"/>
            <a:pathLst>
              <a:path h="1346770" w="1346770">
                <a:moveTo>
                  <a:pt x="0" y="0"/>
                </a:moveTo>
                <a:lnTo>
                  <a:pt x="1346769" y="0"/>
                </a:lnTo>
                <a:lnTo>
                  <a:pt x="1346769" y="1346769"/>
                </a:lnTo>
                <a:lnTo>
                  <a:pt x="0" y="1346769"/>
                </a:lnTo>
                <a:lnTo>
                  <a:pt x="0" y="0"/>
                </a:lnTo>
                <a:close/>
              </a:path>
            </a:pathLst>
          </a:custGeom>
          <a:blipFill>
            <a:blip r:embed="rId6"/>
            <a:stretch>
              <a:fillRect l="0" t="0" r="0" b="0"/>
            </a:stretch>
          </a:blipFill>
        </p:spPr>
      </p:sp>
      <p:sp>
        <p:nvSpPr>
          <p:cNvPr name="Freeform 22" id="22"/>
          <p:cNvSpPr/>
          <p:nvPr/>
        </p:nvSpPr>
        <p:spPr>
          <a:xfrm flipH="false" flipV="false" rot="0">
            <a:off x="14731678" y="4265359"/>
            <a:ext cx="1271892" cy="1271892"/>
          </a:xfrm>
          <a:custGeom>
            <a:avLst/>
            <a:gdLst/>
            <a:ahLst/>
            <a:cxnLst/>
            <a:rect r="r" b="b" t="t" l="l"/>
            <a:pathLst>
              <a:path h="1271892" w="1271892">
                <a:moveTo>
                  <a:pt x="0" y="0"/>
                </a:moveTo>
                <a:lnTo>
                  <a:pt x="1271891" y="0"/>
                </a:lnTo>
                <a:lnTo>
                  <a:pt x="1271891" y="1271891"/>
                </a:lnTo>
                <a:lnTo>
                  <a:pt x="0" y="12718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1681551" y="5897370"/>
            <a:ext cx="2517888" cy="345071"/>
          </a:xfrm>
          <a:prstGeom prst="rect">
            <a:avLst/>
          </a:prstGeom>
        </p:spPr>
        <p:txBody>
          <a:bodyPr anchor="t" rtlCol="false" tIns="0" lIns="0" bIns="0" rIns="0">
            <a:spAutoFit/>
          </a:bodyPr>
          <a:lstStyle/>
          <a:p>
            <a:pPr algn="ctr">
              <a:lnSpc>
                <a:spcPts val="2436"/>
              </a:lnSpc>
            </a:pPr>
            <a:r>
              <a:rPr lang="en-US" sz="2277">
                <a:solidFill>
                  <a:srgbClr val="FFFFFF"/>
                </a:solidFill>
                <a:latin typeface="Poppins"/>
                <a:ea typeface="Poppins"/>
                <a:cs typeface="Poppins"/>
                <a:sym typeface="Poppins"/>
              </a:rPr>
              <a:t>Business L</a:t>
            </a:r>
            <a:r>
              <a:rPr lang="en-US" sz="2277">
                <a:solidFill>
                  <a:srgbClr val="FFFFFF"/>
                </a:solidFill>
                <a:latin typeface="Poppins"/>
                <a:ea typeface="Poppins"/>
                <a:cs typeface="Poppins"/>
                <a:sym typeface="Poppins"/>
              </a:rPr>
              <a:t>ayer</a:t>
            </a:r>
          </a:p>
        </p:txBody>
      </p:sp>
      <p:sp>
        <p:nvSpPr>
          <p:cNvPr name="TextBox 24" id="24"/>
          <p:cNvSpPr txBox="true"/>
          <p:nvPr/>
        </p:nvSpPr>
        <p:spPr>
          <a:xfrm rot="0">
            <a:off x="1015421" y="6318436"/>
            <a:ext cx="3358602" cy="2466800"/>
          </a:xfrm>
          <a:prstGeom prst="rect">
            <a:avLst/>
          </a:prstGeom>
        </p:spPr>
        <p:txBody>
          <a:bodyPr anchor="t" rtlCol="false" tIns="0" lIns="0" bIns="0" rIns="0">
            <a:spAutoFit/>
          </a:bodyPr>
          <a:lstStyle/>
          <a:p>
            <a:pPr algn="l" marL="506636" indent="-253318" lvl="1">
              <a:lnSpc>
                <a:spcPts val="3942"/>
              </a:lnSpc>
              <a:buFont typeface="Arial"/>
              <a:buChar char="•"/>
            </a:pPr>
            <a:r>
              <a:rPr lang="en-US" sz="2346">
                <a:solidFill>
                  <a:srgbClr val="FFFFFF"/>
                </a:solidFill>
                <a:latin typeface="Poppins"/>
                <a:ea typeface="Poppins"/>
                <a:cs typeface="Poppins"/>
                <a:sym typeface="Poppins"/>
              </a:rPr>
              <a:t>S</a:t>
            </a:r>
            <a:r>
              <a:rPr lang="en-US" sz="2346">
                <a:solidFill>
                  <a:srgbClr val="FFFFFF"/>
                </a:solidFill>
                <a:latin typeface="Poppins"/>
                <a:ea typeface="Poppins"/>
                <a:cs typeface="Poppins"/>
                <a:sym typeface="Poppins"/>
              </a:rPr>
              <a:t>ecurity governance</a:t>
            </a:r>
          </a:p>
          <a:p>
            <a:pPr algn="l" marL="506636" indent="-253318" lvl="1">
              <a:lnSpc>
                <a:spcPts val="3942"/>
              </a:lnSpc>
              <a:buFont typeface="Arial"/>
              <a:buChar char="•"/>
            </a:pPr>
            <a:r>
              <a:rPr lang="en-US" sz="2346">
                <a:solidFill>
                  <a:srgbClr val="FFFFFF"/>
                </a:solidFill>
                <a:latin typeface="Poppins"/>
                <a:ea typeface="Poppins"/>
                <a:cs typeface="Poppins"/>
                <a:sym typeface="Poppins"/>
              </a:rPr>
              <a:t>Policies</a:t>
            </a:r>
          </a:p>
          <a:p>
            <a:pPr algn="l" marL="506636" indent="-253318" lvl="1">
              <a:lnSpc>
                <a:spcPts val="3942"/>
              </a:lnSpc>
              <a:buFont typeface="Arial"/>
              <a:buChar char="•"/>
            </a:pPr>
            <a:r>
              <a:rPr lang="en-US" sz="2346">
                <a:solidFill>
                  <a:srgbClr val="FFFFFF"/>
                </a:solidFill>
                <a:latin typeface="Poppins"/>
                <a:ea typeface="Poppins"/>
                <a:cs typeface="Poppins"/>
                <a:sym typeface="Poppins"/>
              </a:rPr>
              <a:t>Risk management</a:t>
            </a:r>
          </a:p>
          <a:p>
            <a:pPr algn="l">
              <a:lnSpc>
                <a:spcPts val="3942"/>
              </a:lnSpc>
            </a:pPr>
          </a:p>
        </p:txBody>
      </p:sp>
      <p:sp>
        <p:nvSpPr>
          <p:cNvPr name="TextBox 25" id="25"/>
          <p:cNvSpPr txBox="true"/>
          <p:nvPr/>
        </p:nvSpPr>
        <p:spPr>
          <a:xfrm rot="0">
            <a:off x="1028700" y="496136"/>
            <a:ext cx="12069013" cy="1446238"/>
          </a:xfrm>
          <a:prstGeom prst="rect">
            <a:avLst/>
          </a:prstGeom>
        </p:spPr>
        <p:txBody>
          <a:bodyPr anchor="t" rtlCol="false" tIns="0" lIns="0" bIns="0" rIns="0">
            <a:spAutoFit/>
          </a:bodyPr>
          <a:lstStyle/>
          <a:p>
            <a:pPr algn="l">
              <a:lnSpc>
                <a:spcPts val="5454"/>
              </a:lnSpc>
            </a:pPr>
            <a:r>
              <a:rPr lang="en-US" sz="5097" b="true">
                <a:solidFill>
                  <a:srgbClr val="182D88"/>
                </a:solidFill>
                <a:latin typeface="Poppins Bold"/>
                <a:ea typeface="Poppins Bold"/>
                <a:cs typeface="Poppins Bold"/>
                <a:sym typeface="Poppins Bold"/>
              </a:rPr>
              <a:t>Enterprise Architecture and Information Security</a:t>
            </a:r>
          </a:p>
        </p:txBody>
      </p:sp>
      <p:sp>
        <p:nvSpPr>
          <p:cNvPr name="TextBox 26" id="26"/>
          <p:cNvSpPr txBox="true"/>
          <p:nvPr/>
        </p:nvSpPr>
        <p:spPr>
          <a:xfrm rot="0">
            <a:off x="2004670" y="2730827"/>
            <a:ext cx="14798713" cy="1356869"/>
          </a:xfrm>
          <a:prstGeom prst="rect">
            <a:avLst/>
          </a:prstGeom>
        </p:spPr>
        <p:txBody>
          <a:bodyPr anchor="t" rtlCol="false" tIns="0" lIns="0" bIns="0" rIns="0">
            <a:spAutoFit/>
          </a:bodyPr>
          <a:lstStyle/>
          <a:p>
            <a:pPr algn="l">
              <a:lnSpc>
                <a:spcPts val="3633"/>
              </a:lnSpc>
            </a:pPr>
            <a:r>
              <a:rPr lang="en-US" sz="3396">
                <a:solidFill>
                  <a:srgbClr val="182D88"/>
                </a:solidFill>
                <a:latin typeface="Poppins"/>
                <a:ea typeface="Poppins"/>
                <a:cs typeface="Poppins"/>
                <a:sym typeface="Poppins"/>
              </a:rPr>
              <a:t>Enterprise Architecture strengthens information security by integrating security into every layer of the organization.</a:t>
            </a:r>
          </a:p>
          <a:p>
            <a:pPr algn="l">
              <a:lnSpc>
                <a:spcPts val="3098"/>
              </a:lnSpc>
            </a:pPr>
          </a:p>
        </p:txBody>
      </p:sp>
      <p:sp>
        <p:nvSpPr>
          <p:cNvPr name="TextBox 27" id="27"/>
          <p:cNvSpPr txBox="true"/>
          <p:nvPr/>
        </p:nvSpPr>
        <p:spPr>
          <a:xfrm rot="0">
            <a:off x="5777643" y="5897370"/>
            <a:ext cx="2517888" cy="345071"/>
          </a:xfrm>
          <a:prstGeom prst="rect">
            <a:avLst/>
          </a:prstGeom>
        </p:spPr>
        <p:txBody>
          <a:bodyPr anchor="t" rtlCol="false" tIns="0" lIns="0" bIns="0" rIns="0">
            <a:spAutoFit/>
          </a:bodyPr>
          <a:lstStyle/>
          <a:p>
            <a:pPr algn="ctr">
              <a:lnSpc>
                <a:spcPts val="2436"/>
              </a:lnSpc>
            </a:pPr>
            <a:r>
              <a:rPr lang="en-US" sz="2277">
                <a:solidFill>
                  <a:srgbClr val="FFFFFF"/>
                </a:solidFill>
                <a:latin typeface="Poppins"/>
                <a:ea typeface="Poppins"/>
                <a:cs typeface="Poppins"/>
                <a:sym typeface="Poppins"/>
              </a:rPr>
              <a:t>D</a:t>
            </a:r>
            <a:r>
              <a:rPr lang="en-US" sz="2277">
                <a:solidFill>
                  <a:srgbClr val="FFFFFF"/>
                </a:solidFill>
                <a:latin typeface="Poppins"/>
                <a:ea typeface="Poppins"/>
                <a:cs typeface="Poppins"/>
                <a:sym typeface="Poppins"/>
              </a:rPr>
              <a:t>ata Layer</a:t>
            </a:r>
          </a:p>
        </p:txBody>
      </p:sp>
      <p:sp>
        <p:nvSpPr>
          <p:cNvPr name="TextBox 28" id="28"/>
          <p:cNvSpPr txBox="true"/>
          <p:nvPr/>
        </p:nvSpPr>
        <p:spPr>
          <a:xfrm rot="0">
            <a:off x="5177008" y="6394842"/>
            <a:ext cx="3663574" cy="2466594"/>
          </a:xfrm>
          <a:prstGeom prst="rect">
            <a:avLst/>
          </a:prstGeom>
        </p:spPr>
        <p:txBody>
          <a:bodyPr anchor="t" rtlCol="false" tIns="0" lIns="0" bIns="0" rIns="0">
            <a:spAutoFit/>
          </a:bodyPr>
          <a:lstStyle/>
          <a:p>
            <a:pPr algn="l" marL="507364" indent="-253682" lvl="1">
              <a:lnSpc>
                <a:spcPts val="3947"/>
              </a:lnSpc>
              <a:buFont typeface="Arial"/>
              <a:buChar char="•"/>
            </a:pPr>
            <a:r>
              <a:rPr lang="en-US" sz="2349">
                <a:solidFill>
                  <a:srgbClr val="FFFFFF"/>
                </a:solidFill>
                <a:latin typeface="Poppins"/>
                <a:ea typeface="Poppins"/>
                <a:cs typeface="Poppins"/>
                <a:sym typeface="Poppins"/>
              </a:rPr>
              <a:t>Da</a:t>
            </a:r>
            <a:r>
              <a:rPr lang="en-US" sz="2349">
                <a:solidFill>
                  <a:srgbClr val="FFFFFF"/>
                </a:solidFill>
                <a:latin typeface="Poppins"/>
                <a:ea typeface="Poppins"/>
                <a:cs typeface="Poppins"/>
                <a:sym typeface="Poppins"/>
              </a:rPr>
              <a:t>ta encryption</a:t>
            </a:r>
          </a:p>
          <a:p>
            <a:pPr algn="l" marL="507364" indent="-253682" lvl="1">
              <a:lnSpc>
                <a:spcPts val="3947"/>
              </a:lnSpc>
              <a:buFont typeface="Arial"/>
              <a:buChar char="•"/>
            </a:pPr>
            <a:r>
              <a:rPr lang="en-US" sz="2349">
                <a:solidFill>
                  <a:srgbClr val="FFFFFF"/>
                </a:solidFill>
                <a:latin typeface="Poppins"/>
                <a:ea typeface="Poppins"/>
                <a:cs typeface="Poppins"/>
                <a:sym typeface="Poppins"/>
              </a:rPr>
              <a:t>Data classification</a:t>
            </a:r>
          </a:p>
          <a:p>
            <a:pPr algn="l" marL="507364" indent="-253682" lvl="1">
              <a:lnSpc>
                <a:spcPts val="3947"/>
              </a:lnSpc>
              <a:buFont typeface="Arial"/>
              <a:buChar char="•"/>
            </a:pPr>
            <a:r>
              <a:rPr lang="en-US" sz="2349">
                <a:solidFill>
                  <a:srgbClr val="FFFFFF"/>
                </a:solidFill>
                <a:latin typeface="Poppins"/>
                <a:ea typeface="Poppins"/>
                <a:cs typeface="Poppins"/>
                <a:sym typeface="Poppins"/>
              </a:rPr>
              <a:t>Backup and recovery</a:t>
            </a:r>
          </a:p>
          <a:p>
            <a:pPr algn="l">
              <a:lnSpc>
                <a:spcPts val="3947"/>
              </a:lnSpc>
            </a:pPr>
          </a:p>
        </p:txBody>
      </p:sp>
      <p:sp>
        <p:nvSpPr>
          <p:cNvPr name="TextBox 29" id="29"/>
          <p:cNvSpPr txBox="true"/>
          <p:nvPr/>
        </p:nvSpPr>
        <p:spPr>
          <a:xfrm rot="0">
            <a:off x="9953298" y="5897370"/>
            <a:ext cx="2517888" cy="345071"/>
          </a:xfrm>
          <a:prstGeom prst="rect">
            <a:avLst/>
          </a:prstGeom>
        </p:spPr>
        <p:txBody>
          <a:bodyPr anchor="t" rtlCol="false" tIns="0" lIns="0" bIns="0" rIns="0">
            <a:spAutoFit/>
          </a:bodyPr>
          <a:lstStyle/>
          <a:p>
            <a:pPr algn="ctr">
              <a:lnSpc>
                <a:spcPts val="2436"/>
              </a:lnSpc>
            </a:pPr>
            <a:r>
              <a:rPr lang="en-US" sz="2277">
                <a:solidFill>
                  <a:srgbClr val="FFFFFF"/>
                </a:solidFill>
                <a:latin typeface="Poppins"/>
                <a:ea typeface="Poppins"/>
                <a:cs typeface="Poppins"/>
                <a:sym typeface="Poppins"/>
              </a:rPr>
              <a:t>App</a:t>
            </a:r>
            <a:r>
              <a:rPr lang="en-US" sz="2277">
                <a:solidFill>
                  <a:srgbClr val="FFFFFF"/>
                </a:solidFill>
                <a:latin typeface="Poppins"/>
                <a:ea typeface="Poppins"/>
                <a:cs typeface="Poppins"/>
                <a:sym typeface="Poppins"/>
              </a:rPr>
              <a:t>lication Layer</a:t>
            </a:r>
          </a:p>
        </p:txBody>
      </p:sp>
      <p:sp>
        <p:nvSpPr>
          <p:cNvPr name="TextBox 30" id="30"/>
          <p:cNvSpPr txBox="true"/>
          <p:nvPr/>
        </p:nvSpPr>
        <p:spPr>
          <a:xfrm rot="0">
            <a:off x="9337386" y="6420305"/>
            <a:ext cx="3665077" cy="2466594"/>
          </a:xfrm>
          <a:prstGeom prst="rect">
            <a:avLst/>
          </a:prstGeom>
        </p:spPr>
        <p:txBody>
          <a:bodyPr anchor="t" rtlCol="false" tIns="0" lIns="0" bIns="0" rIns="0">
            <a:spAutoFit/>
          </a:bodyPr>
          <a:lstStyle/>
          <a:p>
            <a:pPr algn="l" marL="507364" indent="-253682" lvl="1">
              <a:lnSpc>
                <a:spcPts val="3947"/>
              </a:lnSpc>
              <a:buFont typeface="Arial"/>
              <a:buChar char="•"/>
            </a:pPr>
            <a:r>
              <a:rPr lang="en-US" sz="2349">
                <a:solidFill>
                  <a:srgbClr val="FFFFFF"/>
                </a:solidFill>
                <a:latin typeface="Poppins"/>
                <a:ea typeface="Poppins"/>
                <a:cs typeface="Poppins"/>
                <a:sym typeface="Poppins"/>
              </a:rPr>
              <a:t>A</a:t>
            </a:r>
            <a:r>
              <a:rPr lang="en-US" sz="2349">
                <a:solidFill>
                  <a:srgbClr val="FFFFFF"/>
                </a:solidFill>
                <a:latin typeface="Poppins"/>
                <a:ea typeface="Poppins"/>
                <a:cs typeface="Poppins"/>
                <a:sym typeface="Poppins"/>
              </a:rPr>
              <a:t>uthentication</a:t>
            </a:r>
          </a:p>
          <a:p>
            <a:pPr algn="l" marL="507364" indent="-253682" lvl="1">
              <a:lnSpc>
                <a:spcPts val="3947"/>
              </a:lnSpc>
              <a:buFont typeface="Arial"/>
              <a:buChar char="•"/>
            </a:pPr>
            <a:r>
              <a:rPr lang="en-US" sz="2349">
                <a:solidFill>
                  <a:srgbClr val="FFFFFF"/>
                </a:solidFill>
                <a:latin typeface="Poppins"/>
                <a:ea typeface="Poppins"/>
                <a:cs typeface="Poppins"/>
                <a:sym typeface="Poppins"/>
              </a:rPr>
              <a:t>Authorization</a:t>
            </a:r>
          </a:p>
          <a:p>
            <a:pPr algn="l" marL="507364" indent="-253682" lvl="1">
              <a:lnSpc>
                <a:spcPts val="3947"/>
              </a:lnSpc>
              <a:buFont typeface="Arial"/>
              <a:buChar char="•"/>
            </a:pPr>
            <a:r>
              <a:rPr lang="en-US" sz="2349">
                <a:solidFill>
                  <a:srgbClr val="FFFFFF"/>
                </a:solidFill>
                <a:latin typeface="Poppins"/>
                <a:ea typeface="Poppins"/>
                <a:cs typeface="Poppins"/>
                <a:sym typeface="Poppins"/>
              </a:rPr>
              <a:t>Secure software development</a:t>
            </a:r>
          </a:p>
          <a:p>
            <a:pPr algn="l">
              <a:lnSpc>
                <a:spcPts val="3947"/>
              </a:lnSpc>
            </a:pPr>
          </a:p>
        </p:txBody>
      </p:sp>
      <p:sp>
        <p:nvSpPr>
          <p:cNvPr name="TextBox 31" id="31"/>
          <p:cNvSpPr txBox="true"/>
          <p:nvPr/>
        </p:nvSpPr>
        <p:spPr>
          <a:xfrm rot="0">
            <a:off x="14097838" y="5743632"/>
            <a:ext cx="2517888" cy="652548"/>
          </a:xfrm>
          <a:prstGeom prst="rect">
            <a:avLst/>
          </a:prstGeom>
        </p:spPr>
        <p:txBody>
          <a:bodyPr anchor="t" rtlCol="false" tIns="0" lIns="0" bIns="0" rIns="0">
            <a:spAutoFit/>
          </a:bodyPr>
          <a:lstStyle/>
          <a:p>
            <a:pPr algn="ctr">
              <a:lnSpc>
                <a:spcPts val="2436"/>
              </a:lnSpc>
            </a:pPr>
            <a:r>
              <a:rPr lang="en-US" sz="2277">
                <a:solidFill>
                  <a:srgbClr val="FFFFFF"/>
                </a:solidFill>
                <a:latin typeface="Poppins"/>
                <a:ea typeface="Poppins"/>
                <a:cs typeface="Poppins"/>
                <a:sym typeface="Poppins"/>
              </a:rPr>
              <a:t>T</a:t>
            </a:r>
            <a:r>
              <a:rPr lang="en-US" sz="2277">
                <a:solidFill>
                  <a:srgbClr val="FFFFFF"/>
                </a:solidFill>
                <a:latin typeface="Poppins"/>
                <a:ea typeface="Poppins"/>
                <a:cs typeface="Poppins"/>
                <a:sym typeface="Poppins"/>
              </a:rPr>
              <a:t>echnology Layer</a:t>
            </a:r>
          </a:p>
        </p:txBody>
      </p:sp>
      <p:sp>
        <p:nvSpPr>
          <p:cNvPr name="TextBox 32" id="32"/>
          <p:cNvSpPr txBox="true"/>
          <p:nvPr/>
        </p:nvSpPr>
        <p:spPr>
          <a:xfrm rot="0">
            <a:off x="13497763" y="6462855"/>
            <a:ext cx="3760327" cy="2671589"/>
          </a:xfrm>
          <a:prstGeom prst="rect">
            <a:avLst/>
          </a:prstGeom>
        </p:spPr>
        <p:txBody>
          <a:bodyPr anchor="t" rtlCol="false" tIns="0" lIns="0" bIns="0" rIns="0">
            <a:spAutoFit/>
          </a:bodyPr>
          <a:lstStyle/>
          <a:p>
            <a:pPr algn="l" marL="456028" indent="-228014" lvl="1">
              <a:lnSpc>
                <a:spcPts val="3548"/>
              </a:lnSpc>
              <a:buFont typeface="Arial"/>
              <a:buChar char="•"/>
            </a:pPr>
            <a:r>
              <a:rPr lang="en-US" sz="2112">
                <a:solidFill>
                  <a:srgbClr val="FFFFFF"/>
                </a:solidFill>
                <a:latin typeface="Poppins"/>
                <a:ea typeface="Poppins"/>
                <a:cs typeface="Poppins"/>
                <a:sym typeface="Poppins"/>
              </a:rPr>
              <a:t>Fi</a:t>
            </a:r>
            <a:r>
              <a:rPr lang="en-US" sz="2112">
                <a:solidFill>
                  <a:srgbClr val="FFFFFF"/>
                </a:solidFill>
                <a:latin typeface="Poppins"/>
                <a:ea typeface="Poppins"/>
                <a:cs typeface="Poppins"/>
                <a:sym typeface="Poppins"/>
              </a:rPr>
              <a:t>rewalls</a:t>
            </a:r>
          </a:p>
          <a:p>
            <a:pPr algn="l" marL="456028" indent="-228014" lvl="1">
              <a:lnSpc>
                <a:spcPts val="3548"/>
              </a:lnSpc>
              <a:buFont typeface="Arial"/>
              <a:buChar char="•"/>
            </a:pPr>
            <a:r>
              <a:rPr lang="en-US" sz="2112">
                <a:solidFill>
                  <a:srgbClr val="FFFFFF"/>
                </a:solidFill>
                <a:latin typeface="Poppins"/>
                <a:ea typeface="Poppins"/>
                <a:cs typeface="Poppins"/>
                <a:sym typeface="Poppins"/>
              </a:rPr>
              <a:t>Intrusion Detection Systems (IDS)</a:t>
            </a:r>
          </a:p>
          <a:p>
            <a:pPr algn="l" marL="456028" indent="-228014" lvl="1">
              <a:lnSpc>
                <a:spcPts val="3548"/>
              </a:lnSpc>
              <a:buFont typeface="Arial"/>
              <a:buChar char="•"/>
            </a:pPr>
            <a:r>
              <a:rPr lang="en-US" sz="2112">
                <a:solidFill>
                  <a:srgbClr val="FFFFFF"/>
                </a:solidFill>
                <a:latin typeface="Poppins"/>
                <a:ea typeface="Poppins"/>
                <a:cs typeface="Poppins"/>
                <a:sym typeface="Poppins"/>
              </a:rPr>
              <a:t>Cloud security</a:t>
            </a:r>
          </a:p>
          <a:p>
            <a:pPr algn="l" marL="456028" indent="-228014" lvl="1">
              <a:lnSpc>
                <a:spcPts val="3548"/>
              </a:lnSpc>
              <a:buFont typeface="Arial"/>
              <a:buChar char="•"/>
            </a:pPr>
            <a:r>
              <a:rPr lang="en-US" sz="2112">
                <a:solidFill>
                  <a:srgbClr val="FFFFFF"/>
                </a:solidFill>
                <a:latin typeface="Poppins"/>
                <a:ea typeface="Poppins"/>
                <a:cs typeface="Poppins"/>
                <a:sym typeface="Poppins"/>
              </a:rPr>
              <a:t>Network segmentation</a:t>
            </a:r>
          </a:p>
          <a:p>
            <a:pPr algn="l">
              <a:lnSpc>
                <a:spcPts val="3548"/>
              </a:lnSpc>
            </a:pPr>
          </a:p>
        </p:txBody>
      </p:sp>
      <p:sp>
        <p:nvSpPr>
          <p:cNvPr name="TextBox 33" id="33"/>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1028700" y="1414753"/>
            <a:ext cx="16230600" cy="0"/>
          </a:xfrm>
          <a:prstGeom prst="line">
            <a:avLst/>
          </a:prstGeom>
          <a:ln cap="rnd" w="9525">
            <a:solidFill>
              <a:srgbClr val="182D88"/>
            </a:solidFill>
            <a:prstDash val="solid"/>
            <a:headEnd type="none" len="sm" w="sm"/>
            <a:tailEnd type="none" len="sm" w="sm"/>
          </a:ln>
        </p:spPr>
      </p:sp>
      <p:sp>
        <p:nvSpPr>
          <p:cNvPr name="Freeform 3" id="3"/>
          <p:cNvSpPr/>
          <p:nvPr/>
        </p:nvSpPr>
        <p:spPr>
          <a:xfrm flipH="false" flipV="false" rot="0">
            <a:off x="1028700" y="2674657"/>
            <a:ext cx="6898460" cy="6360380"/>
          </a:xfrm>
          <a:custGeom>
            <a:avLst/>
            <a:gdLst/>
            <a:ahLst/>
            <a:cxnLst/>
            <a:rect r="r" b="b" t="t" l="l"/>
            <a:pathLst>
              <a:path h="6360380" w="6898460">
                <a:moveTo>
                  <a:pt x="0" y="0"/>
                </a:moveTo>
                <a:lnTo>
                  <a:pt x="6898460" y="0"/>
                </a:lnTo>
                <a:lnTo>
                  <a:pt x="6898460" y="6360380"/>
                </a:lnTo>
                <a:lnTo>
                  <a:pt x="0" y="636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17986"/>
            <a:ext cx="10534133" cy="760438"/>
          </a:xfrm>
          <a:prstGeom prst="rect">
            <a:avLst/>
          </a:prstGeom>
        </p:spPr>
        <p:txBody>
          <a:bodyPr anchor="t" rtlCol="false" tIns="0" lIns="0" bIns="0" rIns="0">
            <a:spAutoFit/>
          </a:bodyPr>
          <a:lstStyle/>
          <a:p>
            <a:pPr algn="l">
              <a:lnSpc>
                <a:spcPts val="5454"/>
              </a:lnSpc>
            </a:pPr>
            <a:r>
              <a:rPr lang="en-US" sz="5097" b="true">
                <a:solidFill>
                  <a:srgbClr val="182D88"/>
                </a:solidFill>
                <a:latin typeface="Poppins Bold"/>
                <a:ea typeface="Poppins Bold"/>
                <a:cs typeface="Poppins Bold"/>
                <a:sym typeface="Poppins Bold"/>
              </a:rPr>
              <a:t>Summary and Conclusion</a:t>
            </a:r>
          </a:p>
        </p:txBody>
      </p:sp>
      <p:sp>
        <p:nvSpPr>
          <p:cNvPr name="TextBox 5" id="5"/>
          <p:cNvSpPr txBox="true"/>
          <p:nvPr/>
        </p:nvSpPr>
        <p:spPr>
          <a:xfrm rot="0">
            <a:off x="7927160" y="1590965"/>
            <a:ext cx="9780266" cy="9075257"/>
          </a:xfrm>
          <a:prstGeom prst="rect">
            <a:avLst/>
          </a:prstGeom>
        </p:spPr>
        <p:txBody>
          <a:bodyPr anchor="t" rtlCol="false" tIns="0" lIns="0" bIns="0" rIns="0">
            <a:spAutoFit/>
          </a:bodyPr>
          <a:lstStyle/>
          <a:p>
            <a:pPr algn="just">
              <a:lnSpc>
                <a:spcPts val="3263"/>
              </a:lnSpc>
            </a:pPr>
            <a:r>
              <a:rPr lang="en-US" sz="2331" b="true">
                <a:solidFill>
                  <a:srgbClr val="182D88"/>
                </a:solidFill>
                <a:latin typeface="Poppins Bold"/>
                <a:ea typeface="Poppins Bold"/>
                <a:cs typeface="Poppins Bold"/>
                <a:sym typeface="Poppins Bold"/>
              </a:rPr>
              <a:t>Information Security Lifecycle</a:t>
            </a:r>
          </a:p>
          <a:p>
            <a:pPr algn="l" marL="503352" indent="-251676" lvl="1">
              <a:lnSpc>
                <a:spcPts val="3263"/>
              </a:lnSpc>
              <a:buFont typeface="Arial"/>
              <a:buChar char="•"/>
            </a:pPr>
            <a:r>
              <a:rPr lang="en-US" sz="2331">
                <a:solidFill>
                  <a:srgbClr val="182D88"/>
                </a:solidFill>
                <a:latin typeface="Poppins"/>
                <a:ea typeface="Poppins"/>
                <a:cs typeface="Poppins"/>
                <a:sym typeface="Poppins"/>
              </a:rPr>
              <a:t>A cont</a:t>
            </a:r>
            <a:r>
              <a:rPr lang="en-US" sz="2331">
                <a:solidFill>
                  <a:srgbClr val="182D88"/>
                </a:solidFill>
                <a:latin typeface="Poppins"/>
                <a:ea typeface="Poppins"/>
                <a:cs typeface="Poppins"/>
                <a:sym typeface="Poppins"/>
              </a:rPr>
              <a:t>inuous process for protecting information assets.</a:t>
            </a:r>
          </a:p>
          <a:p>
            <a:pPr algn="l" marL="503352" indent="-251676" lvl="1">
              <a:lnSpc>
                <a:spcPts val="3263"/>
              </a:lnSpc>
              <a:buFont typeface="Arial"/>
              <a:buChar char="•"/>
            </a:pPr>
            <a:r>
              <a:rPr lang="en-US" sz="2331">
                <a:solidFill>
                  <a:srgbClr val="182D88"/>
                </a:solidFill>
                <a:latin typeface="Poppins"/>
                <a:ea typeface="Poppins"/>
                <a:cs typeface="Poppins"/>
                <a:sym typeface="Poppins"/>
              </a:rPr>
              <a:t>Includes planning, implementation, operation, monitoring, review, and continuous improvement.</a:t>
            </a:r>
          </a:p>
          <a:p>
            <a:pPr algn="l" marL="503352" indent="-251676" lvl="1">
              <a:lnSpc>
                <a:spcPts val="3263"/>
              </a:lnSpc>
              <a:buFont typeface="Arial"/>
              <a:buChar char="•"/>
            </a:pPr>
            <a:r>
              <a:rPr lang="en-US" sz="2331">
                <a:solidFill>
                  <a:srgbClr val="182D88"/>
                </a:solidFill>
                <a:latin typeface="Poppins"/>
                <a:ea typeface="Poppins"/>
                <a:cs typeface="Poppins"/>
                <a:sym typeface="Poppins"/>
              </a:rPr>
              <a:t>Helps organizations manage risks and maintain business continuity.</a:t>
            </a:r>
          </a:p>
          <a:p>
            <a:pPr algn="just">
              <a:lnSpc>
                <a:spcPts val="3263"/>
              </a:lnSpc>
            </a:pPr>
            <a:r>
              <a:rPr lang="en-US" b="true" sz="2331">
                <a:solidFill>
                  <a:srgbClr val="182D88"/>
                </a:solidFill>
                <a:latin typeface="Poppins Bold"/>
                <a:ea typeface="Poppins Bold"/>
                <a:cs typeface="Poppins Bold"/>
                <a:sym typeface="Poppins Bold"/>
              </a:rPr>
              <a:t>Enterprise Architecture</a:t>
            </a:r>
          </a:p>
          <a:p>
            <a:pPr algn="l" marL="503352" indent="-251676" lvl="1">
              <a:lnSpc>
                <a:spcPts val="3263"/>
              </a:lnSpc>
              <a:buFont typeface="Arial"/>
              <a:buChar char="•"/>
            </a:pPr>
            <a:r>
              <a:rPr lang="en-US" sz="2331">
                <a:solidFill>
                  <a:srgbClr val="182D88"/>
                </a:solidFill>
                <a:latin typeface="Poppins"/>
                <a:ea typeface="Poppins"/>
                <a:cs typeface="Poppins"/>
                <a:sym typeface="Poppins"/>
              </a:rPr>
              <a:t>Serves as the organization's blueprint.</a:t>
            </a:r>
          </a:p>
          <a:p>
            <a:pPr algn="l" marL="503352" indent="-251676" lvl="1">
              <a:lnSpc>
                <a:spcPts val="3263"/>
              </a:lnSpc>
              <a:buFont typeface="Arial"/>
              <a:buChar char="•"/>
            </a:pPr>
            <a:r>
              <a:rPr lang="en-US" sz="2331">
                <a:solidFill>
                  <a:srgbClr val="182D88"/>
                </a:solidFill>
                <a:latin typeface="Poppins"/>
                <a:ea typeface="Poppins"/>
                <a:cs typeface="Poppins"/>
                <a:sym typeface="Poppins"/>
              </a:rPr>
              <a:t>Aligns business goals with IT resources.</a:t>
            </a:r>
          </a:p>
          <a:p>
            <a:pPr algn="l" marL="503352" indent="-251676" lvl="1">
              <a:lnSpc>
                <a:spcPts val="3263"/>
              </a:lnSpc>
              <a:buFont typeface="Arial"/>
              <a:buChar char="•"/>
            </a:pPr>
            <a:r>
              <a:rPr lang="en-US" sz="2331">
                <a:solidFill>
                  <a:srgbClr val="182D88"/>
                </a:solidFill>
                <a:latin typeface="Poppins"/>
                <a:ea typeface="Poppins"/>
                <a:cs typeface="Poppins"/>
                <a:sym typeface="Poppins"/>
              </a:rPr>
              <a:t>Improves efficiency, scalability, and security.</a:t>
            </a:r>
          </a:p>
          <a:p>
            <a:pPr algn="l" marL="503352" indent="-251676" lvl="1">
              <a:lnSpc>
                <a:spcPts val="3263"/>
              </a:lnSpc>
              <a:buFont typeface="Arial"/>
              <a:buChar char="•"/>
            </a:pPr>
            <a:r>
              <a:rPr lang="en-US" sz="2331">
                <a:solidFill>
                  <a:srgbClr val="182D88"/>
                </a:solidFill>
                <a:latin typeface="Poppins"/>
                <a:ea typeface="Poppins"/>
                <a:cs typeface="Poppins"/>
                <a:sym typeface="Poppins"/>
              </a:rPr>
              <a:t>Supports strategic decision-making.</a:t>
            </a:r>
          </a:p>
          <a:p>
            <a:pPr algn="l">
              <a:lnSpc>
                <a:spcPts val="3263"/>
              </a:lnSpc>
            </a:pPr>
          </a:p>
          <a:p>
            <a:pPr algn="l">
              <a:lnSpc>
                <a:spcPts val="3263"/>
              </a:lnSpc>
            </a:pPr>
            <a:r>
              <a:rPr lang="en-US" sz="2331" b="true">
                <a:solidFill>
                  <a:srgbClr val="182D88"/>
                </a:solidFill>
                <a:latin typeface="Poppins Bold"/>
                <a:ea typeface="Poppins Bold"/>
                <a:cs typeface="Poppins Bold"/>
                <a:sym typeface="Poppins Bold"/>
              </a:rPr>
              <a:t>Conclusion</a:t>
            </a:r>
          </a:p>
          <a:p>
            <a:pPr algn="l">
              <a:lnSpc>
                <a:spcPts val="3359"/>
              </a:lnSpc>
            </a:pPr>
            <a:r>
              <a:rPr lang="en-US" sz="2399">
                <a:solidFill>
                  <a:srgbClr val="182D88"/>
                </a:solidFill>
                <a:latin typeface="Poppins"/>
                <a:ea typeface="Poppins"/>
                <a:cs typeface="Poppins"/>
                <a:sym typeface="Poppins"/>
              </a:rPr>
              <a:t>An organization can achieve effective information security only when the Information Security Lifecycle and Enterprise Architecture work together. The lifecycle provides a continuous process for protecting information, while Enterprise Architecture ensures that business processes, technology, and security are aligned to support organizational goals, manage risks, and adapt to evolving cybersecurity challenges.</a:t>
            </a:r>
          </a:p>
          <a:p>
            <a:pPr algn="l">
              <a:lnSpc>
                <a:spcPts val="3263"/>
              </a:lnSpc>
            </a:pPr>
          </a:p>
          <a:p>
            <a:pPr algn="just">
              <a:lnSpc>
                <a:spcPts val="3263"/>
              </a:lnSpc>
            </a:pPr>
          </a:p>
        </p:txBody>
      </p:sp>
      <p:sp>
        <p:nvSpPr>
          <p:cNvPr name="TextBox 6" id="6"/>
          <p:cNvSpPr txBox="true"/>
          <p:nvPr/>
        </p:nvSpPr>
        <p:spPr>
          <a:xfrm rot="0">
            <a:off x="15699152" y="253276"/>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Andaya</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sp>
        <p:nvSpPr>
          <p:cNvPr name="Freeform 2" id="2"/>
          <p:cNvSpPr/>
          <p:nvPr/>
        </p:nvSpPr>
        <p:spPr>
          <a:xfrm flipH="false" flipV="false" rot="0">
            <a:off x="-1240824" y="-410418"/>
            <a:ext cx="10621097" cy="11470785"/>
          </a:xfrm>
          <a:custGeom>
            <a:avLst/>
            <a:gdLst/>
            <a:ahLst/>
            <a:cxnLst/>
            <a:rect r="r" b="b" t="t" l="l"/>
            <a:pathLst>
              <a:path h="11470785" w="10621097">
                <a:moveTo>
                  <a:pt x="0" y="0"/>
                </a:moveTo>
                <a:lnTo>
                  <a:pt x="10621098" y="0"/>
                </a:lnTo>
                <a:lnTo>
                  <a:pt x="10621098" y="11470786"/>
                </a:lnTo>
                <a:lnTo>
                  <a:pt x="0" y="11470786"/>
                </a:lnTo>
                <a:lnTo>
                  <a:pt x="0" y="0"/>
                </a:lnTo>
                <a:close/>
              </a:path>
            </a:pathLst>
          </a:custGeom>
          <a:blipFill>
            <a:blip r:embed="rId2">
              <a:alphaModFix amt="36000"/>
            </a:blip>
            <a:stretch>
              <a:fillRect l="0" t="0" r="0" b="0"/>
            </a:stretch>
          </a:blipFill>
        </p:spPr>
      </p:sp>
      <p:sp>
        <p:nvSpPr>
          <p:cNvPr name="Freeform 3" id="3"/>
          <p:cNvSpPr/>
          <p:nvPr/>
        </p:nvSpPr>
        <p:spPr>
          <a:xfrm flipH="false" flipV="false" rot="0">
            <a:off x="10205251" y="-128408"/>
            <a:ext cx="10300451" cy="10300451"/>
          </a:xfrm>
          <a:custGeom>
            <a:avLst/>
            <a:gdLst/>
            <a:ahLst/>
            <a:cxnLst/>
            <a:rect r="r" b="b" t="t" l="l"/>
            <a:pathLst>
              <a:path h="10300451" w="10300451">
                <a:moveTo>
                  <a:pt x="0" y="0"/>
                </a:moveTo>
                <a:lnTo>
                  <a:pt x="10300452" y="0"/>
                </a:lnTo>
                <a:lnTo>
                  <a:pt x="10300452" y="10300452"/>
                </a:lnTo>
                <a:lnTo>
                  <a:pt x="0" y="10300452"/>
                </a:lnTo>
                <a:lnTo>
                  <a:pt x="0" y="0"/>
                </a:lnTo>
                <a:close/>
              </a:path>
            </a:pathLst>
          </a:custGeom>
          <a:blipFill>
            <a:blip r:embed="rId3">
              <a:alphaModFix amt="25000"/>
            </a:blip>
            <a:stretch>
              <a:fillRect l="0" t="0" r="0" b="0"/>
            </a:stretch>
          </a:blipFill>
        </p:spPr>
      </p:sp>
      <p:sp>
        <p:nvSpPr>
          <p:cNvPr name="TextBox 4" id="4"/>
          <p:cNvSpPr txBox="true"/>
          <p:nvPr/>
        </p:nvSpPr>
        <p:spPr>
          <a:xfrm rot="0">
            <a:off x="3886706" y="458586"/>
            <a:ext cx="10514588" cy="1368828"/>
          </a:xfrm>
          <a:prstGeom prst="rect">
            <a:avLst/>
          </a:prstGeom>
        </p:spPr>
        <p:txBody>
          <a:bodyPr anchor="t" rtlCol="false" tIns="0" lIns="0" bIns="0" rIns="0">
            <a:spAutoFit/>
          </a:bodyPr>
          <a:lstStyle/>
          <a:p>
            <a:pPr algn="ctr">
              <a:lnSpc>
                <a:spcPts val="5043"/>
              </a:lnSpc>
            </a:pPr>
            <a:r>
              <a:rPr lang="en-US" sz="6304" spc="-189">
                <a:solidFill>
                  <a:srgbClr val="F6766B"/>
                </a:solidFill>
                <a:latin typeface="Lazydog 1"/>
                <a:ea typeface="Lazydog 1"/>
                <a:cs typeface="Lazydog 1"/>
                <a:sym typeface="Lazydog 1"/>
              </a:rPr>
              <a:t>The Role of Planning in Security</a:t>
            </a:r>
          </a:p>
        </p:txBody>
      </p:sp>
      <p:grpSp>
        <p:nvGrpSpPr>
          <p:cNvPr name="Group 5" id="5"/>
          <p:cNvGrpSpPr/>
          <p:nvPr/>
        </p:nvGrpSpPr>
        <p:grpSpPr>
          <a:xfrm rot="0">
            <a:off x="1705622" y="1665489"/>
            <a:ext cx="14876757" cy="8344630"/>
            <a:chOff x="0" y="0"/>
            <a:chExt cx="19835675" cy="11126173"/>
          </a:xfrm>
        </p:grpSpPr>
        <p:sp>
          <p:nvSpPr>
            <p:cNvPr name="Freeform 6" id="6"/>
            <p:cNvSpPr/>
            <p:nvPr/>
          </p:nvSpPr>
          <p:spPr>
            <a:xfrm flipH="false" flipV="false" rot="0">
              <a:off x="0" y="0"/>
              <a:ext cx="19835675" cy="8871957"/>
            </a:xfrm>
            <a:custGeom>
              <a:avLst/>
              <a:gdLst/>
              <a:ahLst/>
              <a:cxnLst/>
              <a:rect r="r" b="b" t="t" l="l"/>
              <a:pathLst>
                <a:path h="8871957" w="19835675">
                  <a:moveTo>
                    <a:pt x="0" y="0"/>
                  </a:moveTo>
                  <a:lnTo>
                    <a:pt x="19835675" y="0"/>
                  </a:lnTo>
                  <a:lnTo>
                    <a:pt x="19835675" y="8871957"/>
                  </a:lnTo>
                  <a:lnTo>
                    <a:pt x="0" y="88719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2254217"/>
              <a:ext cx="19835675" cy="8871957"/>
            </a:xfrm>
            <a:custGeom>
              <a:avLst/>
              <a:gdLst/>
              <a:ahLst/>
              <a:cxnLst/>
              <a:rect r="r" b="b" t="t" l="l"/>
              <a:pathLst>
                <a:path h="8871957" w="19835675">
                  <a:moveTo>
                    <a:pt x="0" y="0"/>
                  </a:moveTo>
                  <a:lnTo>
                    <a:pt x="19835675" y="0"/>
                  </a:lnTo>
                  <a:lnTo>
                    <a:pt x="19835675" y="8871956"/>
                  </a:lnTo>
                  <a:lnTo>
                    <a:pt x="0" y="8871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8" id="8"/>
          <p:cNvSpPr txBox="true"/>
          <p:nvPr/>
        </p:nvSpPr>
        <p:spPr>
          <a:xfrm rot="0">
            <a:off x="2352866" y="2333625"/>
            <a:ext cx="13582268" cy="6962775"/>
          </a:xfrm>
          <a:prstGeom prst="rect">
            <a:avLst/>
          </a:prstGeom>
        </p:spPr>
        <p:txBody>
          <a:bodyPr anchor="t" rtlCol="false" tIns="0" lIns="0" bIns="0" rIns="0">
            <a:spAutoFit/>
          </a:bodyPr>
          <a:lstStyle/>
          <a:p>
            <a:pPr algn="just">
              <a:lnSpc>
                <a:spcPts val="4215"/>
              </a:lnSpc>
            </a:pPr>
            <a:r>
              <a:rPr lang="en-US" sz="3513" b="true">
                <a:solidFill>
                  <a:srgbClr val="28211E"/>
                </a:solidFill>
                <a:latin typeface="Arimo Bold"/>
                <a:ea typeface="Arimo Bold"/>
                <a:cs typeface="Arimo Bold"/>
                <a:sym typeface="Arimo Bold"/>
              </a:rPr>
              <a:t>Planning — the process of setting objectives and determining, in advance, the actions required to achieve them.</a:t>
            </a:r>
          </a:p>
          <a:p>
            <a:pPr algn="just">
              <a:lnSpc>
                <a:spcPts val="4215"/>
              </a:lnSpc>
            </a:pPr>
          </a:p>
          <a:p>
            <a:pPr algn="just">
              <a:lnSpc>
                <a:spcPts val="4215"/>
              </a:lnSpc>
            </a:pPr>
            <a:r>
              <a:rPr lang="en-US" sz="3513">
                <a:solidFill>
                  <a:srgbClr val="28211E"/>
                </a:solidFill>
                <a:latin typeface="Arimo"/>
                <a:ea typeface="Arimo"/>
                <a:cs typeface="Arimo"/>
                <a:sym typeface="Arimo"/>
              </a:rPr>
              <a:t>Planning is the management function that turns security intent into structured, executable work. Without it, even well-funded security programs tend to become reactive: responding to incidents instead of preventing them, and spending resources inconsistently across the organization.</a:t>
            </a:r>
          </a:p>
          <a:p>
            <a:pPr algn="just">
              <a:lnSpc>
                <a:spcPts val="4215"/>
              </a:lnSpc>
            </a:pPr>
          </a:p>
          <a:p>
            <a:pPr algn="just">
              <a:lnSpc>
                <a:spcPts val="4215"/>
              </a:lnSpc>
            </a:pPr>
            <a:r>
              <a:rPr lang="en-US" sz="3513">
                <a:solidFill>
                  <a:srgbClr val="28211E"/>
                </a:solidFill>
                <a:latin typeface="Arimo"/>
                <a:ea typeface="Arimo"/>
                <a:cs typeface="Arimo"/>
                <a:sym typeface="Arimo"/>
              </a:rPr>
              <a:t>Security planning happens simultaneously at three organizational levels — each with its own scope, audience, and time horizon. The effectiveness of a security program depends heavily on how well those three levels connect to one another.</a:t>
            </a:r>
          </a:p>
        </p:txBody>
      </p:sp>
      <p:sp>
        <p:nvSpPr>
          <p:cNvPr name="TextBox 9" id="9"/>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tapit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sp>
        <p:nvSpPr>
          <p:cNvPr name="Freeform 2" id="2"/>
          <p:cNvSpPr/>
          <p:nvPr/>
        </p:nvSpPr>
        <p:spPr>
          <a:xfrm flipH="false" flipV="false" rot="0">
            <a:off x="355904" y="1375258"/>
            <a:ext cx="14159909" cy="7964949"/>
          </a:xfrm>
          <a:custGeom>
            <a:avLst/>
            <a:gdLst/>
            <a:ahLst/>
            <a:cxnLst/>
            <a:rect r="r" b="b" t="t" l="l"/>
            <a:pathLst>
              <a:path h="7964949" w="14159909">
                <a:moveTo>
                  <a:pt x="0" y="0"/>
                </a:moveTo>
                <a:lnTo>
                  <a:pt x="14159909" y="0"/>
                </a:lnTo>
                <a:lnTo>
                  <a:pt x="14159909" y="7964949"/>
                </a:lnTo>
                <a:lnTo>
                  <a:pt x="0" y="7964949"/>
                </a:lnTo>
                <a:lnTo>
                  <a:pt x="0" y="0"/>
                </a:lnTo>
                <a:close/>
              </a:path>
            </a:pathLst>
          </a:custGeom>
          <a:blipFill>
            <a:blip r:embed="rId2"/>
            <a:stretch>
              <a:fillRect l="0" t="0" r="0" b="0"/>
            </a:stretch>
          </a:blipFill>
        </p:spPr>
      </p:sp>
      <p:grpSp>
        <p:nvGrpSpPr>
          <p:cNvPr name="Group 3" id="3"/>
          <p:cNvGrpSpPr/>
          <p:nvPr/>
        </p:nvGrpSpPr>
        <p:grpSpPr>
          <a:xfrm rot="0">
            <a:off x="13325849" y="1654617"/>
            <a:ext cx="4539009" cy="7406231"/>
            <a:chOff x="0" y="0"/>
            <a:chExt cx="1526393" cy="2490592"/>
          </a:xfrm>
        </p:grpSpPr>
        <p:sp>
          <p:nvSpPr>
            <p:cNvPr name="Freeform 4" id="4"/>
            <p:cNvSpPr/>
            <p:nvPr/>
          </p:nvSpPr>
          <p:spPr>
            <a:xfrm flipH="false" flipV="false" rot="0">
              <a:off x="0" y="0"/>
              <a:ext cx="1526393" cy="2490593"/>
            </a:xfrm>
            <a:custGeom>
              <a:avLst/>
              <a:gdLst/>
              <a:ahLst/>
              <a:cxnLst/>
              <a:rect r="r" b="b" t="t" l="l"/>
              <a:pathLst>
                <a:path h="2490593" w="1526393">
                  <a:moveTo>
                    <a:pt x="86988" y="0"/>
                  </a:moveTo>
                  <a:lnTo>
                    <a:pt x="1439406" y="0"/>
                  </a:lnTo>
                  <a:cubicBezTo>
                    <a:pt x="1487448" y="0"/>
                    <a:pt x="1526393" y="38946"/>
                    <a:pt x="1526393" y="86988"/>
                  </a:cubicBezTo>
                  <a:lnTo>
                    <a:pt x="1526393" y="2403605"/>
                  </a:lnTo>
                  <a:cubicBezTo>
                    <a:pt x="1526393" y="2426676"/>
                    <a:pt x="1517229" y="2448801"/>
                    <a:pt x="1500915" y="2465114"/>
                  </a:cubicBezTo>
                  <a:cubicBezTo>
                    <a:pt x="1484602" y="2481428"/>
                    <a:pt x="1462476" y="2490593"/>
                    <a:pt x="1439406" y="2490593"/>
                  </a:cubicBezTo>
                  <a:lnTo>
                    <a:pt x="86988" y="2490593"/>
                  </a:lnTo>
                  <a:cubicBezTo>
                    <a:pt x="63917" y="2490593"/>
                    <a:pt x="41791" y="2481428"/>
                    <a:pt x="25478" y="2465114"/>
                  </a:cubicBezTo>
                  <a:cubicBezTo>
                    <a:pt x="9165" y="2448801"/>
                    <a:pt x="0" y="2426676"/>
                    <a:pt x="0" y="2403605"/>
                  </a:cubicBezTo>
                  <a:lnTo>
                    <a:pt x="0" y="86988"/>
                  </a:lnTo>
                  <a:cubicBezTo>
                    <a:pt x="0" y="63917"/>
                    <a:pt x="9165" y="41791"/>
                    <a:pt x="25478" y="25478"/>
                  </a:cubicBezTo>
                  <a:cubicBezTo>
                    <a:pt x="41791" y="9165"/>
                    <a:pt x="63917" y="0"/>
                    <a:pt x="86988" y="0"/>
                  </a:cubicBezTo>
                  <a:close/>
                </a:path>
              </a:pathLst>
            </a:custGeom>
            <a:solidFill>
              <a:srgbClr val="FFFFFF"/>
            </a:solidFill>
          </p:spPr>
        </p:sp>
        <p:sp>
          <p:nvSpPr>
            <p:cNvPr name="TextBox 5" id="5"/>
            <p:cNvSpPr txBox="true"/>
            <p:nvPr/>
          </p:nvSpPr>
          <p:spPr>
            <a:xfrm>
              <a:off x="0" y="-19050"/>
              <a:ext cx="1526393" cy="2509642"/>
            </a:xfrm>
            <a:prstGeom prst="rect">
              <a:avLst/>
            </a:prstGeom>
          </p:spPr>
          <p:txBody>
            <a:bodyPr anchor="ctr" rtlCol="false" tIns="50800" lIns="50800" bIns="50800" rIns="50800"/>
            <a:lstStyle/>
            <a:p>
              <a:pPr algn="ctr">
                <a:lnSpc>
                  <a:spcPts val="2236"/>
                </a:lnSpc>
              </a:pPr>
            </a:p>
          </p:txBody>
        </p:sp>
      </p:grpSp>
      <p:sp>
        <p:nvSpPr>
          <p:cNvPr name="TextBox 6" id="6"/>
          <p:cNvSpPr txBox="true"/>
          <p:nvPr/>
        </p:nvSpPr>
        <p:spPr>
          <a:xfrm rot="0">
            <a:off x="5152987" y="419148"/>
            <a:ext cx="8424202" cy="628602"/>
          </a:xfrm>
          <a:prstGeom prst="rect">
            <a:avLst/>
          </a:prstGeom>
        </p:spPr>
        <p:txBody>
          <a:bodyPr anchor="t" rtlCol="false" tIns="0" lIns="0" bIns="0" rIns="0">
            <a:spAutoFit/>
          </a:bodyPr>
          <a:lstStyle/>
          <a:p>
            <a:pPr algn="ctr">
              <a:lnSpc>
                <a:spcPts val="4358"/>
              </a:lnSpc>
            </a:pPr>
            <a:r>
              <a:rPr lang="en-US" sz="5448" spc="-163">
                <a:solidFill>
                  <a:srgbClr val="F6766B"/>
                </a:solidFill>
                <a:latin typeface="Lazydog 1"/>
                <a:ea typeface="Lazydog 1"/>
                <a:cs typeface="Lazydog 1"/>
                <a:sym typeface="Lazydog 1"/>
              </a:rPr>
              <a:t>The Planning Hierarchy</a:t>
            </a:r>
          </a:p>
        </p:txBody>
      </p:sp>
      <p:sp>
        <p:nvSpPr>
          <p:cNvPr name="TextBox 7" id="7"/>
          <p:cNvSpPr txBox="true"/>
          <p:nvPr/>
        </p:nvSpPr>
        <p:spPr>
          <a:xfrm rot="0">
            <a:off x="13599815" y="2042912"/>
            <a:ext cx="3991078" cy="6559199"/>
          </a:xfrm>
          <a:prstGeom prst="rect">
            <a:avLst/>
          </a:prstGeom>
        </p:spPr>
        <p:txBody>
          <a:bodyPr anchor="t" rtlCol="false" tIns="0" lIns="0" bIns="0" rIns="0">
            <a:spAutoFit/>
          </a:bodyPr>
          <a:lstStyle/>
          <a:p>
            <a:pPr algn="l">
              <a:lnSpc>
                <a:spcPts val="3285"/>
              </a:lnSpc>
            </a:pPr>
            <a:r>
              <a:rPr lang="en-US" sz="2527" b="true">
                <a:solidFill>
                  <a:srgbClr val="28211E"/>
                </a:solidFill>
                <a:latin typeface="Arimo Bold"/>
                <a:ea typeface="Arimo Bold"/>
                <a:cs typeface="Arimo Bold"/>
                <a:sym typeface="Arimo Bold"/>
              </a:rPr>
              <a:t>Each level adds detail, specificity, and a shorter timeline to the one above. A strategic goal is broad; at the operational level, it becomes a concrete task with an owner and deadline.</a:t>
            </a:r>
          </a:p>
          <a:p>
            <a:pPr algn="l">
              <a:lnSpc>
                <a:spcPts val="3285"/>
              </a:lnSpc>
            </a:pPr>
          </a:p>
          <a:p>
            <a:pPr algn="l">
              <a:lnSpc>
                <a:spcPts val="3285"/>
              </a:lnSpc>
            </a:pPr>
            <a:r>
              <a:rPr lang="en-US" sz="2527" b="true">
                <a:solidFill>
                  <a:srgbClr val="28211E"/>
                </a:solidFill>
                <a:latin typeface="Arimo Bold"/>
                <a:ea typeface="Arimo Bold"/>
                <a:cs typeface="Arimo Bold"/>
                <a:sym typeface="Arimo Bold"/>
              </a:rPr>
              <a:t>If any level is built in isolation, the chain breaks—resulting in strategic goals no one pursues or daily tasks that serve no larger purpose.</a:t>
            </a:r>
          </a:p>
        </p:txBody>
      </p:sp>
      <p:sp>
        <p:nvSpPr>
          <p:cNvPr name="TextBox 8" id="8"/>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tapit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Strategic-Level Planning</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sp>
        <p:nvSpPr>
          <p:cNvPr name="Freeform 4" id="4"/>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9" id="9"/>
          <p:cNvGraphicFramePr>
            <a:graphicFrameLocks noGrp="true"/>
          </p:cNvGraphicFramePr>
          <p:nvPr/>
        </p:nvGraphicFramePr>
        <p:xfrm>
          <a:off x="1028700" y="2287223"/>
          <a:ext cx="10654429" cy="5712554"/>
        </p:xfrm>
        <a:graphic>
          <a:graphicData uri="http://schemas.openxmlformats.org/drawingml/2006/table">
            <a:tbl>
              <a:tblPr/>
              <a:tblGrid>
                <a:gridCol w="3005695"/>
                <a:gridCol w="7648735"/>
              </a:tblGrid>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Time horizon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3–5+ years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Owned by</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Executive leadership, CISO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502905">
                <a:tc>
                  <a:txBody>
                    <a:bodyPr anchor="t" rtlCol="false"/>
                    <a:lstStyle/>
                    <a:p>
                      <a:pPr algn="l">
                        <a:lnSpc>
                          <a:spcPts val="3808"/>
                        </a:lnSpc>
                        <a:defRPr/>
                      </a:pPr>
                      <a:r>
                        <a:rPr lang="en-US" sz="2720">
                          <a:solidFill>
                            <a:srgbClr val="000000"/>
                          </a:solidFill>
                          <a:latin typeface="Lazydog 2"/>
                          <a:ea typeface="Lazydog 2"/>
                          <a:cs typeface="Lazydog 2"/>
                          <a:sym typeface="Lazydog 2"/>
                        </a:rPr>
                        <a:t>Focus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Organization-wide direction, major resource commitments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Output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Broad goals and priorities — not task lists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bl>
          </a:graphicData>
        </a:graphic>
      </p:graphicFrame>
      <p:sp>
        <p:nvSpPr>
          <p:cNvPr name="TextBox 10" id="10"/>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tapit</a:t>
            </a:r>
          </a:p>
        </p:txBody>
      </p:sp>
      <p:grpSp>
        <p:nvGrpSpPr>
          <p:cNvPr name="Group 11" id="11"/>
          <p:cNvGrpSpPr/>
          <p:nvPr/>
        </p:nvGrpSpPr>
        <p:grpSpPr>
          <a:xfrm rot="0">
            <a:off x="12035554" y="1457782"/>
            <a:ext cx="4539009" cy="7406231"/>
            <a:chOff x="0" y="0"/>
            <a:chExt cx="1526393" cy="2490592"/>
          </a:xfrm>
        </p:grpSpPr>
        <p:sp>
          <p:nvSpPr>
            <p:cNvPr name="Freeform 12" id="12"/>
            <p:cNvSpPr/>
            <p:nvPr/>
          </p:nvSpPr>
          <p:spPr>
            <a:xfrm flipH="false" flipV="false" rot="0">
              <a:off x="0" y="0"/>
              <a:ext cx="1526393" cy="2490593"/>
            </a:xfrm>
            <a:custGeom>
              <a:avLst/>
              <a:gdLst/>
              <a:ahLst/>
              <a:cxnLst/>
              <a:rect r="r" b="b" t="t" l="l"/>
              <a:pathLst>
                <a:path h="2490593" w="1526393">
                  <a:moveTo>
                    <a:pt x="86988" y="0"/>
                  </a:moveTo>
                  <a:lnTo>
                    <a:pt x="1439406" y="0"/>
                  </a:lnTo>
                  <a:cubicBezTo>
                    <a:pt x="1487448" y="0"/>
                    <a:pt x="1526393" y="38946"/>
                    <a:pt x="1526393" y="86988"/>
                  </a:cubicBezTo>
                  <a:lnTo>
                    <a:pt x="1526393" y="2403605"/>
                  </a:lnTo>
                  <a:cubicBezTo>
                    <a:pt x="1526393" y="2426676"/>
                    <a:pt x="1517229" y="2448801"/>
                    <a:pt x="1500915" y="2465114"/>
                  </a:cubicBezTo>
                  <a:cubicBezTo>
                    <a:pt x="1484602" y="2481428"/>
                    <a:pt x="1462476" y="2490593"/>
                    <a:pt x="1439406" y="2490593"/>
                  </a:cubicBezTo>
                  <a:lnTo>
                    <a:pt x="86988" y="2490593"/>
                  </a:lnTo>
                  <a:cubicBezTo>
                    <a:pt x="63917" y="2490593"/>
                    <a:pt x="41791" y="2481428"/>
                    <a:pt x="25478" y="2465114"/>
                  </a:cubicBezTo>
                  <a:cubicBezTo>
                    <a:pt x="9165" y="2448801"/>
                    <a:pt x="0" y="2426676"/>
                    <a:pt x="0" y="2403605"/>
                  </a:cubicBezTo>
                  <a:lnTo>
                    <a:pt x="0" y="86988"/>
                  </a:lnTo>
                  <a:cubicBezTo>
                    <a:pt x="0" y="63917"/>
                    <a:pt x="9165" y="41791"/>
                    <a:pt x="25478" y="25478"/>
                  </a:cubicBezTo>
                  <a:cubicBezTo>
                    <a:pt x="41791" y="9165"/>
                    <a:pt x="63917" y="0"/>
                    <a:pt x="86988" y="0"/>
                  </a:cubicBezTo>
                  <a:close/>
                </a:path>
              </a:pathLst>
            </a:custGeom>
            <a:solidFill>
              <a:srgbClr val="FFFFFF"/>
            </a:solidFill>
          </p:spPr>
        </p:sp>
        <p:sp>
          <p:nvSpPr>
            <p:cNvPr name="TextBox 13" id="13"/>
            <p:cNvSpPr txBox="true"/>
            <p:nvPr/>
          </p:nvSpPr>
          <p:spPr>
            <a:xfrm>
              <a:off x="0" y="-19050"/>
              <a:ext cx="1526393" cy="2509642"/>
            </a:xfrm>
            <a:prstGeom prst="rect">
              <a:avLst/>
            </a:prstGeom>
          </p:spPr>
          <p:txBody>
            <a:bodyPr anchor="ctr" rtlCol="false" tIns="50800" lIns="50800" bIns="50800" rIns="50800"/>
            <a:lstStyle/>
            <a:p>
              <a:pPr algn="ctr">
                <a:lnSpc>
                  <a:spcPts val="2236"/>
                </a:lnSpc>
              </a:pPr>
            </a:p>
          </p:txBody>
        </p:sp>
      </p:grpSp>
      <p:sp>
        <p:nvSpPr>
          <p:cNvPr name="TextBox 14" id="14"/>
          <p:cNvSpPr txBox="true"/>
          <p:nvPr/>
        </p:nvSpPr>
        <p:spPr>
          <a:xfrm rot="0">
            <a:off x="12309520" y="1846077"/>
            <a:ext cx="3991078" cy="6559199"/>
          </a:xfrm>
          <a:prstGeom prst="rect">
            <a:avLst/>
          </a:prstGeom>
        </p:spPr>
        <p:txBody>
          <a:bodyPr anchor="t" rtlCol="false" tIns="0" lIns="0" bIns="0" rIns="0">
            <a:spAutoFit/>
          </a:bodyPr>
          <a:lstStyle/>
          <a:p>
            <a:pPr algn="l">
              <a:lnSpc>
                <a:spcPts val="3285"/>
              </a:lnSpc>
            </a:pPr>
            <a:r>
              <a:rPr lang="en-US" sz="2527" b="true">
                <a:solidFill>
                  <a:srgbClr val="28211E"/>
                </a:solidFill>
                <a:latin typeface="Arimo Bold"/>
                <a:ea typeface="Arimo Bold"/>
                <a:cs typeface="Arimo Bold"/>
                <a:sym typeface="Arimo Bold"/>
              </a:rPr>
              <a:t>Strategic-level plans set the outer boundary within which every tactical and operational plan must fit. They rarely specify how something will be done, only what the organization is committing to and why.</a:t>
            </a:r>
          </a:p>
          <a:p>
            <a:pPr algn="l">
              <a:lnSpc>
                <a:spcPts val="3285"/>
              </a:lnSpc>
            </a:pPr>
          </a:p>
          <a:p>
            <a:pPr algn="l">
              <a:lnSpc>
                <a:spcPts val="3285"/>
              </a:lnSpc>
            </a:pPr>
            <a:r>
              <a:rPr lang="en-US" sz="2527" b="true">
                <a:solidFill>
                  <a:srgbClr val="28211E"/>
                </a:solidFill>
                <a:latin typeface="Arimo Bold"/>
                <a:ea typeface="Arimo Bold"/>
                <a:cs typeface="Arimo Bold"/>
                <a:sym typeface="Arimo Bold"/>
              </a:rPr>
              <a:t>Example: The organization commits to migrating to a zero-trust security architecture over the next five years.</a:t>
            </a:r>
          </a:p>
          <a:p>
            <a:pPr algn="l">
              <a:lnSpc>
                <a:spcPts val="3285"/>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Tactical-Level Planning</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sp>
        <p:nvSpPr>
          <p:cNvPr name="Freeform 4" id="4"/>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9" id="9"/>
          <p:cNvGraphicFramePr>
            <a:graphicFrameLocks noGrp="true"/>
          </p:cNvGraphicFramePr>
          <p:nvPr/>
        </p:nvGraphicFramePr>
        <p:xfrm>
          <a:off x="1028700" y="2287223"/>
          <a:ext cx="10654429" cy="5712554"/>
        </p:xfrm>
        <a:graphic>
          <a:graphicData uri="http://schemas.openxmlformats.org/drawingml/2006/table">
            <a:tbl>
              <a:tblPr/>
              <a:tblGrid>
                <a:gridCol w="3005695"/>
                <a:gridCol w="7648735"/>
              </a:tblGrid>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Time horizon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1–3 years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Owned by</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Department / mid-level managers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502905">
                <a:tc>
                  <a:txBody>
                    <a:bodyPr anchor="t" rtlCol="false"/>
                    <a:lstStyle/>
                    <a:p>
                      <a:pPr algn="l">
                        <a:lnSpc>
                          <a:spcPts val="3808"/>
                        </a:lnSpc>
                        <a:defRPr/>
                      </a:pPr>
                      <a:r>
                        <a:rPr lang="en-US" sz="2720">
                          <a:solidFill>
                            <a:srgbClr val="000000"/>
                          </a:solidFill>
                          <a:latin typeface="Lazydog 2"/>
                          <a:ea typeface="Lazydog 2"/>
                          <a:cs typeface="Lazydog 2"/>
                          <a:sym typeface="Lazydog 2"/>
                        </a:rPr>
                        <a:t>Focus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Translating strategic goals into concrete projects and initiatives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Output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Project plans, budgets, timelines, milestones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bl>
          </a:graphicData>
        </a:graphic>
      </p:graphicFrame>
      <p:sp>
        <p:nvSpPr>
          <p:cNvPr name="TextBox 10" id="10"/>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tapit</a:t>
            </a:r>
          </a:p>
        </p:txBody>
      </p:sp>
      <p:grpSp>
        <p:nvGrpSpPr>
          <p:cNvPr name="Group 11" id="11"/>
          <p:cNvGrpSpPr/>
          <p:nvPr/>
        </p:nvGrpSpPr>
        <p:grpSpPr>
          <a:xfrm rot="0">
            <a:off x="12035554" y="790030"/>
            <a:ext cx="4539009" cy="8741733"/>
            <a:chOff x="0" y="0"/>
            <a:chExt cx="1526393" cy="2939700"/>
          </a:xfrm>
        </p:grpSpPr>
        <p:sp>
          <p:nvSpPr>
            <p:cNvPr name="Freeform 12" id="12"/>
            <p:cNvSpPr/>
            <p:nvPr/>
          </p:nvSpPr>
          <p:spPr>
            <a:xfrm flipH="false" flipV="false" rot="0">
              <a:off x="0" y="0"/>
              <a:ext cx="1526393" cy="2939700"/>
            </a:xfrm>
            <a:custGeom>
              <a:avLst/>
              <a:gdLst/>
              <a:ahLst/>
              <a:cxnLst/>
              <a:rect r="r" b="b" t="t" l="l"/>
              <a:pathLst>
                <a:path h="2939700" w="1526393">
                  <a:moveTo>
                    <a:pt x="86988" y="0"/>
                  </a:moveTo>
                  <a:lnTo>
                    <a:pt x="1439406" y="0"/>
                  </a:lnTo>
                  <a:cubicBezTo>
                    <a:pt x="1487448" y="0"/>
                    <a:pt x="1526393" y="38946"/>
                    <a:pt x="1526393" y="86988"/>
                  </a:cubicBezTo>
                  <a:lnTo>
                    <a:pt x="1526393" y="2852712"/>
                  </a:lnTo>
                  <a:cubicBezTo>
                    <a:pt x="1526393" y="2875783"/>
                    <a:pt x="1517229" y="2897908"/>
                    <a:pt x="1500915" y="2914222"/>
                  </a:cubicBezTo>
                  <a:cubicBezTo>
                    <a:pt x="1484602" y="2930535"/>
                    <a:pt x="1462476" y="2939700"/>
                    <a:pt x="1439406" y="2939700"/>
                  </a:cubicBezTo>
                  <a:lnTo>
                    <a:pt x="86988" y="2939700"/>
                  </a:lnTo>
                  <a:cubicBezTo>
                    <a:pt x="63917" y="2939700"/>
                    <a:pt x="41791" y="2930535"/>
                    <a:pt x="25478" y="2914222"/>
                  </a:cubicBezTo>
                  <a:cubicBezTo>
                    <a:pt x="9165" y="2897908"/>
                    <a:pt x="0" y="2875783"/>
                    <a:pt x="0" y="2852712"/>
                  </a:cubicBezTo>
                  <a:lnTo>
                    <a:pt x="0" y="86988"/>
                  </a:lnTo>
                  <a:cubicBezTo>
                    <a:pt x="0" y="63917"/>
                    <a:pt x="9165" y="41791"/>
                    <a:pt x="25478" y="25478"/>
                  </a:cubicBezTo>
                  <a:cubicBezTo>
                    <a:pt x="41791" y="9165"/>
                    <a:pt x="63917" y="0"/>
                    <a:pt x="86988" y="0"/>
                  </a:cubicBezTo>
                  <a:close/>
                </a:path>
              </a:pathLst>
            </a:custGeom>
            <a:solidFill>
              <a:srgbClr val="FFFFFF"/>
            </a:solidFill>
          </p:spPr>
        </p:sp>
        <p:sp>
          <p:nvSpPr>
            <p:cNvPr name="TextBox 13" id="13"/>
            <p:cNvSpPr txBox="true"/>
            <p:nvPr/>
          </p:nvSpPr>
          <p:spPr>
            <a:xfrm>
              <a:off x="0" y="-19050"/>
              <a:ext cx="1526393" cy="2958750"/>
            </a:xfrm>
            <a:prstGeom prst="rect">
              <a:avLst/>
            </a:prstGeom>
          </p:spPr>
          <p:txBody>
            <a:bodyPr anchor="ctr" rtlCol="false" tIns="50800" lIns="50800" bIns="50800" rIns="50800"/>
            <a:lstStyle/>
            <a:p>
              <a:pPr algn="ctr">
                <a:lnSpc>
                  <a:spcPts val="2236"/>
                </a:lnSpc>
              </a:pPr>
            </a:p>
          </p:txBody>
        </p:sp>
      </p:grpSp>
      <p:sp>
        <p:nvSpPr>
          <p:cNvPr name="TextBox 14" id="14"/>
          <p:cNvSpPr txBox="true"/>
          <p:nvPr/>
        </p:nvSpPr>
        <p:spPr>
          <a:xfrm rot="0">
            <a:off x="12309520" y="1043098"/>
            <a:ext cx="3991078" cy="8197499"/>
          </a:xfrm>
          <a:prstGeom prst="rect">
            <a:avLst/>
          </a:prstGeom>
        </p:spPr>
        <p:txBody>
          <a:bodyPr anchor="t" rtlCol="false" tIns="0" lIns="0" bIns="0" rIns="0">
            <a:spAutoFit/>
          </a:bodyPr>
          <a:lstStyle/>
          <a:p>
            <a:pPr algn="l">
              <a:lnSpc>
                <a:spcPts val="3285"/>
              </a:lnSpc>
            </a:pPr>
            <a:r>
              <a:rPr lang="en-US" sz="2527" b="true">
                <a:solidFill>
                  <a:srgbClr val="28211E"/>
                </a:solidFill>
                <a:latin typeface="Arimo Bold"/>
                <a:ea typeface="Arimo Bold"/>
                <a:cs typeface="Arimo Bold"/>
                <a:sym typeface="Arimo Bold"/>
              </a:rPr>
              <a:t>Tactical planning is where "why" becomes "how." A department manager takes a strategic direction and works out the specific initiatives, staffing, and budget needed to move toward it within a realistic time frame.</a:t>
            </a:r>
          </a:p>
          <a:p>
            <a:pPr algn="l">
              <a:lnSpc>
                <a:spcPts val="3285"/>
              </a:lnSpc>
            </a:pPr>
          </a:p>
          <a:p>
            <a:pPr algn="l">
              <a:lnSpc>
                <a:spcPts val="3285"/>
              </a:lnSpc>
            </a:pPr>
            <a:r>
              <a:rPr lang="en-US" sz="2527" b="true">
                <a:solidFill>
                  <a:srgbClr val="28211E"/>
                </a:solidFill>
                <a:latin typeface="Arimo Bold"/>
                <a:ea typeface="Arimo Bold"/>
                <a:cs typeface="Arimo Bold"/>
                <a:sym typeface="Arimo Bold"/>
              </a:rPr>
              <a:t>Example: The IT department plans and budgets the rollout of multi-factor authentication across all systems within the next 18 months, as one step toward the zero-trust goal.</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FEED4"/>
        </a:solidFill>
      </p:bgPr>
    </p:bg>
    <p:spTree>
      <p:nvGrpSpPr>
        <p:cNvPr id="1" name=""/>
        <p:cNvGrpSpPr/>
        <p:nvPr/>
      </p:nvGrpSpPr>
      <p:grpSpPr>
        <a:xfrm>
          <a:off x="0" y="0"/>
          <a:ext cx="0" cy="0"/>
          <a:chOff x="0" y="0"/>
          <a:chExt cx="0" cy="0"/>
        </a:xfrm>
      </p:grpSpPr>
      <p:sp>
        <p:nvSpPr>
          <p:cNvPr name="TextBox 2" id="2"/>
          <p:cNvSpPr txBox="true"/>
          <p:nvPr/>
        </p:nvSpPr>
        <p:spPr>
          <a:xfrm rot="0">
            <a:off x="261408" y="177333"/>
            <a:ext cx="12995504" cy="851367"/>
          </a:xfrm>
          <a:prstGeom prst="rect">
            <a:avLst/>
          </a:prstGeom>
        </p:spPr>
        <p:txBody>
          <a:bodyPr anchor="t" rtlCol="false" tIns="0" lIns="0" bIns="0" rIns="0">
            <a:spAutoFit/>
          </a:bodyPr>
          <a:lstStyle/>
          <a:p>
            <a:pPr algn="l">
              <a:lnSpc>
                <a:spcPts val="6402"/>
              </a:lnSpc>
            </a:pPr>
            <a:r>
              <a:rPr lang="en-US" sz="6097" spc="-182">
                <a:solidFill>
                  <a:srgbClr val="282421"/>
                </a:solidFill>
                <a:latin typeface="Lazydog 1"/>
                <a:ea typeface="Lazydog 1"/>
                <a:cs typeface="Lazydog 1"/>
                <a:sym typeface="Lazydog 1"/>
              </a:rPr>
              <a:t>Operational-Level Planning</a:t>
            </a:r>
          </a:p>
        </p:txBody>
      </p:sp>
      <p:sp>
        <p:nvSpPr>
          <p:cNvPr name="Freeform 3" id="3"/>
          <p:cNvSpPr/>
          <p:nvPr/>
        </p:nvSpPr>
        <p:spPr>
          <a:xfrm flipH="false" flipV="false" rot="0">
            <a:off x="1749512" y="226387"/>
            <a:ext cx="14362757" cy="9869020"/>
          </a:xfrm>
          <a:custGeom>
            <a:avLst/>
            <a:gdLst/>
            <a:ahLst/>
            <a:cxnLst/>
            <a:rect r="r" b="b" t="t" l="l"/>
            <a:pathLst>
              <a:path h="9869020" w="14362757">
                <a:moveTo>
                  <a:pt x="0" y="0"/>
                </a:moveTo>
                <a:lnTo>
                  <a:pt x="14362756" y="0"/>
                </a:lnTo>
                <a:lnTo>
                  <a:pt x="14362756" y="9869020"/>
                </a:lnTo>
                <a:lnTo>
                  <a:pt x="0" y="9869020"/>
                </a:lnTo>
                <a:lnTo>
                  <a:pt x="0" y="0"/>
                </a:lnTo>
                <a:close/>
              </a:path>
            </a:pathLst>
          </a:custGeom>
          <a:blipFill>
            <a:blip r:embed="rId2">
              <a:alphaModFix amt="50000"/>
            </a:blip>
            <a:stretch>
              <a:fillRect l="0" t="0" r="0" b="0"/>
            </a:stretch>
          </a:blipFill>
        </p:spPr>
      </p:sp>
      <p:sp>
        <p:nvSpPr>
          <p:cNvPr name="Freeform 4" id="4"/>
          <p:cNvSpPr/>
          <p:nvPr/>
        </p:nvSpPr>
        <p:spPr>
          <a:xfrm flipH="false" flipV="false" rot="1403656">
            <a:off x="160623" y="792611"/>
            <a:ext cx="1268168" cy="585663"/>
          </a:xfrm>
          <a:custGeom>
            <a:avLst/>
            <a:gdLst/>
            <a:ahLst/>
            <a:cxnLst/>
            <a:rect r="r" b="b" t="t" l="l"/>
            <a:pathLst>
              <a:path h="585663" w="1268168">
                <a:moveTo>
                  <a:pt x="0" y="0"/>
                </a:moveTo>
                <a:lnTo>
                  <a:pt x="1268168" y="0"/>
                </a:lnTo>
                <a:lnTo>
                  <a:pt x="1268168" y="585663"/>
                </a:lnTo>
                <a:lnTo>
                  <a:pt x="0" y="585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61408" y="8822758"/>
            <a:ext cx="413447" cy="1114685"/>
          </a:xfrm>
          <a:custGeom>
            <a:avLst/>
            <a:gdLst/>
            <a:ahLst/>
            <a:cxnLst/>
            <a:rect r="r" b="b" t="t" l="l"/>
            <a:pathLst>
              <a:path h="1114685" w="413447">
                <a:moveTo>
                  <a:pt x="0" y="0"/>
                </a:moveTo>
                <a:lnTo>
                  <a:pt x="413447" y="0"/>
                </a:lnTo>
                <a:lnTo>
                  <a:pt x="413447"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112268" y="10076102"/>
            <a:ext cx="1035660" cy="210898"/>
          </a:xfrm>
          <a:custGeom>
            <a:avLst/>
            <a:gdLst/>
            <a:ahLst/>
            <a:cxnLst/>
            <a:rect r="r" b="b" t="t" l="l"/>
            <a:pathLst>
              <a:path h="210898" w="1035660">
                <a:moveTo>
                  <a:pt x="0" y="0"/>
                </a:moveTo>
                <a:lnTo>
                  <a:pt x="1035660" y="0"/>
                </a:lnTo>
                <a:lnTo>
                  <a:pt x="1035660"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492794" y="10095407"/>
            <a:ext cx="1035660" cy="210898"/>
          </a:xfrm>
          <a:custGeom>
            <a:avLst/>
            <a:gdLst/>
            <a:ahLst/>
            <a:cxnLst/>
            <a:rect r="r" b="b" t="t" l="l"/>
            <a:pathLst>
              <a:path h="210898" w="1035660">
                <a:moveTo>
                  <a:pt x="0" y="0"/>
                </a:moveTo>
                <a:lnTo>
                  <a:pt x="1035659" y="0"/>
                </a:lnTo>
                <a:lnTo>
                  <a:pt x="1035659" y="210898"/>
                </a:lnTo>
                <a:lnTo>
                  <a:pt x="0" y="21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937277" y="1178424"/>
            <a:ext cx="413447" cy="1114685"/>
          </a:xfrm>
          <a:custGeom>
            <a:avLst/>
            <a:gdLst/>
            <a:ahLst/>
            <a:cxnLst/>
            <a:rect r="r" b="b" t="t" l="l"/>
            <a:pathLst>
              <a:path h="1114685" w="413447">
                <a:moveTo>
                  <a:pt x="0" y="0"/>
                </a:moveTo>
                <a:lnTo>
                  <a:pt x="413446" y="0"/>
                </a:lnTo>
                <a:lnTo>
                  <a:pt x="413446" y="1114685"/>
                </a:lnTo>
                <a:lnTo>
                  <a:pt x="0" y="11146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9" id="9"/>
          <p:cNvGraphicFramePr>
            <a:graphicFrameLocks noGrp="true"/>
          </p:cNvGraphicFramePr>
          <p:nvPr/>
        </p:nvGraphicFramePr>
        <p:xfrm>
          <a:off x="1028700" y="2287223"/>
          <a:ext cx="10654429" cy="5712554"/>
        </p:xfrm>
        <a:graphic>
          <a:graphicData uri="http://schemas.openxmlformats.org/drawingml/2006/table">
            <a:tbl>
              <a:tblPr/>
              <a:tblGrid>
                <a:gridCol w="3005695"/>
                <a:gridCol w="7648735"/>
              </a:tblGrid>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Time horizon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Days to weeks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Owned by</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Supervisors and front-line staff</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502905">
                <a:tc>
                  <a:txBody>
                    <a:bodyPr anchor="t" rtlCol="false"/>
                    <a:lstStyle/>
                    <a:p>
                      <a:pPr algn="l">
                        <a:lnSpc>
                          <a:spcPts val="3808"/>
                        </a:lnSpc>
                        <a:defRPr/>
                      </a:pPr>
                      <a:r>
                        <a:rPr lang="en-US" sz="2720">
                          <a:solidFill>
                            <a:srgbClr val="000000"/>
                          </a:solidFill>
                          <a:latin typeface="Lazydog 2"/>
                          <a:ea typeface="Lazydog 2"/>
                          <a:cs typeface="Lazydog 2"/>
                          <a:sym typeface="Lazydog 2"/>
                        </a:rPr>
                        <a:t>Focus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Daily execution of tactical initiatives and real‑time coordination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r h="1403216">
                <a:tc>
                  <a:txBody>
                    <a:bodyPr anchor="t" rtlCol="false"/>
                    <a:lstStyle/>
                    <a:p>
                      <a:pPr algn="l">
                        <a:lnSpc>
                          <a:spcPts val="3808"/>
                        </a:lnSpc>
                        <a:defRPr/>
                      </a:pPr>
                      <a:r>
                        <a:rPr lang="en-US" sz="2720">
                          <a:solidFill>
                            <a:srgbClr val="000000"/>
                          </a:solidFill>
                          <a:latin typeface="Lazydog 2"/>
                          <a:ea typeface="Lazydog 2"/>
                          <a:cs typeface="Lazydog 2"/>
                          <a:sym typeface="Lazydog 2"/>
                        </a:rPr>
                        <a:t>Output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l">
                        <a:lnSpc>
                          <a:spcPts val="3808"/>
                        </a:lnSpc>
                        <a:defRPr/>
                      </a:pPr>
                      <a:r>
                        <a:rPr lang="en-US" sz="2720">
                          <a:solidFill>
                            <a:srgbClr val="000000"/>
                          </a:solidFill>
                          <a:latin typeface="Sniglet"/>
                          <a:ea typeface="Sniglet"/>
                          <a:cs typeface="Sniglet"/>
                          <a:sym typeface="Sniglet"/>
                        </a:rPr>
                        <a:t>Task lists, schedules, checklists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bl>
          </a:graphicData>
        </a:graphic>
      </p:graphicFrame>
      <p:sp>
        <p:nvSpPr>
          <p:cNvPr name="TextBox 10" id="10"/>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tapit</a:t>
            </a:r>
          </a:p>
        </p:txBody>
      </p:sp>
      <p:grpSp>
        <p:nvGrpSpPr>
          <p:cNvPr name="Group 11" id="11"/>
          <p:cNvGrpSpPr/>
          <p:nvPr/>
        </p:nvGrpSpPr>
        <p:grpSpPr>
          <a:xfrm rot="0">
            <a:off x="12035554" y="1350065"/>
            <a:ext cx="4539009" cy="7621665"/>
            <a:chOff x="0" y="0"/>
            <a:chExt cx="1526393" cy="2563039"/>
          </a:xfrm>
        </p:grpSpPr>
        <p:sp>
          <p:nvSpPr>
            <p:cNvPr name="Freeform 12" id="12"/>
            <p:cNvSpPr/>
            <p:nvPr/>
          </p:nvSpPr>
          <p:spPr>
            <a:xfrm flipH="false" flipV="false" rot="0">
              <a:off x="0" y="0"/>
              <a:ext cx="1526393" cy="2563039"/>
            </a:xfrm>
            <a:custGeom>
              <a:avLst/>
              <a:gdLst/>
              <a:ahLst/>
              <a:cxnLst/>
              <a:rect r="r" b="b" t="t" l="l"/>
              <a:pathLst>
                <a:path h="2563039" w="1526393">
                  <a:moveTo>
                    <a:pt x="86988" y="0"/>
                  </a:moveTo>
                  <a:lnTo>
                    <a:pt x="1439406" y="0"/>
                  </a:lnTo>
                  <a:cubicBezTo>
                    <a:pt x="1487448" y="0"/>
                    <a:pt x="1526393" y="38946"/>
                    <a:pt x="1526393" y="86988"/>
                  </a:cubicBezTo>
                  <a:lnTo>
                    <a:pt x="1526393" y="2476052"/>
                  </a:lnTo>
                  <a:cubicBezTo>
                    <a:pt x="1526393" y="2499122"/>
                    <a:pt x="1517229" y="2521248"/>
                    <a:pt x="1500915" y="2537561"/>
                  </a:cubicBezTo>
                  <a:cubicBezTo>
                    <a:pt x="1484602" y="2553875"/>
                    <a:pt x="1462476" y="2563039"/>
                    <a:pt x="1439406" y="2563039"/>
                  </a:cubicBezTo>
                  <a:lnTo>
                    <a:pt x="86988" y="2563039"/>
                  </a:lnTo>
                  <a:cubicBezTo>
                    <a:pt x="63917" y="2563039"/>
                    <a:pt x="41791" y="2553875"/>
                    <a:pt x="25478" y="2537561"/>
                  </a:cubicBezTo>
                  <a:cubicBezTo>
                    <a:pt x="9165" y="2521248"/>
                    <a:pt x="0" y="2499122"/>
                    <a:pt x="0" y="2476052"/>
                  </a:cubicBezTo>
                  <a:lnTo>
                    <a:pt x="0" y="86988"/>
                  </a:lnTo>
                  <a:cubicBezTo>
                    <a:pt x="0" y="63917"/>
                    <a:pt x="9165" y="41791"/>
                    <a:pt x="25478" y="25478"/>
                  </a:cubicBezTo>
                  <a:cubicBezTo>
                    <a:pt x="41791" y="9165"/>
                    <a:pt x="63917" y="0"/>
                    <a:pt x="86988" y="0"/>
                  </a:cubicBezTo>
                  <a:close/>
                </a:path>
              </a:pathLst>
            </a:custGeom>
            <a:solidFill>
              <a:srgbClr val="FFFFFF"/>
            </a:solidFill>
          </p:spPr>
        </p:sp>
        <p:sp>
          <p:nvSpPr>
            <p:cNvPr name="TextBox 13" id="13"/>
            <p:cNvSpPr txBox="true"/>
            <p:nvPr/>
          </p:nvSpPr>
          <p:spPr>
            <a:xfrm>
              <a:off x="0" y="-19050"/>
              <a:ext cx="1526393" cy="2582089"/>
            </a:xfrm>
            <a:prstGeom prst="rect">
              <a:avLst/>
            </a:prstGeom>
          </p:spPr>
          <p:txBody>
            <a:bodyPr anchor="ctr" rtlCol="false" tIns="50800" lIns="50800" bIns="50800" rIns="50800"/>
            <a:lstStyle/>
            <a:p>
              <a:pPr algn="ctr">
                <a:lnSpc>
                  <a:spcPts val="2236"/>
                </a:lnSpc>
              </a:pPr>
            </a:p>
          </p:txBody>
        </p:sp>
      </p:grpSp>
      <p:sp>
        <p:nvSpPr>
          <p:cNvPr name="TextBox 14" id="14"/>
          <p:cNvSpPr txBox="true"/>
          <p:nvPr/>
        </p:nvSpPr>
        <p:spPr>
          <a:xfrm rot="0">
            <a:off x="12309520" y="1688142"/>
            <a:ext cx="3991078" cy="6968774"/>
          </a:xfrm>
          <a:prstGeom prst="rect">
            <a:avLst/>
          </a:prstGeom>
        </p:spPr>
        <p:txBody>
          <a:bodyPr anchor="t" rtlCol="false" tIns="0" lIns="0" bIns="0" rIns="0">
            <a:spAutoFit/>
          </a:bodyPr>
          <a:lstStyle/>
          <a:p>
            <a:pPr algn="l">
              <a:lnSpc>
                <a:spcPts val="3285"/>
              </a:lnSpc>
            </a:pPr>
            <a:r>
              <a:rPr lang="en-US" sz="2527" b="true">
                <a:solidFill>
                  <a:srgbClr val="28211E"/>
                </a:solidFill>
                <a:latin typeface="Arimo Bold"/>
                <a:ea typeface="Arimo Bold"/>
                <a:cs typeface="Arimo Bold"/>
                <a:sym typeface="Arimo Bold"/>
              </a:rPr>
              <a:t>This is planning at its most concrete — the actual work that keeps systems secure day to day. It rarely involves setting new direction; instead, it's about scheduling and completing the tasks that tactical plans call for.</a:t>
            </a:r>
          </a:p>
          <a:p>
            <a:pPr algn="l">
              <a:lnSpc>
                <a:spcPts val="3285"/>
              </a:lnSpc>
            </a:pPr>
          </a:p>
          <a:p>
            <a:pPr algn="l">
              <a:lnSpc>
                <a:spcPts val="3285"/>
              </a:lnSpc>
            </a:pPr>
            <a:r>
              <a:rPr lang="en-US" sz="2527" b="true">
                <a:solidFill>
                  <a:srgbClr val="28211E"/>
                </a:solidFill>
                <a:latin typeface="Arimo Bold"/>
                <a:ea typeface="Arimo Bold"/>
                <a:cs typeface="Arimo Bold"/>
                <a:sym typeface="Arimo Bold"/>
              </a:rPr>
              <a:t>Examples: Weekly patch deployment schedule · quarterly security awareness training sessions · monthly access-log audits.</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28211E"/>
        </a:solidFill>
      </p:bgPr>
    </p:bg>
    <p:spTree>
      <p:nvGrpSpPr>
        <p:cNvPr id="1" name=""/>
        <p:cNvGrpSpPr/>
        <p:nvPr/>
      </p:nvGrpSpPr>
      <p:grpSpPr>
        <a:xfrm>
          <a:off x="0" y="0"/>
          <a:ext cx="0" cy="0"/>
          <a:chOff x="0" y="0"/>
          <a:chExt cx="0" cy="0"/>
        </a:xfrm>
      </p:grpSpPr>
      <p:sp>
        <p:nvSpPr>
          <p:cNvPr name="TextBox 2" id="2"/>
          <p:cNvSpPr txBox="true"/>
          <p:nvPr/>
        </p:nvSpPr>
        <p:spPr>
          <a:xfrm rot="0">
            <a:off x="3270222" y="429256"/>
            <a:ext cx="11747556" cy="1406393"/>
          </a:xfrm>
          <a:prstGeom prst="rect">
            <a:avLst/>
          </a:prstGeom>
        </p:spPr>
        <p:txBody>
          <a:bodyPr anchor="t" rtlCol="false" tIns="0" lIns="0" bIns="0" rIns="0">
            <a:spAutoFit/>
          </a:bodyPr>
          <a:lstStyle/>
          <a:p>
            <a:pPr algn="ctr">
              <a:lnSpc>
                <a:spcPts val="5197"/>
              </a:lnSpc>
            </a:pPr>
            <a:r>
              <a:rPr lang="en-US" sz="6497" spc="-194">
                <a:solidFill>
                  <a:srgbClr val="FABE57"/>
                </a:solidFill>
                <a:latin typeface="Lazydog 1"/>
                <a:ea typeface="Lazydog 1"/>
                <a:cs typeface="Lazydog 1"/>
                <a:sym typeface="Lazydog 1"/>
              </a:rPr>
              <a:t>Documents and Deliverables Across Planning Levels</a:t>
            </a:r>
          </a:p>
        </p:txBody>
      </p:sp>
      <p:grpSp>
        <p:nvGrpSpPr>
          <p:cNvPr name="Group 3" id="3"/>
          <p:cNvGrpSpPr/>
          <p:nvPr/>
        </p:nvGrpSpPr>
        <p:grpSpPr>
          <a:xfrm rot="0">
            <a:off x="486826" y="2925484"/>
            <a:ext cx="5601437" cy="5146370"/>
            <a:chOff x="0" y="0"/>
            <a:chExt cx="2237821" cy="2056018"/>
          </a:xfrm>
        </p:grpSpPr>
        <p:sp>
          <p:nvSpPr>
            <p:cNvPr name="Freeform 4" id="4"/>
            <p:cNvSpPr/>
            <p:nvPr/>
          </p:nvSpPr>
          <p:spPr>
            <a:xfrm flipH="false" flipV="false" rot="0">
              <a:off x="0" y="0"/>
              <a:ext cx="2237821" cy="2056018"/>
            </a:xfrm>
            <a:custGeom>
              <a:avLst/>
              <a:gdLst/>
              <a:ahLst/>
              <a:cxnLst/>
              <a:rect r="r" b="b" t="t" l="l"/>
              <a:pathLst>
                <a:path h="2056018" w="2237821">
                  <a:moveTo>
                    <a:pt x="70489" y="0"/>
                  </a:moveTo>
                  <a:lnTo>
                    <a:pt x="2167333" y="0"/>
                  </a:lnTo>
                  <a:cubicBezTo>
                    <a:pt x="2186027" y="0"/>
                    <a:pt x="2203957" y="7426"/>
                    <a:pt x="2217176" y="20646"/>
                  </a:cubicBezTo>
                  <a:cubicBezTo>
                    <a:pt x="2230395" y="33865"/>
                    <a:pt x="2237821" y="51794"/>
                    <a:pt x="2237821" y="70489"/>
                  </a:cubicBezTo>
                  <a:lnTo>
                    <a:pt x="2237821" y="1985530"/>
                  </a:lnTo>
                  <a:cubicBezTo>
                    <a:pt x="2237821" y="2024459"/>
                    <a:pt x="2206262" y="2056018"/>
                    <a:pt x="2167333" y="2056018"/>
                  </a:cubicBezTo>
                  <a:lnTo>
                    <a:pt x="70489" y="2056018"/>
                  </a:lnTo>
                  <a:cubicBezTo>
                    <a:pt x="51794" y="2056018"/>
                    <a:pt x="33865" y="2048592"/>
                    <a:pt x="20646" y="2035373"/>
                  </a:cubicBezTo>
                  <a:cubicBezTo>
                    <a:pt x="7426" y="2022154"/>
                    <a:pt x="0" y="2004224"/>
                    <a:pt x="0" y="1985530"/>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5" id="5"/>
            <p:cNvSpPr txBox="true"/>
            <p:nvPr/>
          </p:nvSpPr>
          <p:spPr>
            <a:xfrm>
              <a:off x="0" y="-19050"/>
              <a:ext cx="2237821" cy="2075068"/>
            </a:xfrm>
            <a:prstGeom prst="rect">
              <a:avLst/>
            </a:prstGeom>
          </p:spPr>
          <p:txBody>
            <a:bodyPr anchor="ctr" rtlCol="false" tIns="50800" lIns="50800" bIns="50800" rIns="50800"/>
            <a:lstStyle/>
            <a:p>
              <a:pPr algn="ctr">
                <a:lnSpc>
                  <a:spcPts val="2236"/>
                </a:lnSpc>
              </a:pPr>
            </a:p>
          </p:txBody>
        </p:sp>
      </p:grpSp>
      <p:grpSp>
        <p:nvGrpSpPr>
          <p:cNvPr name="Group 6" id="6"/>
          <p:cNvGrpSpPr/>
          <p:nvPr/>
        </p:nvGrpSpPr>
        <p:grpSpPr>
          <a:xfrm rot="0">
            <a:off x="6342844" y="2925484"/>
            <a:ext cx="5601437" cy="5146370"/>
            <a:chOff x="0" y="0"/>
            <a:chExt cx="2237821" cy="2056018"/>
          </a:xfrm>
        </p:grpSpPr>
        <p:sp>
          <p:nvSpPr>
            <p:cNvPr name="Freeform 7" id="7"/>
            <p:cNvSpPr/>
            <p:nvPr/>
          </p:nvSpPr>
          <p:spPr>
            <a:xfrm flipH="false" flipV="false" rot="0">
              <a:off x="0" y="0"/>
              <a:ext cx="2237821" cy="2056018"/>
            </a:xfrm>
            <a:custGeom>
              <a:avLst/>
              <a:gdLst/>
              <a:ahLst/>
              <a:cxnLst/>
              <a:rect r="r" b="b" t="t" l="l"/>
              <a:pathLst>
                <a:path h="2056018" w="2237821">
                  <a:moveTo>
                    <a:pt x="70489" y="0"/>
                  </a:moveTo>
                  <a:lnTo>
                    <a:pt x="2167333" y="0"/>
                  </a:lnTo>
                  <a:cubicBezTo>
                    <a:pt x="2186027" y="0"/>
                    <a:pt x="2203957" y="7426"/>
                    <a:pt x="2217176" y="20646"/>
                  </a:cubicBezTo>
                  <a:cubicBezTo>
                    <a:pt x="2230395" y="33865"/>
                    <a:pt x="2237821" y="51794"/>
                    <a:pt x="2237821" y="70489"/>
                  </a:cubicBezTo>
                  <a:lnTo>
                    <a:pt x="2237821" y="1985530"/>
                  </a:lnTo>
                  <a:cubicBezTo>
                    <a:pt x="2237821" y="2024459"/>
                    <a:pt x="2206262" y="2056018"/>
                    <a:pt x="2167333" y="2056018"/>
                  </a:cubicBezTo>
                  <a:lnTo>
                    <a:pt x="70489" y="2056018"/>
                  </a:lnTo>
                  <a:cubicBezTo>
                    <a:pt x="51794" y="2056018"/>
                    <a:pt x="33865" y="2048592"/>
                    <a:pt x="20646" y="2035373"/>
                  </a:cubicBezTo>
                  <a:cubicBezTo>
                    <a:pt x="7426" y="2022154"/>
                    <a:pt x="0" y="2004224"/>
                    <a:pt x="0" y="1985530"/>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8" id="8"/>
            <p:cNvSpPr txBox="true"/>
            <p:nvPr/>
          </p:nvSpPr>
          <p:spPr>
            <a:xfrm>
              <a:off x="0" y="-19050"/>
              <a:ext cx="2237821" cy="2075068"/>
            </a:xfrm>
            <a:prstGeom prst="rect">
              <a:avLst/>
            </a:prstGeom>
          </p:spPr>
          <p:txBody>
            <a:bodyPr anchor="ctr" rtlCol="false" tIns="50800" lIns="50800" bIns="50800" rIns="50800"/>
            <a:lstStyle/>
            <a:p>
              <a:pPr algn="ctr">
                <a:lnSpc>
                  <a:spcPts val="2236"/>
                </a:lnSpc>
              </a:pPr>
            </a:p>
          </p:txBody>
        </p:sp>
      </p:grpSp>
      <p:grpSp>
        <p:nvGrpSpPr>
          <p:cNvPr name="Group 9" id="9"/>
          <p:cNvGrpSpPr/>
          <p:nvPr/>
        </p:nvGrpSpPr>
        <p:grpSpPr>
          <a:xfrm rot="0">
            <a:off x="12199737" y="2925484"/>
            <a:ext cx="5601437" cy="5146370"/>
            <a:chOff x="0" y="0"/>
            <a:chExt cx="2237821" cy="2056018"/>
          </a:xfrm>
        </p:grpSpPr>
        <p:sp>
          <p:nvSpPr>
            <p:cNvPr name="Freeform 10" id="10"/>
            <p:cNvSpPr/>
            <p:nvPr/>
          </p:nvSpPr>
          <p:spPr>
            <a:xfrm flipH="false" flipV="false" rot="0">
              <a:off x="0" y="0"/>
              <a:ext cx="2237821" cy="2056018"/>
            </a:xfrm>
            <a:custGeom>
              <a:avLst/>
              <a:gdLst/>
              <a:ahLst/>
              <a:cxnLst/>
              <a:rect r="r" b="b" t="t" l="l"/>
              <a:pathLst>
                <a:path h="2056018" w="2237821">
                  <a:moveTo>
                    <a:pt x="70489" y="0"/>
                  </a:moveTo>
                  <a:lnTo>
                    <a:pt x="2167333" y="0"/>
                  </a:lnTo>
                  <a:cubicBezTo>
                    <a:pt x="2186027" y="0"/>
                    <a:pt x="2203957" y="7426"/>
                    <a:pt x="2217176" y="20646"/>
                  </a:cubicBezTo>
                  <a:cubicBezTo>
                    <a:pt x="2230395" y="33865"/>
                    <a:pt x="2237821" y="51794"/>
                    <a:pt x="2237821" y="70489"/>
                  </a:cubicBezTo>
                  <a:lnTo>
                    <a:pt x="2237821" y="1985530"/>
                  </a:lnTo>
                  <a:cubicBezTo>
                    <a:pt x="2237821" y="2024459"/>
                    <a:pt x="2206262" y="2056018"/>
                    <a:pt x="2167333" y="2056018"/>
                  </a:cubicBezTo>
                  <a:lnTo>
                    <a:pt x="70489" y="2056018"/>
                  </a:lnTo>
                  <a:cubicBezTo>
                    <a:pt x="51794" y="2056018"/>
                    <a:pt x="33865" y="2048592"/>
                    <a:pt x="20646" y="2035373"/>
                  </a:cubicBezTo>
                  <a:cubicBezTo>
                    <a:pt x="7426" y="2022154"/>
                    <a:pt x="0" y="2004224"/>
                    <a:pt x="0" y="1985530"/>
                  </a:cubicBezTo>
                  <a:lnTo>
                    <a:pt x="0" y="70489"/>
                  </a:lnTo>
                  <a:cubicBezTo>
                    <a:pt x="0" y="51794"/>
                    <a:pt x="7426" y="33865"/>
                    <a:pt x="20646" y="20646"/>
                  </a:cubicBezTo>
                  <a:cubicBezTo>
                    <a:pt x="33865" y="7426"/>
                    <a:pt x="51794" y="0"/>
                    <a:pt x="70489" y="0"/>
                  </a:cubicBezTo>
                  <a:close/>
                </a:path>
              </a:pathLst>
            </a:custGeom>
            <a:solidFill>
              <a:srgbClr val="FFFFFF"/>
            </a:solidFill>
          </p:spPr>
        </p:sp>
        <p:sp>
          <p:nvSpPr>
            <p:cNvPr name="TextBox 11" id="11"/>
            <p:cNvSpPr txBox="true"/>
            <p:nvPr/>
          </p:nvSpPr>
          <p:spPr>
            <a:xfrm>
              <a:off x="0" y="-19050"/>
              <a:ext cx="2237821" cy="2075068"/>
            </a:xfrm>
            <a:prstGeom prst="rect">
              <a:avLst/>
            </a:prstGeom>
          </p:spPr>
          <p:txBody>
            <a:bodyPr anchor="ctr" rtlCol="false" tIns="50800" lIns="50800" bIns="50800" rIns="50800"/>
            <a:lstStyle/>
            <a:p>
              <a:pPr algn="ctr">
                <a:lnSpc>
                  <a:spcPts val="2236"/>
                </a:lnSpc>
              </a:pPr>
            </a:p>
          </p:txBody>
        </p:sp>
      </p:grpSp>
      <p:sp>
        <p:nvSpPr>
          <p:cNvPr name="TextBox 12" id="12"/>
          <p:cNvSpPr txBox="true"/>
          <p:nvPr/>
        </p:nvSpPr>
        <p:spPr>
          <a:xfrm rot="0">
            <a:off x="791758" y="3043112"/>
            <a:ext cx="4956929" cy="485790"/>
          </a:xfrm>
          <a:prstGeom prst="rect">
            <a:avLst/>
          </a:prstGeom>
        </p:spPr>
        <p:txBody>
          <a:bodyPr anchor="t" rtlCol="false" tIns="0" lIns="0" bIns="0" rIns="0">
            <a:spAutoFit/>
          </a:bodyPr>
          <a:lstStyle/>
          <a:p>
            <a:pPr algn="ctr">
              <a:lnSpc>
                <a:spcPts val="3898"/>
              </a:lnSpc>
            </a:pPr>
            <a:r>
              <a:rPr lang="en-US" b="true" sz="2998">
                <a:solidFill>
                  <a:srgbClr val="28211E"/>
                </a:solidFill>
                <a:latin typeface="Arimo Bold"/>
                <a:ea typeface="Arimo Bold"/>
                <a:cs typeface="Arimo Bold"/>
                <a:sym typeface="Arimo Bold"/>
              </a:rPr>
              <a:t>STRATEGIC</a:t>
            </a:r>
          </a:p>
        </p:txBody>
      </p:sp>
      <p:sp>
        <p:nvSpPr>
          <p:cNvPr name="TextBox 13" id="13"/>
          <p:cNvSpPr txBox="true"/>
          <p:nvPr/>
        </p:nvSpPr>
        <p:spPr>
          <a:xfrm rot="0">
            <a:off x="811743" y="3600332"/>
            <a:ext cx="4951603" cy="4467225"/>
          </a:xfrm>
          <a:prstGeom prst="rect">
            <a:avLst/>
          </a:prstGeom>
        </p:spPr>
        <p:txBody>
          <a:bodyPr anchor="t" rtlCol="false" tIns="0" lIns="0" bIns="0" rIns="0">
            <a:spAutoFit/>
          </a:bodyPr>
          <a:lstStyle/>
          <a:p>
            <a:pPr algn="l">
              <a:lnSpc>
                <a:spcPts val="2928"/>
              </a:lnSpc>
            </a:pPr>
            <a:r>
              <a:rPr lang="en-US" sz="2440">
                <a:solidFill>
                  <a:srgbClr val="282421"/>
                </a:solidFill>
                <a:latin typeface="Arimo"/>
                <a:ea typeface="Arimo"/>
                <a:cs typeface="Arimo"/>
                <a:sym typeface="Arimo"/>
              </a:rPr>
              <a:t>The strategic security plan is the document that answers "where are we headed, and why?"</a:t>
            </a:r>
          </a:p>
          <a:p>
            <a:pPr algn="l">
              <a:lnSpc>
                <a:spcPts val="2928"/>
              </a:lnSpc>
            </a:pPr>
          </a:p>
          <a:p>
            <a:pPr algn="l" marL="526964" indent="-263482" lvl="1">
              <a:lnSpc>
                <a:spcPts val="2928"/>
              </a:lnSpc>
              <a:buFont typeface="Arial"/>
              <a:buChar char="•"/>
            </a:pPr>
            <a:r>
              <a:rPr lang="en-US" sz="2440">
                <a:solidFill>
                  <a:srgbClr val="282421"/>
                </a:solidFill>
                <a:latin typeface="Arimo"/>
                <a:ea typeface="Arimo"/>
                <a:cs typeface="Arimo"/>
                <a:sym typeface="Arimo"/>
              </a:rPr>
              <a:t>Reads more like </a:t>
            </a:r>
            <a:r>
              <a:rPr lang="en-US" sz="2440">
                <a:solidFill>
                  <a:srgbClr val="282421"/>
                </a:solidFill>
                <a:latin typeface="Arimo"/>
                <a:ea typeface="Arimo"/>
                <a:cs typeface="Arimo"/>
                <a:sym typeface="Arimo"/>
              </a:rPr>
              <a:t>a visi</a:t>
            </a:r>
            <a:r>
              <a:rPr lang="en-US" sz="2440">
                <a:solidFill>
                  <a:srgbClr val="282421"/>
                </a:solidFill>
                <a:latin typeface="Arimo"/>
                <a:ea typeface="Arimo"/>
                <a:cs typeface="Arimo"/>
                <a:sym typeface="Arimo"/>
              </a:rPr>
              <a:t>on statement than a task list</a:t>
            </a:r>
          </a:p>
          <a:p>
            <a:pPr algn="l" marL="526964" indent="-263482" lvl="1">
              <a:lnSpc>
                <a:spcPts val="2928"/>
              </a:lnSpc>
              <a:buFont typeface="Arial"/>
              <a:buChar char="•"/>
            </a:pPr>
            <a:r>
              <a:rPr lang="en-US" sz="2440">
                <a:solidFill>
                  <a:srgbClr val="282421"/>
                </a:solidFill>
                <a:latin typeface="Arimo"/>
                <a:ea typeface="Arimo"/>
                <a:cs typeface="Arimo"/>
                <a:sym typeface="Arimo"/>
              </a:rPr>
              <a:t>Rarely mentions specific tools, vendors, or dates beyond the yea</a:t>
            </a:r>
            <a:r>
              <a:rPr lang="en-US" sz="2440">
                <a:solidFill>
                  <a:srgbClr val="282421"/>
                </a:solidFill>
                <a:latin typeface="Arimo"/>
                <a:ea typeface="Arimo"/>
                <a:cs typeface="Arimo"/>
                <a:sym typeface="Arimo"/>
              </a:rPr>
              <a:t>r</a:t>
            </a:r>
          </a:p>
          <a:p>
            <a:pPr algn="l" marL="526964" indent="-263482" lvl="1">
              <a:lnSpc>
                <a:spcPts val="2928"/>
              </a:lnSpc>
              <a:buFont typeface="Arial"/>
              <a:buChar char="•"/>
            </a:pPr>
            <a:r>
              <a:rPr lang="en-US" sz="2440">
                <a:solidFill>
                  <a:srgbClr val="282421"/>
                </a:solidFill>
                <a:latin typeface="Arimo"/>
                <a:ea typeface="Arimo"/>
                <a:cs typeface="Arimo"/>
                <a:sym typeface="Arimo"/>
              </a:rPr>
              <a:t>Ge</a:t>
            </a:r>
            <a:r>
              <a:rPr lang="en-US" sz="2440">
                <a:solidFill>
                  <a:srgbClr val="282421"/>
                </a:solidFill>
                <a:latin typeface="Arimo"/>
                <a:ea typeface="Arimo"/>
                <a:cs typeface="Arimo"/>
                <a:sym typeface="Arimo"/>
              </a:rPr>
              <a:t>ts revisited only every few years, not monthly</a:t>
            </a:r>
          </a:p>
          <a:p>
            <a:pPr algn="l">
              <a:lnSpc>
                <a:spcPts val="2928"/>
              </a:lnSpc>
            </a:pPr>
          </a:p>
        </p:txBody>
      </p:sp>
      <p:sp>
        <p:nvSpPr>
          <p:cNvPr name="TextBox 14" id="14"/>
          <p:cNvSpPr txBox="true"/>
          <p:nvPr/>
        </p:nvSpPr>
        <p:spPr>
          <a:xfrm rot="0">
            <a:off x="6509113" y="3024077"/>
            <a:ext cx="5268899" cy="504825"/>
          </a:xfrm>
          <a:prstGeom prst="rect">
            <a:avLst/>
          </a:prstGeom>
        </p:spPr>
        <p:txBody>
          <a:bodyPr anchor="t" rtlCol="false" tIns="0" lIns="0" bIns="0" rIns="0">
            <a:spAutoFit/>
          </a:bodyPr>
          <a:lstStyle/>
          <a:p>
            <a:pPr algn="ctr">
              <a:lnSpc>
                <a:spcPts val="3900"/>
              </a:lnSpc>
            </a:pPr>
            <a:r>
              <a:rPr lang="en-US" b="true" sz="3000">
                <a:solidFill>
                  <a:srgbClr val="28211E"/>
                </a:solidFill>
                <a:latin typeface="Arimo Bold"/>
                <a:ea typeface="Arimo Bold"/>
                <a:cs typeface="Arimo Bold"/>
                <a:sym typeface="Arimo Bold"/>
              </a:rPr>
              <a:t>TACTICAL</a:t>
            </a:r>
          </a:p>
        </p:txBody>
      </p:sp>
      <p:sp>
        <p:nvSpPr>
          <p:cNvPr name="TextBox 15" id="15"/>
          <p:cNvSpPr txBox="true"/>
          <p:nvPr/>
        </p:nvSpPr>
        <p:spPr>
          <a:xfrm rot="0">
            <a:off x="6668198" y="3600332"/>
            <a:ext cx="4951603" cy="4095750"/>
          </a:xfrm>
          <a:prstGeom prst="rect">
            <a:avLst/>
          </a:prstGeom>
        </p:spPr>
        <p:txBody>
          <a:bodyPr anchor="t" rtlCol="false" tIns="0" lIns="0" bIns="0" rIns="0">
            <a:spAutoFit/>
          </a:bodyPr>
          <a:lstStyle/>
          <a:p>
            <a:pPr algn="l">
              <a:lnSpc>
                <a:spcPts val="2928"/>
              </a:lnSpc>
            </a:pPr>
            <a:r>
              <a:rPr lang="en-US" sz="2440">
                <a:solidFill>
                  <a:srgbClr val="282421"/>
                </a:solidFill>
                <a:latin typeface="Arimo"/>
                <a:ea typeface="Arimo"/>
                <a:cs typeface="Arimo"/>
                <a:sym typeface="Arimo"/>
              </a:rPr>
              <a:t>The project or program plan answ</a:t>
            </a:r>
            <a:r>
              <a:rPr lang="en-US" sz="2440">
                <a:solidFill>
                  <a:srgbClr val="282421"/>
                </a:solidFill>
                <a:latin typeface="Arimo"/>
                <a:ea typeface="Arimo"/>
                <a:cs typeface="Arimo"/>
                <a:sym typeface="Arimo"/>
              </a:rPr>
              <a:t>ers "wh</a:t>
            </a:r>
            <a:r>
              <a:rPr lang="en-US" sz="2440">
                <a:solidFill>
                  <a:srgbClr val="282421"/>
                </a:solidFill>
                <a:latin typeface="Arimo"/>
                <a:ea typeface="Arimo"/>
                <a:cs typeface="Arimo"/>
                <a:sym typeface="Arimo"/>
              </a:rPr>
              <a:t>at</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are we actually going to build or roll out?"</a:t>
            </a:r>
          </a:p>
          <a:p>
            <a:pPr algn="l">
              <a:lnSpc>
                <a:spcPts val="2928"/>
              </a:lnSpc>
            </a:pPr>
          </a:p>
          <a:p>
            <a:pPr algn="l" marL="526964" indent="-263482" lvl="1">
              <a:lnSpc>
                <a:spcPts val="2928"/>
              </a:lnSpc>
              <a:buFont typeface="Arial"/>
              <a:buChar char="•"/>
            </a:pPr>
            <a:r>
              <a:rPr lang="en-US" sz="2440">
                <a:solidFill>
                  <a:srgbClr val="282421"/>
                </a:solidFill>
                <a:latin typeface="Arimo"/>
                <a:ea typeface="Arimo"/>
                <a:cs typeface="Arimo"/>
                <a:sym typeface="Arimo"/>
              </a:rPr>
              <a:t>Name</a:t>
            </a:r>
            <a:r>
              <a:rPr lang="en-US" sz="2440">
                <a:solidFill>
                  <a:srgbClr val="282421"/>
                </a:solidFill>
                <a:latin typeface="Arimo"/>
                <a:ea typeface="Arimo"/>
                <a:cs typeface="Arimo"/>
                <a:sym typeface="Arimo"/>
              </a:rPr>
              <a:t>s </a:t>
            </a:r>
            <a:r>
              <a:rPr lang="en-US" sz="2440">
                <a:solidFill>
                  <a:srgbClr val="282421"/>
                </a:solidFill>
                <a:latin typeface="Arimo"/>
                <a:ea typeface="Arimo"/>
                <a:cs typeface="Arimo"/>
                <a:sym typeface="Arimo"/>
              </a:rPr>
              <a:t>specific</a:t>
            </a:r>
            <a:r>
              <a:rPr lang="en-US" sz="2440">
                <a:solidFill>
                  <a:srgbClr val="282421"/>
                </a:solidFill>
                <a:latin typeface="Arimo"/>
                <a:ea typeface="Arimo"/>
                <a:cs typeface="Arimo"/>
                <a:sym typeface="Arimo"/>
              </a:rPr>
              <a:t> i</a:t>
            </a:r>
            <a:r>
              <a:rPr lang="en-US" sz="2440">
                <a:solidFill>
                  <a:srgbClr val="282421"/>
                </a:solidFill>
                <a:latin typeface="Arimo"/>
                <a:ea typeface="Arimo"/>
                <a:cs typeface="Arimo"/>
                <a:sym typeface="Arimo"/>
              </a:rPr>
              <a:t>nitiatives, budget</a:t>
            </a:r>
            <a:r>
              <a:rPr lang="en-US" sz="2440">
                <a:solidFill>
                  <a:srgbClr val="282421"/>
                </a:solidFill>
                <a:latin typeface="Arimo"/>
                <a:ea typeface="Arimo"/>
                <a:cs typeface="Arimo"/>
                <a:sym typeface="Arimo"/>
              </a:rPr>
              <a:t>s, a</a:t>
            </a:r>
            <a:r>
              <a:rPr lang="en-US" sz="2440">
                <a:solidFill>
                  <a:srgbClr val="282421"/>
                </a:solidFill>
                <a:latin typeface="Arimo"/>
                <a:ea typeface="Arimo"/>
                <a:cs typeface="Arimo"/>
                <a:sym typeface="Arimo"/>
              </a:rPr>
              <a:t>nd dead</a:t>
            </a:r>
            <a:r>
              <a:rPr lang="en-US" sz="2440">
                <a:solidFill>
                  <a:srgbClr val="282421"/>
                </a:solidFill>
                <a:latin typeface="Arimo"/>
                <a:ea typeface="Arimo"/>
                <a:cs typeface="Arimo"/>
                <a:sym typeface="Arimo"/>
              </a:rPr>
              <a:t>lin</a:t>
            </a:r>
            <a:r>
              <a:rPr lang="en-US" sz="2440">
                <a:solidFill>
                  <a:srgbClr val="282421"/>
                </a:solidFill>
                <a:latin typeface="Arimo"/>
                <a:ea typeface="Arimo"/>
                <a:cs typeface="Arimo"/>
                <a:sym typeface="Arimo"/>
              </a:rPr>
              <a:t>es</a:t>
            </a:r>
          </a:p>
          <a:p>
            <a:pPr algn="l" marL="526964" indent="-263482" lvl="1">
              <a:lnSpc>
                <a:spcPts val="2928"/>
              </a:lnSpc>
              <a:buFont typeface="Arial"/>
              <a:buChar char="•"/>
            </a:pPr>
            <a:r>
              <a:rPr lang="en-US" sz="2440">
                <a:solidFill>
                  <a:srgbClr val="282421"/>
                </a:solidFill>
                <a:latin typeface="Arimo"/>
                <a:ea typeface="Arimo"/>
                <a:cs typeface="Arimo"/>
                <a:sym typeface="Arimo"/>
              </a:rPr>
              <a:t>Usua</a:t>
            </a:r>
            <a:r>
              <a:rPr lang="en-US" sz="2440">
                <a:solidFill>
                  <a:srgbClr val="282421"/>
                </a:solidFill>
                <a:latin typeface="Arimo"/>
                <a:ea typeface="Arimo"/>
                <a:cs typeface="Arimo"/>
                <a:sym typeface="Arimo"/>
              </a:rPr>
              <a:t>l</a:t>
            </a:r>
            <a:r>
              <a:rPr lang="en-US" sz="2440">
                <a:solidFill>
                  <a:srgbClr val="282421"/>
                </a:solidFill>
                <a:latin typeface="Arimo"/>
                <a:ea typeface="Arimo"/>
                <a:cs typeface="Arimo"/>
                <a:sym typeface="Arimo"/>
              </a:rPr>
              <a:t>ly lives in a proje</a:t>
            </a:r>
            <a:r>
              <a:rPr lang="en-US" sz="2440">
                <a:solidFill>
                  <a:srgbClr val="282421"/>
                </a:solidFill>
                <a:latin typeface="Arimo"/>
                <a:ea typeface="Arimo"/>
                <a:cs typeface="Arimo"/>
                <a:sym typeface="Arimo"/>
              </a:rPr>
              <a:t>ct tracker r</a:t>
            </a:r>
            <a:r>
              <a:rPr lang="en-US" sz="2440">
                <a:solidFill>
                  <a:srgbClr val="282421"/>
                </a:solidFill>
                <a:latin typeface="Arimo"/>
                <a:ea typeface="Arimo"/>
                <a:cs typeface="Arimo"/>
                <a:sym typeface="Arimo"/>
              </a:rPr>
              <a:t>ather than a static document</a:t>
            </a:r>
          </a:p>
          <a:p>
            <a:pPr algn="l" marL="526964" indent="-263482" lvl="1">
              <a:lnSpc>
                <a:spcPts val="2928"/>
              </a:lnSpc>
              <a:buFont typeface="Arial"/>
              <a:buChar char="•"/>
            </a:pPr>
            <a:r>
              <a:rPr lang="en-US" sz="2440">
                <a:solidFill>
                  <a:srgbClr val="282421"/>
                </a:solidFill>
                <a:latin typeface="Arimo"/>
                <a:ea typeface="Arimo"/>
                <a:cs typeface="Arimo"/>
                <a:sym typeface="Arimo"/>
              </a:rPr>
              <a:t>Gets reviewed and adjusted quarterly as work progresses</a:t>
            </a:r>
          </a:p>
          <a:p>
            <a:pPr algn="l">
              <a:lnSpc>
                <a:spcPts val="2928"/>
              </a:lnSpc>
            </a:pPr>
          </a:p>
        </p:txBody>
      </p:sp>
      <p:sp>
        <p:nvSpPr>
          <p:cNvPr name="TextBox 16" id="16"/>
          <p:cNvSpPr txBox="true"/>
          <p:nvPr/>
        </p:nvSpPr>
        <p:spPr>
          <a:xfrm rot="0">
            <a:off x="12539313" y="3028832"/>
            <a:ext cx="4956929" cy="504825"/>
          </a:xfrm>
          <a:prstGeom prst="rect">
            <a:avLst/>
          </a:prstGeom>
        </p:spPr>
        <p:txBody>
          <a:bodyPr anchor="t" rtlCol="false" tIns="0" lIns="0" bIns="0" rIns="0">
            <a:spAutoFit/>
          </a:bodyPr>
          <a:lstStyle/>
          <a:p>
            <a:pPr algn="ctr">
              <a:lnSpc>
                <a:spcPts val="3900"/>
              </a:lnSpc>
            </a:pPr>
            <a:r>
              <a:rPr lang="en-US" b="true" sz="3000">
                <a:solidFill>
                  <a:srgbClr val="28211E"/>
                </a:solidFill>
                <a:latin typeface="Arimo Bold"/>
                <a:ea typeface="Arimo Bold"/>
                <a:cs typeface="Arimo Bold"/>
                <a:sym typeface="Arimo Bold"/>
              </a:rPr>
              <a:t>OPERATIONAL</a:t>
            </a:r>
          </a:p>
        </p:txBody>
      </p:sp>
      <p:sp>
        <p:nvSpPr>
          <p:cNvPr name="TextBox 17" id="17"/>
          <p:cNvSpPr txBox="true"/>
          <p:nvPr/>
        </p:nvSpPr>
        <p:spPr>
          <a:xfrm rot="0">
            <a:off x="12578952" y="3600332"/>
            <a:ext cx="4843007" cy="3352800"/>
          </a:xfrm>
          <a:prstGeom prst="rect">
            <a:avLst/>
          </a:prstGeom>
        </p:spPr>
        <p:txBody>
          <a:bodyPr anchor="t" rtlCol="false" tIns="0" lIns="0" bIns="0" rIns="0">
            <a:spAutoFit/>
          </a:bodyPr>
          <a:lstStyle/>
          <a:p>
            <a:pPr algn="l">
              <a:lnSpc>
                <a:spcPts val="2927"/>
              </a:lnSpc>
            </a:pPr>
            <a:r>
              <a:rPr lang="en-US" sz="2439">
                <a:solidFill>
                  <a:srgbClr val="282421"/>
                </a:solidFill>
                <a:latin typeface="Arimo"/>
                <a:ea typeface="Arimo"/>
                <a:cs typeface="Arimo"/>
                <a:sym typeface="Arimo"/>
              </a:rPr>
              <a:t>Task</a:t>
            </a:r>
            <a:r>
              <a:rPr lang="en-US" sz="2439">
                <a:solidFill>
                  <a:srgbClr val="282421"/>
                </a:solidFill>
                <a:latin typeface="Arimo"/>
                <a:ea typeface="Arimo"/>
                <a:cs typeface="Arimo"/>
                <a:sym typeface="Arimo"/>
              </a:rPr>
              <a:t> </a:t>
            </a:r>
            <a:r>
              <a:rPr lang="en-US" sz="2439">
                <a:solidFill>
                  <a:srgbClr val="282421"/>
                </a:solidFill>
                <a:latin typeface="Arimo"/>
                <a:ea typeface="Arimo"/>
                <a:cs typeface="Arimo"/>
                <a:sym typeface="Arimo"/>
              </a:rPr>
              <a:t>lists, checklists, and SOPs answ</a:t>
            </a:r>
            <a:r>
              <a:rPr lang="en-US" sz="2439">
                <a:solidFill>
                  <a:srgbClr val="282421"/>
                </a:solidFill>
                <a:latin typeface="Arimo"/>
                <a:ea typeface="Arimo"/>
                <a:cs typeface="Arimo"/>
                <a:sym typeface="Arimo"/>
              </a:rPr>
              <a:t>er "what do I do</a:t>
            </a:r>
            <a:r>
              <a:rPr lang="en-US" sz="2439">
                <a:solidFill>
                  <a:srgbClr val="282421"/>
                </a:solidFill>
                <a:latin typeface="Arimo"/>
                <a:ea typeface="Arimo"/>
                <a:cs typeface="Arimo"/>
                <a:sym typeface="Arimo"/>
              </a:rPr>
              <a:t> today?"</a:t>
            </a:r>
          </a:p>
          <a:p>
            <a:pPr algn="l">
              <a:lnSpc>
                <a:spcPts val="2927"/>
              </a:lnSpc>
            </a:pPr>
          </a:p>
          <a:p>
            <a:pPr algn="l" marL="526795" indent="-263398" lvl="1">
              <a:lnSpc>
                <a:spcPts val="2927"/>
              </a:lnSpc>
              <a:buFont typeface="Arial"/>
              <a:buChar char="•"/>
            </a:pPr>
            <a:r>
              <a:rPr lang="en-US" sz="2439">
                <a:solidFill>
                  <a:srgbClr val="282421"/>
                </a:solidFill>
                <a:latin typeface="Arimo"/>
                <a:ea typeface="Arimo"/>
                <a:cs typeface="Arimo"/>
                <a:sym typeface="Arimo"/>
              </a:rPr>
              <a:t>Written for someone to follow without needing extra context</a:t>
            </a:r>
          </a:p>
          <a:p>
            <a:pPr algn="l" marL="526795" indent="-263398" lvl="1">
              <a:lnSpc>
                <a:spcPts val="2927"/>
              </a:lnSpc>
              <a:buFont typeface="Arial"/>
              <a:buChar char="•"/>
            </a:pPr>
            <a:r>
              <a:rPr lang="en-US" sz="2439">
                <a:solidFill>
                  <a:srgbClr val="282421"/>
                </a:solidFill>
                <a:latin typeface="Arimo"/>
                <a:ea typeface="Arimo"/>
                <a:cs typeface="Arimo"/>
                <a:sym typeface="Arimo"/>
              </a:rPr>
              <a:t>Focused on a s</a:t>
            </a:r>
            <a:r>
              <a:rPr lang="en-US" sz="2439">
                <a:solidFill>
                  <a:srgbClr val="282421"/>
                </a:solidFill>
                <a:latin typeface="Arimo"/>
                <a:ea typeface="Arimo"/>
                <a:cs typeface="Arimo"/>
                <a:sym typeface="Arimo"/>
              </a:rPr>
              <a:t>ing</a:t>
            </a:r>
            <a:r>
              <a:rPr lang="en-US" sz="2439">
                <a:solidFill>
                  <a:srgbClr val="282421"/>
                </a:solidFill>
                <a:latin typeface="Arimo"/>
                <a:ea typeface="Arimo"/>
                <a:cs typeface="Arimo"/>
                <a:sym typeface="Arimo"/>
              </a:rPr>
              <a:t>le</a:t>
            </a:r>
            <a:r>
              <a:rPr lang="en-US" sz="2439">
                <a:solidFill>
                  <a:srgbClr val="282421"/>
                </a:solidFill>
                <a:latin typeface="Arimo"/>
                <a:ea typeface="Arimo"/>
                <a:cs typeface="Arimo"/>
                <a:sym typeface="Arimo"/>
              </a:rPr>
              <a:t> act</a:t>
            </a:r>
            <a:r>
              <a:rPr lang="en-US" sz="2439">
                <a:solidFill>
                  <a:srgbClr val="282421"/>
                </a:solidFill>
                <a:latin typeface="Arimo"/>
                <a:ea typeface="Arimo"/>
                <a:cs typeface="Arimo"/>
                <a:sym typeface="Arimo"/>
              </a:rPr>
              <a:t>ion or shift, not a mult</a:t>
            </a:r>
            <a:r>
              <a:rPr lang="en-US" sz="2439">
                <a:solidFill>
                  <a:srgbClr val="282421"/>
                </a:solidFill>
                <a:latin typeface="Arimo"/>
                <a:ea typeface="Arimo"/>
                <a:cs typeface="Arimo"/>
                <a:sym typeface="Arimo"/>
              </a:rPr>
              <a:t>i-mo</a:t>
            </a:r>
            <a:r>
              <a:rPr lang="en-US" sz="2439">
                <a:solidFill>
                  <a:srgbClr val="282421"/>
                </a:solidFill>
                <a:latin typeface="Arimo"/>
                <a:ea typeface="Arimo"/>
                <a:cs typeface="Arimo"/>
                <a:sym typeface="Arimo"/>
              </a:rPr>
              <a:t>nth effort</a:t>
            </a:r>
          </a:p>
          <a:p>
            <a:pPr algn="l" marL="526795" indent="-263398" lvl="1">
              <a:lnSpc>
                <a:spcPts val="2927"/>
              </a:lnSpc>
              <a:buFont typeface="Arial"/>
              <a:buChar char="•"/>
            </a:pPr>
            <a:r>
              <a:rPr lang="en-US" sz="2439">
                <a:solidFill>
                  <a:srgbClr val="282421"/>
                </a:solidFill>
                <a:latin typeface="Arimo"/>
                <a:ea typeface="Arimo"/>
                <a:cs typeface="Arimo"/>
                <a:sym typeface="Arimo"/>
              </a:rPr>
              <a:t>Updated constantly as procedures change</a:t>
            </a:r>
          </a:p>
        </p:txBody>
      </p:sp>
      <p:grpSp>
        <p:nvGrpSpPr>
          <p:cNvPr name="Group 18" id="18"/>
          <p:cNvGrpSpPr/>
          <p:nvPr/>
        </p:nvGrpSpPr>
        <p:grpSpPr>
          <a:xfrm rot="0">
            <a:off x="486388" y="1940160"/>
            <a:ext cx="17314348" cy="853508"/>
            <a:chOff x="0" y="0"/>
            <a:chExt cx="6917228" cy="340984"/>
          </a:xfrm>
        </p:grpSpPr>
        <p:sp>
          <p:nvSpPr>
            <p:cNvPr name="Freeform 19" id="19"/>
            <p:cNvSpPr/>
            <p:nvPr/>
          </p:nvSpPr>
          <p:spPr>
            <a:xfrm flipH="false" flipV="false" rot="0">
              <a:off x="0" y="0"/>
              <a:ext cx="6917228" cy="340984"/>
            </a:xfrm>
            <a:custGeom>
              <a:avLst/>
              <a:gdLst/>
              <a:ahLst/>
              <a:cxnLst/>
              <a:rect r="r" b="b" t="t" l="l"/>
              <a:pathLst>
                <a:path h="340984" w="6917228">
                  <a:moveTo>
                    <a:pt x="22804" y="0"/>
                  </a:moveTo>
                  <a:lnTo>
                    <a:pt x="6894424" y="0"/>
                  </a:lnTo>
                  <a:cubicBezTo>
                    <a:pt x="6907019" y="0"/>
                    <a:pt x="6917228" y="10210"/>
                    <a:pt x="6917228" y="22804"/>
                  </a:cubicBezTo>
                  <a:lnTo>
                    <a:pt x="6917228" y="318179"/>
                  </a:lnTo>
                  <a:cubicBezTo>
                    <a:pt x="6917228" y="324227"/>
                    <a:pt x="6914826" y="330028"/>
                    <a:pt x="6910549" y="334304"/>
                  </a:cubicBezTo>
                  <a:cubicBezTo>
                    <a:pt x="6906272" y="338581"/>
                    <a:pt x="6900472" y="340984"/>
                    <a:pt x="6894424" y="340984"/>
                  </a:cubicBezTo>
                  <a:lnTo>
                    <a:pt x="22804" y="340984"/>
                  </a:lnTo>
                  <a:cubicBezTo>
                    <a:pt x="16756" y="340984"/>
                    <a:pt x="10956" y="338581"/>
                    <a:pt x="6679" y="334304"/>
                  </a:cubicBezTo>
                  <a:cubicBezTo>
                    <a:pt x="2403" y="330028"/>
                    <a:pt x="0" y="324227"/>
                    <a:pt x="0" y="318179"/>
                  </a:cubicBezTo>
                  <a:lnTo>
                    <a:pt x="0" y="22804"/>
                  </a:lnTo>
                  <a:cubicBezTo>
                    <a:pt x="0" y="16756"/>
                    <a:pt x="2403" y="10956"/>
                    <a:pt x="6679" y="6679"/>
                  </a:cubicBezTo>
                  <a:cubicBezTo>
                    <a:pt x="10956" y="2403"/>
                    <a:pt x="16756" y="0"/>
                    <a:pt x="22804" y="0"/>
                  </a:cubicBezTo>
                  <a:close/>
                </a:path>
              </a:pathLst>
            </a:custGeom>
            <a:solidFill>
              <a:srgbClr val="FFFFFF"/>
            </a:solidFill>
          </p:spPr>
        </p:sp>
        <p:sp>
          <p:nvSpPr>
            <p:cNvPr name="TextBox 20" id="20"/>
            <p:cNvSpPr txBox="true"/>
            <p:nvPr/>
          </p:nvSpPr>
          <p:spPr>
            <a:xfrm>
              <a:off x="0" y="-19050"/>
              <a:ext cx="6917228" cy="360034"/>
            </a:xfrm>
            <a:prstGeom prst="rect">
              <a:avLst/>
            </a:prstGeom>
          </p:spPr>
          <p:txBody>
            <a:bodyPr anchor="ctr" rtlCol="false" tIns="50800" lIns="50800" bIns="50800" rIns="50800"/>
            <a:lstStyle/>
            <a:p>
              <a:pPr algn="ctr">
                <a:lnSpc>
                  <a:spcPts val="2236"/>
                </a:lnSpc>
              </a:pPr>
            </a:p>
          </p:txBody>
        </p:sp>
      </p:grpSp>
      <p:sp>
        <p:nvSpPr>
          <p:cNvPr name="TextBox 21" id="21"/>
          <p:cNvSpPr txBox="true"/>
          <p:nvPr/>
        </p:nvSpPr>
        <p:spPr>
          <a:xfrm rot="0">
            <a:off x="811305" y="2137281"/>
            <a:ext cx="16610216" cy="397627"/>
          </a:xfrm>
          <a:prstGeom prst="rect">
            <a:avLst/>
          </a:prstGeom>
        </p:spPr>
        <p:txBody>
          <a:bodyPr anchor="t" rtlCol="false" tIns="0" lIns="0" bIns="0" rIns="0">
            <a:spAutoFit/>
          </a:bodyPr>
          <a:lstStyle/>
          <a:p>
            <a:pPr algn="l">
              <a:lnSpc>
                <a:spcPts val="3173"/>
              </a:lnSpc>
            </a:pPr>
            <a:r>
              <a:rPr lang="en-US" sz="2440">
                <a:solidFill>
                  <a:srgbClr val="282421"/>
                </a:solidFill>
                <a:latin typeface="Arimo"/>
                <a:ea typeface="Arimo"/>
                <a:cs typeface="Arimo"/>
                <a:sym typeface="Arimo"/>
              </a:rPr>
              <a:t>Each planning level doesn't just differ in scope — it produces a different kind</a:t>
            </a:r>
            <a:r>
              <a:rPr lang="en-US" sz="2440">
                <a:solidFill>
                  <a:srgbClr val="282421"/>
                </a:solidFill>
                <a:latin typeface="Arimo"/>
                <a:ea typeface="Arimo"/>
                <a:cs typeface="Arimo"/>
                <a:sym typeface="Arimo"/>
              </a:rPr>
              <a:t> </a:t>
            </a:r>
            <a:r>
              <a:rPr lang="en-US" sz="2440">
                <a:solidFill>
                  <a:srgbClr val="282421"/>
                </a:solidFill>
                <a:latin typeface="Arimo"/>
                <a:ea typeface="Arimo"/>
                <a:cs typeface="Arimo"/>
                <a:sym typeface="Arimo"/>
              </a:rPr>
              <a:t>of document, aimed at a different au</a:t>
            </a:r>
            <a:r>
              <a:rPr lang="en-US" sz="2440">
                <a:solidFill>
                  <a:srgbClr val="282421"/>
                </a:solidFill>
                <a:latin typeface="Arimo"/>
                <a:ea typeface="Arimo"/>
                <a:cs typeface="Arimo"/>
                <a:sym typeface="Arimo"/>
              </a:rPr>
              <a:t>d</a:t>
            </a:r>
            <a:r>
              <a:rPr lang="en-US" sz="2440">
                <a:solidFill>
                  <a:srgbClr val="282421"/>
                </a:solidFill>
                <a:latin typeface="Arimo"/>
                <a:ea typeface="Arimo"/>
                <a:cs typeface="Arimo"/>
                <a:sym typeface="Arimo"/>
              </a:rPr>
              <a:t>ience.</a:t>
            </a:r>
          </a:p>
        </p:txBody>
      </p:sp>
      <p:grpSp>
        <p:nvGrpSpPr>
          <p:cNvPr name="Group 22" id="22"/>
          <p:cNvGrpSpPr/>
          <p:nvPr/>
        </p:nvGrpSpPr>
        <p:grpSpPr>
          <a:xfrm rot="0">
            <a:off x="459239" y="8203671"/>
            <a:ext cx="17314348" cy="1529907"/>
            <a:chOff x="0" y="0"/>
            <a:chExt cx="6917228" cy="611211"/>
          </a:xfrm>
        </p:grpSpPr>
        <p:sp>
          <p:nvSpPr>
            <p:cNvPr name="Freeform 23" id="23"/>
            <p:cNvSpPr/>
            <p:nvPr/>
          </p:nvSpPr>
          <p:spPr>
            <a:xfrm flipH="false" flipV="false" rot="0">
              <a:off x="0" y="0"/>
              <a:ext cx="6917228" cy="611211"/>
            </a:xfrm>
            <a:custGeom>
              <a:avLst/>
              <a:gdLst/>
              <a:ahLst/>
              <a:cxnLst/>
              <a:rect r="r" b="b" t="t" l="l"/>
              <a:pathLst>
                <a:path h="611211" w="6917228">
                  <a:moveTo>
                    <a:pt x="22804" y="0"/>
                  </a:moveTo>
                  <a:lnTo>
                    <a:pt x="6894424" y="0"/>
                  </a:lnTo>
                  <a:cubicBezTo>
                    <a:pt x="6907019" y="0"/>
                    <a:pt x="6917228" y="10210"/>
                    <a:pt x="6917228" y="22804"/>
                  </a:cubicBezTo>
                  <a:lnTo>
                    <a:pt x="6917228" y="588407"/>
                  </a:lnTo>
                  <a:cubicBezTo>
                    <a:pt x="6917228" y="594455"/>
                    <a:pt x="6914826" y="600255"/>
                    <a:pt x="6910549" y="604532"/>
                  </a:cubicBezTo>
                  <a:cubicBezTo>
                    <a:pt x="6906272" y="608808"/>
                    <a:pt x="6900472" y="611211"/>
                    <a:pt x="6894424" y="611211"/>
                  </a:cubicBezTo>
                  <a:lnTo>
                    <a:pt x="22804" y="611211"/>
                  </a:lnTo>
                  <a:cubicBezTo>
                    <a:pt x="16756" y="611211"/>
                    <a:pt x="10956" y="608808"/>
                    <a:pt x="6679" y="604532"/>
                  </a:cubicBezTo>
                  <a:cubicBezTo>
                    <a:pt x="2403" y="600255"/>
                    <a:pt x="0" y="594455"/>
                    <a:pt x="0" y="588407"/>
                  </a:cubicBezTo>
                  <a:lnTo>
                    <a:pt x="0" y="22804"/>
                  </a:lnTo>
                  <a:cubicBezTo>
                    <a:pt x="0" y="16756"/>
                    <a:pt x="2403" y="10956"/>
                    <a:pt x="6679" y="6679"/>
                  </a:cubicBezTo>
                  <a:cubicBezTo>
                    <a:pt x="10956" y="2403"/>
                    <a:pt x="16756" y="0"/>
                    <a:pt x="22804" y="0"/>
                  </a:cubicBezTo>
                  <a:close/>
                </a:path>
              </a:pathLst>
            </a:custGeom>
            <a:solidFill>
              <a:srgbClr val="FFFFFF"/>
            </a:solidFill>
          </p:spPr>
        </p:sp>
        <p:sp>
          <p:nvSpPr>
            <p:cNvPr name="TextBox 24" id="24"/>
            <p:cNvSpPr txBox="true"/>
            <p:nvPr/>
          </p:nvSpPr>
          <p:spPr>
            <a:xfrm>
              <a:off x="0" y="-19050"/>
              <a:ext cx="6917228" cy="630261"/>
            </a:xfrm>
            <a:prstGeom prst="rect">
              <a:avLst/>
            </a:prstGeom>
          </p:spPr>
          <p:txBody>
            <a:bodyPr anchor="ctr" rtlCol="false" tIns="50800" lIns="50800" bIns="50800" rIns="50800"/>
            <a:lstStyle/>
            <a:p>
              <a:pPr algn="ctr">
                <a:lnSpc>
                  <a:spcPts val="2236"/>
                </a:lnSpc>
              </a:pPr>
            </a:p>
          </p:txBody>
        </p:sp>
      </p:grpSp>
      <p:sp>
        <p:nvSpPr>
          <p:cNvPr name="TextBox 25" id="25"/>
          <p:cNvSpPr txBox="true"/>
          <p:nvPr/>
        </p:nvSpPr>
        <p:spPr>
          <a:xfrm rot="0">
            <a:off x="760370" y="8337021"/>
            <a:ext cx="16712086" cy="1197727"/>
          </a:xfrm>
          <a:prstGeom prst="rect">
            <a:avLst/>
          </a:prstGeom>
        </p:spPr>
        <p:txBody>
          <a:bodyPr anchor="t" rtlCol="false" tIns="0" lIns="0" bIns="0" rIns="0">
            <a:spAutoFit/>
          </a:bodyPr>
          <a:lstStyle/>
          <a:p>
            <a:pPr algn="l">
              <a:lnSpc>
                <a:spcPts val="3173"/>
              </a:lnSpc>
            </a:pPr>
            <a:r>
              <a:rPr lang="en-US" sz="2440">
                <a:solidFill>
                  <a:srgbClr val="282421"/>
                </a:solidFill>
                <a:latin typeface="Arimo"/>
                <a:ea typeface="Arimo"/>
                <a:cs typeface="Arimo"/>
                <a:sym typeface="Arimo"/>
              </a:rPr>
              <a:t>A common failure point is an organization having a polished strategic plan and detailed operational checklists, but nothing connecting them at the tactical level — leaving no clear path from executive intent</a:t>
            </a:r>
            <a:r>
              <a:rPr lang="en-US" sz="2440">
                <a:solidFill>
                  <a:srgbClr val="282421"/>
                </a:solidFill>
                <a:latin typeface="Arimo"/>
                <a:ea typeface="Arimo"/>
                <a:cs typeface="Arimo"/>
                <a:sym typeface="Arimo"/>
              </a:rPr>
              <a:t> t</a:t>
            </a:r>
            <a:r>
              <a:rPr lang="en-US" sz="2440">
                <a:solidFill>
                  <a:srgbClr val="282421"/>
                </a:solidFill>
                <a:latin typeface="Arimo"/>
                <a:ea typeface="Arimo"/>
                <a:cs typeface="Arimo"/>
                <a:sym typeface="Arimo"/>
              </a:rPr>
              <a:t>o daily execution. This gap is often where misalignment first takes root.</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28211E"/>
        </a:solidFill>
      </p:bgPr>
    </p:bg>
    <p:spTree>
      <p:nvGrpSpPr>
        <p:cNvPr id="1" name=""/>
        <p:cNvGrpSpPr/>
        <p:nvPr/>
      </p:nvGrpSpPr>
      <p:grpSpPr>
        <a:xfrm>
          <a:off x="0" y="0"/>
          <a:ext cx="0" cy="0"/>
          <a:chOff x="0" y="0"/>
          <a:chExt cx="0" cy="0"/>
        </a:xfrm>
      </p:grpSpPr>
      <p:grpSp>
        <p:nvGrpSpPr>
          <p:cNvPr name="Group 2" id="2"/>
          <p:cNvGrpSpPr/>
          <p:nvPr/>
        </p:nvGrpSpPr>
        <p:grpSpPr>
          <a:xfrm rot="0">
            <a:off x="517583" y="1381745"/>
            <a:ext cx="17252834" cy="1835299"/>
            <a:chOff x="0" y="0"/>
            <a:chExt cx="6892653" cy="733217"/>
          </a:xfrm>
        </p:grpSpPr>
        <p:sp>
          <p:nvSpPr>
            <p:cNvPr name="Freeform 3" id="3"/>
            <p:cNvSpPr/>
            <p:nvPr/>
          </p:nvSpPr>
          <p:spPr>
            <a:xfrm flipH="false" flipV="false" rot="0">
              <a:off x="0" y="0"/>
              <a:ext cx="6892653" cy="733217"/>
            </a:xfrm>
            <a:custGeom>
              <a:avLst/>
              <a:gdLst/>
              <a:ahLst/>
              <a:cxnLst/>
              <a:rect r="r" b="b" t="t" l="l"/>
              <a:pathLst>
                <a:path h="733217" w="6892653">
                  <a:moveTo>
                    <a:pt x="22885" y="0"/>
                  </a:moveTo>
                  <a:lnTo>
                    <a:pt x="6869767" y="0"/>
                  </a:lnTo>
                  <a:cubicBezTo>
                    <a:pt x="6882407" y="0"/>
                    <a:pt x="6892653" y="10246"/>
                    <a:pt x="6892653" y="22885"/>
                  </a:cubicBezTo>
                  <a:lnTo>
                    <a:pt x="6892653" y="710332"/>
                  </a:lnTo>
                  <a:cubicBezTo>
                    <a:pt x="6892653" y="722971"/>
                    <a:pt x="6882407" y="733217"/>
                    <a:pt x="6869767" y="733217"/>
                  </a:cubicBezTo>
                  <a:lnTo>
                    <a:pt x="22885" y="733217"/>
                  </a:lnTo>
                  <a:cubicBezTo>
                    <a:pt x="10246" y="733217"/>
                    <a:pt x="0" y="722971"/>
                    <a:pt x="0" y="710332"/>
                  </a:cubicBezTo>
                  <a:lnTo>
                    <a:pt x="0" y="22885"/>
                  </a:lnTo>
                  <a:cubicBezTo>
                    <a:pt x="0" y="10246"/>
                    <a:pt x="10246" y="0"/>
                    <a:pt x="22885" y="0"/>
                  </a:cubicBezTo>
                  <a:close/>
                </a:path>
              </a:pathLst>
            </a:custGeom>
            <a:solidFill>
              <a:srgbClr val="FFFFFF"/>
            </a:solidFill>
          </p:spPr>
        </p:sp>
        <p:sp>
          <p:nvSpPr>
            <p:cNvPr name="TextBox 4" id="4"/>
            <p:cNvSpPr txBox="true"/>
            <p:nvPr/>
          </p:nvSpPr>
          <p:spPr>
            <a:xfrm>
              <a:off x="0" y="-19050"/>
              <a:ext cx="6892653" cy="752267"/>
            </a:xfrm>
            <a:prstGeom prst="rect">
              <a:avLst/>
            </a:prstGeom>
          </p:spPr>
          <p:txBody>
            <a:bodyPr anchor="ctr" rtlCol="false" tIns="50800" lIns="50800" bIns="50800" rIns="50800"/>
            <a:lstStyle/>
            <a:p>
              <a:pPr algn="ctr">
                <a:lnSpc>
                  <a:spcPts val="2236"/>
                </a:lnSpc>
              </a:pPr>
            </a:p>
          </p:txBody>
        </p:sp>
      </p:grpSp>
      <p:sp>
        <p:nvSpPr>
          <p:cNvPr name="TextBox 5" id="5"/>
          <p:cNvSpPr txBox="true"/>
          <p:nvPr/>
        </p:nvSpPr>
        <p:spPr>
          <a:xfrm rot="0">
            <a:off x="4285052" y="422571"/>
            <a:ext cx="9717896" cy="631825"/>
          </a:xfrm>
          <a:prstGeom prst="rect">
            <a:avLst/>
          </a:prstGeom>
        </p:spPr>
        <p:txBody>
          <a:bodyPr anchor="t" rtlCol="false" tIns="0" lIns="0" bIns="0" rIns="0">
            <a:spAutoFit/>
          </a:bodyPr>
          <a:lstStyle/>
          <a:p>
            <a:pPr algn="ctr">
              <a:lnSpc>
                <a:spcPts val="4399"/>
              </a:lnSpc>
            </a:pPr>
            <a:r>
              <a:rPr lang="en-US" sz="5499" spc="-164">
                <a:solidFill>
                  <a:srgbClr val="BA7FF6"/>
                </a:solidFill>
                <a:latin typeface="Lazydog 1"/>
                <a:ea typeface="Lazydog 1"/>
                <a:cs typeface="Lazydog 1"/>
                <a:sym typeface="Lazydog 1"/>
              </a:rPr>
              <a:t>Planning and the CISO</a:t>
            </a:r>
          </a:p>
        </p:txBody>
      </p:sp>
      <p:sp>
        <p:nvSpPr>
          <p:cNvPr name="TextBox 6" id="6"/>
          <p:cNvSpPr txBox="true"/>
          <p:nvPr/>
        </p:nvSpPr>
        <p:spPr>
          <a:xfrm rot="0">
            <a:off x="797055" y="1551674"/>
            <a:ext cx="16693891" cy="1457340"/>
          </a:xfrm>
          <a:prstGeom prst="rect">
            <a:avLst/>
          </a:prstGeom>
        </p:spPr>
        <p:txBody>
          <a:bodyPr anchor="t" rtlCol="false" tIns="0" lIns="0" bIns="0" rIns="0">
            <a:spAutoFit/>
          </a:bodyPr>
          <a:lstStyle/>
          <a:p>
            <a:pPr algn="just">
              <a:lnSpc>
                <a:spcPts val="3898"/>
              </a:lnSpc>
            </a:pPr>
            <a:r>
              <a:rPr lang="en-US" sz="2998">
                <a:solidFill>
                  <a:srgbClr val="28211E"/>
                </a:solidFill>
                <a:latin typeface="Arimo"/>
                <a:ea typeface="Arimo"/>
                <a:cs typeface="Arimo"/>
                <a:sym typeface="Arimo"/>
              </a:rPr>
              <a:t>If the three planning levels are a chain, the </a:t>
            </a:r>
            <a:r>
              <a:rPr lang="en-US" b="true" sz="2998">
                <a:solidFill>
                  <a:srgbClr val="28211E"/>
                </a:solidFill>
                <a:latin typeface="Arimo Bold"/>
                <a:ea typeface="Arimo Bold"/>
                <a:cs typeface="Arimo Bold"/>
                <a:sym typeface="Arimo Bold"/>
              </a:rPr>
              <a:t>CISO (Chief information security officer)</a:t>
            </a:r>
            <a:r>
              <a:rPr lang="en-US" sz="2998">
                <a:solidFill>
                  <a:srgbClr val="28211E"/>
                </a:solidFill>
                <a:latin typeface="Arimo"/>
                <a:ea typeface="Arimo"/>
                <a:cs typeface="Arimo"/>
                <a:sym typeface="Arimo"/>
              </a:rPr>
              <a:t> is the link that keeps it from breaking. This role sits at the intersection of executive strategy and operational reality, translating in both directions.</a:t>
            </a:r>
          </a:p>
        </p:txBody>
      </p:sp>
      <p:grpSp>
        <p:nvGrpSpPr>
          <p:cNvPr name="Group 7" id="7"/>
          <p:cNvGrpSpPr/>
          <p:nvPr/>
        </p:nvGrpSpPr>
        <p:grpSpPr>
          <a:xfrm rot="0">
            <a:off x="517583" y="3750444"/>
            <a:ext cx="17252834" cy="3540820"/>
            <a:chOff x="0" y="0"/>
            <a:chExt cx="6892653" cy="1414587"/>
          </a:xfrm>
        </p:grpSpPr>
        <p:sp>
          <p:nvSpPr>
            <p:cNvPr name="Freeform 8" id="8"/>
            <p:cNvSpPr/>
            <p:nvPr/>
          </p:nvSpPr>
          <p:spPr>
            <a:xfrm flipH="false" flipV="false" rot="0">
              <a:off x="0" y="0"/>
              <a:ext cx="6892653" cy="1414587"/>
            </a:xfrm>
            <a:custGeom>
              <a:avLst/>
              <a:gdLst/>
              <a:ahLst/>
              <a:cxnLst/>
              <a:rect r="r" b="b" t="t" l="l"/>
              <a:pathLst>
                <a:path h="1414587" w="6892653">
                  <a:moveTo>
                    <a:pt x="22885" y="0"/>
                  </a:moveTo>
                  <a:lnTo>
                    <a:pt x="6869767" y="0"/>
                  </a:lnTo>
                  <a:cubicBezTo>
                    <a:pt x="6882407" y="0"/>
                    <a:pt x="6892653" y="10246"/>
                    <a:pt x="6892653" y="22885"/>
                  </a:cubicBezTo>
                  <a:lnTo>
                    <a:pt x="6892653" y="1391702"/>
                  </a:lnTo>
                  <a:cubicBezTo>
                    <a:pt x="6892653" y="1404341"/>
                    <a:pt x="6882407" y="1414587"/>
                    <a:pt x="6869767" y="1414587"/>
                  </a:cubicBezTo>
                  <a:lnTo>
                    <a:pt x="22885" y="1414587"/>
                  </a:lnTo>
                  <a:cubicBezTo>
                    <a:pt x="10246" y="1414587"/>
                    <a:pt x="0" y="1404341"/>
                    <a:pt x="0" y="1391702"/>
                  </a:cubicBezTo>
                  <a:lnTo>
                    <a:pt x="0" y="22885"/>
                  </a:lnTo>
                  <a:cubicBezTo>
                    <a:pt x="0" y="10246"/>
                    <a:pt x="10246" y="0"/>
                    <a:pt x="22885" y="0"/>
                  </a:cubicBezTo>
                  <a:close/>
                </a:path>
              </a:pathLst>
            </a:custGeom>
            <a:solidFill>
              <a:srgbClr val="FFFFFF"/>
            </a:solidFill>
          </p:spPr>
        </p:sp>
        <p:sp>
          <p:nvSpPr>
            <p:cNvPr name="TextBox 9" id="9"/>
            <p:cNvSpPr txBox="true"/>
            <p:nvPr/>
          </p:nvSpPr>
          <p:spPr>
            <a:xfrm>
              <a:off x="0" y="-19050"/>
              <a:ext cx="6892653" cy="1433637"/>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797055" y="3958017"/>
            <a:ext cx="16693891" cy="2914665"/>
          </a:xfrm>
          <a:prstGeom prst="rect">
            <a:avLst/>
          </a:prstGeom>
        </p:spPr>
        <p:txBody>
          <a:bodyPr anchor="t" rtlCol="false" tIns="0" lIns="0" bIns="0" rIns="0">
            <a:spAutoFit/>
          </a:bodyPr>
          <a:lstStyle/>
          <a:p>
            <a:pPr algn="l">
              <a:lnSpc>
                <a:spcPts val="3898"/>
              </a:lnSpc>
            </a:pPr>
            <a:r>
              <a:rPr lang="en-US" sz="2998" b="true">
                <a:solidFill>
                  <a:srgbClr val="28211E"/>
                </a:solidFill>
                <a:latin typeface="Arimo Bold"/>
                <a:ea typeface="Arimo Bold"/>
                <a:cs typeface="Arimo Bold"/>
                <a:sym typeface="Arimo Bold"/>
              </a:rPr>
              <a:t>Core responsibilities in the planning process:</a:t>
            </a:r>
          </a:p>
          <a:p>
            <a:pPr algn="l" marL="647441" indent="-323720" lvl="1">
              <a:lnSpc>
                <a:spcPts val="3898"/>
              </a:lnSpc>
              <a:buFont typeface="Arial"/>
              <a:buChar char="•"/>
            </a:pPr>
            <a:r>
              <a:rPr lang="en-US" sz="2998">
                <a:solidFill>
                  <a:srgbClr val="28211E"/>
                </a:solidFill>
                <a:latin typeface="Arimo"/>
                <a:ea typeface="Arimo"/>
                <a:cs typeface="Arimo"/>
                <a:sym typeface="Arimo"/>
              </a:rPr>
              <a:t>Represents security's interests and constraints in executive-level strategic discussions</a:t>
            </a:r>
          </a:p>
          <a:p>
            <a:pPr algn="l" marL="647441" indent="-323720" lvl="1">
              <a:lnSpc>
                <a:spcPts val="3898"/>
              </a:lnSpc>
              <a:buFont typeface="Arial"/>
              <a:buChar char="•"/>
            </a:pPr>
            <a:r>
              <a:rPr lang="en-US" sz="2998">
                <a:solidFill>
                  <a:srgbClr val="28211E"/>
                </a:solidFill>
                <a:latin typeface="Arimo"/>
                <a:ea typeface="Arimo"/>
                <a:cs typeface="Arimo"/>
                <a:sym typeface="Arimo"/>
              </a:rPr>
              <a:t>Reviews tactical plans from different departments to confirm they stay consistent with strategic intent</a:t>
            </a:r>
          </a:p>
          <a:p>
            <a:pPr algn="l" marL="647441" indent="-323720" lvl="1">
              <a:lnSpc>
                <a:spcPts val="3898"/>
              </a:lnSpc>
              <a:buFont typeface="Arial"/>
              <a:buChar char="•"/>
            </a:pPr>
            <a:r>
              <a:rPr lang="en-US" sz="2998">
                <a:solidFill>
                  <a:srgbClr val="28211E"/>
                </a:solidFill>
                <a:latin typeface="Arimo"/>
                <a:ea typeface="Arimo"/>
                <a:cs typeface="Arimo"/>
                <a:sym typeface="Arimo"/>
              </a:rPr>
              <a:t>Monitors operational activity to verify it reflects what was actually planned upstream</a:t>
            </a:r>
          </a:p>
          <a:p>
            <a:pPr algn="l" marL="647441" indent="-323720" lvl="1">
              <a:lnSpc>
                <a:spcPts val="3898"/>
              </a:lnSpc>
              <a:buFont typeface="Arial"/>
              <a:buChar char="•"/>
            </a:pPr>
            <a:r>
              <a:rPr lang="en-US" sz="2998">
                <a:solidFill>
                  <a:srgbClr val="28211E"/>
                </a:solidFill>
                <a:latin typeface="Arimo"/>
                <a:ea typeface="Arimo"/>
                <a:cs typeface="Arimo"/>
                <a:sym typeface="Arimo"/>
              </a:rPr>
              <a:t>Surfaces misalignment early, before it becomes wasted work or a security gap</a:t>
            </a:r>
          </a:p>
        </p:txBody>
      </p:sp>
      <p:grpSp>
        <p:nvGrpSpPr>
          <p:cNvPr name="Group 11" id="11"/>
          <p:cNvGrpSpPr/>
          <p:nvPr/>
        </p:nvGrpSpPr>
        <p:grpSpPr>
          <a:xfrm rot="0">
            <a:off x="517583" y="7824663"/>
            <a:ext cx="17252834" cy="1433637"/>
            <a:chOff x="0" y="0"/>
            <a:chExt cx="6892653" cy="572750"/>
          </a:xfrm>
        </p:grpSpPr>
        <p:sp>
          <p:nvSpPr>
            <p:cNvPr name="Freeform 12" id="12"/>
            <p:cNvSpPr/>
            <p:nvPr/>
          </p:nvSpPr>
          <p:spPr>
            <a:xfrm flipH="false" flipV="false" rot="0">
              <a:off x="0" y="0"/>
              <a:ext cx="6892653" cy="572750"/>
            </a:xfrm>
            <a:custGeom>
              <a:avLst/>
              <a:gdLst/>
              <a:ahLst/>
              <a:cxnLst/>
              <a:rect r="r" b="b" t="t" l="l"/>
              <a:pathLst>
                <a:path h="572750" w="6892653">
                  <a:moveTo>
                    <a:pt x="22885" y="0"/>
                  </a:moveTo>
                  <a:lnTo>
                    <a:pt x="6869767" y="0"/>
                  </a:lnTo>
                  <a:cubicBezTo>
                    <a:pt x="6882407" y="0"/>
                    <a:pt x="6892653" y="10246"/>
                    <a:pt x="6892653" y="22885"/>
                  </a:cubicBezTo>
                  <a:lnTo>
                    <a:pt x="6892653" y="549864"/>
                  </a:lnTo>
                  <a:cubicBezTo>
                    <a:pt x="6892653" y="562504"/>
                    <a:pt x="6882407" y="572750"/>
                    <a:pt x="6869767" y="572750"/>
                  </a:cubicBezTo>
                  <a:lnTo>
                    <a:pt x="22885" y="572750"/>
                  </a:lnTo>
                  <a:cubicBezTo>
                    <a:pt x="10246" y="572750"/>
                    <a:pt x="0" y="562504"/>
                    <a:pt x="0" y="549864"/>
                  </a:cubicBezTo>
                  <a:lnTo>
                    <a:pt x="0" y="22885"/>
                  </a:lnTo>
                  <a:cubicBezTo>
                    <a:pt x="0" y="10246"/>
                    <a:pt x="10246" y="0"/>
                    <a:pt x="22885" y="0"/>
                  </a:cubicBezTo>
                  <a:close/>
                </a:path>
              </a:pathLst>
            </a:custGeom>
            <a:solidFill>
              <a:srgbClr val="FFFFFF"/>
            </a:solidFill>
          </p:spPr>
        </p:sp>
        <p:sp>
          <p:nvSpPr>
            <p:cNvPr name="TextBox 13" id="13"/>
            <p:cNvSpPr txBox="true"/>
            <p:nvPr/>
          </p:nvSpPr>
          <p:spPr>
            <a:xfrm>
              <a:off x="0" y="-19050"/>
              <a:ext cx="6892653" cy="591800"/>
            </a:xfrm>
            <a:prstGeom prst="rect">
              <a:avLst/>
            </a:prstGeom>
          </p:spPr>
          <p:txBody>
            <a:bodyPr anchor="ctr" rtlCol="false" tIns="50800" lIns="50800" bIns="50800" rIns="50800"/>
            <a:lstStyle/>
            <a:p>
              <a:pPr algn="ctr">
                <a:lnSpc>
                  <a:spcPts val="2236"/>
                </a:lnSpc>
              </a:pPr>
            </a:p>
          </p:txBody>
        </p:sp>
      </p:grpSp>
      <p:sp>
        <p:nvSpPr>
          <p:cNvPr name="TextBox 14" id="14"/>
          <p:cNvSpPr txBox="true"/>
          <p:nvPr/>
        </p:nvSpPr>
        <p:spPr>
          <a:xfrm rot="0">
            <a:off x="797055" y="8034213"/>
            <a:ext cx="16693891" cy="971565"/>
          </a:xfrm>
          <a:prstGeom prst="rect">
            <a:avLst/>
          </a:prstGeom>
        </p:spPr>
        <p:txBody>
          <a:bodyPr anchor="t" rtlCol="false" tIns="0" lIns="0" bIns="0" rIns="0">
            <a:spAutoFit/>
          </a:bodyPr>
          <a:lstStyle/>
          <a:p>
            <a:pPr algn="just">
              <a:lnSpc>
                <a:spcPts val="3898"/>
              </a:lnSpc>
            </a:pPr>
            <a:r>
              <a:rPr lang="en-US" sz="2998">
                <a:solidFill>
                  <a:srgbClr val="28211E"/>
                </a:solidFill>
                <a:latin typeface="Arimo"/>
                <a:ea typeface="Arimo"/>
                <a:cs typeface="Arimo"/>
                <a:sym typeface="Arimo"/>
              </a:rPr>
              <a:t>A CISO who is disconnected from any one of the three levels is usually the first sign that an organization's planning is starting to drift out of alignment.</a:t>
            </a:r>
          </a:p>
        </p:txBody>
      </p:sp>
      <p:sp>
        <p:nvSpPr>
          <p:cNvPr name="TextBox 15" id="15"/>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tapit</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FEFD7"/>
        </a:solidFill>
      </p:bgPr>
    </p:bg>
    <p:spTree>
      <p:nvGrpSpPr>
        <p:cNvPr id="1" name=""/>
        <p:cNvGrpSpPr/>
        <p:nvPr/>
      </p:nvGrpSpPr>
      <p:grpSpPr>
        <a:xfrm>
          <a:off x="0" y="0"/>
          <a:ext cx="0" cy="0"/>
          <a:chOff x="0" y="0"/>
          <a:chExt cx="0" cy="0"/>
        </a:xfrm>
      </p:grpSpPr>
      <p:sp>
        <p:nvSpPr>
          <p:cNvPr name="Freeform 2" id="2"/>
          <p:cNvSpPr/>
          <p:nvPr/>
        </p:nvSpPr>
        <p:spPr>
          <a:xfrm flipH="false" flipV="false" rot="0">
            <a:off x="0" y="-127224"/>
            <a:ext cx="18288000" cy="12214252"/>
          </a:xfrm>
          <a:custGeom>
            <a:avLst/>
            <a:gdLst/>
            <a:ahLst/>
            <a:cxnLst/>
            <a:rect r="r" b="b" t="t" l="l"/>
            <a:pathLst>
              <a:path h="12214252" w="18288000">
                <a:moveTo>
                  <a:pt x="0" y="0"/>
                </a:moveTo>
                <a:lnTo>
                  <a:pt x="18288000" y="0"/>
                </a:lnTo>
                <a:lnTo>
                  <a:pt x="18288000" y="12214251"/>
                </a:lnTo>
                <a:lnTo>
                  <a:pt x="0" y="12214251"/>
                </a:lnTo>
                <a:lnTo>
                  <a:pt x="0" y="0"/>
                </a:lnTo>
                <a:close/>
              </a:path>
            </a:pathLst>
          </a:custGeom>
          <a:blipFill>
            <a:blip r:embed="rId2">
              <a:alphaModFix amt="9999"/>
            </a:blip>
            <a:stretch>
              <a:fillRect l="-6776" t="0" r="-4609" b="0"/>
            </a:stretch>
          </a:blipFill>
        </p:spPr>
      </p:sp>
      <p:grpSp>
        <p:nvGrpSpPr>
          <p:cNvPr name="Group 3" id="3"/>
          <p:cNvGrpSpPr/>
          <p:nvPr/>
        </p:nvGrpSpPr>
        <p:grpSpPr>
          <a:xfrm rot="0">
            <a:off x="-201702" y="8590667"/>
            <a:ext cx="19879210" cy="4543259"/>
            <a:chOff x="0" y="0"/>
            <a:chExt cx="5235677" cy="1196579"/>
          </a:xfrm>
        </p:grpSpPr>
        <p:sp>
          <p:nvSpPr>
            <p:cNvPr name="Freeform 4" id="4"/>
            <p:cNvSpPr/>
            <p:nvPr/>
          </p:nvSpPr>
          <p:spPr>
            <a:xfrm flipH="false" flipV="false" rot="0">
              <a:off x="0" y="0"/>
              <a:ext cx="5235677" cy="1196579"/>
            </a:xfrm>
            <a:custGeom>
              <a:avLst/>
              <a:gdLst/>
              <a:ahLst/>
              <a:cxnLst/>
              <a:rect r="r" b="b" t="t" l="l"/>
              <a:pathLst>
                <a:path h="1196579" w="5235677">
                  <a:moveTo>
                    <a:pt x="0" y="0"/>
                  </a:moveTo>
                  <a:lnTo>
                    <a:pt x="5235677" y="0"/>
                  </a:lnTo>
                  <a:lnTo>
                    <a:pt x="5235677" y="1196579"/>
                  </a:lnTo>
                  <a:lnTo>
                    <a:pt x="0" y="1196579"/>
                  </a:lnTo>
                  <a:close/>
                </a:path>
              </a:pathLst>
            </a:custGeom>
            <a:solidFill>
              <a:srgbClr val="563721"/>
            </a:solidFill>
          </p:spPr>
        </p:sp>
        <p:sp>
          <p:nvSpPr>
            <p:cNvPr name="TextBox 5" id="5"/>
            <p:cNvSpPr txBox="true"/>
            <p:nvPr/>
          </p:nvSpPr>
          <p:spPr>
            <a:xfrm>
              <a:off x="0" y="-19050"/>
              <a:ext cx="5235677" cy="1215629"/>
            </a:xfrm>
            <a:prstGeom prst="rect">
              <a:avLst/>
            </a:prstGeom>
          </p:spPr>
          <p:txBody>
            <a:bodyPr anchor="ctr" rtlCol="false" tIns="50800" lIns="50800" bIns="50800" rIns="50800"/>
            <a:lstStyle/>
            <a:p>
              <a:pPr algn="ctr">
                <a:lnSpc>
                  <a:spcPts val="2340"/>
                </a:lnSpc>
              </a:pPr>
            </a:p>
          </p:txBody>
        </p:sp>
      </p:grpSp>
      <p:grpSp>
        <p:nvGrpSpPr>
          <p:cNvPr name="Group 6" id="6"/>
          <p:cNvGrpSpPr/>
          <p:nvPr/>
        </p:nvGrpSpPr>
        <p:grpSpPr>
          <a:xfrm rot="0">
            <a:off x="276825" y="1601414"/>
            <a:ext cx="17734351" cy="8196156"/>
            <a:chOff x="0" y="0"/>
            <a:chExt cx="5963768" cy="2756231"/>
          </a:xfrm>
        </p:grpSpPr>
        <p:sp>
          <p:nvSpPr>
            <p:cNvPr name="Freeform 7" id="7"/>
            <p:cNvSpPr/>
            <p:nvPr/>
          </p:nvSpPr>
          <p:spPr>
            <a:xfrm flipH="false" flipV="false" rot="0">
              <a:off x="0" y="0"/>
              <a:ext cx="5963768" cy="2756231"/>
            </a:xfrm>
            <a:custGeom>
              <a:avLst/>
              <a:gdLst/>
              <a:ahLst/>
              <a:cxnLst/>
              <a:rect r="r" b="b" t="t" l="l"/>
              <a:pathLst>
                <a:path h="2756231" w="5963768">
                  <a:moveTo>
                    <a:pt x="22264" y="0"/>
                  </a:moveTo>
                  <a:lnTo>
                    <a:pt x="5941504" y="0"/>
                  </a:lnTo>
                  <a:cubicBezTo>
                    <a:pt x="5947409" y="0"/>
                    <a:pt x="5953072" y="2346"/>
                    <a:pt x="5957247" y="6521"/>
                  </a:cubicBezTo>
                  <a:cubicBezTo>
                    <a:pt x="5961422" y="10696"/>
                    <a:pt x="5963768" y="16359"/>
                    <a:pt x="5963768" y="22264"/>
                  </a:cubicBezTo>
                  <a:lnTo>
                    <a:pt x="5963768" y="2733967"/>
                  </a:lnTo>
                  <a:cubicBezTo>
                    <a:pt x="5963768" y="2739872"/>
                    <a:pt x="5961422" y="2745535"/>
                    <a:pt x="5957247" y="2749710"/>
                  </a:cubicBezTo>
                  <a:cubicBezTo>
                    <a:pt x="5953072" y="2753886"/>
                    <a:pt x="5947409" y="2756231"/>
                    <a:pt x="5941504" y="2756231"/>
                  </a:cubicBezTo>
                  <a:lnTo>
                    <a:pt x="22264" y="2756231"/>
                  </a:lnTo>
                  <a:cubicBezTo>
                    <a:pt x="16359" y="2756231"/>
                    <a:pt x="10696" y="2753886"/>
                    <a:pt x="6521" y="2749710"/>
                  </a:cubicBezTo>
                  <a:cubicBezTo>
                    <a:pt x="2346" y="2745535"/>
                    <a:pt x="0" y="2739872"/>
                    <a:pt x="0" y="2733967"/>
                  </a:cubicBezTo>
                  <a:lnTo>
                    <a:pt x="0" y="22264"/>
                  </a:lnTo>
                  <a:cubicBezTo>
                    <a:pt x="0" y="16359"/>
                    <a:pt x="2346" y="10696"/>
                    <a:pt x="6521" y="6521"/>
                  </a:cubicBezTo>
                  <a:cubicBezTo>
                    <a:pt x="10696" y="2346"/>
                    <a:pt x="16359" y="0"/>
                    <a:pt x="22264" y="0"/>
                  </a:cubicBezTo>
                  <a:close/>
                </a:path>
              </a:pathLst>
            </a:custGeom>
            <a:solidFill>
              <a:srgbClr val="FFFFFF"/>
            </a:solidFill>
          </p:spPr>
        </p:sp>
        <p:sp>
          <p:nvSpPr>
            <p:cNvPr name="TextBox 8" id="8"/>
            <p:cNvSpPr txBox="true"/>
            <p:nvPr/>
          </p:nvSpPr>
          <p:spPr>
            <a:xfrm>
              <a:off x="0" y="-19050"/>
              <a:ext cx="5963768" cy="2775281"/>
            </a:xfrm>
            <a:prstGeom prst="rect">
              <a:avLst/>
            </a:prstGeom>
          </p:spPr>
          <p:txBody>
            <a:bodyPr anchor="ctr" rtlCol="false" tIns="50800" lIns="50800" bIns="50800" rIns="50800"/>
            <a:lstStyle/>
            <a:p>
              <a:pPr algn="ctr">
                <a:lnSpc>
                  <a:spcPts val="2236"/>
                </a:lnSpc>
              </a:pPr>
            </a:p>
          </p:txBody>
        </p:sp>
      </p:grpSp>
      <p:graphicFrame>
        <p:nvGraphicFramePr>
          <p:cNvPr name="Table 9" id="9"/>
          <p:cNvGraphicFramePr>
            <a:graphicFrameLocks noGrp="true"/>
          </p:cNvGraphicFramePr>
          <p:nvPr/>
        </p:nvGraphicFramePr>
        <p:xfrm>
          <a:off x="648108" y="2060420"/>
          <a:ext cx="16991784" cy="7278143"/>
        </p:xfrm>
        <a:graphic>
          <a:graphicData uri="http://schemas.openxmlformats.org/drawingml/2006/table">
            <a:tbl>
              <a:tblPr/>
              <a:tblGrid>
                <a:gridCol w="2480501"/>
                <a:gridCol w="7255642"/>
                <a:gridCol w="7255642"/>
              </a:tblGrid>
              <a:tr h="1455629">
                <a:tc>
                  <a:txBody>
                    <a:bodyPr anchor="t" rtlCol="false"/>
                    <a:lstStyle/>
                    <a:p>
                      <a:pPr algn="ctr">
                        <a:lnSpc>
                          <a:spcPts val="3248"/>
                        </a:lnSpc>
                        <a:defRPr/>
                      </a:pP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FFF"/>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Top-Down</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Bottom-Up</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r>
              <a:tr h="1455629">
                <a:tc>
                  <a:txBody>
                    <a:bodyPr anchor="t" rtlCol="false"/>
                    <a:lstStyle/>
                    <a:p>
                      <a:pPr algn="l">
                        <a:lnSpc>
                          <a:spcPts val="3248"/>
                        </a:lnSpc>
                        <a:defRPr/>
                      </a:pPr>
                      <a:r>
                        <a:rPr lang="en-US" sz="2320">
                          <a:solidFill>
                            <a:srgbClr val="000000"/>
                          </a:solidFill>
                          <a:latin typeface="Sniglet"/>
                          <a:ea typeface="Sniglet"/>
                          <a:cs typeface="Sniglet"/>
                          <a:sym typeface="Sniglet"/>
                        </a:rPr>
                        <a:t>Origin</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Senior management sets direction, flows downward</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Operational/technical staff identify needs, pass findings upward</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1455629">
                <a:tc>
                  <a:txBody>
                    <a:bodyPr anchor="t" rtlCol="false"/>
                    <a:lstStyle/>
                    <a:p>
                      <a:pPr algn="l">
                        <a:lnSpc>
                          <a:spcPts val="3248"/>
                        </a:lnSpc>
                        <a:defRPr/>
                      </a:pPr>
                      <a:r>
                        <a:rPr lang="en-US" sz="2320">
                          <a:solidFill>
                            <a:srgbClr val="000000"/>
                          </a:solidFill>
                          <a:latin typeface="Sniglet"/>
                          <a:ea typeface="Sniglet"/>
                          <a:cs typeface="Sniglet"/>
                          <a:sym typeface="Sniglet"/>
                        </a:rPr>
                        <a:t>Strength</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Strong cross-department coordination, consistent resourcing, clear authority</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Draws on deep technical expertise of the people closest to the systems</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1455629">
                <a:tc>
                  <a:txBody>
                    <a:bodyPr anchor="t" rtlCol="false"/>
                    <a:lstStyle/>
                    <a:p>
                      <a:pPr algn="l">
                        <a:lnSpc>
                          <a:spcPts val="3248"/>
                        </a:lnSpc>
                        <a:defRPr/>
                      </a:pPr>
                      <a:r>
                        <a:rPr lang="en-US" sz="2320">
                          <a:solidFill>
                            <a:srgbClr val="000000"/>
                          </a:solidFill>
                          <a:latin typeface="Sniglet"/>
                          <a:ea typeface="Sniglet"/>
                          <a:cs typeface="Sniglet"/>
                          <a:sym typeface="Sniglet"/>
                        </a:rPr>
                        <a:t>Weakness</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Can drift from day-to-day operational reality</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Weak coordination with senior management; harder to align with overall strategy</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1455629">
                <a:tc>
                  <a:txBody>
                    <a:bodyPr anchor="t" rtlCol="false"/>
                    <a:lstStyle/>
                    <a:p>
                      <a:pPr algn="l">
                        <a:lnSpc>
                          <a:spcPts val="3248"/>
                        </a:lnSpc>
                        <a:defRPr/>
                      </a:pPr>
                      <a:r>
                        <a:rPr lang="en-US" sz="2320">
                          <a:solidFill>
                            <a:srgbClr val="000000"/>
                          </a:solidFill>
                          <a:latin typeface="Sniglet"/>
                          <a:ea typeface="Sniglet"/>
                          <a:cs typeface="Sniglet"/>
                          <a:sym typeface="Sniglet"/>
                        </a:rPr>
                        <a:t>Best suited for</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Organization-wide initiatives requiring consistency</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3248"/>
                        </a:lnSpc>
                        <a:defRPr/>
                      </a:pPr>
                      <a:r>
                        <a:rPr lang="en-US" sz="2320">
                          <a:solidFill>
                            <a:srgbClr val="000000"/>
                          </a:solidFill>
                          <a:latin typeface="Sniglet"/>
                          <a:ea typeface="Sniglet"/>
                          <a:cs typeface="Sniglet"/>
                          <a:sym typeface="Sniglet"/>
                        </a:rPr>
                        <a:t>Identifying practical gaps and technical requirements</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bl>
          </a:graphicData>
        </a:graphic>
      </p:graphicFrame>
      <p:sp>
        <p:nvSpPr>
          <p:cNvPr name="Freeform 10" id="10"/>
          <p:cNvSpPr/>
          <p:nvPr/>
        </p:nvSpPr>
        <p:spPr>
          <a:xfrm flipH="false" flipV="true" rot="0">
            <a:off x="16749018" y="1353887"/>
            <a:ext cx="1538982" cy="1413065"/>
          </a:xfrm>
          <a:custGeom>
            <a:avLst/>
            <a:gdLst/>
            <a:ahLst/>
            <a:cxnLst/>
            <a:rect r="r" b="b" t="t" l="l"/>
            <a:pathLst>
              <a:path h="1413065" w="1538982">
                <a:moveTo>
                  <a:pt x="0" y="1413065"/>
                </a:moveTo>
                <a:lnTo>
                  <a:pt x="1538982" y="1413065"/>
                </a:lnTo>
                <a:lnTo>
                  <a:pt x="1538982" y="0"/>
                </a:lnTo>
                <a:lnTo>
                  <a:pt x="0" y="0"/>
                </a:lnTo>
                <a:lnTo>
                  <a:pt x="0" y="141306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840779" y="579811"/>
            <a:ext cx="14606442" cy="935877"/>
          </a:xfrm>
          <a:prstGeom prst="rect">
            <a:avLst/>
          </a:prstGeom>
        </p:spPr>
        <p:txBody>
          <a:bodyPr anchor="t" rtlCol="false" tIns="0" lIns="0" bIns="0" rIns="0">
            <a:spAutoFit/>
          </a:bodyPr>
          <a:lstStyle/>
          <a:p>
            <a:pPr algn="ctr">
              <a:lnSpc>
                <a:spcPts val="7194"/>
              </a:lnSpc>
            </a:pPr>
            <a:r>
              <a:rPr lang="en-US" sz="6423" spc="-192">
                <a:solidFill>
                  <a:srgbClr val="282421"/>
                </a:solidFill>
                <a:latin typeface="Lazydog 1"/>
                <a:ea typeface="Lazydog 1"/>
                <a:cs typeface="Lazydog 1"/>
                <a:sym typeface="Lazydog 1"/>
              </a:rPr>
              <a:t>Top-Down vs. Bottom-Up Planning</a:t>
            </a:r>
          </a:p>
        </p:txBody>
      </p:sp>
      <p:sp>
        <p:nvSpPr>
          <p:cNvPr name="Freeform 12" id="12"/>
          <p:cNvSpPr/>
          <p:nvPr/>
        </p:nvSpPr>
        <p:spPr>
          <a:xfrm flipH="false" flipV="false" rot="-7234853">
            <a:off x="693993" y="1085501"/>
            <a:ext cx="1264466" cy="2333746"/>
          </a:xfrm>
          <a:custGeom>
            <a:avLst/>
            <a:gdLst/>
            <a:ahLst/>
            <a:cxnLst/>
            <a:rect r="r" b="b" t="t" l="l"/>
            <a:pathLst>
              <a:path h="2333746" w="1264466">
                <a:moveTo>
                  <a:pt x="0" y="0"/>
                </a:moveTo>
                <a:lnTo>
                  <a:pt x="1264466" y="0"/>
                </a:lnTo>
                <a:lnTo>
                  <a:pt x="1264466" y="2333745"/>
                </a:lnTo>
                <a:lnTo>
                  <a:pt x="0" y="23337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true" rot="-10183851">
            <a:off x="-88073" y="8444419"/>
            <a:ext cx="1538982" cy="1413065"/>
          </a:xfrm>
          <a:custGeom>
            <a:avLst/>
            <a:gdLst/>
            <a:ahLst/>
            <a:cxnLst/>
            <a:rect r="r" b="b" t="t" l="l"/>
            <a:pathLst>
              <a:path h="1413065" w="1538982">
                <a:moveTo>
                  <a:pt x="0" y="1413066"/>
                </a:moveTo>
                <a:lnTo>
                  <a:pt x="1538981" y="1413066"/>
                </a:lnTo>
                <a:lnTo>
                  <a:pt x="1538981" y="0"/>
                </a:lnTo>
                <a:lnTo>
                  <a:pt x="0" y="0"/>
                </a:lnTo>
                <a:lnTo>
                  <a:pt x="0" y="1413066"/>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6407305" y="9449068"/>
            <a:ext cx="1703990" cy="697003"/>
            <a:chOff x="0" y="0"/>
            <a:chExt cx="573023" cy="234391"/>
          </a:xfrm>
        </p:grpSpPr>
        <p:sp>
          <p:nvSpPr>
            <p:cNvPr name="Freeform 15" id="15"/>
            <p:cNvSpPr/>
            <p:nvPr/>
          </p:nvSpPr>
          <p:spPr>
            <a:xfrm flipH="false" flipV="false" rot="0">
              <a:off x="0" y="0"/>
              <a:ext cx="573024" cy="234391"/>
            </a:xfrm>
            <a:custGeom>
              <a:avLst/>
              <a:gdLst/>
              <a:ahLst/>
              <a:cxnLst/>
              <a:rect r="r" b="b" t="t" l="l"/>
              <a:pathLst>
                <a:path h="234391" w="573024">
                  <a:moveTo>
                    <a:pt x="117195" y="0"/>
                  </a:moveTo>
                  <a:lnTo>
                    <a:pt x="455828" y="0"/>
                  </a:lnTo>
                  <a:cubicBezTo>
                    <a:pt x="520553" y="0"/>
                    <a:pt x="573024" y="52470"/>
                    <a:pt x="573024" y="117195"/>
                  </a:cubicBezTo>
                  <a:lnTo>
                    <a:pt x="573024" y="117195"/>
                  </a:lnTo>
                  <a:cubicBezTo>
                    <a:pt x="573024" y="181920"/>
                    <a:pt x="520553" y="234391"/>
                    <a:pt x="455828" y="234391"/>
                  </a:cubicBezTo>
                  <a:lnTo>
                    <a:pt x="117195" y="234391"/>
                  </a:lnTo>
                  <a:cubicBezTo>
                    <a:pt x="52470" y="234391"/>
                    <a:pt x="0" y="181920"/>
                    <a:pt x="0" y="117195"/>
                  </a:cubicBezTo>
                  <a:lnTo>
                    <a:pt x="0" y="117195"/>
                  </a:lnTo>
                  <a:cubicBezTo>
                    <a:pt x="0" y="52470"/>
                    <a:pt x="52470" y="0"/>
                    <a:pt x="117195" y="0"/>
                  </a:cubicBezTo>
                  <a:close/>
                </a:path>
              </a:pathLst>
            </a:custGeom>
            <a:solidFill>
              <a:srgbClr val="FFD699"/>
            </a:solidFill>
          </p:spPr>
        </p:sp>
        <p:sp>
          <p:nvSpPr>
            <p:cNvPr name="TextBox 16" id="16"/>
            <p:cNvSpPr txBox="true"/>
            <p:nvPr/>
          </p:nvSpPr>
          <p:spPr>
            <a:xfrm>
              <a:off x="0" y="-19050"/>
              <a:ext cx="573023" cy="253441"/>
            </a:xfrm>
            <a:prstGeom prst="rect">
              <a:avLst/>
            </a:prstGeom>
          </p:spPr>
          <p:txBody>
            <a:bodyPr anchor="ctr" rtlCol="false" tIns="50800" lIns="50800" bIns="50800" rIns="50800"/>
            <a:lstStyle/>
            <a:p>
              <a:pPr algn="ctr">
                <a:lnSpc>
                  <a:spcPts val="2236"/>
                </a:lnSpc>
              </a:pPr>
            </a:p>
          </p:txBody>
        </p:sp>
      </p:grpSp>
      <p:sp>
        <p:nvSpPr>
          <p:cNvPr name="TextBox 17" id="17"/>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000000"/>
                </a:solidFill>
                <a:latin typeface="Lazydog 1"/>
                <a:ea typeface="Lazydog 1"/>
                <a:cs typeface="Lazydog 1"/>
                <a:sym typeface="Lazydog 1"/>
              </a:rPr>
              <a:t>tapit</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sp>
        <p:nvSpPr>
          <p:cNvPr name="Freeform 2" id="2"/>
          <p:cNvSpPr/>
          <p:nvPr/>
        </p:nvSpPr>
        <p:spPr>
          <a:xfrm flipH="false" flipV="false" rot="0">
            <a:off x="-1240824" y="-410418"/>
            <a:ext cx="10621097" cy="11470785"/>
          </a:xfrm>
          <a:custGeom>
            <a:avLst/>
            <a:gdLst/>
            <a:ahLst/>
            <a:cxnLst/>
            <a:rect r="r" b="b" t="t" l="l"/>
            <a:pathLst>
              <a:path h="11470785" w="10621097">
                <a:moveTo>
                  <a:pt x="0" y="0"/>
                </a:moveTo>
                <a:lnTo>
                  <a:pt x="10621098" y="0"/>
                </a:lnTo>
                <a:lnTo>
                  <a:pt x="10621098" y="11470786"/>
                </a:lnTo>
                <a:lnTo>
                  <a:pt x="0" y="11470786"/>
                </a:lnTo>
                <a:lnTo>
                  <a:pt x="0" y="0"/>
                </a:lnTo>
                <a:close/>
              </a:path>
            </a:pathLst>
          </a:custGeom>
          <a:blipFill>
            <a:blip r:embed="rId2">
              <a:alphaModFix amt="36000"/>
            </a:blip>
            <a:stretch>
              <a:fillRect l="0" t="0" r="0" b="0"/>
            </a:stretch>
          </a:blipFill>
        </p:spPr>
      </p:sp>
      <p:sp>
        <p:nvSpPr>
          <p:cNvPr name="Freeform 3" id="3"/>
          <p:cNvSpPr/>
          <p:nvPr/>
        </p:nvSpPr>
        <p:spPr>
          <a:xfrm flipH="false" flipV="false" rot="0">
            <a:off x="10205251" y="-128408"/>
            <a:ext cx="10300451" cy="10300451"/>
          </a:xfrm>
          <a:custGeom>
            <a:avLst/>
            <a:gdLst/>
            <a:ahLst/>
            <a:cxnLst/>
            <a:rect r="r" b="b" t="t" l="l"/>
            <a:pathLst>
              <a:path h="10300451" w="10300451">
                <a:moveTo>
                  <a:pt x="0" y="0"/>
                </a:moveTo>
                <a:lnTo>
                  <a:pt x="10300452" y="0"/>
                </a:lnTo>
                <a:lnTo>
                  <a:pt x="10300452" y="10300452"/>
                </a:lnTo>
                <a:lnTo>
                  <a:pt x="0" y="10300452"/>
                </a:lnTo>
                <a:lnTo>
                  <a:pt x="0" y="0"/>
                </a:lnTo>
                <a:close/>
              </a:path>
            </a:pathLst>
          </a:custGeom>
          <a:blipFill>
            <a:blip r:embed="rId3">
              <a:alphaModFix amt="25000"/>
            </a:blip>
            <a:stretch>
              <a:fillRect l="0" t="0" r="0" b="0"/>
            </a:stretch>
          </a:blipFill>
        </p:spPr>
      </p:sp>
      <p:sp>
        <p:nvSpPr>
          <p:cNvPr name="TextBox 4" id="4"/>
          <p:cNvSpPr txBox="true"/>
          <p:nvPr/>
        </p:nvSpPr>
        <p:spPr>
          <a:xfrm rot="0">
            <a:off x="3886706" y="458586"/>
            <a:ext cx="10514588" cy="1368828"/>
          </a:xfrm>
          <a:prstGeom prst="rect">
            <a:avLst/>
          </a:prstGeom>
        </p:spPr>
        <p:txBody>
          <a:bodyPr anchor="t" rtlCol="false" tIns="0" lIns="0" bIns="0" rIns="0">
            <a:spAutoFit/>
          </a:bodyPr>
          <a:lstStyle/>
          <a:p>
            <a:pPr algn="ctr">
              <a:lnSpc>
                <a:spcPts val="5043"/>
              </a:lnSpc>
            </a:pPr>
            <a:r>
              <a:rPr lang="en-US" sz="6304" spc="-189">
                <a:solidFill>
                  <a:srgbClr val="F6766B"/>
                </a:solidFill>
                <a:latin typeface="Lazydog 1"/>
                <a:ea typeface="Lazydog 1"/>
                <a:cs typeface="Lazydog 1"/>
                <a:sym typeface="Lazydog 1"/>
              </a:rPr>
              <a:t>Causes of Planning Misalignment</a:t>
            </a:r>
          </a:p>
        </p:txBody>
      </p:sp>
      <p:grpSp>
        <p:nvGrpSpPr>
          <p:cNvPr name="Group 5" id="5"/>
          <p:cNvGrpSpPr/>
          <p:nvPr/>
        </p:nvGrpSpPr>
        <p:grpSpPr>
          <a:xfrm rot="0">
            <a:off x="276825" y="1827414"/>
            <a:ext cx="17734351" cy="2143729"/>
            <a:chOff x="0" y="0"/>
            <a:chExt cx="5963768" cy="720900"/>
          </a:xfrm>
        </p:grpSpPr>
        <p:sp>
          <p:nvSpPr>
            <p:cNvPr name="Freeform 6" id="6"/>
            <p:cNvSpPr/>
            <p:nvPr/>
          </p:nvSpPr>
          <p:spPr>
            <a:xfrm flipH="false" flipV="false" rot="0">
              <a:off x="0" y="0"/>
              <a:ext cx="5963768" cy="720900"/>
            </a:xfrm>
            <a:custGeom>
              <a:avLst/>
              <a:gdLst/>
              <a:ahLst/>
              <a:cxnLst/>
              <a:rect r="r" b="b" t="t" l="l"/>
              <a:pathLst>
                <a:path h="720900" w="5963768">
                  <a:moveTo>
                    <a:pt x="22264" y="0"/>
                  </a:moveTo>
                  <a:lnTo>
                    <a:pt x="5941504" y="0"/>
                  </a:lnTo>
                  <a:cubicBezTo>
                    <a:pt x="5947409" y="0"/>
                    <a:pt x="5953072" y="2346"/>
                    <a:pt x="5957247" y="6521"/>
                  </a:cubicBezTo>
                  <a:cubicBezTo>
                    <a:pt x="5961422" y="10696"/>
                    <a:pt x="5963768" y="16359"/>
                    <a:pt x="5963768" y="22264"/>
                  </a:cubicBezTo>
                  <a:lnTo>
                    <a:pt x="5963768" y="698636"/>
                  </a:lnTo>
                  <a:cubicBezTo>
                    <a:pt x="5963768" y="704541"/>
                    <a:pt x="5961422" y="710204"/>
                    <a:pt x="5957247" y="714379"/>
                  </a:cubicBezTo>
                  <a:cubicBezTo>
                    <a:pt x="5953072" y="718555"/>
                    <a:pt x="5947409" y="720900"/>
                    <a:pt x="5941504" y="720900"/>
                  </a:cubicBezTo>
                  <a:lnTo>
                    <a:pt x="22264" y="720900"/>
                  </a:lnTo>
                  <a:cubicBezTo>
                    <a:pt x="16359" y="720900"/>
                    <a:pt x="10696" y="718555"/>
                    <a:pt x="6521" y="714379"/>
                  </a:cubicBezTo>
                  <a:cubicBezTo>
                    <a:pt x="2346" y="710204"/>
                    <a:pt x="0" y="704541"/>
                    <a:pt x="0" y="698636"/>
                  </a:cubicBezTo>
                  <a:lnTo>
                    <a:pt x="0" y="22264"/>
                  </a:lnTo>
                  <a:cubicBezTo>
                    <a:pt x="0" y="16359"/>
                    <a:pt x="2346" y="10696"/>
                    <a:pt x="6521" y="6521"/>
                  </a:cubicBezTo>
                  <a:cubicBezTo>
                    <a:pt x="10696" y="2346"/>
                    <a:pt x="16359" y="0"/>
                    <a:pt x="22264" y="0"/>
                  </a:cubicBezTo>
                  <a:close/>
                </a:path>
              </a:pathLst>
            </a:custGeom>
            <a:solidFill>
              <a:srgbClr val="FFFFFF"/>
            </a:solidFill>
          </p:spPr>
        </p:sp>
        <p:sp>
          <p:nvSpPr>
            <p:cNvPr name="TextBox 7" id="7"/>
            <p:cNvSpPr txBox="true"/>
            <p:nvPr/>
          </p:nvSpPr>
          <p:spPr>
            <a:xfrm>
              <a:off x="0" y="-19050"/>
              <a:ext cx="5963768" cy="739950"/>
            </a:xfrm>
            <a:prstGeom prst="rect">
              <a:avLst/>
            </a:prstGeom>
          </p:spPr>
          <p:txBody>
            <a:bodyPr anchor="ctr" rtlCol="false" tIns="50800" lIns="50800" bIns="50800" rIns="50800"/>
            <a:lstStyle/>
            <a:p>
              <a:pPr algn="ctr">
                <a:lnSpc>
                  <a:spcPts val="2236"/>
                </a:lnSpc>
              </a:pPr>
            </a:p>
          </p:txBody>
        </p:sp>
      </p:grpSp>
      <p:sp>
        <p:nvSpPr>
          <p:cNvPr name="TextBox 8" id="8"/>
          <p:cNvSpPr txBox="true"/>
          <p:nvPr/>
        </p:nvSpPr>
        <p:spPr>
          <a:xfrm rot="0">
            <a:off x="593288" y="2086245"/>
            <a:ext cx="17083073" cy="1495256"/>
          </a:xfrm>
          <a:prstGeom prst="rect">
            <a:avLst/>
          </a:prstGeom>
        </p:spPr>
        <p:txBody>
          <a:bodyPr anchor="t" rtlCol="false" tIns="0" lIns="0" bIns="0" rIns="0">
            <a:spAutoFit/>
          </a:bodyPr>
          <a:lstStyle/>
          <a:p>
            <a:pPr algn="just">
              <a:lnSpc>
                <a:spcPts val="3917"/>
              </a:lnSpc>
            </a:pPr>
            <a:r>
              <a:rPr lang="en-US" b="true" sz="3013">
                <a:solidFill>
                  <a:srgbClr val="28211E"/>
                </a:solidFill>
                <a:latin typeface="Arimo Bold"/>
                <a:ea typeface="Arimo Bold"/>
                <a:cs typeface="Arimo Bold"/>
                <a:sym typeface="Arimo Bold"/>
              </a:rPr>
              <a:t>Planning misalignment happens when the strategic, tactical, and operational levels stop moving in the same direction. It's rarely caused by one big failure — usually it's several small gaps compounding over time.</a:t>
            </a:r>
          </a:p>
        </p:txBody>
      </p:sp>
      <p:sp>
        <p:nvSpPr>
          <p:cNvPr name="TextBox 9" id="9"/>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tapit</a:t>
            </a:r>
          </a:p>
        </p:txBody>
      </p:sp>
      <p:grpSp>
        <p:nvGrpSpPr>
          <p:cNvPr name="Group 10" id="10"/>
          <p:cNvGrpSpPr/>
          <p:nvPr/>
        </p:nvGrpSpPr>
        <p:grpSpPr>
          <a:xfrm rot="0">
            <a:off x="267649" y="4209268"/>
            <a:ext cx="17734351" cy="5235554"/>
            <a:chOff x="0" y="0"/>
            <a:chExt cx="5963768" cy="1760630"/>
          </a:xfrm>
        </p:grpSpPr>
        <p:sp>
          <p:nvSpPr>
            <p:cNvPr name="Freeform 11" id="11"/>
            <p:cNvSpPr/>
            <p:nvPr/>
          </p:nvSpPr>
          <p:spPr>
            <a:xfrm flipH="false" flipV="false" rot="0">
              <a:off x="0" y="0"/>
              <a:ext cx="5963768" cy="1760630"/>
            </a:xfrm>
            <a:custGeom>
              <a:avLst/>
              <a:gdLst/>
              <a:ahLst/>
              <a:cxnLst/>
              <a:rect r="r" b="b" t="t" l="l"/>
              <a:pathLst>
                <a:path h="1760630" w="5963768">
                  <a:moveTo>
                    <a:pt x="22264" y="0"/>
                  </a:moveTo>
                  <a:lnTo>
                    <a:pt x="5941504" y="0"/>
                  </a:lnTo>
                  <a:cubicBezTo>
                    <a:pt x="5947409" y="0"/>
                    <a:pt x="5953072" y="2346"/>
                    <a:pt x="5957247" y="6521"/>
                  </a:cubicBezTo>
                  <a:cubicBezTo>
                    <a:pt x="5961422" y="10696"/>
                    <a:pt x="5963768" y="16359"/>
                    <a:pt x="5963768" y="22264"/>
                  </a:cubicBezTo>
                  <a:lnTo>
                    <a:pt x="5963768" y="1738366"/>
                  </a:lnTo>
                  <a:cubicBezTo>
                    <a:pt x="5963768" y="1744270"/>
                    <a:pt x="5961422" y="1749933"/>
                    <a:pt x="5957247" y="1754109"/>
                  </a:cubicBezTo>
                  <a:cubicBezTo>
                    <a:pt x="5953072" y="1758284"/>
                    <a:pt x="5947409" y="1760630"/>
                    <a:pt x="5941504" y="1760630"/>
                  </a:cubicBezTo>
                  <a:lnTo>
                    <a:pt x="22264" y="1760630"/>
                  </a:lnTo>
                  <a:cubicBezTo>
                    <a:pt x="16359" y="1760630"/>
                    <a:pt x="10696" y="1758284"/>
                    <a:pt x="6521" y="1754109"/>
                  </a:cubicBezTo>
                  <a:cubicBezTo>
                    <a:pt x="2346" y="1749933"/>
                    <a:pt x="0" y="1744270"/>
                    <a:pt x="0" y="1738366"/>
                  </a:cubicBezTo>
                  <a:lnTo>
                    <a:pt x="0" y="22264"/>
                  </a:lnTo>
                  <a:cubicBezTo>
                    <a:pt x="0" y="16359"/>
                    <a:pt x="2346" y="10696"/>
                    <a:pt x="6521" y="6521"/>
                  </a:cubicBezTo>
                  <a:cubicBezTo>
                    <a:pt x="10696" y="2346"/>
                    <a:pt x="16359" y="0"/>
                    <a:pt x="22264" y="0"/>
                  </a:cubicBezTo>
                  <a:close/>
                </a:path>
              </a:pathLst>
            </a:custGeom>
            <a:solidFill>
              <a:srgbClr val="FFFFFF"/>
            </a:solidFill>
          </p:spPr>
        </p:sp>
        <p:sp>
          <p:nvSpPr>
            <p:cNvPr name="TextBox 12" id="12"/>
            <p:cNvSpPr txBox="true"/>
            <p:nvPr/>
          </p:nvSpPr>
          <p:spPr>
            <a:xfrm>
              <a:off x="0" y="-19050"/>
              <a:ext cx="5963768" cy="1779680"/>
            </a:xfrm>
            <a:prstGeom prst="rect">
              <a:avLst/>
            </a:prstGeom>
          </p:spPr>
          <p:txBody>
            <a:bodyPr anchor="ctr" rtlCol="false" tIns="50800" lIns="50800" bIns="50800" rIns="50800"/>
            <a:lstStyle/>
            <a:p>
              <a:pPr algn="ctr">
                <a:lnSpc>
                  <a:spcPts val="2236"/>
                </a:lnSpc>
              </a:pPr>
            </a:p>
          </p:txBody>
        </p:sp>
      </p:grpSp>
      <p:sp>
        <p:nvSpPr>
          <p:cNvPr name="TextBox 13" id="13"/>
          <p:cNvSpPr txBox="true"/>
          <p:nvPr/>
        </p:nvSpPr>
        <p:spPr>
          <a:xfrm rot="0">
            <a:off x="602463" y="4571974"/>
            <a:ext cx="17083073" cy="4467056"/>
          </a:xfrm>
          <a:prstGeom prst="rect">
            <a:avLst/>
          </a:prstGeom>
        </p:spPr>
        <p:txBody>
          <a:bodyPr anchor="t" rtlCol="false" tIns="0" lIns="0" bIns="0" rIns="0">
            <a:spAutoFit/>
          </a:bodyPr>
          <a:lstStyle/>
          <a:p>
            <a:pPr algn="just">
              <a:lnSpc>
                <a:spcPts val="3917"/>
              </a:lnSpc>
            </a:pPr>
            <a:r>
              <a:rPr lang="en-US" sz="3013">
                <a:solidFill>
                  <a:srgbClr val="28211E"/>
                </a:solidFill>
                <a:latin typeface="Arimo"/>
                <a:ea typeface="Arimo"/>
                <a:cs typeface="Arimo"/>
                <a:sym typeface="Arimo"/>
              </a:rPr>
              <a:t>People &amp; communication</a:t>
            </a:r>
          </a:p>
          <a:p>
            <a:pPr algn="just" marL="650574" indent="-325287" lvl="1">
              <a:lnSpc>
                <a:spcPts val="3917"/>
              </a:lnSpc>
              <a:buFont typeface="Arial"/>
              <a:buChar char="•"/>
            </a:pPr>
            <a:r>
              <a:rPr lang="en-US" sz="3013">
                <a:solidFill>
                  <a:srgbClr val="28211E"/>
                </a:solidFill>
                <a:latin typeface="Arimo"/>
                <a:ea typeface="Arimo"/>
                <a:cs typeface="Arimo"/>
                <a:sym typeface="Arimo"/>
              </a:rPr>
              <a:t>Breakdowns in communication between executive, management, and operational levels</a:t>
            </a:r>
          </a:p>
          <a:p>
            <a:pPr algn="just" marL="650574" indent="-325287" lvl="1">
              <a:lnSpc>
                <a:spcPts val="3917"/>
              </a:lnSpc>
              <a:buFont typeface="Arial"/>
              <a:buChar char="•"/>
            </a:pPr>
            <a:r>
              <a:rPr lang="en-US" sz="3013">
                <a:solidFill>
                  <a:srgbClr val="28211E"/>
                </a:solidFill>
                <a:latin typeface="Arimo"/>
                <a:ea typeface="Arimo"/>
                <a:cs typeface="Arimo"/>
                <a:sym typeface="Arimo"/>
              </a:rPr>
              <a:t>No single owner (e.g., CISO) coordinating across all three levels</a:t>
            </a:r>
          </a:p>
          <a:p>
            <a:pPr algn="just">
              <a:lnSpc>
                <a:spcPts val="3917"/>
              </a:lnSpc>
            </a:pPr>
            <a:r>
              <a:rPr lang="en-US" sz="3013">
                <a:solidFill>
                  <a:srgbClr val="28211E"/>
                </a:solidFill>
                <a:latin typeface="Arimo"/>
                <a:ea typeface="Arimo"/>
                <a:cs typeface="Arimo"/>
                <a:sym typeface="Arimo"/>
              </a:rPr>
              <a:t>Structure</a:t>
            </a:r>
          </a:p>
          <a:p>
            <a:pPr algn="just" marL="650574" indent="-325287" lvl="1">
              <a:lnSpc>
                <a:spcPts val="3917"/>
              </a:lnSpc>
              <a:buFont typeface="Arial"/>
              <a:buChar char="•"/>
            </a:pPr>
            <a:r>
              <a:rPr lang="en-US" sz="3013">
                <a:solidFill>
                  <a:srgbClr val="28211E"/>
                </a:solidFill>
                <a:latin typeface="Arimo"/>
                <a:ea typeface="Arimo"/>
                <a:cs typeface="Arimo"/>
                <a:sym typeface="Arimo"/>
              </a:rPr>
              <a:t>Departmental silos — units planning in isolation, without cross-functional input</a:t>
            </a:r>
          </a:p>
          <a:p>
            <a:pPr algn="just" marL="650574" indent="-325287" lvl="1">
              <a:lnSpc>
                <a:spcPts val="3917"/>
              </a:lnSpc>
              <a:buFont typeface="Arial"/>
              <a:buChar char="•"/>
            </a:pPr>
            <a:r>
              <a:rPr lang="en-US" sz="3013">
                <a:solidFill>
                  <a:srgbClr val="28211E"/>
                </a:solidFill>
                <a:latin typeface="Arimo"/>
                <a:ea typeface="Arimo"/>
                <a:cs typeface="Arimo"/>
                <a:sym typeface="Arimo"/>
              </a:rPr>
              <a:t>Mismatched timelines, or a missing tactical layer connecting strategy to daily tasks</a:t>
            </a:r>
          </a:p>
          <a:p>
            <a:pPr algn="just">
              <a:lnSpc>
                <a:spcPts val="3917"/>
              </a:lnSpc>
            </a:pPr>
            <a:r>
              <a:rPr lang="en-US" sz="3013">
                <a:solidFill>
                  <a:srgbClr val="28211E"/>
                </a:solidFill>
                <a:latin typeface="Arimo"/>
                <a:ea typeface="Arimo"/>
                <a:cs typeface="Arimo"/>
                <a:sym typeface="Arimo"/>
              </a:rPr>
              <a:t>Approach</a:t>
            </a:r>
          </a:p>
          <a:p>
            <a:pPr algn="just" marL="650574" indent="-325287" lvl="1">
              <a:lnSpc>
                <a:spcPts val="3917"/>
              </a:lnSpc>
              <a:buFont typeface="Arial"/>
              <a:buChar char="•"/>
            </a:pPr>
            <a:r>
              <a:rPr lang="en-US" sz="3013">
                <a:solidFill>
                  <a:srgbClr val="28211E"/>
                </a:solidFill>
                <a:latin typeface="Arimo"/>
                <a:ea typeface="Arimo"/>
                <a:cs typeface="Arimo"/>
                <a:sym typeface="Arimo"/>
              </a:rPr>
              <a:t>Pure top-down planning that ignores operational realities</a:t>
            </a:r>
          </a:p>
          <a:p>
            <a:pPr algn="just" marL="650574" indent="-325287" lvl="1">
              <a:lnSpc>
                <a:spcPts val="3917"/>
              </a:lnSpc>
              <a:buFont typeface="Arial"/>
              <a:buChar char="•"/>
            </a:pPr>
            <a:r>
              <a:rPr lang="en-US" sz="3013">
                <a:solidFill>
                  <a:srgbClr val="28211E"/>
                </a:solidFill>
                <a:latin typeface="Arimo"/>
                <a:ea typeface="Arimo"/>
                <a:cs typeface="Arimo"/>
                <a:sym typeface="Arimo"/>
              </a:rPr>
              <a:t>Pure bottom-up planning that ignores organizational direction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28211E"/>
        </a:solidFill>
      </p:bgPr>
    </p:bg>
    <p:spTree>
      <p:nvGrpSpPr>
        <p:cNvPr id="1" name=""/>
        <p:cNvGrpSpPr/>
        <p:nvPr/>
      </p:nvGrpSpPr>
      <p:grpSpPr>
        <a:xfrm>
          <a:off x="0" y="0"/>
          <a:ext cx="0" cy="0"/>
          <a:chOff x="0" y="0"/>
          <a:chExt cx="0" cy="0"/>
        </a:xfrm>
      </p:grpSpPr>
      <p:sp>
        <p:nvSpPr>
          <p:cNvPr name="Freeform 2" id="2"/>
          <p:cNvSpPr/>
          <p:nvPr/>
        </p:nvSpPr>
        <p:spPr>
          <a:xfrm flipH="false" flipV="false" rot="0">
            <a:off x="-1240824" y="-410418"/>
            <a:ext cx="10621097" cy="11470785"/>
          </a:xfrm>
          <a:custGeom>
            <a:avLst/>
            <a:gdLst/>
            <a:ahLst/>
            <a:cxnLst/>
            <a:rect r="r" b="b" t="t" l="l"/>
            <a:pathLst>
              <a:path h="11470785" w="10621097">
                <a:moveTo>
                  <a:pt x="0" y="0"/>
                </a:moveTo>
                <a:lnTo>
                  <a:pt x="10621098" y="0"/>
                </a:lnTo>
                <a:lnTo>
                  <a:pt x="10621098" y="11470786"/>
                </a:lnTo>
                <a:lnTo>
                  <a:pt x="0" y="11470786"/>
                </a:lnTo>
                <a:lnTo>
                  <a:pt x="0" y="0"/>
                </a:lnTo>
                <a:close/>
              </a:path>
            </a:pathLst>
          </a:custGeom>
          <a:blipFill>
            <a:blip r:embed="rId2">
              <a:alphaModFix amt="36000"/>
            </a:blip>
            <a:stretch>
              <a:fillRect l="0" t="0" r="0" b="0"/>
            </a:stretch>
          </a:blipFill>
        </p:spPr>
      </p:sp>
      <p:sp>
        <p:nvSpPr>
          <p:cNvPr name="Freeform 3" id="3"/>
          <p:cNvSpPr/>
          <p:nvPr/>
        </p:nvSpPr>
        <p:spPr>
          <a:xfrm flipH="false" flipV="false" rot="0">
            <a:off x="10205251" y="-128408"/>
            <a:ext cx="10300451" cy="10300451"/>
          </a:xfrm>
          <a:custGeom>
            <a:avLst/>
            <a:gdLst/>
            <a:ahLst/>
            <a:cxnLst/>
            <a:rect r="r" b="b" t="t" l="l"/>
            <a:pathLst>
              <a:path h="10300451" w="10300451">
                <a:moveTo>
                  <a:pt x="0" y="0"/>
                </a:moveTo>
                <a:lnTo>
                  <a:pt x="10300452" y="0"/>
                </a:lnTo>
                <a:lnTo>
                  <a:pt x="10300452" y="10300452"/>
                </a:lnTo>
                <a:lnTo>
                  <a:pt x="0" y="10300452"/>
                </a:lnTo>
                <a:lnTo>
                  <a:pt x="0" y="0"/>
                </a:lnTo>
                <a:close/>
              </a:path>
            </a:pathLst>
          </a:custGeom>
          <a:blipFill>
            <a:blip r:embed="rId3">
              <a:alphaModFix amt="25000"/>
            </a:blip>
            <a:stretch>
              <a:fillRect l="0" t="0" r="0" b="0"/>
            </a:stretch>
          </a:blipFill>
        </p:spPr>
      </p:sp>
      <p:sp>
        <p:nvSpPr>
          <p:cNvPr name="TextBox 4" id="4"/>
          <p:cNvSpPr txBox="true"/>
          <p:nvPr/>
        </p:nvSpPr>
        <p:spPr>
          <a:xfrm rot="0">
            <a:off x="3886706" y="458586"/>
            <a:ext cx="10514588" cy="1368828"/>
          </a:xfrm>
          <a:prstGeom prst="rect">
            <a:avLst/>
          </a:prstGeom>
        </p:spPr>
        <p:txBody>
          <a:bodyPr anchor="t" rtlCol="false" tIns="0" lIns="0" bIns="0" rIns="0">
            <a:spAutoFit/>
          </a:bodyPr>
          <a:lstStyle/>
          <a:p>
            <a:pPr algn="ctr">
              <a:lnSpc>
                <a:spcPts val="5043"/>
              </a:lnSpc>
            </a:pPr>
            <a:r>
              <a:rPr lang="en-US" sz="6304" spc="-189">
                <a:solidFill>
                  <a:srgbClr val="F6766B"/>
                </a:solidFill>
                <a:latin typeface="Lazydog 1"/>
                <a:ea typeface="Lazydog 1"/>
                <a:cs typeface="Lazydog 1"/>
                <a:sym typeface="Lazydog 1"/>
              </a:rPr>
              <a:t>Consequences and Fixes for Misalignment</a:t>
            </a:r>
          </a:p>
        </p:txBody>
      </p:sp>
      <p:grpSp>
        <p:nvGrpSpPr>
          <p:cNvPr name="Group 5" id="5"/>
          <p:cNvGrpSpPr/>
          <p:nvPr/>
        </p:nvGrpSpPr>
        <p:grpSpPr>
          <a:xfrm rot="0">
            <a:off x="276825" y="1827414"/>
            <a:ext cx="17734351" cy="1928295"/>
            <a:chOff x="0" y="0"/>
            <a:chExt cx="5963768" cy="648453"/>
          </a:xfrm>
        </p:grpSpPr>
        <p:sp>
          <p:nvSpPr>
            <p:cNvPr name="Freeform 6" id="6"/>
            <p:cNvSpPr/>
            <p:nvPr/>
          </p:nvSpPr>
          <p:spPr>
            <a:xfrm flipH="false" flipV="false" rot="0">
              <a:off x="0" y="0"/>
              <a:ext cx="5963768" cy="648453"/>
            </a:xfrm>
            <a:custGeom>
              <a:avLst/>
              <a:gdLst/>
              <a:ahLst/>
              <a:cxnLst/>
              <a:rect r="r" b="b" t="t" l="l"/>
              <a:pathLst>
                <a:path h="648453" w="5963768">
                  <a:moveTo>
                    <a:pt x="22264" y="0"/>
                  </a:moveTo>
                  <a:lnTo>
                    <a:pt x="5941504" y="0"/>
                  </a:lnTo>
                  <a:cubicBezTo>
                    <a:pt x="5947409" y="0"/>
                    <a:pt x="5953072" y="2346"/>
                    <a:pt x="5957247" y="6521"/>
                  </a:cubicBezTo>
                  <a:cubicBezTo>
                    <a:pt x="5961422" y="10696"/>
                    <a:pt x="5963768" y="16359"/>
                    <a:pt x="5963768" y="22264"/>
                  </a:cubicBezTo>
                  <a:lnTo>
                    <a:pt x="5963768" y="626189"/>
                  </a:lnTo>
                  <a:cubicBezTo>
                    <a:pt x="5963768" y="632094"/>
                    <a:pt x="5961422" y="637757"/>
                    <a:pt x="5957247" y="641933"/>
                  </a:cubicBezTo>
                  <a:cubicBezTo>
                    <a:pt x="5953072" y="646108"/>
                    <a:pt x="5947409" y="648453"/>
                    <a:pt x="5941504" y="648453"/>
                  </a:cubicBezTo>
                  <a:lnTo>
                    <a:pt x="22264" y="648453"/>
                  </a:lnTo>
                  <a:cubicBezTo>
                    <a:pt x="16359" y="648453"/>
                    <a:pt x="10696" y="646108"/>
                    <a:pt x="6521" y="641933"/>
                  </a:cubicBezTo>
                  <a:cubicBezTo>
                    <a:pt x="2346" y="637757"/>
                    <a:pt x="0" y="632094"/>
                    <a:pt x="0" y="626189"/>
                  </a:cubicBezTo>
                  <a:lnTo>
                    <a:pt x="0" y="22264"/>
                  </a:lnTo>
                  <a:cubicBezTo>
                    <a:pt x="0" y="16359"/>
                    <a:pt x="2346" y="10696"/>
                    <a:pt x="6521" y="6521"/>
                  </a:cubicBezTo>
                  <a:cubicBezTo>
                    <a:pt x="10696" y="2346"/>
                    <a:pt x="16359" y="0"/>
                    <a:pt x="22264" y="0"/>
                  </a:cubicBezTo>
                  <a:close/>
                </a:path>
              </a:pathLst>
            </a:custGeom>
            <a:solidFill>
              <a:srgbClr val="FFFFFF"/>
            </a:solidFill>
          </p:spPr>
        </p:sp>
        <p:sp>
          <p:nvSpPr>
            <p:cNvPr name="TextBox 7" id="7"/>
            <p:cNvSpPr txBox="true"/>
            <p:nvPr/>
          </p:nvSpPr>
          <p:spPr>
            <a:xfrm>
              <a:off x="0" y="-19050"/>
              <a:ext cx="5963768" cy="667503"/>
            </a:xfrm>
            <a:prstGeom prst="rect">
              <a:avLst/>
            </a:prstGeom>
          </p:spPr>
          <p:txBody>
            <a:bodyPr anchor="ctr" rtlCol="false" tIns="50800" lIns="50800" bIns="50800" rIns="50800"/>
            <a:lstStyle/>
            <a:p>
              <a:pPr algn="ctr">
                <a:lnSpc>
                  <a:spcPts val="2236"/>
                </a:lnSpc>
              </a:pPr>
            </a:p>
          </p:txBody>
        </p:sp>
      </p:grpSp>
      <p:sp>
        <p:nvSpPr>
          <p:cNvPr name="TextBox 8" id="8"/>
          <p:cNvSpPr txBox="true"/>
          <p:nvPr/>
        </p:nvSpPr>
        <p:spPr>
          <a:xfrm rot="0">
            <a:off x="593288" y="2020121"/>
            <a:ext cx="17083073" cy="1495256"/>
          </a:xfrm>
          <a:prstGeom prst="rect">
            <a:avLst/>
          </a:prstGeom>
        </p:spPr>
        <p:txBody>
          <a:bodyPr anchor="t" rtlCol="false" tIns="0" lIns="0" bIns="0" rIns="0">
            <a:spAutoFit/>
          </a:bodyPr>
          <a:lstStyle/>
          <a:p>
            <a:pPr algn="just">
              <a:lnSpc>
                <a:spcPts val="3917"/>
              </a:lnSpc>
            </a:pPr>
            <a:r>
              <a:rPr lang="en-US" sz="3013" b="true">
                <a:solidFill>
                  <a:srgbClr val="28211E"/>
                </a:solidFill>
                <a:latin typeface="Arimo Bold"/>
                <a:ea typeface="Arimo Bold"/>
                <a:cs typeface="Arimo Bold"/>
                <a:sym typeface="Arimo Bold"/>
              </a:rPr>
              <a:t>The cost of misalignment:</a:t>
            </a:r>
          </a:p>
          <a:p>
            <a:pPr algn="just">
              <a:lnSpc>
                <a:spcPts val="3917"/>
              </a:lnSpc>
            </a:pPr>
            <a:r>
              <a:rPr lang="en-US" sz="3013">
                <a:solidFill>
                  <a:srgbClr val="28211E"/>
                </a:solidFill>
                <a:latin typeface="Arimo"/>
                <a:ea typeface="Arimo"/>
                <a:cs typeface="Arimo"/>
                <a:sym typeface="Arimo"/>
              </a:rPr>
              <a:t>Wasted budget and staff time · unaddressed security gaps · low buy-in from the teams expected to execute the plan · plans that look good on paper but are never actually completed.</a:t>
            </a:r>
          </a:p>
        </p:txBody>
      </p:sp>
      <p:sp>
        <p:nvSpPr>
          <p:cNvPr name="TextBox 9" id="9"/>
          <p:cNvSpPr txBox="true"/>
          <p:nvPr/>
        </p:nvSpPr>
        <p:spPr>
          <a:xfrm rot="0">
            <a:off x="15964876" y="9536357"/>
            <a:ext cx="2588848" cy="635687"/>
          </a:xfrm>
          <a:prstGeom prst="rect">
            <a:avLst/>
          </a:prstGeom>
        </p:spPr>
        <p:txBody>
          <a:bodyPr anchor="t" rtlCol="false" tIns="0" lIns="0" bIns="0" rIns="0">
            <a:spAutoFit/>
          </a:bodyPr>
          <a:lstStyle/>
          <a:p>
            <a:pPr algn="ctr">
              <a:lnSpc>
                <a:spcPts val="4836"/>
              </a:lnSpc>
            </a:pPr>
            <a:r>
              <a:rPr lang="en-US" sz="4317" spc="-129">
                <a:solidFill>
                  <a:srgbClr val="FFFFFF"/>
                </a:solidFill>
                <a:latin typeface="Lazydog 1"/>
                <a:ea typeface="Lazydog 1"/>
                <a:cs typeface="Lazydog 1"/>
                <a:sym typeface="Lazydog 1"/>
              </a:rPr>
              <a:t>tapit</a:t>
            </a:r>
          </a:p>
        </p:txBody>
      </p:sp>
      <p:grpSp>
        <p:nvGrpSpPr>
          <p:cNvPr name="Group 10" id="10"/>
          <p:cNvGrpSpPr/>
          <p:nvPr/>
        </p:nvGrpSpPr>
        <p:grpSpPr>
          <a:xfrm rot="0">
            <a:off x="267649" y="3943285"/>
            <a:ext cx="17734351" cy="3386411"/>
            <a:chOff x="0" y="0"/>
            <a:chExt cx="5963768" cy="1138794"/>
          </a:xfrm>
        </p:grpSpPr>
        <p:sp>
          <p:nvSpPr>
            <p:cNvPr name="Freeform 11" id="11"/>
            <p:cNvSpPr/>
            <p:nvPr/>
          </p:nvSpPr>
          <p:spPr>
            <a:xfrm flipH="false" flipV="false" rot="0">
              <a:off x="0" y="0"/>
              <a:ext cx="5963768" cy="1138794"/>
            </a:xfrm>
            <a:custGeom>
              <a:avLst/>
              <a:gdLst/>
              <a:ahLst/>
              <a:cxnLst/>
              <a:rect r="r" b="b" t="t" l="l"/>
              <a:pathLst>
                <a:path h="1138794" w="5963768">
                  <a:moveTo>
                    <a:pt x="22264" y="0"/>
                  </a:moveTo>
                  <a:lnTo>
                    <a:pt x="5941504" y="0"/>
                  </a:lnTo>
                  <a:cubicBezTo>
                    <a:pt x="5947409" y="0"/>
                    <a:pt x="5953072" y="2346"/>
                    <a:pt x="5957247" y="6521"/>
                  </a:cubicBezTo>
                  <a:cubicBezTo>
                    <a:pt x="5961422" y="10696"/>
                    <a:pt x="5963768" y="16359"/>
                    <a:pt x="5963768" y="22264"/>
                  </a:cubicBezTo>
                  <a:lnTo>
                    <a:pt x="5963768" y="1116530"/>
                  </a:lnTo>
                  <a:cubicBezTo>
                    <a:pt x="5963768" y="1122434"/>
                    <a:pt x="5961422" y="1128097"/>
                    <a:pt x="5957247" y="1132273"/>
                  </a:cubicBezTo>
                  <a:cubicBezTo>
                    <a:pt x="5953072" y="1136448"/>
                    <a:pt x="5947409" y="1138794"/>
                    <a:pt x="5941504" y="1138794"/>
                  </a:cubicBezTo>
                  <a:lnTo>
                    <a:pt x="22264" y="1138794"/>
                  </a:lnTo>
                  <a:cubicBezTo>
                    <a:pt x="16359" y="1138794"/>
                    <a:pt x="10696" y="1136448"/>
                    <a:pt x="6521" y="1132273"/>
                  </a:cubicBezTo>
                  <a:cubicBezTo>
                    <a:pt x="2346" y="1128097"/>
                    <a:pt x="0" y="1122434"/>
                    <a:pt x="0" y="1116530"/>
                  </a:cubicBezTo>
                  <a:lnTo>
                    <a:pt x="0" y="22264"/>
                  </a:lnTo>
                  <a:cubicBezTo>
                    <a:pt x="0" y="16359"/>
                    <a:pt x="2346" y="10696"/>
                    <a:pt x="6521" y="6521"/>
                  </a:cubicBezTo>
                  <a:cubicBezTo>
                    <a:pt x="10696" y="2346"/>
                    <a:pt x="16359" y="0"/>
                    <a:pt x="22264" y="0"/>
                  </a:cubicBezTo>
                  <a:close/>
                </a:path>
              </a:pathLst>
            </a:custGeom>
            <a:solidFill>
              <a:srgbClr val="FFFFFF"/>
            </a:solidFill>
          </p:spPr>
        </p:sp>
        <p:sp>
          <p:nvSpPr>
            <p:cNvPr name="TextBox 12" id="12"/>
            <p:cNvSpPr txBox="true"/>
            <p:nvPr/>
          </p:nvSpPr>
          <p:spPr>
            <a:xfrm>
              <a:off x="0" y="-19050"/>
              <a:ext cx="5963768" cy="1157844"/>
            </a:xfrm>
            <a:prstGeom prst="rect">
              <a:avLst/>
            </a:prstGeom>
          </p:spPr>
          <p:txBody>
            <a:bodyPr anchor="ctr" rtlCol="false" tIns="50800" lIns="50800" bIns="50800" rIns="50800"/>
            <a:lstStyle/>
            <a:p>
              <a:pPr algn="ctr">
                <a:lnSpc>
                  <a:spcPts val="2236"/>
                </a:lnSpc>
              </a:pPr>
            </a:p>
          </p:txBody>
        </p:sp>
      </p:grpSp>
      <p:sp>
        <p:nvSpPr>
          <p:cNvPr name="TextBox 13" id="13"/>
          <p:cNvSpPr txBox="true"/>
          <p:nvPr/>
        </p:nvSpPr>
        <p:spPr>
          <a:xfrm rot="0">
            <a:off x="602463" y="4099393"/>
            <a:ext cx="17083073" cy="2981156"/>
          </a:xfrm>
          <a:prstGeom prst="rect">
            <a:avLst/>
          </a:prstGeom>
        </p:spPr>
        <p:txBody>
          <a:bodyPr anchor="t" rtlCol="false" tIns="0" lIns="0" bIns="0" rIns="0">
            <a:spAutoFit/>
          </a:bodyPr>
          <a:lstStyle/>
          <a:p>
            <a:pPr algn="just">
              <a:lnSpc>
                <a:spcPts val="3917"/>
              </a:lnSpc>
            </a:pPr>
            <a:r>
              <a:rPr lang="en-US" sz="3013">
                <a:solidFill>
                  <a:srgbClr val="28211E"/>
                </a:solidFill>
                <a:latin typeface="Arimo"/>
                <a:ea typeface="Arimo"/>
                <a:cs typeface="Arimo"/>
                <a:sym typeface="Arimo"/>
              </a:rPr>
              <a:t>The fix — Hybrid (Countercurrent) Planning:</a:t>
            </a:r>
          </a:p>
          <a:p>
            <a:pPr algn="just" marL="650574" indent="-325287" lvl="1">
              <a:lnSpc>
                <a:spcPts val="3917"/>
              </a:lnSpc>
              <a:buAutoNum type="arabicPeriod" startAt="1"/>
            </a:pPr>
            <a:r>
              <a:rPr lang="en-US" sz="3013">
                <a:solidFill>
                  <a:srgbClr val="28211E"/>
                </a:solidFill>
                <a:latin typeface="Arimo"/>
                <a:ea typeface="Arimo"/>
                <a:cs typeface="Arimo"/>
                <a:sym typeface="Arimo"/>
              </a:rPr>
              <a:t>Leadership initiates — sets overall direction and goals (top-down)</a:t>
            </a:r>
          </a:p>
          <a:p>
            <a:pPr algn="just" marL="650574" indent="-325287" lvl="1">
              <a:lnSpc>
                <a:spcPts val="3917"/>
              </a:lnSpc>
              <a:buAutoNum type="arabicPeriod" startAt="1"/>
            </a:pPr>
            <a:r>
              <a:rPr lang="en-US" sz="3013">
                <a:solidFill>
                  <a:srgbClr val="28211E"/>
                </a:solidFill>
                <a:latin typeface="Arimo"/>
                <a:ea typeface="Arimo"/>
                <a:cs typeface="Arimo"/>
                <a:sym typeface="Arimo"/>
              </a:rPr>
              <a:t>Teams refine — operational and tactical staff build out detailed, practical plans grounded in real constraints (bottom-up)</a:t>
            </a:r>
          </a:p>
          <a:p>
            <a:pPr algn="just" marL="650574" indent="-325287" lvl="1">
              <a:lnSpc>
                <a:spcPts val="3917"/>
              </a:lnSpc>
              <a:buAutoNum type="arabicPeriod" startAt="1"/>
            </a:pPr>
            <a:r>
              <a:rPr lang="en-US" sz="3013">
                <a:solidFill>
                  <a:srgbClr val="28211E"/>
                </a:solidFill>
                <a:latin typeface="Arimo"/>
                <a:ea typeface="Arimo"/>
                <a:cs typeface="Arimo"/>
                <a:sym typeface="Arimo"/>
              </a:rPr>
              <a:t>Iterative review — plans move back up for adjustment and reconciliation</a:t>
            </a:r>
          </a:p>
          <a:p>
            <a:pPr algn="just" marL="650574" indent="-325287" lvl="1">
              <a:lnSpc>
                <a:spcPts val="3917"/>
              </a:lnSpc>
              <a:buAutoNum type="arabicPeriod" startAt="1"/>
            </a:pPr>
            <a:r>
              <a:rPr lang="en-US" sz="3013">
                <a:solidFill>
                  <a:srgbClr val="28211E"/>
                </a:solidFill>
                <a:latin typeface="Arimo"/>
                <a:ea typeface="Arimo"/>
                <a:cs typeface="Arimo"/>
                <a:sym typeface="Arimo"/>
              </a:rPr>
              <a:t>Final approval — leadership signs off once strategic and operational realities are reconciled</a:t>
            </a:r>
          </a:p>
        </p:txBody>
      </p:sp>
      <p:grpSp>
        <p:nvGrpSpPr>
          <p:cNvPr name="Group 14" id="14"/>
          <p:cNvGrpSpPr/>
          <p:nvPr/>
        </p:nvGrpSpPr>
        <p:grpSpPr>
          <a:xfrm rot="0">
            <a:off x="267649" y="7520195"/>
            <a:ext cx="17734351" cy="1379048"/>
            <a:chOff x="0" y="0"/>
            <a:chExt cx="5963768" cy="463751"/>
          </a:xfrm>
        </p:grpSpPr>
        <p:sp>
          <p:nvSpPr>
            <p:cNvPr name="Freeform 15" id="15"/>
            <p:cNvSpPr/>
            <p:nvPr/>
          </p:nvSpPr>
          <p:spPr>
            <a:xfrm flipH="false" flipV="false" rot="0">
              <a:off x="0" y="0"/>
              <a:ext cx="5963768" cy="463751"/>
            </a:xfrm>
            <a:custGeom>
              <a:avLst/>
              <a:gdLst/>
              <a:ahLst/>
              <a:cxnLst/>
              <a:rect r="r" b="b" t="t" l="l"/>
              <a:pathLst>
                <a:path h="463751" w="5963768">
                  <a:moveTo>
                    <a:pt x="22264" y="0"/>
                  </a:moveTo>
                  <a:lnTo>
                    <a:pt x="5941504" y="0"/>
                  </a:lnTo>
                  <a:cubicBezTo>
                    <a:pt x="5947409" y="0"/>
                    <a:pt x="5953072" y="2346"/>
                    <a:pt x="5957247" y="6521"/>
                  </a:cubicBezTo>
                  <a:cubicBezTo>
                    <a:pt x="5961422" y="10696"/>
                    <a:pt x="5963768" y="16359"/>
                    <a:pt x="5963768" y="22264"/>
                  </a:cubicBezTo>
                  <a:lnTo>
                    <a:pt x="5963768" y="441487"/>
                  </a:lnTo>
                  <a:cubicBezTo>
                    <a:pt x="5963768" y="447392"/>
                    <a:pt x="5961422" y="453055"/>
                    <a:pt x="5957247" y="457230"/>
                  </a:cubicBezTo>
                  <a:cubicBezTo>
                    <a:pt x="5953072" y="461405"/>
                    <a:pt x="5947409" y="463751"/>
                    <a:pt x="5941504" y="463751"/>
                  </a:cubicBezTo>
                  <a:lnTo>
                    <a:pt x="22264" y="463751"/>
                  </a:lnTo>
                  <a:cubicBezTo>
                    <a:pt x="16359" y="463751"/>
                    <a:pt x="10696" y="461405"/>
                    <a:pt x="6521" y="457230"/>
                  </a:cubicBezTo>
                  <a:cubicBezTo>
                    <a:pt x="2346" y="453055"/>
                    <a:pt x="0" y="447392"/>
                    <a:pt x="0" y="441487"/>
                  </a:cubicBezTo>
                  <a:lnTo>
                    <a:pt x="0" y="22264"/>
                  </a:lnTo>
                  <a:cubicBezTo>
                    <a:pt x="0" y="16359"/>
                    <a:pt x="2346" y="10696"/>
                    <a:pt x="6521" y="6521"/>
                  </a:cubicBezTo>
                  <a:cubicBezTo>
                    <a:pt x="10696" y="2346"/>
                    <a:pt x="16359" y="0"/>
                    <a:pt x="22264" y="0"/>
                  </a:cubicBezTo>
                  <a:close/>
                </a:path>
              </a:pathLst>
            </a:custGeom>
            <a:solidFill>
              <a:srgbClr val="FFFFFF"/>
            </a:solidFill>
          </p:spPr>
        </p:sp>
        <p:sp>
          <p:nvSpPr>
            <p:cNvPr name="TextBox 16" id="16"/>
            <p:cNvSpPr txBox="true"/>
            <p:nvPr/>
          </p:nvSpPr>
          <p:spPr>
            <a:xfrm>
              <a:off x="0" y="-19050"/>
              <a:ext cx="5963768" cy="482801"/>
            </a:xfrm>
            <a:prstGeom prst="rect">
              <a:avLst/>
            </a:prstGeom>
          </p:spPr>
          <p:txBody>
            <a:bodyPr anchor="ctr" rtlCol="false" tIns="50800" lIns="50800" bIns="50800" rIns="50800"/>
            <a:lstStyle/>
            <a:p>
              <a:pPr algn="ctr">
                <a:lnSpc>
                  <a:spcPts val="2236"/>
                </a:lnSpc>
              </a:pPr>
            </a:p>
          </p:txBody>
        </p:sp>
      </p:grpSp>
      <p:sp>
        <p:nvSpPr>
          <p:cNvPr name="TextBox 17" id="17"/>
          <p:cNvSpPr txBox="true"/>
          <p:nvPr/>
        </p:nvSpPr>
        <p:spPr>
          <a:xfrm rot="0">
            <a:off x="602463" y="7656075"/>
            <a:ext cx="17083073" cy="999956"/>
          </a:xfrm>
          <a:prstGeom prst="rect">
            <a:avLst/>
          </a:prstGeom>
        </p:spPr>
        <p:txBody>
          <a:bodyPr anchor="t" rtlCol="false" tIns="0" lIns="0" bIns="0" rIns="0">
            <a:spAutoFit/>
          </a:bodyPr>
          <a:lstStyle/>
          <a:p>
            <a:pPr algn="just">
              <a:lnSpc>
                <a:spcPts val="3917"/>
              </a:lnSpc>
            </a:pPr>
            <a:r>
              <a:rPr lang="en-US" sz="3013">
                <a:solidFill>
                  <a:srgbClr val="28211E"/>
                </a:solidFill>
                <a:latin typeface="Arimo"/>
                <a:ea typeface="Arimo"/>
                <a:cs typeface="Arimo"/>
                <a:sym typeface="Arimo"/>
              </a:rPr>
              <a:t>The goal isn't to pick top-down or bottom-up — it's to build a deliberate feedback loop between them, so strategic ambition and operational feasibility inform each other instead of working in isolation.</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sp>
        <p:nvSpPr>
          <p:cNvPr name="Freeform 2" id="2"/>
          <p:cNvSpPr/>
          <p:nvPr/>
        </p:nvSpPr>
        <p:spPr>
          <a:xfrm flipH="false" flipV="false" rot="0">
            <a:off x="-40770" y="-59983"/>
            <a:ext cx="2695194" cy="4114800"/>
          </a:xfrm>
          <a:custGeom>
            <a:avLst/>
            <a:gdLst/>
            <a:ahLst/>
            <a:cxnLst/>
            <a:rect r="r" b="b" t="t" l="l"/>
            <a:pathLst>
              <a:path h="4114800" w="2695194">
                <a:moveTo>
                  <a:pt x="0" y="0"/>
                </a:moveTo>
                <a:lnTo>
                  <a:pt x="2695194" y="0"/>
                </a:lnTo>
                <a:lnTo>
                  <a:pt x="26951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89320" y="902437"/>
            <a:ext cx="6487905" cy="953572"/>
            <a:chOff x="0" y="0"/>
            <a:chExt cx="2181775" cy="320670"/>
          </a:xfrm>
        </p:grpSpPr>
        <p:sp>
          <p:nvSpPr>
            <p:cNvPr name="Freeform 4" id="4"/>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FFFFFF"/>
            </a:solidFill>
          </p:spPr>
        </p:sp>
        <p:sp>
          <p:nvSpPr>
            <p:cNvPr name="TextBox 5" id="5"/>
            <p:cNvSpPr txBox="true"/>
            <p:nvPr/>
          </p:nvSpPr>
          <p:spPr>
            <a:xfrm>
              <a:off x="0" y="-19050"/>
              <a:ext cx="2181775" cy="339720"/>
            </a:xfrm>
            <a:prstGeom prst="rect">
              <a:avLst/>
            </a:prstGeom>
          </p:spPr>
          <p:txBody>
            <a:bodyPr anchor="ctr" rtlCol="false" tIns="50800" lIns="50800" bIns="50800" rIns="50800"/>
            <a:lstStyle/>
            <a:p>
              <a:pPr algn="ctr">
                <a:lnSpc>
                  <a:spcPts val="2236"/>
                </a:lnSpc>
              </a:pPr>
            </a:p>
          </p:txBody>
        </p:sp>
      </p:grpSp>
      <p:sp>
        <p:nvSpPr>
          <p:cNvPr name="Freeform 6" id="6"/>
          <p:cNvSpPr/>
          <p:nvPr/>
        </p:nvSpPr>
        <p:spPr>
          <a:xfrm flipH="true" flipV="false" rot="-3084908">
            <a:off x="1608231" y="2632294"/>
            <a:ext cx="353154" cy="1103607"/>
          </a:xfrm>
          <a:custGeom>
            <a:avLst/>
            <a:gdLst/>
            <a:ahLst/>
            <a:cxnLst/>
            <a:rect r="r" b="b" t="t" l="l"/>
            <a:pathLst>
              <a:path h="1103607" w="353154">
                <a:moveTo>
                  <a:pt x="353154" y="0"/>
                </a:moveTo>
                <a:lnTo>
                  <a:pt x="0" y="0"/>
                </a:lnTo>
                <a:lnTo>
                  <a:pt x="0" y="1103607"/>
                </a:lnTo>
                <a:lnTo>
                  <a:pt x="353154" y="1103607"/>
                </a:lnTo>
                <a:lnTo>
                  <a:pt x="35315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334687" y="4574948"/>
            <a:ext cx="4125413"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Boundary Delineation</a:t>
            </a:r>
          </a:p>
        </p:txBody>
      </p:sp>
      <p:sp>
        <p:nvSpPr>
          <p:cNvPr name="TextBox 8" id="8"/>
          <p:cNvSpPr txBox="true"/>
          <p:nvPr/>
        </p:nvSpPr>
        <p:spPr>
          <a:xfrm rot="0">
            <a:off x="1334687" y="6878893"/>
            <a:ext cx="4305362"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Impact Categorization</a:t>
            </a:r>
          </a:p>
        </p:txBody>
      </p:sp>
      <p:sp>
        <p:nvSpPr>
          <p:cNvPr name="Freeform 9" id="9"/>
          <p:cNvSpPr/>
          <p:nvPr/>
        </p:nvSpPr>
        <p:spPr>
          <a:xfrm flipH="true" flipV="false" rot="-3084908">
            <a:off x="1608231" y="4898791"/>
            <a:ext cx="353154" cy="1103607"/>
          </a:xfrm>
          <a:custGeom>
            <a:avLst/>
            <a:gdLst/>
            <a:ahLst/>
            <a:cxnLst/>
            <a:rect r="r" b="b" t="t" l="l"/>
            <a:pathLst>
              <a:path h="1103607" w="353154">
                <a:moveTo>
                  <a:pt x="353154" y="0"/>
                </a:moveTo>
                <a:lnTo>
                  <a:pt x="0" y="0"/>
                </a:lnTo>
                <a:lnTo>
                  <a:pt x="0" y="1103607"/>
                </a:lnTo>
                <a:lnTo>
                  <a:pt x="353154" y="1103607"/>
                </a:lnTo>
                <a:lnTo>
                  <a:pt x="35315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3084908">
            <a:off x="1608231" y="7270259"/>
            <a:ext cx="353154" cy="1103607"/>
          </a:xfrm>
          <a:custGeom>
            <a:avLst/>
            <a:gdLst/>
            <a:ahLst/>
            <a:cxnLst/>
            <a:rect r="r" b="b" t="t" l="l"/>
            <a:pathLst>
              <a:path h="1103607" w="353154">
                <a:moveTo>
                  <a:pt x="353154" y="0"/>
                </a:moveTo>
                <a:lnTo>
                  <a:pt x="0" y="0"/>
                </a:lnTo>
                <a:lnTo>
                  <a:pt x="0" y="1103607"/>
                </a:lnTo>
                <a:lnTo>
                  <a:pt x="353154" y="1103607"/>
                </a:lnTo>
                <a:lnTo>
                  <a:pt x="35315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5592806" y="6278818"/>
            <a:ext cx="2695194" cy="4114800"/>
          </a:xfrm>
          <a:custGeom>
            <a:avLst/>
            <a:gdLst/>
            <a:ahLst/>
            <a:cxnLst/>
            <a:rect r="r" b="b" t="t" l="l"/>
            <a:pathLst>
              <a:path h="4114800" w="2695194">
                <a:moveTo>
                  <a:pt x="0" y="0"/>
                </a:moveTo>
                <a:lnTo>
                  <a:pt x="2695194" y="0"/>
                </a:lnTo>
                <a:lnTo>
                  <a:pt x="26951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28700" y="1140899"/>
            <a:ext cx="5609145" cy="528522"/>
          </a:xfrm>
          <a:prstGeom prst="rect">
            <a:avLst/>
          </a:prstGeom>
        </p:spPr>
        <p:txBody>
          <a:bodyPr anchor="t" rtlCol="false" tIns="0" lIns="0" bIns="0" rIns="0">
            <a:spAutoFit/>
          </a:bodyPr>
          <a:lstStyle/>
          <a:p>
            <a:pPr algn="ctr" marL="0" indent="0" lvl="0">
              <a:lnSpc>
                <a:spcPts val="3662"/>
              </a:lnSpc>
            </a:pPr>
            <a:r>
              <a:rPr lang="en-US" sz="3269" spc="264">
                <a:solidFill>
                  <a:srgbClr val="563721"/>
                </a:solidFill>
                <a:latin typeface="Akzidenz-Grotesk"/>
                <a:ea typeface="Akzidenz-Grotesk"/>
                <a:cs typeface="Akzidenz-Grotesk"/>
                <a:sym typeface="Akzidenz-Grotesk"/>
              </a:rPr>
              <a:t>SYSTEM SECURITY PLAN</a:t>
            </a:r>
          </a:p>
        </p:txBody>
      </p:sp>
      <p:sp>
        <p:nvSpPr>
          <p:cNvPr name="TextBox 13" id="13"/>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503E31"/>
                </a:solidFill>
                <a:latin typeface="Akzidenz-Grotesk"/>
                <a:ea typeface="Akzidenz-Grotesk"/>
                <a:cs typeface="Akzidenz-Grotesk"/>
                <a:sym typeface="Akzidenz-Grotesk"/>
              </a:rPr>
              <a:t>Catuera</a:t>
            </a:r>
          </a:p>
        </p:txBody>
      </p:sp>
      <p:sp>
        <p:nvSpPr>
          <p:cNvPr name="TextBox 14" id="14"/>
          <p:cNvSpPr txBox="true"/>
          <p:nvPr/>
        </p:nvSpPr>
        <p:spPr>
          <a:xfrm rot="0">
            <a:off x="8695149" y="1019178"/>
            <a:ext cx="8564151" cy="58864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SSP Fundamentals &amp; System Scoping</a:t>
            </a:r>
          </a:p>
        </p:txBody>
      </p:sp>
      <p:sp>
        <p:nvSpPr>
          <p:cNvPr name="TextBox 15" id="15"/>
          <p:cNvSpPr txBox="true"/>
          <p:nvPr/>
        </p:nvSpPr>
        <p:spPr>
          <a:xfrm rot="0">
            <a:off x="2445519" y="3004429"/>
            <a:ext cx="12550873"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An SSP acts as a master blueprint outlining how an organization secures its information systems and enforces continuous monitoring protocols.</a:t>
            </a:r>
          </a:p>
        </p:txBody>
      </p:sp>
      <p:sp>
        <p:nvSpPr>
          <p:cNvPr name="TextBox 16" id="16"/>
          <p:cNvSpPr txBox="true"/>
          <p:nvPr/>
        </p:nvSpPr>
        <p:spPr>
          <a:xfrm rot="0">
            <a:off x="1334687" y="2273886"/>
            <a:ext cx="5954893"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What is System Security Plan?</a:t>
            </a:r>
          </a:p>
        </p:txBody>
      </p:sp>
      <p:sp>
        <p:nvSpPr>
          <p:cNvPr name="TextBox 17" id="17"/>
          <p:cNvSpPr txBox="true"/>
          <p:nvPr/>
        </p:nvSpPr>
        <p:spPr>
          <a:xfrm rot="0">
            <a:off x="2445519" y="5308373"/>
            <a:ext cx="12550873"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Explicitly defines what hardware, software, data flows, and network connections reside within the operational scope of authorization.</a:t>
            </a:r>
          </a:p>
        </p:txBody>
      </p:sp>
      <p:sp>
        <p:nvSpPr>
          <p:cNvPr name="TextBox 18" id="18"/>
          <p:cNvSpPr txBox="true"/>
          <p:nvPr/>
        </p:nvSpPr>
        <p:spPr>
          <a:xfrm rot="0">
            <a:off x="2445519" y="7612318"/>
            <a:ext cx="12550873"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C</a:t>
            </a:r>
            <a:r>
              <a:rPr lang="en-US" sz="2668" spc="216">
                <a:solidFill>
                  <a:srgbClr val="FAF7F2"/>
                </a:solidFill>
                <a:latin typeface="Akzidenz-Grotesk"/>
                <a:ea typeface="Akzidenz-Grotesk"/>
                <a:cs typeface="Akzidenz-Grotesk"/>
                <a:sym typeface="Akzidenz-Grotesk"/>
              </a:rPr>
              <a:t>lassifies information types (e.g., CUI, FCI) based on FIPS 199 standards to align security categorization levels appropriately.</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AF7F2"/>
        </a:solidFill>
      </p:bgPr>
    </p:bg>
    <p:spTree>
      <p:nvGrpSpPr>
        <p:cNvPr id="1" name=""/>
        <p:cNvGrpSpPr/>
        <p:nvPr/>
      </p:nvGrpSpPr>
      <p:grpSpPr>
        <a:xfrm>
          <a:off x="0" y="0"/>
          <a:ext cx="0" cy="0"/>
          <a:chOff x="0" y="0"/>
          <a:chExt cx="0" cy="0"/>
        </a:xfrm>
      </p:grpSpPr>
      <p:grpSp>
        <p:nvGrpSpPr>
          <p:cNvPr name="Group 2" id="2"/>
          <p:cNvGrpSpPr/>
          <p:nvPr/>
        </p:nvGrpSpPr>
        <p:grpSpPr>
          <a:xfrm rot="0">
            <a:off x="589320" y="902437"/>
            <a:ext cx="6487905" cy="953572"/>
            <a:chOff x="0" y="0"/>
            <a:chExt cx="2181775" cy="320670"/>
          </a:xfrm>
        </p:grpSpPr>
        <p:sp>
          <p:nvSpPr>
            <p:cNvPr name="Freeform 3" id="3"/>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291E18"/>
            </a:solidFill>
          </p:spPr>
        </p:sp>
        <p:sp>
          <p:nvSpPr>
            <p:cNvPr name="TextBox 4" id="4"/>
            <p:cNvSpPr txBox="true"/>
            <p:nvPr/>
          </p:nvSpPr>
          <p:spPr>
            <a:xfrm>
              <a:off x="0" y="-57150"/>
              <a:ext cx="2181775" cy="377820"/>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10800000">
            <a:off x="-530856" y="8020689"/>
            <a:ext cx="19559653" cy="3733038"/>
          </a:xfrm>
          <a:custGeom>
            <a:avLst/>
            <a:gdLst/>
            <a:ahLst/>
            <a:cxnLst/>
            <a:rect r="r" b="b" t="t" l="l"/>
            <a:pathLst>
              <a:path h="3733038" w="19559653">
                <a:moveTo>
                  <a:pt x="0" y="0"/>
                </a:moveTo>
                <a:lnTo>
                  <a:pt x="19559653" y="0"/>
                </a:lnTo>
                <a:lnTo>
                  <a:pt x="19559653" y="3733038"/>
                </a:lnTo>
                <a:lnTo>
                  <a:pt x="0" y="3733038"/>
                </a:lnTo>
                <a:lnTo>
                  <a:pt x="0" y="0"/>
                </a:lnTo>
                <a:close/>
              </a:path>
            </a:pathLst>
          </a:custGeom>
          <a:blipFill>
            <a:blip r:embed="rId2"/>
            <a:stretch>
              <a:fillRect l="0" t="-10255" r="0" b="-10255"/>
            </a:stretch>
          </a:blipFill>
        </p:spPr>
      </p:sp>
      <p:sp>
        <p:nvSpPr>
          <p:cNvPr name="Freeform 6" id="6"/>
          <p:cNvSpPr/>
          <p:nvPr/>
        </p:nvSpPr>
        <p:spPr>
          <a:xfrm flipH="false" flipV="false" rot="2028225">
            <a:off x="7971725" y="-1320953"/>
            <a:ext cx="16230600" cy="3570732"/>
          </a:xfrm>
          <a:custGeom>
            <a:avLst/>
            <a:gdLst/>
            <a:ahLst/>
            <a:cxnLst/>
            <a:rect r="r" b="b" t="t" l="l"/>
            <a:pathLst>
              <a:path h="3570732" w="16230600">
                <a:moveTo>
                  <a:pt x="0" y="0"/>
                </a:moveTo>
                <a:lnTo>
                  <a:pt x="16230600" y="0"/>
                </a:lnTo>
                <a:lnTo>
                  <a:pt x="16230600" y="3570732"/>
                </a:lnTo>
                <a:lnTo>
                  <a:pt x="0" y="3570732"/>
                </a:lnTo>
                <a:lnTo>
                  <a:pt x="0" y="0"/>
                </a:lnTo>
                <a:close/>
              </a:path>
            </a:pathLst>
          </a:custGeom>
          <a:blipFill>
            <a:blip r:embed="rId3"/>
            <a:stretch>
              <a:fillRect l="0" t="0" r="0" b="0"/>
            </a:stretch>
          </a:blipFill>
        </p:spPr>
      </p:sp>
      <p:sp>
        <p:nvSpPr>
          <p:cNvPr name="TextBox 7" id="7"/>
          <p:cNvSpPr txBox="true"/>
          <p:nvPr/>
        </p:nvSpPr>
        <p:spPr>
          <a:xfrm rot="0">
            <a:off x="702833" y="1197474"/>
            <a:ext cx="6260880" cy="528355"/>
          </a:xfrm>
          <a:prstGeom prst="rect">
            <a:avLst/>
          </a:prstGeom>
        </p:spPr>
        <p:txBody>
          <a:bodyPr anchor="t" rtlCol="false" tIns="0" lIns="0" bIns="0" rIns="0">
            <a:spAutoFit/>
          </a:bodyPr>
          <a:lstStyle/>
          <a:p>
            <a:pPr algn="ctr" marL="0" indent="0" lvl="0">
              <a:lnSpc>
                <a:spcPts val="4087"/>
              </a:lnSpc>
            </a:pPr>
            <a:r>
              <a:rPr lang="en-US" sz="3649">
                <a:solidFill>
                  <a:srgbClr val="FAF7F2"/>
                </a:solidFill>
                <a:latin typeface="Benne"/>
                <a:ea typeface="Benne"/>
                <a:cs typeface="Benne"/>
                <a:sym typeface="Benne"/>
              </a:rPr>
              <a:t>System Security Plan</a:t>
            </a:r>
          </a:p>
        </p:txBody>
      </p:sp>
      <p:sp>
        <p:nvSpPr>
          <p:cNvPr name="TextBox 8" id="8"/>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291E18"/>
                </a:solidFill>
                <a:latin typeface="Akzidenz-Grotesk"/>
                <a:ea typeface="Akzidenz-Grotesk"/>
                <a:cs typeface="Akzidenz-Grotesk"/>
                <a:sym typeface="Akzidenz-Grotesk"/>
              </a:rPr>
              <a:t>Catuera</a:t>
            </a:r>
          </a:p>
        </p:txBody>
      </p:sp>
      <p:sp>
        <p:nvSpPr>
          <p:cNvPr name="TextBox 9" id="9"/>
          <p:cNvSpPr txBox="true"/>
          <p:nvPr/>
        </p:nvSpPr>
        <p:spPr>
          <a:xfrm rot="0">
            <a:off x="8182571" y="1064124"/>
            <a:ext cx="7187816" cy="562928"/>
          </a:xfrm>
          <a:prstGeom prst="rect">
            <a:avLst/>
          </a:prstGeom>
        </p:spPr>
        <p:txBody>
          <a:bodyPr anchor="t" rtlCol="false" tIns="0" lIns="0" bIns="0" rIns="0">
            <a:spAutoFit/>
          </a:bodyPr>
          <a:lstStyle/>
          <a:p>
            <a:pPr algn="ctr">
              <a:lnSpc>
                <a:spcPts val="4147"/>
              </a:lnSpc>
            </a:pPr>
            <a:r>
              <a:rPr lang="en-US" b="true" sz="2962" spc="239">
                <a:solidFill>
                  <a:srgbClr val="291E18"/>
                </a:solidFill>
                <a:latin typeface="Akzidenz-Grotesk Bold"/>
                <a:ea typeface="Akzidenz-Grotesk Bold"/>
                <a:cs typeface="Akzidenz-Grotesk Bold"/>
                <a:sym typeface="Akzidenz-Grotesk Bold"/>
              </a:rPr>
              <a:t>Security Control Implementation</a:t>
            </a:r>
          </a:p>
        </p:txBody>
      </p:sp>
      <p:sp>
        <p:nvSpPr>
          <p:cNvPr name="TextBox 10" id="10"/>
          <p:cNvSpPr txBox="true"/>
          <p:nvPr/>
        </p:nvSpPr>
        <p:spPr>
          <a:xfrm rot="0">
            <a:off x="1784808" y="2582777"/>
            <a:ext cx="13795519" cy="970445"/>
          </a:xfrm>
          <a:prstGeom prst="rect">
            <a:avLst/>
          </a:prstGeom>
        </p:spPr>
        <p:txBody>
          <a:bodyPr anchor="t" rtlCol="false" tIns="0" lIns="0" bIns="0" rIns="0">
            <a:spAutoFit/>
          </a:bodyPr>
          <a:lstStyle/>
          <a:p>
            <a:pPr algn="just">
              <a:lnSpc>
                <a:spcPts val="3735"/>
              </a:lnSpc>
            </a:pPr>
            <a:r>
              <a:rPr lang="en-US" b="true" sz="2668" spc="216">
                <a:solidFill>
                  <a:srgbClr val="291E18"/>
                </a:solidFill>
                <a:latin typeface="Akzidenz-Grotesk Bold"/>
                <a:ea typeface="Akzidenz-Grotesk Bold"/>
                <a:cs typeface="Akzidenz-Grotesk Bold"/>
                <a:sym typeface="Akzidenz-Grotesk Bold"/>
              </a:rPr>
              <a:t>Fr</a:t>
            </a:r>
            <a:r>
              <a:rPr lang="en-US" b="true" sz="2668" spc="216">
                <a:solidFill>
                  <a:srgbClr val="291E18"/>
                </a:solidFill>
                <a:latin typeface="Akzidenz-Grotesk Bold"/>
                <a:ea typeface="Akzidenz-Grotesk Bold"/>
                <a:cs typeface="Akzidenz-Grotesk Bold"/>
                <a:sym typeface="Akzidenz-Grotesk Bold"/>
              </a:rPr>
              <a:t>amework Mapping: </a:t>
            </a:r>
            <a:r>
              <a:rPr lang="en-US" sz="2668" spc="216">
                <a:solidFill>
                  <a:srgbClr val="291E18"/>
                </a:solidFill>
                <a:latin typeface="Akzidenz-Grotesk"/>
                <a:ea typeface="Akzidenz-Grotesk"/>
                <a:cs typeface="Akzidenz-Grotesk"/>
                <a:sym typeface="Akzidenz-Grotesk"/>
              </a:rPr>
              <a:t>Aligning security controls directly with recognized frameworks such as NIST SP 800-171 or NIST SP 800-53 requirements.</a:t>
            </a:r>
          </a:p>
        </p:txBody>
      </p:sp>
      <p:sp>
        <p:nvSpPr>
          <p:cNvPr name="TextBox 11" id="11"/>
          <p:cNvSpPr txBox="true"/>
          <p:nvPr/>
        </p:nvSpPr>
        <p:spPr>
          <a:xfrm rot="0">
            <a:off x="1784808" y="4410472"/>
            <a:ext cx="13795519" cy="970445"/>
          </a:xfrm>
          <a:prstGeom prst="rect">
            <a:avLst/>
          </a:prstGeom>
        </p:spPr>
        <p:txBody>
          <a:bodyPr anchor="t" rtlCol="false" tIns="0" lIns="0" bIns="0" rIns="0">
            <a:spAutoFit/>
          </a:bodyPr>
          <a:lstStyle/>
          <a:p>
            <a:pPr algn="just">
              <a:lnSpc>
                <a:spcPts val="3735"/>
              </a:lnSpc>
            </a:pPr>
            <a:r>
              <a:rPr lang="en-US" b="true" sz="2668" spc="216">
                <a:solidFill>
                  <a:srgbClr val="291E18"/>
                </a:solidFill>
                <a:latin typeface="Akzidenz-Grotesk Bold"/>
                <a:ea typeface="Akzidenz-Grotesk Bold"/>
                <a:cs typeface="Akzidenz-Grotesk Bold"/>
                <a:sym typeface="Akzidenz-Grotesk Bold"/>
              </a:rPr>
              <a:t>I</a:t>
            </a:r>
            <a:r>
              <a:rPr lang="en-US" b="true" sz="2668" spc="216">
                <a:solidFill>
                  <a:srgbClr val="291E18"/>
                </a:solidFill>
                <a:latin typeface="Akzidenz-Grotesk Bold"/>
                <a:ea typeface="Akzidenz-Grotesk Bold"/>
                <a:cs typeface="Akzidenz-Grotesk Bold"/>
                <a:sym typeface="Akzidenz-Grotesk Bold"/>
              </a:rPr>
              <a:t>mplementation Statements: </a:t>
            </a:r>
            <a:r>
              <a:rPr lang="en-US" sz="2668" spc="216">
                <a:solidFill>
                  <a:srgbClr val="291E18"/>
                </a:solidFill>
                <a:latin typeface="Akzidenz-Grotesk"/>
                <a:ea typeface="Akzidenz-Grotesk"/>
                <a:cs typeface="Akzidenz-Grotesk"/>
                <a:sym typeface="Akzidenz-Grotesk"/>
              </a:rPr>
              <a:t>Detailing the exact technologies, configurations, and administrative processes utilized to meet each control objective.</a:t>
            </a:r>
          </a:p>
        </p:txBody>
      </p:sp>
      <p:sp>
        <p:nvSpPr>
          <p:cNvPr name="TextBox 12" id="12"/>
          <p:cNvSpPr txBox="true"/>
          <p:nvPr/>
        </p:nvSpPr>
        <p:spPr>
          <a:xfrm rot="0">
            <a:off x="1784808" y="6238166"/>
            <a:ext cx="13795519" cy="970445"/>
          </a:xfrm>
          <a:prstGeom prst="rect">
            <a:avLst/>
          </a:prstGeom>
        </p:spPr>
        <p:txBody>
          <a:bodyPr anchor="t" rtlCol="false" tIns="0" lIns="0" bIns="0" rIns="0">
            <a:spAutoFit/>
          </a:bodyPr>
          <a:lstStyle/>
          <a:p>
            <a:pPr algn="just">
              <a:lnSpc>
                <a:spcPts val="3735"/>
              </a:lnSpc>
            </a:pPr>
            <a:r>
              <a:rPr lang="en-US" b="true" sz="2668" spc="216">
                <a:solidFill>
                  <a:srgbClr val="291E18"/>
                </a:solidFill>
                <a:latin typeface="Akzidenz-Grotesk Bold"/>
                <a:ea typeface="Akzidenz-Grotesk Bold"/>
                <a:cs typeface="Akzidenz-Grotesk Bold"/>
                <a:sym typeface="Akzidenz-Grotesk Bold"/>
              </a:rPr>
              <a:t>Roles &amp; Responsibilities: </a:t>
            </a:r>
            <a:r>
              <a:rPr lang="en-US" sz="2668" spc="216">
                <a:solidFill>
                  <a:srgbClr val="291E18"/>
                </a:solidFill>
                <a:latin typeface="Akzidenz-Grotesk"/>
                <a:ea typeface="Akzidenz-Grotesk"/>
                <a:cs typeface="Akzidenz-Grotesk"/>
                <a:sym typeface="Akzidenz-Grotesk"/>
              </a:rPr>
              <a:t>Assigning operational ownership to key personnel including System Owners, Information Owners, and Security Officers.</a:t>
            </a:r>
          </a:p>
        </p:txBody>
      </p:sp>
      <p:sp>
        <p:nvSpPr>
          <p:cNvPr name="TextBox 13" id="13"/>
          <p:cNvSpPr txBox="true"/>
          <p:nvPr/>
        </p:nvSpPr>
        <p:spPr>
          <a:xfrm rot="0">
            <a:off x="1784808" y="8065861"/>
            <a:ext cx="13795519" cy="970445"/>
          </a:xfrm>
          <a:prstGeom prst="rect">
            <a:avLst/>
          </a:prstGeom>
        </p:spPr>
        <p:txBody>
          <a:bodyPr anchor="t" rtlCol="false" tIns="0" lIns="0" bIns="0" rIns="0">
            <a:spAutoFit/>
          </a:bodyPr>
          <a:lstStyle/>
          <a:p>
            <a:pPr algn="just">
              <a:lnSpc>
                <a:spcPts val="3735"/>
              </a:lnSpc>
            </a:pPr>
            <a:r>
              <a:rPr lang="en-US" b="true" sz="2668" spc="216">
                <a:solidFill>
                  <a:srgbClr val="291E18"/>
                </a:solidFill>
                <a:latin typeface="Akzidenz-Grotesk Bold"/>
                <a:ea typeface="Akzidenz-Grotesk Bold"/>
                <a:cs typeface="Akzidenz-Grotesk Bold"/>
                <a:sym typeface="Akzidenz-Grotesk Bold"/>
              </a:rPr>
              <a:t>Evid</a:t>
            </a:r>
            <a:r>
              <a:rPr lang="en-US" b="true" sz="2668" spc="216">
                <a:solidFill>
                  <a:srgbClr val="291E18"/>
                </a:solidFill>
                <a:latin typeface="Akzidenz-Grotesk Bold"/>
                <a:ea typeface="Akzidenz-Grotesk Bold"/>
                <a:cs typeface="Akzidenz-Grotesk Bold"/>
                <a:sym typeface="Akzidenz-Grotesk Bold"/>
              </a:rPr>
              <a:t>ence Linking: </a:t>
            </a:r>
            <a:r>
              <a:rPr lang="en-US" sz="2668" spc="216">
                <a:solidFill>
                  <a:srgbClr val="291E18"/>
                </a:solidFill>
                <a:latin typeface="Akzidenz-Grotesk"/>
                <a:ea typeface="Akzidenz-Grotesk"/>
                <a:cs typeface="Akzidenz-Grotesk"/>
                <a:sym typeface="Akzidenz-Grotesk"/>
              </a:rPr>
              <a:t>Documenting the artifacts, technical logs, and existing policies that validate active control enforcement.</a:t>
            </a:r>
          </a:p>
        </p:txBody>
      </p:sp>
    </p:spTree>
  </p:cSld>
  <p:clrMapOvr>
    <a:masterClrMapping/>
  </p:clrMapOvr>
  <p:transition spd="fast">
    <p:fade/>
  </p:transition>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grpSp>
        <p:nvGrpSpPr>
          <p:cNvPr name="Group 2" id="2"/>
          <p:cNvGrpSpPr/>
          <p:nvPr/>
        </p:nvGrpSpPr>
        <p:grpSpPr>
          <a:xfrm rot="0">
            <a:off x="589320" y="902437"/>
            <a:ext cx="6487905" cy="953572"/>
            <a:chOff x="0" y="0"/>
            <a:chExt cx="2181775" cy="320670"/>
          </a:xfrm>
        </p:grpSpPr>
        <p:sp>
          <p:nvSpPr>
            <p:cNvPr name="Freeform 3" id="3"/>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FAF7F2"/>
            </a:solidFill>
          </p:spPr>
        </p:sp>
        <p:sp>
          <p:nvSpPr>
            <p:cNvPr name="TextBox 4" id="4"/>
            <p:cNvSpPr txBox="true"/>
            <p:nvPr/>
          </p:nvSpPr>
          <p:spPr>
            <a:xfrm>
              <a:off x="0" y="-57150"/>
              <a:ext cx="2181775" cy="377820"/>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0">
            <a:off x="14959562" y="-1141848"/>
            <a:ext cx="3973488" cy="3894019"/>
          </a:xfrm>
          <a:custGeom>
            <a:avLst/>
            <a:gdLst/>
            <a:ahLst/>
            <a:cxnLst/>
            <a:rect r="r" b="b" t="t" l="l"/>
            <a:pathLst>
              <a:path h="3894019" w="3973488">
                <a:moveTo>
                  <a:pt x="0" y="0"/>
                </a:moveTo>
                <a:lnTo>
                  <a:pt x="3973489" y="0"/>
                </a:lnTo>
                <a:lnTo>
                  <a:pt x="3973489" y="3894019"/>
                </a:lnTo>
                <a:lnTo>
                  <a:pt x="0" y="3894019"/>
                </a:lnTo>
                <a:lnTo>
                  <a:pt x="0" y="0"/>
                </a:lnTo>
                <a:close/>
              </a:path>
            </a:pathLst>
          </a:custGeom>
          <a:blipFill>
            <a:blip r:embed="rId2"/>
            <a:stretch>
              <a:fillRect l="0" t="0" r="0" b="0"/>
            </a:stretch>
          </a:blipFill>
        </p:spPr>
      </p:sp>
      <p:sp>
        <p:nvSpPr>
          <p:cNvPr name="Freeform 6" id="6"/>
          <p:cNvSpPr/>
          <p:nvPr/>
        </p:nvSpPr>
        <p:spPr>
          <a:xfrm flipH="false" flipV="false" rot="1593224">
            <a:off x="9273169" y="5461110"/>
            <a:ext cx="1406211" cy="414832"/>
          </a:xfrm>
          <a:custGeom>
            <a:avLst/>
            <a:gdLst/>
            <a:ahLst/>
            <a:cxnLst/>
            <a:rect r="r" b="b" t="t" l="l"/>
            <a:pathLst>
              <a:path h="414832" w="1406211">
                <a:moveTo>
                  <a:pt x="0" y="0"/>
                </a:moveTo>
                <a:lnTo>
                  <a:pt x="1406211" y="0"/>
                </a:lnTo>
                <a:lnTo>
                  <a:pt x="1406211" y="414832"/>
                </a:lnTo>
                <a:lnTo>
                  <a:pt x="0" y="414832"/>
                </a:lnTo>
                <a:lnTo>
                  <a:pt x="0" y="0"/>
                </a:lnTo>
                <a:close/>
              </a:path>
            </a:pathLst>
          </a:custGeom>
          <a:blipFill>
            <a:blip r:embed="rId3">
              <a:alphaModFix amt="55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90309" y="3255496"/>
            <a:ext cx="5254411" cy="4156056"/>
          </a:xfrm>
          <a:prstGeom prst="rect">
            <a:avLst/>
          </a:prstGeom>
        </p:spPr>
        <p:txBody>
          <a:bodyPr anchor="t" rtlCol="false" tIns="0" lIns="0" bIns="0" rIns="0">
            <a:spAutoFit/>
          </a:bodyPr>
          <a:lstStyle/>
          <a:p>
            <a:pPr algn="ctr">
              <a:lnSpc>
                <a:spcPts val="4026"/>
              </a:lnSpc>
            </a:pPr>
            <a:r>
              <a:rPr lang="en-US" sz="2875" spc="232">
                <a:solidFill>
                  <a:srgbClr val="FAF7F2"/>
                </a:solidFill>
                <a:latin typeface="Akzidenz-Grotesk Light"/>
                <a:ea typeface="Akzidenz-Grotesk Light"/>
                <a:cs typeface="Akzidenz-Grotesk Light"/>
                <a:sym typeface="Akzidenz-Grotesk Light"/>
              </a:rPr>
              <a:t>An SSP must </a:t>
            </a:r>
            <a:r>
              <a:rPr lang="en-US" sz="2875" spc="232">
                <a:solidFill>
                  <a:srgbClr val="FAF7F2"/>
                </a:solidFill>
                <a:latin typeface="Akzidenz-Grotesk Light"/>
                <a:ea typeface="Akzidenz-Grotesk Light"/>
                <a:cs typeface="Akzidenz-Grotesk Light"/>
                <a:sym typeface="Akzidenz-Grotesk Light"/>
              </a:rPr>
              <a:t>not remain static. It requires periodic reviews, adjustments following IT infrastructure changes, and continuous configuration updates to remain accurate against modern threat landscapes.</a:t>
            </a:r>
          </a:p>
        </p:txBody>
      </p:sp>
      <p:sp>
        <p:nvSpPr>
          <p:cNvPr name="Freeform 8" id="8"/>
          <p:cNvSpPr/>
          <p:nvPr/>
        </p:nvSpPr>
        <p:spPr>
          <a:xfrm flipH="false" flipV="false" rot="1593224">
            <a:off x="1196784" y="3256294"/>
            <a:ext cx="1406211" cy="414832"/>
          </a:xfrm>
          <a:custGeom>
            <a:avLst/>
            <a:gdLst/>
            <a:ahLst/>
            <a:cxnLst/>
            <a:rect r="r" b="b" t="t" l="l"/>
            <a:pathLst>
              <a:path h="414832" w="1406211">
                <a:moveTo>
                  <a:pt x="0" y="0"/>
                </a:moveTo>
                <a:lnTo>
                  <a:pt x="1406212" y="0"/>
                </a:lnTo>
                <a:lnTo>
                  <a:pt x="1406212" y="414832"/>
                </a:lnTo>
                <a:lnTo>
                  <a:pt x="0" y="414832"/>
                </a:lnTo>
                <a:lnTo>
                  <a:pt x="0" y="0"/>
                </a:lnTo>
                <a:close/>
              </a:path>
            </a:pathLst>
          </a:custGeom>
          <a:blipFill>
            <a:blip r:embed="rId3">
              <a:alphaModFix amt="55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5176">
            <a:off x="-471254" y="7423545"/>
            <a:ext cx="9564827" cy="3443338"/>
          </a:xfrm>
          <a:custGeom>
            <a:avLst/>
            <a:gdLst/>
            <a:ahLst/>
            <a:cxnLst/>
            <a:rect r="r" b="b" t="t" l="l"/>
            <a:pathLst>
              <a:path h="3443338" w="9564827">
                <a:moveTo>
                  <a:pt x="0" y="0"/>
                </a:moveTo>
                <a:lnTo>
                  <a:pt x="9564827" y="0"/>
                </a:lnTo>
                <a:lnTo>
                  <a:pt x="9564827" y="3443337"/>
                </a:lnTo>
                <a:lnTo>
                  <a:pt x="0" y="3443337"/>
                </a:lnTo>
                <a:lnTo>
                  <a:pt x="0" y="0"/>
                </a:lnTo>
                <a:close/>
              </a:path>
            </a:pathLst>
          </a:custGeom>
          <a:blipFill>
            <a:blip r:embed="rId5"/>
            <a:stretch>
              <a:fillRect l="0" t="0" r="0" b="0"/>
            </a:stretch>
          </a:blipFill>
        </p:spPr>
      </p:sp>
      <p:sp>
        <p:nvSpPr>
          <p:cNvPr name="TextBox 10" id="10"/>
          <p:cNvSpPr txBox="true"/>
          <p:nvPr/>
        </p:nvSpPr>
        <p:spPr>
          <a:xfrm rot="0">
            <a:off x="702833" y="1200455"/>
            <a:ext cx="6260880" cy="522394"/>
          </a:xfrm>
          <a:prstGeom prst="rect">
            <a:avLst/>
          </a:prstGeom>
        </p:spPr>
        <p:txBody>
          <a:bodyPr anchor="t" rtlCol="false" tIns="0" lIns="0" bIns="0" rIns="0">
            <a:spAutoFit/>
          </a:bodyPr>
          <a:lstStyle/>
          <a:p>
            <a:pPr algn="ctr" marL="0" indent="0" lvl="0">
              <a:lnSpc>
                <a:spcPts val="4036"/>
              </a:lnSpc>
            </a:pPr>
            <a:r>
              <a:rPr lang="en-US" sz="3604">
                <a:solidFill>
                  <a:srgbClr val="291E18"/>
                </a:solidFill>
                <a:latin typeface="Benne"/>
                <a:ea typeface="Benne"/>
                <a:cs typeface="Benne"/>
                <a:sym typeface="Benne"/>
              </a:rPr>
              <a:t>System Security Plan</a:t>
            </a:r>
          </a:p>
        </p:txBody>
      </p:sp>
      <p:sp>
        <p:nvSpPr>
          <p:cNvPr name="TextBox 11" id="11"/>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FAF7F2"/>
                </a:solidFill>
                <a:latin typeface="Akzidenz-Grotesk"/>
                <a:ea typeface="Akzidenz-Grotesk"/>
                <a:cs typeface="Akzidenz-Grotesk"/>
                <a:sym typeface="Akzidenz-Grotesk"/>
              </a:rPr>
              <a:t>Catuera</a:t>
            </a:r>
          </a:p>
        </p:txBody>
      </p:sp>
      <p:sp>
        <p:nvSpPr>
          <p:cNvPr name="TextBox 12" id="12"/>
          <p:cNvSpPr txBox="true"/>
          <p:nvPr/>
        </p:nvSpPr>
        <p:spPr>
          <a:xfrm rot="0">
            <a:off x="8139286" y="1095680"/>
            <a:ext cx="7570003" cy="651755"/>
          </a:xfrm>
          <a:prstGeom prst="rect">
            <a:avLst/>
          </a:prstGeom>
        </p:spPr>
        <p:txBody>
          <a:bodyPr anchor="t" rtlCol="false" tIns="0" lIns="0" bIns="0" rIns="0">
            <a:spAutoFit/>
          </a:bodyPr>
          <a:lstStyle/>
          <a:p>
            <a:pPr algn="ctr">
              <a:lnSpc>
                <a:spcPts val="5232"/>
              </a:lnSpc>
            </a:pPr>
            <a:r>
              <a:rPr lang="en-US" sz="3737">
                <a:solidFill>
                  <a:srgbClr val="FAF7F2"/>
                </a:solidFill>
                <a:latin typeface="Benne"/>
                <a:ea typeface="Benne"/>
                <a:cs typeface="Benne"/>
                <a:sym typeface="Benne"/>
              </a:rPr>
              <a:t>SSP Maintenance &amp; POA&amp;M Tracking</a:t>
            </a:r>
          </a:p>
        </p:txBody>
      </p:sp>
      <p:sp>
        <p:nvSpPr>
          <p:cNvPr name="TextBox 13" id="13"/>
          <p:cNvSpPr txBox="true"/>
          <p:nvPr/>
        </p:nvSpPr>
        <p:spPr>
          <a:xfrm rot="0">
            <a:off x="10403664" y="5554226"/>
            <a:ext cx="5640982" cy="4080215"/>
          </a:xfrm>
          <a:prstGeom prst="rect">
            <a:avLst/>
          </a:prstGeom>
        </p:spPr>
        <p:txBody>
          <a:bodyPr anchor="t" rtlCol="false" tIns="0" lIns="0" bIns="0" rIns="0">
            <a:spAutoFit/>
          </a:bodyPr>
          <a:lstStyle/>
          <a:p>
            <a:pPr algn="ctr">
              <a:lnSpc>
                <a:spcPts val="4006"/>
              </a:lnSpc>
            </a:pPr>
            <a:r>
              <a:rPr lang="en-US" sz="2861" spc="231">
                <a:solidFill>
                  <a:srgbClr val="FAF7F2"/>
                </a:solidFill>
                <a:latin typeface="Akzidenz-Grotesk Light"/>
                <a:ea typeface="Akzidenz-Grotesk Light"/>
                <a:cs typeface="Akzidenz-Grotesk Light"/>
                <a:sym typeface="Akzidenz-Grotesk Light"/>
              </a:rPr>
              <a:t>When c</a:t>
            </a:r>
            <a:r>
              <a:rPr lang="en-US" sz="2861" spc="231">
                <a:solidFill>
                  <a:srgbClr val="FAF7F2"/>
                </a:solidFill>
                <a:latin typeface="Akzidenz-Grotesk Light"/>
                <a:ea typeface="Akzidenz-Grotesk Light"/>
                <a:cs typeface="Akzidenz-Grotesk Light"/>
                <a:sym typeface="Akzidenz-Grotesk Light"/>
              </a:rPr>
              <a:t>ompliance gaps or unfulfilled controls are discovered, they are captured via a POA&amp;M roadmap detailing specific remediation actions, target completion milestones, and responsible parties.</a:t>
            </a:r>
          </a:p>
        </p:txBody>
      </p:sp>
      <p:sp>
        <p:nvSpPr>
          <p:cNvPr name="TextBox 14" id="14"/>
          <p:cNvSpPr txBox="true"/>
          <p:nvPr/>
        </p:nvSpPr>
        <p:spPr>
          <a:xfrm rot="0">
            <a:off x="1163239" y="2359822"/>
            <a:ext cx="5340068" cy="533400"/>
          </a:xfrm>
          <a:prstGeom prst="rect">
            <a:avLst/>
          </a:prstGeom>
        </p:spPr>
        <p:txBody>
          <a:bodyPr anchor="t" rtlCol="false" tIns="0" lIns="0" bIns="0" rIns="0">
            <a:spAutoFit/>
          </a:bodyPr>
          <a:lstStyle/>
          <a:p>
            <a:pPr algn="ctr" marL="0" indent="0" lvl="0">
              <a:lnSpc>
                <a:spcPts val="4200"/>
              </a:lnSpc>
            </a:pPr>
            <a:r>
              <a:rPr lang="en-US" b="true" sz="3000" spc="242">
                <a:solidFill>
                  <a:srgbClr val="FAF7F2"/>
                </a:solidFill>
                <a:latin typeface="The Seasons Bold"/>
                <a:ea typeface="The Seasons Bold"/>
                <a:cs typeface="The Seasons Bold"/>
                <a:sym typeface="The Seasons Bold"/>
              </a:rPr>
              <a:t>Living Document Lifecycle</a:t>
            </a:r>
          </a:p>
        </p:txBody>
      </p:sp>
      <p:sp>
        <p:nvSpPr>
          <p:cNvPr name="TextBox 15" id="15"/>
          <p:cNvSpPr txBox="true"/>
          <p:nvPr/>
        </p:nvSpPr>
        <p:spPr>
          <a:xfrm rot="0">
            <a:off x="9144000" y="4625272"/>
            <a:ext cx="5609991" cy="533400"/>
          </a:xfrm>
          <a:prstGeom prst="rect">
            <a:avLst/>
          </a:prstGeom>
        </p:spPr>
        <p:txBody>
          <a:bodyPr anchor="t" rtlCol="false" tIns="0" lIns="0" bIns="0" rIns="0">
            <a:spAutoFit/>
          </a:bodyPr>
          <a:lstStyle/>
          <a:p>
            <a:pPr algn="ctr" marL="0" indent="0" lvl="0">
              <a:lnSpc>
                <a:spcPts val="4200"/>
              </a:lnSpc>
            </a:pPr>
            <a:r>
              <a:rPr lang="en-US" b="true" sz="3000" spc="242">
                <a:solidFill>
                  <a:srgbClr val="FAF7F2"/>
                </a:solidFill>
                <a:latin typeface="The Seasons Bold"/>
                <a:ea typeface="The Seasons Bold"/>
                <a:cs typeface="The Seasons Bold"/>
                <a:sym typeface="The Seasons Bold"/>
              </a:rPr>
              <a:t>Plan of Action &amp; Milestones</a:t>
            </a:r>
          </a:p>
        </p:txBody>
      </p:sp>
    </p:spTree>
  </p:cSld>
  <p:clrMapOvr>
    <a:masterClrMapping/>
  </p:clrMapOvr>
  <p:transition spd="fast">
    <p:fade/>
  </p:transition>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AF7F2"/>
        </a:solidFill>
      </p:bgPr>
    </p:bg>
    <p:spTree>
      <p:nvGrpSpPr>
        <p:cNvPr id="1" name=""/>
        <p:cNvGrpSpPr/>
        <p:nvPr/>
      </p:nvGrpSpPr>
      <p:grpSpPr>
        <a:xfrm>
          <a:off x="0" y="0"/>
          <a:ext cx="0" cy="0"/>
          <a:chOff x="0" y="0"/>
          <a:chExt cx="0" cy="0"/>
        </a:xfrm>
      </p:grpSpPr>
      <p:sp>
        <p:nvSpPr>
          <p:cNvPr name="Freeform 2" id="2"/>
          <p:cNvSpPr/>
          <p:nvPr/>
        </p:nvSpPr>
        <p:spPr>
          <a:xfrm flipH="false" flipV="false" rot="6321525">
            <a:off x="-383890" y="-4063648"/>
            <a:ext cx="19480643" cy="19091031"/>
          </a:xfrm>
          <a:custGeom>
            <a:avLst/>
            <a:gdLst/>
            <a:ahLst/>
            <a:cxnLst/>
            <a:rect r="r" b="b" t="t" l="l"/>
            <a:pathLst>
              <a:path h="19091031" w="19480643">
                <a:moveTo>
                  <a:pt x="0" y="0"/>
                </a:moveTo>
                <a:lnTo>
                  <a:pt x="19480644" y="0"/>
                </a:lnTo>
                <a:lnTo>
                  <a:pt x="19480644" y="19091031"/>
                </a:lnTo>
                <a:lnTo>
                  <a:pt x="0" y="19091031"/>
                </a:lnTo>
                <a:lnTo>
                  <a:pt x="0" y="0"/>
                </a:lnTo>
                <a:close/>
              </a:path>
            </a:pathLst>
          </a:custGeom>
          <a:blipFill>
            <a:blip r:embed="rId2"/>
            <a:stretch>
              <a:fillRect l="0" t="0" r="0" b="0"/>
            </a:stretch>
          </a:blipFill>
        </p:spPr>
      </p:sp>
      <p:grpSp>
        <p:nvGrpSpPr>
          <p:cNvPr name="Group 3" id="3"/>
          <p:cNvGrpSpPr/>
          <p:nvPr/>
        </p:nvGrpSpPr>
        <p:grpSpPr>
          <a:xfrm rot="0">
            <a:off x="589320" y="902437"/>
            <a:ext cx="6487905" cy="953572"/>
            <a:chOff x="0" y="0"/>
            <a:chExt cx="2181775" cy="320670"/>
          </a:xfrm>
        </p:grpSpPr>
        <p:sp>
          <p:nvSpPr>
            <p:cNvPr name="Freeform 4" id="4"/>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291E18"/>
            </a:solidFill>
          </p:spPr>
        </p:sp>
        <p:sp>
          <p:nvSpPr>
            <p:cNvPr name="TextBox 5" id="5"/>
            <p:cNvSpPr txBox="true"/>
            <p:nvPr/>
          </p:nvSpPr>
          <p:spPr>
            <a:xfrm>
              <a:off x="0" y="-57150"/>
              <a:ext cx="2181775" cy="377820"/>
            </a:xfrm>
            <a:prstGeom prst="rect">
              <a:avLst/>
            </a:prstGeom>
          </p:spPr>
          <p:txBody>
            <a:bodyPr anchor="ctr" rtlCol="false" tIns="50800" lIns="50800" bIns="50800" rIns="50800"/>
            <a:lstStyle/>
            <a:p>
              <a:pPr algn="ctr">
                <a:lnSpc>
                  <a:spcPts val="2236"/>
                </a:lnSpc>
              </a:pPr>
            </a:p>
          </p:txBody>
        </p:sp>
      </p:grpSp>
      <p:grpSp>
        <p:nvGrpSpPr>
          <p:cNvPr name="Group 6" id="6"/>
          <p:cNvGrpSpPr/>
          <p:nvPr/>
        </p:nvGrpSpPr>
        <p:grpSpPr>
          <a:xfrm rot="0">
            <a:off x="283897" y="3867645"/>
            <a:ext cx="5513496" cy="3228446"/>
            <a:chOff x="0" y="0"/>
            <a:chExt cx="1954848" cy="1144668"/>
          </a:xfrm>
        </p:grpSpPr>
        <p:sp>
          <p:nvSpPr>
            <p:cNvPr name="Freeform 7" id="7"/>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291E18"/>
            </a:solidFill>
          </p:spPr>
        </p:sp>
        <p:sp>
          <p:nvSpPr>
            <p:cNvPr name="TextBox 8" id="8"/>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grpSp>
        <p:nvGrpSpPr>
          <p:cNvPr name="Group 9" id="9"/>
          <p:cNvGrpSpPr/>
          <p:nvPr/>
        </p:nvGrpSpPr>
        <p:grpSpPr>
          <a:xfrm rot="0">
            <a:off x="6329761" y="3867645"/>
            <a:ext cx="5513496" cy="3228446"/>
            <a:chOff x="0" y="0"/>
            <a:chExt cx="1954848" cy="1144668"/>
          </a:xfrm>
        </p:grpSpPr>
        <p:sp>
          <p:nvSpPr>
            <p:cNvPr name="Freeform 10" id="10"/>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291E18"/>
            </a:solidFill>
          </p:spPr>
        </p:sp>
        <p:sp>
          <p:nvSpPr>
            <p:cNvPr name="TextBox 11" id="11"/>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grpSp>
        <p:nvGrpSpPr>
          <p:cNvPr name="Group 12" id="12"/>
          <p:cNvGrpSpPr/>
          <p:nvPr/>
        </p:nvGrpSpPr>
        <p:grpSpPr>
          <a:xfrm rot="0">
            <a:off x="12375624" y="3867645"/>
            <a:ext cx="5513496" cy="3228446"/>
            <a:chOff x="0" y="0"/>
            <a:chExt cx="1954848" cy="1144668"/>
          </a:xfrm>
        </p:grpSpPr>
        <p:sp>
          <p:nvSpPr>
            <p:cNvPr name="Freeform 13" id="13"/>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291E18"/>
            </a:solidFill>
          </p:spPr>
        </p:sp>
        <p:sp>
          <p:nvSpPr>
            <p:cNvPr name="TextBox 14" id="14"/>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Freeform 15" id="15"/>
          <p:cNvSpPr/>
          <p:nvPr/>
        </p:nvSpPr>
        <p:spPr>
          <a:xfrm flipH="false" flipV="false" rot="0">
            <a:off x="614735" y="4624201"/>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702833" y="1200455"/>
            <a:ext cx="6260880" cy="522394"/>
          </a:xfrm>
          <a:prstGeom prst="rect">
            <a:avLst/>
          </a:prstGeom>
        </p:spPr>
        <p:txBody>
          <a:bodyPr anchor="t" rtlCol="false" tIns="0" lIns="0" bIns="0" rIns="0">
            <a:spAutoFit/>
          </a:bodyPr>
          <a:lstStyle/>
          <a:p>
            <a:pPr algn="ctr" marL="0" indent="0" lvl="0">
              <a:lnSpc>
                <a:spcPts val="4036"/>
              </a:lnSpc>
            </a:pPr>
            <a:r>
              <a:rPr lang="en-US" sz="3604">
                <a:solidFill>
                  <a:srgbClr val="FAF7F2"/>
                </a:solidFill>
                <a:latin typeface="Benne"/>
                <a:ea typeface="Benne"/>
                <a:cs typeface="Benne"/>
                <a:sym typeface="Benne"/>
              </a:rPr>
              <a:t>System Security Plan</a:t>
            </a:r>
          </a:p>
        </p:txBody>
      </p:sp>
      <p:sp>
        <p:nvSpPr>
          <p:cNvPr name="TextBox 17" id="17"/>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FAF7F2"/>
                </a:solidFill>
                <a:latin typeface="Akzidenz-Grotesk"/>
                <a:ea typeface="Akzidenz-Grotesk"/>
                <a:cs typeface="Akzidenz-Grotesk"/>
                <a:sym typeface="Akzidenz-Grotesk"/>
              </a:rPr>
              <a:t>Catuera</a:t>
            </a:r>
          </a:p>
        </p:txBody>
      </p:sp>
      <p:sp>
        <p:nvSpPr>
          <p:cNvPr name="TextBox 18" id="18"/>
          <p:cNvSpPr txBox="true"/>
          <p:nvPr/>
        </p:nvSpPr>
        <p:spPr>
          <a:xfrm rot="0">
            <a:off x="8259252" y="1012355"/>
            <a:ext cx="7570003" cy="648011"/>
          </a:xfrm>
          <a:prstGeom prst="rect">
            <a:avLst/>
          </a:prstGeom>
        </p:spPr>
        <p:txBody>
          <a:bodyPr anchor="t" rtlCol="false" tIns="0" lIns="0" bIns="0" rIns="0">
            <a:spAutoFit/>
          </a:bodyPr>
          <a:lstStyle/>
          <a:p>
            <a:pPr algn="ctr">
              <a:lnSpc>
                <a:spcPts val="5232"/>
              </a:lnSpc>
            </a:pPr>
            <a:r>
              <a:rPr lang="en-US" sz="3737">
                <a:solidFill>
                  <a:srgbClr val="291E18"/>
                </a:solidFill>
                <a:latin typeface="Benne"/>
                <a:ea typeface="Benne"/>
                <a:cs typeface="Benne"/>
                <a:sym typeface="Benne"/>
              </a:rPr>
              <a:t>Access</a:t>
            </a:r>
            <a:r>
              <a:rPr lang="en-US" sz="3737">
                <a:solidFill>
                  <a:srgbClr val="291E18"/>
                </a:solidFill>
                <a:latin typeface="Benne"/>
                <a:ea typeface="Benne"/>
                <a:cs typeface="Benne"/>
                <a:sym typeface="Benne"/>
              </a:rPr>
              <a:t> Control &amp; Network Boundaries</a:t>
            </a:r>
          </a:p>
        </p:txBody>
      </p:sp>
      <p:sp>
        <p:nvSpPr>
          <p:cNvPr name="TextBox 19" id="19"/>
          <p:cNvSpPr txBox="true"/>
          <p:nvPr/>
        </p:nvSpPr>
        <p:spPr>
          <a:xfrm rot="0">
            <a:off x="771620" y="4042758"/>
            <a:ext cx="4538052" cy="500311"/>
          </a:xfrm>
          <a:prstGeom prst="rect">
            <a:avLst/>
          </a:prstGeom>
        </p:spPr>
        <p:txBody>
          <a:bodyPr anchor="t" rtlCol="false" tIns="0" lIns="0" bIns="0" rIns="0">
            <a:spAutoFit/>
          </a:bodyPr>
          <a:lstStyle/>
          <a:p>
            <a:pPr algn="ctr" marL="0" indent="0" lvl="0">
              <a:lnSpc>
                <a:spcPts val="3983"/>
              </a:lnSpc>
            </a:pPr>
            <a:r>
              <a:rPr lang="en-US" sz="2845">
                <a:solidFill>
                  <a:srgbClr val="FAF7F2"/>
                </a:solidFill>
                <a:latin typeface="Benne"/>
                <a:ea typeface="Benne"/>
                <a:cs typeface="Benne"/>
                <a:sym typeface="Benne"/>
              </a:rPr>
              <a:t>Logical Access</a:t>
            </a:r>
          </a:p>
        </p:txBody>
      </p:sp>
      <p:sp>
        <p:nvSpPr>
          <p:cNvPr name="TextBox 20" id="20"/>
          <p:cNvSpPr txBox="true"/>
          <p:nvPr/>
        </p:nvSpPr>
        <p:spPr>
          <a:xfrm rot="0">
            <a:off x="614735" y="4930073"/>
            <a:ext cx="4851821" cy="1896095"/>
          </a:xfrm>
          <a:prstGeom prst="rect">
            <a:avLst/>
          </a:prstGeom>
        </p:spPr>
        <p:txBody>
          <a:bodyPr anchor="t" rtlCol="false" tIns="0" lIns="0" bIns="0" rIns="0">
            <a:spAutoFit/>
          </a:bodyPr>
          <a:lstStyle/>
          <a:p>
            <a:pPr algn="ctr" marL="0" indent="0" lvl="0">
              <a:lnSpc>
                <a:spcPts val="3734"/>
              </a:lnSpc>
            </a:pPr>
            <a:r>
              <a:rPr lang="en-US" sz="2667">
                <a:solidFill>
                  <a:srgbClr val="FAF7F2"/>
                </a:solidFill>
                <a:latin typeface="Benne"/>
                <a:ea typeface="Benne"/>
                <a:cs typeface="Benne"/>
                <a:sym typeface="Benne"/>
              </a:rPr>
              <a:t>Enf</a:t>
            </a:r>
            <a:r>
              <a:rPr lang="en-US" sz="2667">
                <a:solidFill>
                  <a:srgbClr val="FAF7F2"/>
                </a:solidFill>
                <a:latin typeface="Benne"/>
                <a:ea typeface="Benne"/>
                <a:cs typeface="Benne"/>
                <a:sym typeface="Benne"/>
              </a:rPr>
              <a:t>orcing least privilege principles, robust password parameters, and multi-factor authentication across all user tiers.</a:t>
            </a:r>
          </a:p>
        </p:txBody>
      </p:sp>
      <p:sp>
        <p:nvSpPr>
          <p:cNvPr name="TextBox 21" id="21"/>
          <p:cNvSpPr txBox="true"/>
          <p:nvPr/>
        </p:nvSpPr>
        <p:spPr>
          <a:xfrm rot="0">
            <a:off x="6817483" y="4042758"/>
            <a:ext cx="4538052" cy="500311"/>
          </a:xfrm>
          <a:prstGeom prst="rect">
            <a:avLst/>
          </a:prstGeom>
        </p:spPr>
        <p:txBody>
          <a:bodyPr anchor="t" rtlCol="false" tIns="0" lIns="0" bIns="0" rIns="0">
            <a:spAutoFit/>
          </a:bodyPr>
          <a:lstStyle/>
          <a:p>
            <a:pPr algn="ctr" marL="0" indent="0" lvl="0">
              <a:lnSpc>
                <a:spcPts val="3983"/>
              </a:lnSpc>
            </a:pPr>
            <a:r>
              <a:rPr lang="en-US" sz="2845">
                <a:solidFill>
                  <a:srgbClr val="FAF7F2"/>
                </a:solidFill>
                <a:latin typeface="Benne"/>
                <a:ea typeface="Benne"/>
                <a:cs typeface="Benne"/>
                <a:sym typeface="Benne"/>
              </a:rPr>
              <a:t>Per</a:t>
            </a:r>
            <a:r>
              <a:rPr lang="en-US" sz="2845">
                <a:solidFill>
                  <a:srgbClr val="FAF7F2"/>
                </a:solidFill>
                <a:latin typeface="Benne"/>
                <a:ea typeface="Benne"/>
                <a:cs typeface="Benne"/>
                <a:sym typeface="Benne"/>
              </a:rPr>
              <a:t>imeter Defense</a:t>
            </a:r>
          </a:p>
        </p:txBody>
      </p:sp>
      <p:sp>
        <p:nvSpPr>
          <p:cNvPr name="TextBox 22" id="22"/>
          <p:cNvSpPr txBox="true"/>
          <p:nvPr/>
        </p:nvSpPr>
        <p:spPr>
          <a:xfrm rot="0">
            <a:off x="6660599" y="4930073"/>
            <a:ext cx="4851821" cy="1896095"/>
          </a:xfrm>
          <a:prstGeom prst="rect">
            <a:avLst/>
          </a:prstGeom>
        </p:spPr>
        <p:txBody>
          <a:bodyPr anchor="t" rtlCol="false" tIns="0" lIns="0" bIns="0" rIns="0">
            <a:spAutoFit/>
          </a:bodyPr>
          <a:lstStyle/>
          <a:p>
            <a:pPr algn="ctr" marL="0" indent="0" lvl="0">
              <a:lnSpc>
                <a:spcPts val="3734"/>
              </a:lnSpc>
            </a:pPr>
            <a:r>
              <a:rPr lang="en-US" sz="2667">
                <a:solidFill>
                  <a:srgbClr val="FAF7F2"/>
                </a:solidFill>
                <a:latin typeface="Benne"/>
                <a:ea typeface="Benne"/>
                <a:cs typeface="Benne"/>
                <a:sym typeface="Benne"/>
              </a:rPr>
              <a:t>Co</a:t>
            </a:r>
            <a:r>
              <a:rPr lang="en-US" sz="2667">
                <a:solidFill>
                  <a:srgbClr val="FAF7F2"/>
                </a:solidFill>
                <a:latin typeface="Benne"/>
                <a:ea typeface="Benne"/>
                <a:cs typeface="Benne"/>
                <a:sym typeface="Benne"/>
              </a:rPr>
              <a:t>nfigu</a:t>
            </a:r>
            <a:r>
              <a:rPr lang="en-US" sz="2667">
                <a:solidFill>
                  <a:srgbClr val="FAF7F2"/>
                </a:solidFill>
                <a:latin typeface="Benne"/>
                <a:ea typeface="Benne"/>
                <a:cs typeface="Benne"/>
                <a:sym typeface="Benne"/>
              </a:rPr>
              <a:t>ring internal segments, firewalls, and gateways to restrict lateral movement and insulate core assets.</a:t>
            </a:r>
          </a:p>
        </p:txBody>
      </p:sp>
      <p:sp>
        <p:nvSpPr>
          <p:cNvPr name="TextBox 23" id="23"/>
          <p:cNvSpPr txBox="true"/>
          <p:nvPr/>
        </p:nvSpPr>
        <p:spPr>
          <a:xfrm rot="0">
            <a:off x="12863347" y="4042758"/>
            <a:ext cx="4538052" cy="500311"/>
          </a:xfrm>
          <a:prstGeom prst="rect">
            <a:avLst/>
          </a:prstGeom>
        </p:spPr>
        <p:txBody>
          <a:bodyPr anchor="t" rtlCol="false" tIns="0" lIns="0" bIns="0" rIns="0">
            <a:spAutoFit/>
          </a:bodyPr>
          <a:lstStyle/>
          <a:p>
            <a:pPr algn="ctr" marL="0" indent="0" lvl="0">
              <a:lnSpc>
                <a:spcPts val="3983"/>
              </a:lnSpc>
            </a:pPr>
            <a:r>
              <a:rPr lang="en-US" sz="2845">
                <a:solidFill>
                  <a:srgbClr val="FAF7F2"/>
                </a:solidFill>
                <a:latin typeface="Benne"/>
                <a:ea typeface="Benne"/>
                <a:cs typeface="Benne"/>
                <a:sym typeface="Benne"/>
              </a:rPr>
              <a:t>Account Management</a:t>
            </a:r>
          </a:p>
        </p:txBody>
      </p:sp>
      <p:sp>
        <p:nvSpPr>
          <p:cNvPr name="TextBox 24" id="24"/>
          <p:cNvSpPr txBox="true"/>
          <p:nvPr/>
        </p:nvSpPr>
        <p:spPr>
          <a:xfrm rot="0">
            <a:off x="12706462" y="4930073"/>
            <a:ext cx="4851821" cy="1896095"/>
          </a:xfrm>
          <a:prstGeom prst="rect">
            <a:avLst/>
          </a:prstGeom>
        </p:spPr>
        <p:txBody>
          <a:bodyPr anchor="t" rtlCol="false" tIns="0" lIns="0" bIns="0" rIns="0">
            <a:spAutoFit/>
          </a:bodyPr>
          <a:lstStyle/>
          <a:p>
            <a:pPr algn="ctr" marL="0" indent="0" lvl="0">
              <a:lnSpc>
                <a:spcPts val="3734"/>
              </a:lnSpc>
            </a:pPr>
            <a:r>
              <a:rPr lang="en-US" sz="2667">
                <a:solidFill>
                  <a:srgbClr val="FAF7F2"/>
                </a:solidFill>
                <a:latin typeface="Benne"/>
                <a:ea typeface="Benne"/>
                <a:cs typeface="Benne"/>
                <a:sym typeface="Benne"/>
              </a:rPr>
              <a:t>Ma</a:t>
            </a:r>
            <a:r>
              <a:rPr lang="en-US" sz="2667">
                <a:solidFill>
                  <a:srgbClr val="FAF7F2"/>
                </a:solidFill>
                <a:latin typeface="Benne"/>
                <a:ea typeface="Benne"/>
                <a:cs typeface="Benne"/>
                <a:sym typeface="Benne"/>
              </a:rPr>
              <a:t>nag</a:t>
            </a:r>
            <a:r>
              <a:rPr lang="en-US" sz="2667">
                <a:solidFill>
                  <a:srgbClr val="FAF7F2"/>
                </a:solidFill>
                <a:latin typeface="Benne"/>
                <a:ea typeface="Benne"/>
                <a:cs typeface="Benne"/>
                <a:sym typeface="Benne"/>
              </a:rPr>
              <a:t>ing the full lifecycle of provisioning, auditing permissions, and immediate revocation for terminated users.</a:t>
            </a:r>
          </a:p>
        </p:txBody>
      </p:sp>
      <p:sp>
        <p:nvSpPr>
          <p:cNvPr name="Freeform 25" id="25"/>
          <p:cNvSpPr/>
          <p:nvPr/>
        </p:nvSpPr>
        <p:spPr>
          <a:xfrm flipH="false" flipV="false" rot="0">
            <a:off x="6686013" y="4624201"/>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12757292" y="4624201"/>
            <a:ext cx="4798601" cy="119965"/>
          </a:xfrm>
          <a:custGeom>
            <a:avLst/>
            <a:gdLst/>
            <a:ahLst/>
            <a:cxnLst/>
            <a:rect r="r" b="b" t="t" l="l"/>
            <a:pathLst>
              <a:path h="119965" w="4798601">
                <a:moveTo>
                  <a:pt x="0" y="0"/>
                </a:moveTo>
                <a:lnTo>
                  <a:pt x="4798600" y="0"/>
                </a:lnTo>
                <a:lnTo>
                  <a:pt x="4798600"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sp>
        <p:nvSpPr>
          <p:cNvPr name="Freeform 2" id="2"/>
          <p:cNvSpPr/>
          <p:nvPr/>
        </p:nvSpPr>
        <p:spPr>
          <a:xfrm flipH="false" flipV="false" rot="-679184">
            <a:off x="-953727" y="-3904292"/>
            <a:ext cx="19480643" cy="19091031"/>
          </a:xfrm>
          <a:custGeom>
            <a:avLst/>
            <a:gdLst/>
            <a:ahLst/>
            <a:cxnLst/>
            <a:rect r="r" b="b" t="t" l="l"/>
            <a:pathLst>
              <a:path h="19091031" w="19480643">
                <a:moveTo>
                  <a:pt x="0" y="0"/>
                </a:moveTo>
                <a:lnTo>
                  <a:pt x="19480643" y="0"/>
                </a:lnTo>
                <a:lnTo>
                  <a:pt x="19480643" y="19091030"/>
                </a:lnTo>
                <a:lnTo>
                  <a:pt x="0" y="19091030"/>
                </a:lnTo>
                <a:lnTo>
                  <a:pt x="0" y="0"/>
                </a:lnTo>
                <a:close/>
              </a:path>
            </a:pathLst>
          </a:custGeom>
          <a:blipFill>
            <a:blip r:embed="rId2"/>
            <a:stretch>
              <a:fillRect l="0" t="0" r="0" b="0"/>
            </a:stretch>
          </a:blipFill>
        </p:spPr>
      </p:sp>
      <p:grpSp>
        <p:nvGrpSpPr>
          <p:cNvPr name="Group 3" id="3"/>
          <p:cNvGrpSpPr/>
          <p:nvPr/>
        </p:nvGrpSpPr>
        <p:grpSpPr>
          <a:xfrm rot="0">
            <a:off x="589320" y="902437"/>
            <a:ext cx="6487905" cy="953572"/>
            <a:chOff x="0" y="0"/>
            <a:chExt cx="2181775" cy="320670"/>
          </a:xfrm>
        </p:grpSpPr>
        <p:sp>
          <p:nvSpPr>
            <p:cNvPr name="Freeform 4" id="4"/>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FAF7F2"/>
            </a:solidFill>
          </p:spPr>
        </p:sp>
        <p:sp>
          <p:nvSpPr>
            <p:cNvPr name="TextBox 5" id="5"/>
            <p:cNvSpPr txBox="true"/>
            <p:nvPr/>
          </p:nvSpPr>
          <p:spPr>
            <a:xfrm>
              <a:off x="0" y="-57150"/>
              <a:ext cx="2181775" cy="377820"/>
            </a:xfrm>
            <a:prstGeom prst="rect">
              <a:avLst/>
            </a:prstGeom>
          </p:spPr>
          <p:txBody>
            <a:bodyPr anchor="ctr" rtlCol="false" tIns="50800" lIns="50800" bIns="50800" rIns="50800"/>
            <a:lstStyle/>
            <a:p>
              <a:pPr algn="ctr">
                <a:lnSpc>
                  <a:spcPts val="2236"/>
                </a:lnSpc>
              </a:pPr>
            </a:p>
          </p:txBody>
        </p:sp>
      </p:grpSp>
      <p:sp>
        <p:nvSpPr>
          <p:cNvPr name="TextBox 6" id="6"/>
          <p:cNvSpPr txBox="true"/>
          <p:nvPr/>
        </p:nvSpPr>
        <p:spPr>
          <a:xfrm rot="0">
            <a:off x="702833" y="1200455"/>
            <a:ext cx="6260880" cy="522394"/>
          </a:xfrm>
          <a:prstGeom prst="rect">
            <a:avLst/>
          </a:prstGeom>
        </p:spPr>
        <p:txBody>
          <a:bodyPr anchor="t" rtlCol="false" tIns="0" lIns="0" bIns="0" rIns="0">
            <a:spAutoFit/>
          </a:bodyPr>
          <a:lstStyle/>
          <a:p>
            <a:pPr algn="ctr" marL="0" indent="0" lvl="0">
              <a:lnSpc>
                <a:spcPts val="4036"/>
              </a:lnSpc>
            </a:pPr>
            <a:r>
              <a:rPr lang="en-US" sz="3604">
                <a:solidFill>
                  <a:srgbClr val="291E18"/>
                </a:solidFill>
                <a:latin typeface="Benne"/>
                <a:ea typeface="Benne"/>
                <a:cs typeface="Benne"/>
                <a:sym typeface="Benne"/>
              </a:rPr>
              <a:t>System Security Plan</a:t>
            </a:r>
          </a:p>
        </p:txBody>
      </p:sp>
      <p:sp>
        <p:nvSpPr>
          <p:cNvPr name="TextBox 7" id="7"/>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563721"/>
                </a:solidFill>
                <a:latin typeface="Akzidenz-Grotesk"/>
                <a:ea typeface="Akzidenz-Grotesk"/>
                <a:cs typeface="Akzidenz-Grotesk"/>
                <a:sym typeface="Akzidenz-Grotesk"/>
              </a:rPr>
              <a:t>Catuera</a:t>
            </a:r>
          </a:p>
        </p:txBody>
      </p:sp>
      <p:sp>
        <p:nvSpPr>
          <p:cNvPr name="TextBox 8" id="8"/>
          <p:cNvSpPr txBox="true"/>
          <p:nvPr/>
        </p:nvSpPr>
        <p:spPr>
          <a:xfrm rot="0">
            <a:off x="7689414" y="1012355"/>
            <a:ext cx="8139841" cy="648011"/>
          </a:xfrm>
          <a:prstGeom prst="rect">
            <a:avLst/>
          </a:prstGeom>
        </p:spPr>
        <p:txBody>
          <a:bodyPr anchor="t" rtlCol="false" tIns="0" lIns="0" bIns="0" rIns="0">
            <a:spAutoFit/>
          </a:bodyPr>
          <a:lstStyle/>
          <a:p>
            <a:pPr algn="ctr">
              <a:lnSpc>
                <a:spcPts val="5232"/>
              </a:lnSpc>
            </a:pPr>
            <a:r>
              <a:rPr lang="en-US" sz="3737">
                <a:solidFill>
                  <a:srgbClr val="FFEBCD"/>
                </a:solidFill>
                <a:latin typeface="Benne"/>
                <a:ea typeface="Benne"/>
                <a:cs typeface="Benne"/>
                <a:sym typeface="Benne"/>
              </a:rPr>
              <a:t>Continuous Monitoring &amp; Audit Readiness</a:t>
            </a:r>
          </a:p>
        </p:txBody>
      </p:sp>
      <p:grpSp>
        <p:nvGrpSpPr>
          <p:cNvPr name="Group 9" id="9"/>
          <p:cNvGrpSpPr/>
          <p:nvPr/>
        </p:nvGrpSpPr>
        <p:grpSpPr>
          <a:xfrm rot="0">
            <a:off x="2178681" y="2140651"/>
            <a:ext cx="5513496" cy="3228446"/>
            <a:chOff x="0" y="0"/>
            <a:chExt cx="1954848" cy="1144668"/>
          </a:xfrm>
        </p:grpSpPr>
        <p:sp>
          <p:nvSpPr>
            <p:cNvPr name="Freeform 10" id="10"/>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563721"/>
            </a:solidFill>
          </p:spPr>
        </p:sp>
        <p:sp>
          <p:nvSpPr>
            <p:cNvPr name="TextBox 11" id="11"/>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12" id="12"/>
          <p:cNvSpPr txBox="true"/>
          <p:nvPr/>
        </p:nvSpPr>
        <p:spPr>
          <a:xfrm rot="0">
            <a:off x="2509519" y="3586956"/>
            <a:ext cx="4851821" cy="1136240"/>
          </a:xfrm>
          <a:prstGeom prst="rect">
            <a:avLst/>
          </a:prstGeom>
        </p:spPr>
        <p:txBody>
          <a:bodyPr anchor="t" rtlCol="false" tIns="0" lIns="0" bIns="0" rIns="0">
            <a:spAutoFit/>
          </a:bodyPr>
          <a:lstStyle/>
          <a:p>
            <a:pPr algn="ctr" marL="0" indent="0" lvl="0">
              <a:lnSpc>
                <a:spcPts val="2997"/>
              </a:lnSpc>
            </a:pPr>
            <a:r>
              <a:rPr lang="en-US" sz="2141" spc="173">
                <a:solidFill>
                  <a:srgbClr val="FFEBCD"/>
                </a:solidFill>
                <a:latin typeface="Akzidenz-Grotesk"/>
                <a:ea typeface="Akzidenz-Grotesk"/>
                <a:cs typeface="Akzidenz-Grotesk"/>
                <a:sym typeface="Akzidenz-Grotesk"/>
              </a:rPr>
              <a:t>Ce</a:t>
            </a:r>
            <a:r>
              <a:rPr lang="en-US" sz="2141" spc="173">
                <a:solidFill>
                  <a:srgbClr val="FFEBCD"/>
                </a:solidFill>
                <a:latin typeface="Akzidenz-Grotesk"/>
                <a:ea typeface="Akzidenz-Grotesk"/>
                <a:cs typeface="Akzidenz-Grotesk"/>
                <a:sym typeface="Akzidenz-Grotesk"/>
              </a:rPr>
              <a:t>ntralizing system audit logs and security event records for real-time anomaly detection</a:t>
            </a:r>
          </a:p>
        </p:txBody>
      </p:sp>
      <p:sp>
        <p:nvSpPr>
          <p:cNvPr name="TextBox 13" id="13"/>
          <p:cNvSpPr txBox="true"/>
          <p:nvPr/>
        </p:nvSpPr>
        <p:spPr>
          <a:xfrm rot="0">
            <a:off x="2666404" y="2622621"/>
            <a:ext cx="4538052" cy="537327"/>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Ongoing </a:t>
            </a:r>
            <a:r>
              <a:rPr lang="en-US" sz="2845" spc="230">
                <a:solidFill>
                  <a:srgbClr val="FFEBCD"/>
                </a:solidFill>
                <a:latin typeface="Akzidenz-Grotesk"/>
                <a:ea typeface="Akzidenz-Grotesk"/>
                <a:cs typeface="Akzidenz-Grotesk"/>
                <a:sym typeface="Akzidenz-Grotesk"/>
              </a:rPr>
              <a:t>Log Collection</a:t>
            </a:r>
          </a:p>
        </p:txBody>
      </p:sp>
      <p:grpSp>
        <p:nvGrpSpPr>
          <p:cNvPr name="Group 14" id="14"/>
          <p:cNvGrpSpPr/>
          <p:nvPr/>
        </p:nvGrpSpPr>
        <p:grpSpPr>
          <a:xfrm rot="0">
            <a:off x="9881011" y="2140651"/>
            <a:ext cx="5513496" cy="3228446"/>
            <a:chOff x="0" y="0"/>
            <a:chExt cx="1954848" cy="1144668"/>
          </a:xfrm>
        </p:grpSpPr>
        <p:sp>
          <p:nvSpPr>
            <p:cNvPr name="Freeform 15" id="15"/>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563721"/>
            </a:solidFill>
          </p:spPr>
        </p:sp>
        <p:sp>
          <p:nvSpPr>
            <p:cNvPr name="TextBox 16" id="16"/>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17" id="17"/>
          <p:cNvSpPr txBox="true"/>
          <p:nvPr/>
        </p:nvSpPr>
        <p:spPr>
          <a:xfrm rot="0">
            <a:off x="10265069" y="3521032"/>
            <a:ext cx="4851821" cy="1507715"/>
          </a:xfrm>
          <a:prstGeom prst="rect">
            <a:avLst/>
          </a:prstGeom>
        </p:spPr>
        <p:txBody>
          <a:bodyPr anchor="t" rtlCol="false" tIns="0" lIns="0" bIns="0" rIns="0">
            <a:spAutoFit/>
          </a:bodyPr>
          <a:lstStyle/>
          <a:p>
            <a:pPr algn="ctr">
              <a:lnSpc>
                <a:spcPts val="2997"/>
              </a:lnSpc>
            </a:pPr>
            <a:r>
              <a:rPr lang="en-US" sz="2141" spc="173">
                <a:solidFill>
                  <a:srgbClr val="FFEBCD"/>
                </a:solidFill>
                <a:latin typeface="Akzidenz-Grotesk"/>
                <a:ea typeface="Akzidenz-Grotesk"/>
                <a:cs typeface="Akzidenz-Grotesk"/>
                <a:sym typeface="Akzidenz-Grotesk"/>
              </a:rPr>
              <a:t>Mai</a:t>
            </a:r>
            <a:r>
              <a:rPr lang="en-US" sz="2141" spc="173">
                <a:solidFill>
                  <a:srgbClr val="FFEBCD"/>
                </a:solidFill>
                <a:latin typeface="Akzidenz-Grotesk"/>
                <a:ea typeface="Akzidenz-Grotesk"/>
                <a:cs typeface="Akzidenz-Grotesk"/>
                <a:sym typeface="Akzidenz-Grotesk"/>
              </a:rPr>
              <a:t>ntaining an updated, organized repository of evidence to streamline annual compliance audits.</a:t>
            </a:r>
          </a:p>
        </p:txBody>
      </p:sp>
      <p:sp>
        <p:nvSpPr>
          <p:cNvPr name="TextBox 18" id="18"/>
          <p:cNvSpPr txBox="true"/>
          <p:nvPr/>
        </p:nvSpPr>
        <p:spPr>
          <a:xfrm rot="0">
            <a:off x="10368733" y="2556697"/>
            <a:ext cx="4538052" cy="537327"/>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Artifa</a:t>
            </a:r>
            <a:r>
              <a:rPr lang="en-US" sz="2845" spc="230">
                <a:solidFill>
                  <a:srgbClr val="FFEBCD"/>
                </a:solidFill>
                <a:latin typeface="Akzidenz-Grotesk"/>
                <a:ea typeface="Akzidenz-Grotesk"/>
                <a:cs typeface="Akzidenz-Grotesk"/>
                <a:sym typeface="Akzidenz-Grotesk"/>
              </a:rPr>
              <a:t>ct Repository</a:t>
            </a:r>
          </a:p>
        </p:txBody>
      </p:sp>
      <p:grpSp>
        <p:nvGrpSpPr>
          <p:cNvPr name="Group 19" id="19"/>
          <p:cNvGrpSpPr/>
          <p:nvPr/>
        </p:nvGrpSpPr>
        <p:grpSpPr>
          <a:xfrm rot="0">
            <a:off x="2178681" y="6029854"/>
            <a:ext cx="5513496" cy="3228446"/>
            <a:chOff x="0" y="0"/>
            <a:chExt cx="1954848" cy="1144668"/>
          </a:xfrm>
        </p:grpSpPr>
        <p:sp>
          <p:nvSpPr>
            <p:cNvPr name="Freeform 20" id="20"/>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563721"/>
            </a:solidFill>
          </p:spPr>
        </p:sp>
        <p:sp>
          <p:nvSpPr>
            <p:cNvPr name="TextBox 21" id="21"/>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22" id="22"/>
          <p:cNvSpPr txBox="true"/>
          <p:nvPr/>
        </p:nvSpPr>
        <p:spPr>
          <a:xfrm rot="0">
            <a:off x="2509519" y="7570288"/>
            <a:ext cx="4851821" cy="1136240"/>
          </a:xfrm>
          <a:prstGeom prst="rect">
            <a:avLst/>
          </a:prstGeom>
        </p:spPr>
        <p:txBody>
          <a:bodyPr anchor="t" rtlCol="false" tIns="0" lIns="0" bIns="0" rIns="0">
            <a:spAutoFit/>
          </a:bodyPr>
          <a:lstStyle/>
          <a:p>
            <a:pPr algn="ctr">
              <a:lnSpc>
                <a:spcPts val="2997"/>
              </a:lnSpc>
            </a:pPr>
            <a:r>
              <a:rPr lang="en-US" sz="2141" spc="173">
                <a:solidFill>
                  <a:srgbClr val="FFEBCD"/>
                </a:solidFill>
                <a:latin typeface="Akzidenz-Grotesk"/>
                <a:ea typeface="Akzidenz-Grotesk"/>
                <a:cs typeface="Akzidenz-Grotesk"/>
                <a:sym typeface="Akzidenz-Grotesk"/>
              </a:rPr>
              <a:t>Schedu</a:t>
            </a:r>
            <a:r>
              <a:rPr lang="en-US" sz="2141" spc="173">
                <a:solidFill>
                  <a:srgbClr val="FFEBCD"/>
                </a:solidFill>
                <a:latin typeface="Akzidenz-Grotesk"/>
                <a:ea typeface="Akzidenz-Grotesk"/>
                <a:cs typeface="Akzidenz-Grotesk"/>
                <a:sym typeface="Akzidenz-Grotesk"/>
              </a:rPr>
              <a:t>ling routine vulnerability and configuration assessments to catch drift before major reviews.</a:t>
            </a:r>
          </a:p>
        </p:txBody>
      </p:sp>
      <p:sp>
        <p:nvSpPr>
          <p:cNvPr name="TextBox 23" id="23"/>
          <p:cNvSpPr txBox="true"/>
          <p:nvPr/>
        </p:nvSpPr>
        <p:spPr>
          <a:xfrm rot="0">
            <a:off x="2666404" y="6511824"/>
            <a:ext cx="4538052" cy="537327"/>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Aut</a:t>
            </a:r>
            <a:r>
              <a:rPr lang="en-US" sz="2845" spc="230">
                <a:solidFill>
                  <a:srgbClr val="FFEBCD"/>
                </a:solidFill>
                <a:latin typeface="Akzidenz-Grotesk"/>
                <a:ea typeface="Akzidenz-Grotesk"/>
                <a:cs typeface="Akzidenz-Grotesk"/>
                <a:sym typeface="Akzidenz-Grotesk"/>
              </a:rPr>
              <a:t>omated Scans</a:t>
            </a:r>
          </a:p>
        </p:txBody>
      </p:sp>
      <p:grpSp>
        <p:nvGrpSpPr>
          <p:cNvPr name="Group 24" id="24"/>
          <p:cNvGrpSpPr/>
          <p:nvPr/>
        </p:nvGrpSpPr>
        <p:grpSpPr>
          <a:xfrm rot="0">
            <a:off x="9881011" y="6029854"/>
            <a:ext cx="5513496" cy="3228446"/>
            <a:chOff x="0" y="0"/>
            <a:chExt cx="1954848" cy="1144668"/>
          </a:xfrm>
        </p:grpSpPr>
        <p:sp>
          <p:nvSpPr>
            <p:cNvPr name="Freeform 25" id="25"/>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563721"/>
            </a:solidFill>
          </p:spPr>
        </p:sp>
        <p:sp>
          <p:nvSpPr>
            <p:cNvPr name="TextBox 26" id="26"/>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27" id="27"/>
          <p:cNvSpPr txBox="true"/>
          <p:nvPr/>
        </p:nvSpPr>
        <p:spPr>
          <a:xfrm rot="0">
            <a:off x="10265069" y="7321850"/>
            <a:ext cx="4851821" cy="1507715"/>
          </a:xfrm>
          <a:prstGeom prst="rect">
            <a:avLst/>
          </a:prstGeom>
        </p:spPr>
        <p:txBody>
          <a:bodyPr anchor="t" rtlCol="false" tIns="0" lIns="0" bIns="0" rIns="0">
            <a:spAutoFit/>
          </a:bodyPr>
          <a:lstStyle/>
          <a:p>
            <a:pPr algn="ctr" marL="0" indent="0" lvl="0">
              <a:lnSpc>
                <a:spcPts val="2997"/>
              </a:lnSpc>
            </a:pPr>
            <a:r>
              <a:rPr lang="en-US" sz="2141" spc="173">
                <a:solidFill>
                  <a:srgbClr val="FFEBCD"/>
                </a:solidFill>
                <a:latin typeface="Akzidenz-Grotesk"/>
                <a:ea typeface="Akzidenz-Grotesk"/>
                <a:cs typeface="Akzidenz-Grotesk"/>
                <a:sym typeface="Akzidenz-Grotesk"/>
              </a:rPr>
              <a:t>P</a:t>
            </a:r>
            <a:r>
              <a:rPr lang="en-US" sz="2141" spc="173">
                <a:solidFill>
                  <a:srgbClr val="FFEBCD"/>
                </a:solidFill>
                <a:latin typeface="Akzidenz-Grotesk"/>
                <a:ea typeface="Akzidenz-Grotesk"/>
                <a:cs typeface="Akzidenz-Grotesk"/>
                <a:sym typeface="Akzidenz-Grotesk"/>
              </a:rPr>
              <a:t>roviding structured security health summaries to executive leadership and authorization officials.</a:t>
            </a:r>
          </a:p>
        </p:txBody>
      </p:sp>
      <p:sp>
        <p:nvSpPr>
          <p:cNvPr name="TextBox 28" id="28"/>
          <p:cNvSpPr txBox="true"/>
          <p:nvPr/>
        </p:nvSpPr>
        <p:spPr>
          <a:xfrm rot="0">
            <a:off x="10368733" y="6358636"/>
            <a:ext cx="4538052" cy="537327"/>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Reportin</a:t>
            </a:r>
            <a:r>
              <a:rPr lang="en-US" sz="2845" spc="230">
                <a:solidFill>
                  <a:srgbClr val="FFEBCD"/>
                </a:solidFill>
                <a:latin typeface="Akzidenz-Grotesk"/>
                <a:ea typeface="Akzidenz-Grotesk"/>
                <a:cs typeface="Akzidenz-Grotesk"/>
                <a:sym typeface="Akzidenz-Grotesk"/>
              </a:rPr>
              <a:t>g Cadence</a:t>
            </a:r>
          </a:p>
        </p:txBody>
      </p:sp>
      <p:sp>
        <p:nvSpPr>
          <p:cNvPr name="Freeform 29" id="29"/>
          <p:cNvSpPr/>
          <p:nvPr/>
        </p:nvSpPr>
        <p:spPr>
          <a:xfrm flipH="false" flipV="false" rot="0">
            <a:off x="2546221" y="3309162"/>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0" id="30"/>
          <p:cNvSpPr/>
          <p:nvPr/>
        </p:nvSpPr>
        <p:spPr>
          <a:xfrm flipH="false" flipV="false" rot="0">
            <a:off x="10265069" y="3243238"/>
            <a:ext cx="4798601" cy="119965"/>
          </a:xfrm>
          <a:custGeom>
            <a:avLst/>
            <a:gdLst/>
            <a:ahLst/>
            <a:cxnLst/>
            <a:rect r="r" b="b" t="t" l="l"/>
            <a:pathLst>
              <a:path h="119965" w="4798601">
                <a:moveTo>
                  <a:pt x="0" y="0"/>
                </a:moveTo>
                <a:lnTo>
                  <a:pt x="4798600" y="0"/>
                </a:lnTo>
                <a:lnTo>
                  <a:pt x="4798600"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1" id="31"/>
          <p:cNvSpPr/>
          <p:nvPr/>
        </p:nvSpPr>
        <p:spPr>
          <a:xfrm flipH="false" flipV="false" rot="0">
            <a:off x="2562739" y="7240773"/>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10265069" y="7087585"/>
            <a:ext cx="4798601" cy="119965"/>
          </a:xfrm>
          <a:custGeom>
            <a:avLst/>
            <a:gdLst/>
            <a:ahLst/>
            <a:cxnLst/>
            <a:rect r="r" b="b" t="t" l="l"/>
            <a:pathLst>
              <a:path h="119965" w="4798601">
                <a:moveTo>
                  <a:pt x="0" y="0"/>
                </a:moveTo>
                <a:lnTo>
                  <a:pt x="4798600" y="0"/>
                </a:lnTo>
                <a:lnTo>
                  <a:pt x="4798600"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sp>
        <p:nvSpPr>
          <p:cNvPr name="Freeform 2" id="2"/>
          <p:cNvSpPr/>
          <p:nvPr/>
        </p:nvSpPr>
        <p:spPr>
          <a:xfrm flipH="false" flipV="false" rot="6537293">
            <a:off x="-251420" y="-4176418"/>
            <a:ext cx="19480643" cy="19091031"/>
          </a:xfrm>
          <a:custGeom>
            <a:avLst/>
            <a:gdLst/>
            <a:ahLst/>
            <a:cxnLst/>
            <a:rect r="r" b="b" t="t" l="l"/>
            <a:pathLst>
              <a:path h="19091031" w="19480643">
                <a:moveTo>
                  <a:pt x="0" y="0"/>
                </a:moveTo>
                <a:lnTo>
                  <a:pt x="19480644" y="0"/>
                </a:lnTo>
                <a:lnTo>
                  <a:pt x="19480644" y="19091030"/>
                </a:lnTo>
                <a:lnTo>
                  <a:pt x="0" y="19091030"/>
                </a:lnTo>
                <a:lnTo>
                  <a:pt x="0" y="0"/>
                </a:lnTo>
                <a:close/>
              </a:path>
            </a:pathLst>
          </a:custGeom>
          <a:blipFill>
            <a:blip r:embed="rId2"/>
            <a:stretch>
              <a:fillRect l="0" t="0" r="0" b="0"/>
            </a:stretch>
          </a:blipFill>
        </p:spPr>
      </p:sp>
      <p:grpSp>
        <p:nvGrpSpPr>
          <p:cNvPr name="Group 3" id="3"/>
          <p:cNvGrpSpPr/>
          <p:nvPr/>
        </p:nvGrpSpPr>
        <p:grpSpPr>
          <a:xfrm rot="0">
            <a:off x="525705" y="830397"/>
            <a:ext cx="6615135" cy="1119755"/>
            <a:chOff x="0" y="0"/>
            <a:chExt cx="2224560" cy="376555"/>
          </a:xfrm>
        </p:grpSpPr>
        <p:sp>
          <p:nvSpPr>
            <p:cNvPr name="Freeform 4" id="4"/>
            <p:cNvSpPr/>
            <p:nvPr/>
          </p:nvSpPr>
          <p:spPr>
            <a:xfrm flipH="false" flipV="false" rot="0">
              <a:off x="0" y="0"/>
              <a:ext cx="2224560" cy="376555"/>
            </a:xfrm>
            <a:custGeom>
              <a:avLst/>
              <a:gdLst/>
              <a:ahLst/>
              <a:cxnLst/>
              <a:rect r="r" b="b" t="t" l="l"/>
              <a:pathLst>
                <a:path h="376555" w="2224560">
                  <a:moveTo>
                    <a:pt x="59687" y="0"/>
                  </a:moveTo>
                  <a:lnTo>
                    <a:pt x="2164873" y="0"/>
                  </a:lnTo>
                  <a:cubicBezTo>
                    <a:pt x="2180703" y="0"/>
                    <a:pt x="2195885" y="6288"/>
                    <a:pt x="2207078" y="17482"/>
                  </a:cubicBezTo>
                  <a:cubicBezTo>
                    <a:pt x="2218272" y="28675"/>
                    <a:pt x="2224560" y="43857"/>
                    <a:pt x="2224560" y="59687"/>
                  </a:cubicBezTo>
                  <a:lnTo>
                    <a:pt x="2224560" y="316868"/>
                  </a:lnTo>
                  <a:cubicBezTo>
                    <a:pt x="2224560" y="332698"/>
                    <a:pt x="2218272" y="347879"/>
                    <a:pt x="2207078" y="359073"/>
                  </a:cubicBezTo>
                  <a:cubicBezTo>
                    <a:pt x="2195885" y="370266"/>
                    <a:pt x="2180703" y="376555"/>
                    <a:pt x="2164873" y="376555"/>
                  </a:cubicBezTo>
                  <a:lnTo>
                    <a:pt x="59687" y="376555"/>
                  </a:lnTo>
                  <a:cubicBezTo>
                    <a:pt x="26723" y="376555"/>
                    <a:pt x="0" y="349832"/>
                    <a:pt x="0" y="316868"/>
                  </a:cubicBezTo>
                  <a:lnTo>
                    <a:pt x="0" y="59687"/>
                  </a:lnTo>
                  <a:cubicBezTo>
                    <a:pt x="0" y="43857"/>
                    <a:pt x="6288" y="28675"/>
                    <a:pt x="17482" y="17482"/>
                  </a:cubicBezTo>
                  <a:cubicBezTo>
                    <a:pt x="28675" y="6288"/>
                    <a:pt x="43857" y="0"/>
                    <a:pt x="59687" y="0"/>
                  </a:cubicBezTo>
                  <a:close/>
                </a:path>
              </a:pathLst>
            </a:custGeom>
            <a:solidFill>
              <a:srgbClr val="FAF7F2"/>
            </a:solidFill>
          </p:spPr>
        </p:sp>
        <p:sp>
          <p:nvSpPr>
            <p:cNvPr name="TextBox 5" id="5"/>
            <p:cNvSpPr txBox="true"/>
            <p:nvPr/>
          </p:nvSpPr>
          <p:spPr>
            <a:xfrm>
              <a:off x="0" y="-57150"/>
              <a:ext cx="2224560" cy="433705"/>
            </a:xfrm>
            <a:prstGeom prst="rect">
              <a:avLst/>
            </a:prstGeom>
          </p:spPr>
          <p:txBody>
            <a:bodyPr anchor="ctr" rtlCol="false" tIns="50800" lIns="50800" bIns="50800" rIns="50800"/>
            <a:lstStyle/>
            <a:p>
              <a:pPr algn="ctr">
                <a:lnSpc>
                  <a:spcPts val="2236"/>
                </a:lnSpc>
              </a:pPr>
            </a:p>
          </p:txBody>
        </p:sp>
      </p:grpSp>
      <p:sp>
        <p:nvSpPr>
          <p:cNvPr name="TextBox 6" id="6"/>
          <p:cNvSpPr txBox="true"/>
          <p:nvPr/>
        </p:nvSpPr>
        <p:spPr>
          <a:xfrm rot="0">
            <a:off x="702833" y="948042"/>
            <a:ext cx="6260880" cy="1027219"/>
          </a:xfrm>
          <a:prstGeom prst="rect">
            <a:avLst/>
          </a:prstGeom>
        </p:spPr>
        <p:txBody>
          <a:bodyPr anchor="t" rtlCol="false" tIns="0" lIns="0" bIns="0" rIns="0">
            <a:spAutoFit/>
          </a:bodyPr>
          <a:lstStyle/>
          <a:p>
            <a:pPr algn="ctr" marL="0" indent="0" lvl="0">
              <a:lnSpc>
                <a:spcPts val="4036"/>
              </a:lnSpc>
            </a:pPr>
            <a:r>
              <a:rPr lang="en-US" sz="3604">
                <a:solidFill>
                  <a:srgbClr val="291E18"/>
                </a:solidFill>
                <a:latin typeface="Benne"/>
                <a:ea typeface="Benne"/>
                <a:cs typeface="Benne"/>
                <a:sym typeface="Benne"/>
              </a:rPr>
              <a:t>Polic</a:t>
            </a:r>
            <a:r>
              <a:rPr lang="en-US" sz="3604">
                <a:solidFill>
                  <a:srgbClr val="291E18"/>
                </a:solidFill>
                <a:latin typeface="Benne"/>
                <a:ea typeface="Benne"/>
                <a:cs typeface="Benne"/>
                <a:sym typeface="Benne"/>
              </a:rPr>
              <a:t>y Development &amp; Implementation</a:t>
            </a:r>
          </a:p>
        </p:txBody>
      </p:sp>
      <p:sp>
        <p:nvSpPr>
          <p:cNvPr name="TextBox 7" id="7"/>
          <p:cNvSpPr txBox="true"/>
          <p:nvPr/>
        </p:nvSpPr>
        <p:spPr>
          <a:xfrm rot="0">
            <a:off x="-84166"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563721"/>
                </a:solidFill>
                <a:latin typeface="Akzidenz-Grotesk"/>
                <a:ea typeface="Akzidenz-Grotesk"/>
                <a:cs typeface="Akzidenz-Grotesk"/>
                <a:sym typeface="Akzidenz-Grotesk"/>
              </a:rPr>
              <a:t>Catuera</a:t>
            </a:r>
          </a:p>
        </p:txBody>
      </p:sp>
      <p:sp>
        <p:nvSpPr>
          <p:cNvPr name="TextBox 8" id="8"/>
          <p:cNvSpPr txBox="true"/>
          <p:nvPr/>
        </p:nvSpPr>
        <p:spPr>
          <a:xfrm rot="0">
            <a:off x="7824375" y="1023406"/>
            <a:ext cx="8139841" cy="648011"/>
          </a:xfrm>
          <a:prstGeom prst="rect">
            <a:avLst/>
          </a:prstGeom>
        </p:spPr>
        <p:txBody>
          <a:bodyPr anchor="t" rtlCol="false" tIns="0" lIns="0" bIns="0" rIns="0">
            <a:spAutoFit/>
          </a:bodyPr>
          <a:lstStyle/>
          <a:p>
            <a:pPr algn="ctr">
              <a:lnSpc>
                <a:spcPts val="5232"/>
              </a:lnSpc>
            </a:pPr>
            <a:r>
              <a:rPr lang="en-US" sz="3737">
                <a:solidFill>
                  <a:srgbClr val="FFEBCD"/>
                </a:solidFill>
                <a:latin typeface="Benne"/>
                <a:ea typeface="Benne"/>
                <a:cs typeface="Benne"/>
                <a:sym typeface="Benne"/>
              </a:rPr>
              <a:t>R</a:t>
            </a:r>
            <a:r>
              <a:rPr lang="en-US" sz="3737">
                <a:solidFill>
                  <a:srgbClr val="FFEBCD"/>
                </a:solidFill>
                <a:latin typeface="Benne"/>
                <a:ea typeface="Benne"/>
                <a:cs typeface="Benne"/>
                <a:sym typeface="Benne"/>
              </a:rPr>
              <a:t>isk Assessment &amp; Policy Objectives</a:t>
            </a:r>
          </a:p>
        </p:txBody>
      </p:sp>
      <p:grpSp>
        <p:nvGrpSpPr>
          <p:cNvPr name="Group 9" id="9"/>
          <p:cNvGrpSpPr/>
          <p:nvPr/>
        </p:nvGrpSpPr>
        <p:grpSpPr>
          <a:xfrm rot="0">
            <a:off x="283897" y="3867645"/>
            <a:ext cx="5513496" cy="3228446"/>
            <a:chOff x="0" y="0"/>
            <a:chExt cx="1954848" cy="1144668"/>
          </a:xfrm>
        </p:grpSpPr>
        <p:sp>
          <p:nvSpPr>
            <p:cNvPr name="Freeform 10" id="10"/>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11" id="11"/>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grpSp>
        <p:nvGrpSpPr>
          <p:cNvPr name="Group 12" id="12"/>
          <p:cNvGrpSpPr/>
          <p:nvPr/>
        </p:nvGrpSpPr>
        <p:grpSpPr>
          <a:xfrm rot="0">
            <a:off x="6329761" y="3867645"/>
            <a:ext cx="5513496" cy="3228446"/>
            <a:chOff x="0" y="0"/>
            <a:chExt cx="1954848" cy="1144668"/>
          </a:xfrm>
        </p:grpSpPr>
        <p:sp>
          <p:nvSpPr>
            <p:cNvPr name="Freeform 13" id="13"/>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14" id="14"/>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grpSp>
        <p:nvGrpSpPr>
          <p:cNvPr name="Group 15" id="15"/>
          <p:cNvGrpSpPr/>
          <p:nvPr/>
        </p:nvGrpSpPr>
        <p:grpSpPr>
          <a:xfrm rot="0">
            <a:off x="12375624" y="3867645"/>
            <a:ext cx="5513496" cy="3228446"/>
            <a:chOff x="0" y="0"/>
            <a:chExt cx="1954848" cy="1144668"/>
          </a:xfrm>
        </p:grpSpPr>
        <p:sp>
          <p:nvSpPr>
            <p:cNvPr name="Freeform 16" id="16"/>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17" id="17"/>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Freeform 18" id="18"/>
          <p:cNvSpPr/>
          <p:nvPr/>
        </p:nvSpPr>
        <p:spPr>
          <a:xfrm flipH="false" flipV="false" rot="0">
            <a:off x="614735" y="4624201"/>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771620" y="4042758"/>
            <a:ext cx="4538052" cy="500311"/>
          </a:xfrm>
          <a:prstGeom prst="rect">
            <a:avLst/>
          </a:prstGeom>
        </p:spPr>
        <p:txBody>
          <a:bodyPr anchor="t" rtlCol="false" tIns="0" lIns="0" bIns="0" rIns="0">
            <a:spAutoFit/>
          </a:bodyPr>
          <a:lstStyle/>
          <a:p>
            <a:pPr algn="ctr" marL="0" indent="0" lvl="0">
              <a:lnSpc>
                <a:spcPts val="3983"/>
              </a:lnSpc>
            </a:pPr>
            <a:r>
              <a:rPr lang="en-US" sz="2845">
                <a:solidFill>
                  <a:srgbClr val="FAF7F2"/>
                </a:solidFill>
                <a:latin typeface="Benne"/>
                <a:ea typeface="Benne"/>
                <a:cs typeface="Benne"/>
                <a:sym typeface="Benne"/>
              </a:rPr>
              <a:t>Asset Discovery</a:t>
            </a:r>
          </a:p>
        </p:txBody>
      </p:sp>
      <p:sp>
        <p:nvSpPr>
          <p:cNvPr name="TextBox 20" id="20"/>
          <p:cNvSpPr txBox="true"/>
          <p:nvPr/>
        </p:nvSpPr>
        <p:spPr>
          <a:xfrm rot="0">
            <a:off x="614735" y="4930073"/>
            <a:ext cx="4851821" cy="1896095"/>
          </a:xfrm>
          <a:prstGeom prst="rect">
            <a:avLst/>
          </a:prstGeom>
        </p:spPr>
        <p:txBody>
          <a:bodyPr anchor="t" rtlCol="false" tIns="0" lIns="0" bIns="0" rIns="0">
            <a:spAutoFit/>
          </a:bodyPr>
          <a:lstStyle/>
          <a:p>
            <a:pPr algn="ctr" marL="0" indent="0" lvl="0">
              <a:lnSpc>
                <a:spcPts val="3734"/>
              </a:lnSpc>
            </a:pPr>
            <a:r>
              <a:rPr lang="en-US" sz="2667">
                <a:solidFill>
                  <a:srgbClr val="FAF7F2"/>
                </a:solidFill>
                <a:latin typeface="Benne"/>
                <a:ea typeface="Benne"/>
                <a:cs typeface="Benne"/>
                <a:sym typeface="Benne"/>
              </a:rPr>
              <a:t>Ide</a:t>
            </a:r>
            <a:r>
              <a:rPr lang="en-US" sz="2667">
                <a:solidFill>
                  <a:srgbClr val="FAF7F2"/>
                </a:solidFill>
                <a:latin typeface="Benne"/>
                <a:ea typeface="Benne"/>
                <a:cs typeface="Benne"/>
                <a:sym typeface="Benne"/>
              </a:rPr>
              <a:t>ntify</a:t>
            </a:r>
            <a:r>
              <a:rPr lang="en-US" sz="2667">
                <a:solidFill>
                  <a:srgbClr val="FAF7F2"/>
                </a:solidFill>
                <a:latin typeface="Benne"/>
                <a:ea typeface="Benne"/>
                <a:cs typeface="Benne"/>
                <a:sym typeface="Benne"/>
              </a:rPr>
              <a:t>ing vital information assets, evaluating internal/external threat landscapes, and mapping vulnerabilities prior to drafting text</a:t>
            </a:r>
          </a:p>
        </p:txBody>
      </p:sp>
      <p:sp>
        <p:nvSpPr>
          <p:cNvPr name="TextBox 21" id="21"/>
          <p:cNvSpPr txBox="true"/>
          <p:nvPr/>
        </p:nvSpPr>
        <p:spPr>
          <a:xfrm rot="0">
            <a:off x="6817483" y="4042758"/>
            <a:ext cx="4538052" cy="500311"/>
          </a:xfrm>
          <a:prstGeom prst="rect">
            <a:avLst/>
          </a:prstGeom>
        </p:spPr>
        <p:txBody>
          <a:bodyPr anchor="t" rtlCol="false" tIns="0" lIns="0" bIns="0" rIns="0">
            <a:spAutoFit/>
          </a:bodyPr>
          <a:lstStyle/>
          <a:p>
            <a:pPr algn="ctr" marL="0" indent="0" lvl="0">
              <a:lnSpc>
                <a:spcPts val="3983"/>
              </a:lnSpc>
            </a:pPr>
            <a:r>
              <a:rPr lang="en-US" sz="2845">
                <a:solidFill>
                  <a:srgbClr val="FAF7F2"/>
                </a:solidFill>
                <a:latin typeface="Benne"/>
                <a:ea typeface="Benne"/>
                <a:cs typeface="Benne"/>
                <a:sym typeface="Benne"/>
              </a:rPr>
              <a:t>Goal Al</a:t>
            </a:r>
            <a:r>
              <a:rPr lang="en-US" sz="2845">
                <a:solidFill>
                  <a:srgbClr val="FAF7F2"/>
                </a:solidFill>
                <a:latin typeface="Benne"/>
                <a:ea typeface="Benne"/>
                <a:cs typeface="Benne"/>
                <a:sym typeface="Benne"/>
              </a:rPr>
              <a:t>ignment</a:t>
            </a:r>
          </a:p>
        </p:txBody>
      </p:sp>
      <p:sp>
        <p:nvSpPr>
          <p:cNvPr name="TextBox 22" id="22"/>
          <p:cNvSpPr txBox="true"/>
          <p:nvPr/>
        </p:nvSpPr>
        <p:spPr>
          <a:xfrm rot="0">
            <a:off x="6493984" y="4930073"/>
            <a:ext cx="5182659" cy="1896095"/>
          </a:xfrm>
          <a:prstGeom prst="rect">
            <a:avLst/>
          </a:prstGeom>
        </p:spPr>
        <p:txBody>
          <a:bodyPr anchor="t" rtlCol="false" tIns="0" lIns="0" bIns="0" rIns="0">
            <a:spAutoFit/>
          </a:bodyPr>
          <a:lstStyle/>
          <a:p>
            <a:pPr algn="ctr" marL="0" indent="0" lvl="0">
              <a:lnSpc>
                <a:spcPts val="3734"/>
              </a:lnSpc>
            </a:pPr>
            <a:r>
              <a:rPr lang="en-US" sz="2667">
                <a:solidFill>
                  <a:srgbClr val="FAF7F2"/>
                </a:solidFill>
                <a:latin typeface="Benne"/>
                <a:ea typeface="Benne"/>
                <a:cs typeface="Benne"/>
                <a:sym typeface="Benne"/>
              </a:rPr>
              <a:t>De</a:t>
            </a:r>
            <a:r>
              <a:rPr lang="en-US" sz="2667">
                <a:solidFill>
                  <a:srgbClr val="FAF7F2"/>
                </a:solidFill>
                <a:latin typeface="Benne"/>
                <a:ea typeface="Benne"/>
                <a:cs typeface="Benne"/>
                <a:sym typeface="Benne"/>
              </a:rPr>
              <a:t>fin</a:t>
            </a:r>
            <a:r>
              <a:rPr lang="en-US" sz="2667">
                <a:solidFill>
                  <a:srgbClr val="FAF7F2"/>
                </a:solidFill>
                <a:latin typeface="Benne"/>
                <a:ea typeface="Benne"/>
                <a:cs typeface="Benne"/>
                <a:sym typeface="Benne"/>
              </a:rPr>
              <a:t>ing organizational security targets to safeguard data confidentiality, integrity, and availability while matching strategic business goals.</a:t>
            </a:r>
          </a:p>
        </p:txBody>
      </p:sp>
      <p:sp>
        <p:nvSpPr>
          <p:cNvPr name="TextBox 23" id="23"/>
          <p:cNvSpPr txBox="true"/>
          <p:nvPr/>
        </p:nvSpPr>
        <p:spPr>
          <a:xfrm rot="0">
            <a:off x="12863347" y="4042758"/>
            <a:ext cx="4538052" cy="500311"/>
          </a:xfrm>
          <a:prstGeom prst="rect">
            <a:avLst/>
          </a:prstGeom>
        </p:spPr>
        <p:txBody>
          <a:bodyPr anchor="t" rtlCol="false" tIns="0" lIns="0" bIns="0" rIns="0">
            <a:spAutoFit/>
          </a:bodyPr>
          <a:lstStyle/>
          <a:p>
            <a:pPr algn="ctr" marL="0" indent="0" lvl="0">
              <a:lnSpc>
                <a:spcPts val="3983"/>
              </a:lnSpc>
            </a:pPr>
            <a:r>
              <a:rPr lang="en-US" sz="2845">
                <a:solidFill>
                  <a:srgbClr val="FAF7F2"/>
                </a:solidFill>
                <a:latin typeface="Benne"/>
                <a:ea typeface="Benne"/>
                <a:cs typeface="Benne"/>
                <a:sym typeface="Benne"/>
              </a:rPr>
              <a:t>Reg</a:t>
            </a:r>
            <a:r>
              <a:rPr lang="en-US" sz="2845">
                <a:solidFill>
                  <a:srgbClr val="FAF7F2"/>
                </a:solidFill>
                <a:latin typeface="Benne"/>
                <a:ea typeface="Benne"/>
                <a:cs typeface="Benne"/>
                <a:sym typeface="Benne"/>
              </a:rPr>
              <a:t>ulatory Mapping</a:t>
            </a:r>
          </a:p>
        </p:txBody>
      </p:sp>
      <p:sp>
        <p:nvSpPr>
          <p:cNvPr name="TextBox 24" id="24"/>
          <p:cNvSpPr txBox="true"/>
          <p:nvPr/>
        </p:nvSpPr>
        <p:spPr>
          <a:xfrm rot="0">
            <a:off x="12564003" y="4930073"/>
            <a:ext cx="5136740" cy="1896095"/>
          </a:xfrm>
          <a:prstGeom prst="rect">
            <a:avLst/>
          </a:prstGeom>
        </p:spPr>
        <p:txBody>
          <a:bodyPr anchor="t" rtlCol="false" tIns="0" lIns="0" bIns="0" rIns="0">
            <a:spAutoFit/>
          </a:bodyPr>
          <a:lstStyle/>
          <a:p>
            <a:pPr algn="ctr" marL="0" indent="0" lvl="0">
              <a:lnSpc>
                <a:spcPts val="3734"/>
              </a:lnSpc>
            </a:pPr>
            <a:r>
              <a:rPr lang="en-US" sz="2667">
                <a:solidFill>
                  <a:srgbClr val="FAF7F2"/>
                </a:solidFill>
                <a:latin typeface="Benne"/>
                <a:ea typeface="Benne"/>
                <a:cs typeface="Benne"/>
                <a:sym typeface="Benne"/>
              </a:rPr>
              <a:t>I</a:t>
            </a:r>
            <a:r>
              <a:rPr lang="en-US" sz="2667">
                <a:solidFill>
                  <a:srgbClr val="FAF7F2"/>
                </a:solidFill>
                <a:latin typeface="Benne"/>
                <a:ea typeface="Benne"/>
                <a:cs typeface="Benne"/>
                <a:sym typeface="Benne"/>
              </a:rPr>
              <a:t>ntegrat</a:t>
            </a:r>
            <a:r>
              <a:rPr lang="en-US" sz="2667">
                <a:solidFill>
                  <a:srgbClr val="FAF7F2"/>
                </a:solidFill>
                <a:latin typeface="Benne"/>
                <a:ea typeface="Benne"/>
                <a:cs typeface="Benne"/>
                <a:sym typeface="Benne"/>
              </a:rPr>
              <a:t>ing applicable legal frameworks and compliance standards (e.g., GDPR, HIPAA, PCI DSS) directly into foundational policy scope.</a:t>
            </a:r>
          </a:p>
        </p:txBody>
      </p:sp>
      <p:sp>
        <p:nvSpPr>
          <p:cNvPr name="Freeform 25" id="25"/>
          <p:cNvSpPr/>
          <p:nvPr/>
        </p:nvSpPr>
        <p:spPr>
          <a:xfrm flipH="false" flipV="false" rot="0">
            <a:off x="6686013" y="4624201"/>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12757292" y="4624201"/>
            <a:ext cx="4798601" cy="119965"/>
          </a:xfrm>
          <a:custGeom>
            <a:avLst/>
            <a:gdLst/>
            <a:ahLst/>
            <a:cxnLst/>
            <a:rect r="r" b="b" t="t" l="l"/>
            <a:pathLst>
              <a:path h="119965" w="4798601">
                <a:moveTo>
                  <a:pt x="0" y="0"/>
                </a:moveTo>
                <a:lnTo>
                  <a:pt x="4798600" y="0"/>
                </a:lnTo>
                <a:lnTo>
                  <a:pt x="4798600"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AF7F2"/>
        </a:solidFill>
      </p:bgPr>
    </p:bg>
    <p:spTree>
      <p:nvGrpSpPr>
        <p:cNvPr id="1" name=""/>
        <p:cNvGrpSpPr/>
        <p:nvPr/>
      </p:nvGrpSpPr>
      <p:grpSpPr>
        <a:xfrm>
          <a:off x="0" y="0"/>
          <a:ext cx="0" cy="0"/>
          <a:chOff x="0" y="0"/>
          <a:chExt cx="0" cy="0"/>
        </a:xfrm>
      </p:grpSpPr>
      <p:sp>
        <p:nvSpPr>
          <p:cNvPr name="Freeform 2" id="2"/>
          <p:cNvSpPr/>
          <p:nvPr/>
        </p:nvSpPr>
        <p:spPr>
          <a:xfrm flipH="false" flipV="false" rot="-679184">
            <a:off x="-953727" y="-3904292"/>
            <a:ext cx="19480643" cy="19091031"/>
          </a:xfrm>
          <a:custGeom>
            <a:avLst/>
            <a:gdLst/>
            <a:ahLst/>
            <a:cxnLst/>
            <a:rect r="r" b="b" t="t" l="l"/>
            <a:pathLst>
              <a:path h="19091031" w="19480643">
                <a:moveTo>
                  <a:pt x="0" y="0"/>
                </a:moveTo>
                <a:lnTo>
                  <a:pt x="19480643" y="0"/>
                </a:lnTo>
                <a:lnTo>
                  <a:pt x="19480643" y="19091030"/>
                </a:lnTo>
                <a:lnTo>
                  <a:pt x="0" y="19091030"/>
                </a:lnTo>
                <a:lnTo>
                  <a:pt x="0" y="0"/>
                </a:lnTo>
                <a:close/>
              </a:path>
            </a:pathLst>
          </a:custGeom>
          <a:blipFill>
            <a:blip r:embed="rId2"/>
            <a:stretch>
              <a:fillRect l="0" t="0" r="0" b="0"/>
            </a:stretch>
          </a:blipFill>
        </p:spPr>
      </p:sp>
      <p:grpSp>
        <p:nvGrpSpPr>
          <p:cNvPr name="Group 3" id="3"/>
          <p:cNvGrpSpPr/>
          <p:nvPr/>
        </p:nvGrpSpPr>
        <p:grpSpPr>
          <a:xfrm rot="0">
            <a:off x="582465" y="836315"/>
            <a:ext cx="6501616" cy="1085815"/>
            <a:chOff x="0" y="0"/>
            <a:chExt cx="2186386" cy="365141"/>
          </a:xfrm>
        </p:grpSpPr>
        <p:sp>
          <p:nvSpPr>
            <p:cNvPr name="Freeform 4" id="4"/>
            <p:cNvSpPr/>
            <p:nvPr/>
          </p:nvSpPr>
          <p:spPr>
            <a:xfrm flipH="false" flipV="false" rot="0">
              <a:off x="0" y="0"/>
              <a:ext cx="2186386" cy="365141"/>
            </a:xfrm>
            <a:custGeom>
              <a:avLst/>
              <a:gdLst/>
              <a:ahLst/>
              <a:cxnLst/>
              <a:rect r="r" b="b" t="t" l="l"/>
              <a:pathLst>
                <a:path h="365141" w="2186386">
                  <a:moveTo>
                    <a:pt x="60729" y="0"/>
                  </a:moveTo>
                  <a:lnTo>
                    <a:pt x="2125656" y="0"/>
                  </a:lnTo>
                  <a:cubicBezTo>
                    <a:pt x="2141763" y="0"/>
                    <a:pt x="2157209" y="6398"/>
                    <a:pt x="2168598" y="17787"/>
                  </a:cubicBezTo>
                  <a:cubicBezTo>
                    <a:pt x="2179987" y="29176"/>
                    <a:pt x="2186386" y="44623"/>
                    <a:pt x="2186386" y="60729"/>
                  </a:cubicBezTo>
                  <a:lnTo>
                    <a:pt x="2186386" y="304412"/>
                  </a:lnTo>
                  <a:cubicBezTo>
                    <a:pt x="2186386" y="320519"/>
                    <a:pt x="2179987" y="335965"/>
                    <a:pt x="2168598" y="347354"/>
                  </a:cubicBezTo>
                  <a:cubicBezTo>
                    <a:pt x="2157209" y="358743"/>
                    <a:pt x="2141763" y="365141"/>
                    <a:pt x="2125656" y="365141"/>
                  </a:cubicBezTo>
                  <a:lnTo>
                    <a:pt x="60729" y="365141"/>
                  </a:lnTo>
                  <a:cubicBezTo>
                    <a:pt x="44623" y="365141"/>
                    <a:pt x="29176" y="358743"/>
                    <a:pt x="17787" y="347354"/>
                  </a:cubicBezTo>
                  <a:cubicBezTo>
                    <a:pt x="6398" y="335965"/>
                    <a:pt x="0" y="320519"/>
                    <a:pt x="0" y="304412"/>
                  </a:cubicBezTo>
                  <a:lnTo>
                    <a:pt x="0" y="60729"/>
                  </a:lnTo>
                  <a:cubicBezTo>
                    <a:pt x="0" y="44623"/>
                    <a:pt x="6398" y="29176"/>
                    <a:pt x="17787" y="17787"/>
                  </a:cubicBezTo>
                  <a:cubicBezTo>
                    <a:pt x="29176" y="6398"/>
                    <a:pt x="44623" y="0"/>
                    <a:pt x="60729" y="0"/>
                  </a:cubicBezTo>
                  <a:close/>
                </a:path>
              </a:pathLst>
            </a:custGeom>
            <a:solidFill>
              <a:srgbClr val="291E18"/>
            </a:solidFill>
          </p:spPr>
        </p:sp>
        <p:sp>
          <p:nvSpPr>
            <p:cNvPr name="TextBox 5" id="5"/>
            <p:cNvSpPr txBox="true"/>
            <p:nvPr/>
          </p:nvSpPr>
          <p:spPr>
            <a:xfrm>
              <a:off x="0" y="-57150"/>
              <a:ext cx="2186386" cy="422291"/>
            </a:xfrm>
            <a:prstGeom prst="rect">
              <a:avLst/>
            </a:prstGeom>
          </p:spPr>
          <p:txBody>
            <a:bodyPr anchor="ctr" rtlCol="false" tIns="50800" lIns="50800" bIns="50800" rIns="50800"/>
            <a:lstStyle/>
            <a:p>
              <a:pPr algn="ctr">
                <a:lnSpc>
                  <a:spcPts val="2236"/>
                </a:lnSpc>
              </a:pPr>
            </a:p>
          </p:txBody>
        </p:sp>
      </p:grpSp>
      <p:sp>
        <p:nvSpPr>
          <p:cNvPr name="TextBox 6" id="6"/>
          <p:cNvSpPr txBox="true"/>
          <p:nvPr/>
        </p:nvSpPr>
        <p:spPr>
          <a:xfrm rot="0">
            <a:off x="702833" y="948042"/>
            <a:ext cx="6260880" cy="1027219"/>
          </a:xfrm>
          <a:prstGeom prst="rect">
            <a:avLst/>
          </a:prstGeom>
        </p:spPr>
        <p:txBody>
          <a:bodyPr anchor="t" rtlCol="false" tIns="0" lIns="0" bIns="0" rIns="0">
            <a:spAutoFit/>
          </a:bodyPr>
          <a:lstStyle/>
          <a:p>
            <a:pPr algn="ctr" marL="0" indent="0" lvl="0">
              <a:lnSpc>
                <a:spcPts val="4036"/>
              </a:lnSpc>
            </a:pPr>
            <a:r>
              <a:rPr lang="en-US" sz="3604">
                <a:solidFill>
                  <a:srgbClr val="FAF7F2"/>
                </a:solidFill>
                <a:latin typeface="Benne"/>
                <a:ea typeface="Benne"/>
                <a:cs typeface="Benne"/>
                <a:sym typeface="Benne"/>
              </a:rPr>
              <a:t>Polic</a:t>
            </a:r>
            <a:r>
              <a:rPr lang="en-US" sz="3604">
                <a:solidFill>
                  <a:srgbClr val="FAF7F2"/>
                </a:solidFill>
                <a:latin typeface="Benne"/>
                <a:ea typeface="Benne"/>
                <a:cs typeface="Benne"/>
                <a:sym typeface="Benne"/>
              </a:rPr>
              <a:t>y Development &amp; Implementation</a:t>
            </a:r>
          </a:p>
        </p:txBody>
      </p:sp>
      <p:sp>
        <p:nvSpPr>
          <p:cNvPr name="TextBox 7" id="7"/>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FAF7F2"/>
                </a:solidFill>
                <a:latin typeface="Akzidenz-Grotesk"/>
                <a:ea typeface="Akzidenz-Grotesk"/>
                <a:cs typeface="Akzidenz-Grotesk"/>
                <a:sym typeface="Akzidenz-Grotesk"/>
              </a:rPr>
              <a:t>Catuera</a:t>
            </a:r>
          </a:p>
        </p:txBody>
      </p:sp>
      <p:sp>
        <p:nvSpPr>
          <p:cNvPr name="TextBox 8" id="8"/>
          <p:cNvSpPr txBox="true"/>
          <p:nvPr/>
        </p:nvSpPr>
        <p:spPr>
          <a:xfrm rot="0">
            <a:off x="8259252" y="1012355"/>
            <a:ext cx="7570003" cy="648011"/>
          </a:xfrm>
          <a:prstGeom prst="rect">
            <a:avLst/>
          </a:prstGeom>
        </p:spPr>
        <p:txBody>
          <a:bodyPr anchor="t" rtlCol="false" tIns="0" lIns="0" bIns="0" rIns="0">
            <a:spAutoFit/>
          </a:bodyPr>
          <a:lstStyle/>
          <a:p>
            <a:pPr algn="ctr">
              <a:lnSpc>
                <a:spcPts val="5232"/>
              </a:lnSpc>
            </a:pPr>
            <a:r>
              <a:rPr lang="en-US" sz="3737">
                <a:solidFill>
                  <a:srgbClr val="291E18"/>
                </a:solidFill>
                <a:latin typeface="Benne"/>
                <a:ea typeface="Benne"/>
                <a:cs typeface="Benne"/>
                <a:sym typeface="Benne"/>
              </a:rPr>
              <a:t>Drafting</a:t>
            </a:r>
            <a:r>
              <a:rPr lang="en-US" sz="3737">
                <a:solidFill>
                  <a:srgbClr val="291E18"/>
                </a:solidFill>
                <a:latin typeface="Benne"/>
                <a:ea typeface="Benne"/>
                <a:cs typeface="Benne"/>
                <a:sym typeface="Benne"/>
              </a:rPr>
              <a:t> Core Security Directives</a:t>
            </a:r>
          </a:p>
        </p:txBody>
      </p:sp>
      <p:grpSp>
        <p:nvGrpSpPr>
          <p:cNvPr name="Group 9" id="9"/>
          <p:cNvGrpSpPr/>
          <p:nvPr/>
        </p:nvGrpSpPr>
        <p:grpSpPr>
          <a:xfrm rot="0">
            <a:off x="2178681" y="2140651"/>
            <a:ext cx="5513496" cy="3228446"/>
            <a:chOff x="0" y="0"/>
            <a:chExt cx="1954848" cy="1144668"/>
          </a:xfrm>
        </p:grpSpPr>
        <p:sp>
          <p:nvSpPr>
            <p:cNvPr name="Freeform 10" id="10"/>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11" id="11"/>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12" id="12"/>
          <p:cNvSpPr txBox="true"/>
          <p:nvPr/>
        </p:nvSpPr>
        <p:spPr>
          <a:xfrm rot="0">
            <a:off x="2519611" y="3678674"/>
            <a:ext cx="4851821" cy="1136240"/>
          </a:xfrm>
          <a:prstGeom prst="rect">
            <a:avLst/>
          </a:prstGeom>
        </p:spPr>
        <p:txBody>
          <a:bodyPr anchor="t" rtlCol="false" tIns="0" lIns="0" bIns="0" rIns="0">
            <a:spAutoFit/>
          </a:bodyPr>
          <a:lstStyle/>
          <a:p>
            <a:pPr algn="ctr" marL="0" indent="0" lvl="0">
              <a:lnSpc>
                <a:spcPts val="2997"/>
              </a:lnSpc>
            </a:pPr>
            <a:r>
              <a:rPr lang="en-US" sz="2141" spc="173">
                <a:solidFill>
                  <a:srgbClr val="FFEBCD"/>
                </a:solidFill>
                <a:latin typeface="Akzidenz-Grotesk"/>
                <a:ea typeface="Akzidenz-Grotesk"/>
                <a:cs typeface="Akzidenz-Grotesk"/>
                <a:sym typeface="Akzidenz-Grotesk"/>
              </a:rPr>
              <a:t>Gover</a:t>
            </a:r>
            <a:r>
              <a:rPr lang="en-US" sz="2141" spc="173">
                <a:solidFill>
                  <a:srgbClr val="FFEBCD"/>
                </a:solidFill>
                <a:latin typeface="Akzidenz-Grotesk"/>
                <a:ea typeface="Akzidenz-Grotesk"/>
                <a:cs typeface="Akzidenz-Grotesk"/>
                <a:sym typeface="Akzidenz-Grotesk"/>
              </a:rPr>
              <a:t>ning resource usage, internet habits, and prohibited user actions across corporate networks.</a:t>
            </a:r>
          </a:p>
        </p:txBody>
      </p:sp>
      <p:sp>
        <p:nvSpPr>
          <p:cNvPr name="TextBox 13" id="13"/>
          <p:cNvSpPr txBox="true"/>
          <p:nvPr/>
        </p:nvSpPr>
        <p:spPr>
          <a:xfrm rot="0">
            <a:off x="2666404" y="2304285"/>
            <a:ext cx="4538052" cy="1042152"/>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Acceptable Use</a:t>
            </a:r>
            <a:r>
              <a:rPr lang="en-US" sz="2845" spc="230">
                <a:solidFill>
                  <a:srgbClr val="FFEBCD"/>
                </a:solidFill>
                <a:latin typeface="Akzidenz-Grotesk"/>
                <a:ea typeface="Akzidenz-Grotesk"/>
                <a:cs typeface="Akzidenz-Grotesk"/>
                <a:sym typeface="Akzidenz-Grotesk"/>
              </a:rPr>
              <a:t> Policies (AUP)</a:t>
            </a:r>
          </a:p>
        </p:txBody>
      </p:sp>
      <p:grpSp>
        <p:nvGrpSpPr>
          <p:cNvPr name="Group 14" id="14"/>
          <p:cNvGrpSpPr/>
          <p:nvPr/>
        </p:nvGrpSpPr>
        <p:grpSpPr>
          <a:xfrm rot="0">
            <a:off x="9881011" y="2140651"/>
            <a:ext cx="5513496" cy="3228446"/>
            <a:chOff x="0" y="0"/>
            <a:chExt cx="1954848" cy="1144668"/>
          </a:xfrm>
        </p:grpSpPr>
        <p:sp>
          <p:nvSpPr>
            <p:cNvPr name="Freeform 15" id="15"/>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16" id="16"/>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17" id="17"/>
          <p:cNvSpPr txBox="true"/>
          <p:nvPr/>
        </p:nvSpPr>
        <p:spPr>
          <a:xfrm rot="0">
            <a:off x="10265069" y="3678674"/>
            <a:ext cx="4851821" cy="1507715"/>
          </a:xfrm>
          <a:prstGeom prst="rect">
            <a:avLst/>
          </a:prstGeom>
        </p:spPr>
        <p:txBody>
          <a:bodyPr anchor="t" rtlCol="false" tIns="0" lIns="0" bIns="0" rIns="0">
            <a:spAutoFit/>
          </a:bodyPr>
          <a:lstStyle/>
          <a:p>
            <a:pPr algn="ctr">
              <a:lnSpc>
                <a:spcPts val="2997"/>
              </a:lnSpc>
            </a:pPr>
            <a:r>
              <a:rPr lang="en-US" sz="2141" spc="173">
                <a:solidFill>
                  <a:srgbClr val="FFEBCD"/>
                </a:solidFill>
                <a:latin typeface="Akzidenz-Grotesk"/>
                <a:ea typeface="Akzidenz-Grotesk"/>
                <a:cs typeface="Akzidenz-Grotesk"/>
                <a:sym typeface="Akzidenz-Grotesk"/>
              </a:rPr>
              <a:t>Es</a:t>
            </a:r>
            <a:r>
              <a:rPr lang="en-US" sz="2141" spc="173">
                <a:solidFill>
                  <a:srgbClr val="FFEBCD"/>
                </a:solidFill>
                <a:latin typeface="Akzidenz-Grotesk"/>
                <a:ea typeface="Akzidenz-Grotesk"/>
                <a:cs typeface="Akzidenz-Grotesk"/>
                <a:sym typeface="Akzidenz-Grotesk"/>
              </a:rPr>
              <a:t>tablishing robust password parameters, multi-factor authentication (MFA), and least-privilege principles.</a:t>
            </a:r>
          </a:p>
        </p:txBody>
      </p:sp>
      <p:sp>
        <p:nvSpPr>
          <p:cNvPr name="TextBox 18" id="18"/>
          <p:cNvSpPr txBox="true"/>
          <p:nvPr/>
        </p:nvSpPr>
        <p:spPr>
          <a:xfrm rot="0">
            <a:off x="10395343" y="2304285"/>
            <a:ext cx="4538052" cy="1042152"/>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Ac</a:t>
            </a:r>
            <a:r>
              <a:rPr lang="en-US" sz="2845" spc="230">
                <a:solidFill>
                  <a:srgbClr val="FFEBCD"/>
                </a:solidFill>
                <a:latin typeface="Akzidenz-Grotesk"/>
                <a:ea typeface="Akzidenz-Grotesk"/>
                <a:cs typeface="Akzidenz-Grotesk"/>
                <a:sym typeface="Akzidenz-Grotesk"/>
              </a:rPr>
              <a:t>cess Control &amp; Authentication</a:t>
            </a:r>
          </a:p>
        </p:txBody>
      </p:sp>
      <p:grpSp>
        <p:nvGrpSpPr>
          <p:cNvPr name="Group 19" id="19"/>
          <p:cNvGrpSpPr/>
          <p:nvPr/>
        </p:nvGrpSpPr>
        <p:grpSpPr>
          <a:xfrm rot="0">
            <a:off x="2178681" y="6029854"/>
            <a:ext cx="5513496" cy="3228446"/>
            <a:chOff x="0" y="0"/>
            <a:chExt cx="1954848" cy="1144668"/>
          </a:xfrm>
        </p:grpSpPr>
        <p:sp>
          <p:nvSpPr>
            <p:cNvPr name="Freeform 20" id="20"/>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21" id="21"/>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22" id="22"/>
          <p:cNvSpPr txBox="true"/>
          <p:nvPr/>
        </p:nvSpPr>
        <p:spPr>
          <a:xfrm rot="0">
            <a:off x="2482909" y="7475038"/>
            <a:ext cx="4851821" cy="1507715"/>
          </a:xfrm>
          <a:prstGeom prst="rect">
            <a:avLst/>
          </a:prstGeom>
        </p:spPr>
        <p:txBody>
          <a:bodyPr anchor="t" rtlCol="false" tIns="0" lIns="0" bIns="0" rIns="0">
            <a:spAutoFit/>
          </a:bodyPr>
          <a:lstStyle/>
          <a:p>
            <a:pPr algn="ctr">
              <a:lnSpc>
                <a:spcPts val="2997"/>
              </a:lnSpc>
            </a:pPr>
            <a:r>
              <a:rPr lang="en-US" sz="2141" spc="173">
                <a:solidFill>
                  <a:srgbClr val="FFEBCD"/>
                </a:solidFill>
                <a:latin typeface="Akzidenz-Grotesk"/>
                <a:ea typeface="Akzidenz-Grotesk"/>
                <a:cs typeface="Akzidenz-Grotesk"/>
                <a:sym typeface="Akzidenz-Grotesk"/>
              </a:rPr>
              <a:t>Imp</a:t>
            </a:r>
            <a:r>
              <a:rPr lang="en-US" sz="2141" spc="173">
                <a:solidFill>
                  <a:srgbClr val="FFEBCD"/>
                </a:solidFill>
                <a:latin typeface="Akzidenz-Grotesk"/>
                <a:ea typeface="Akzidenz-Grotesk"/>
                <a:cs typeface="Akzidenz-Grotesk"/>
                <a:sym typeface="Akzidenz-Grotesk"/>
              </a:rPr>
              <a:t>lementing uniform security requirements for company-issued gear, BYOD configurations, and remote login protocols.</a:t>
            </a:r>
          </a:p>
        </p:txBody>
      </p:sp>
      <p:sp>
        <p:nvSpPr>
          <p:cNvPr name="TextBox 23" id="23"/>
          <p:cNvSpPr txBox="true"/>
          <p:nvPr/>
        </p:nvSpPr>
        <p:spPr>
          <a:xfrm rot="0">
            <a:off x="2676496" y="6165397"/>
            <a:ext cx="4538052" cy="1042152"/>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Device &amp; Endp</a:t>
            </a:r>
            <a:r>
              <a:rPr lang="en-US" sz="2845" spc="230">
                <a:solidFill>
                  <a:srgbClr val="FFEBCD"/>
                </a:solidFill>
                <a:latin typeface="Akzidenz-Grotesk"/>
                <a:ea typeface="Akzidenz-Grotesk"/>
                <a:cs typeface="Akzidenz-Grotesk"/>
                <a:sym typeface="Akzidenz-Grotesk"/>
              </a:rPr>
              <a:t>oint Security</a:t>
            </a:r>
          </a:p>
        </p:txBody>
      </p:sp>
      <p:grpSp>
        <p:nvGrpSpPr>
          <p:cNvPr name="Group 24" id="24"/>
          <p:cNvGrpSpPr/>
          <p:nvPr/>
        </p:nvGrpSpPr>
        <p:grpSpPr>
          <a:xfrm rot="0">
            <a:off x="9881011" y="6029854"/>
            <a:ext cx="5513496" cy="3228446"/>
            <a:chOff x="0" y="0"/>
            <a:chExt cx="1954848" cy="1144668"/>
          </a:xfrm>
        </p:grpSpPr>
        <p:sp>
          <p:nvSpPr>
            <p:cNvPr name="Freeform 25" id="25"/>
            <p:cNvSpPr/>
            <p:nvPr/>
          </p:nvSpPr>
          <p:spPr>
            <a:xfrm flipH="false" flipV="false" rot="0">
              <a:off x="0" y="0"/>
              <a:ext cx="1954848" cy="1144668"/>
            </a:xfrm>
            <a:custGeom>
              <a:avLst/>
              <a:gdLst/>
              <a:ahLst/>
              <a:cxnLst/>
              <a:rect r="r" b="b" t="t" l="l"/>
              <a:pathLst>
                <a:path h="1144668" w="1954848">
                  <a:moveTo>
                    <a:pt x="71613" y="0"/>
                  </a:moveTo>
                  <a:lnTo>
                    <a:pt x="1883235" y="0"/>
                  </a:lnTo>
                  <a:cubicBezTo>
                    <a:pt x="1902228" y="0"/>
                    <a:pt x="1920443" y="7545"/>
                    <a:pt x="1933873" y="20975"/>
                  </a:cubicBezTo>
                  <a:cubicBezTo>
                    <a:pt x="1947303" y="34405"/>
                    <a:pt x="1954848" y="52620"/>
                    <a:pt x="1954848" y="71613"/>
                  </a:cubicBezTo>
                  <a:lnTo>
                    <a:pt x="1954848" y="1073055"/>
                  </a:lnTo>
                  <a:cubicBezTo>
                    <a:pt x="1954848" y="1092047"/>
                    <a:pt x="1947303" y="1110263"/>
                    <a:pt x="1933873" y="1123693"/>
                  </a:cubicBezTo>
                  <a:cubicBezTo>
                    <a:pt x="1920443" y="1137123"/>
                    <a:pt x="1902228" y="1144668"/>
                    <a:pt x="1883235" y="1144668"/>
                  </a:cubicBezTo>
                  <a:lnTo>
                    <a:pt x="71613" y="1144668"/>
                  </a:lnTo>
                  <a:cubicBezTo>
                    <a:pt x="52620" y="1144668"/>
                    <a:pt x="34405" y="1137123"/>
                    <a:pt x="20975" y="1123693"/>
                  </a:cubicBezTo>
                  <a:cubicBezTo>
                    <a:pt x="7545" y="1110263"/>
                    <a:pt x="0" y="1092047"/>
                    <a:pt x="0" y="1073055"/>
                  </a:cubicBezTo>
                  <a:lnTo>
                    <a:pt x="0" y="71613"/>
                  </a:lnTo>
                  <a:cubicBezTo>
                    <a:pt x="0" y="52620"/>
                    <a:pt x="7545" y="34405"/>
                    <a:pt x="20975" y="20975"/>
                  </a:cubicBezTo>
                  <a:cubicBezTo>
                    <a:pt x="34405" y="7545"/>
                    <a:pt x="52620" y="0"/>
                    <a:pt x="71613" y="0"/>
                  </a:cubicBezTo>
                  <a:close/>
                </a:path>
              </a:pathLst>
            </a:custGeom>
            <a:solidFill>
              <a:srgbClr val="77523A"/>
            </a:solidFill>
          </p:spPr>
        </p:sp>
        <p:sp>
          <p:nvSpPr>
            <p:cNvPr name="TextBox 26" id="26"/>
            <p:cNvSpPr txBox="true"/>
            <p:nvPr/>
          </p:nvSpPr>
          <p:spPr>
            <a:xfrm>
              <a:off x="0" y="-57150"/>
              <a:ext cx="1954848" cy="1201818"/>
            </a:xfrm>
            <a:prstGeom prst="rect">
              <a:avLst/>
            </a:prstGeom>
          </p:spPr>
          <p:txBody>
            <a:bodyPr anchor="ctr" rtlCol="false" tIns="50800" lIns="50800" bIns="50800" rIns="50800"/>
            <a:lstStyle/>
            <a:p>
              <a:pPr algn="ctr">
                <a:lnSpc>
                  <a:spcPts val="2236"/>
                </a:lnSpc>
              </a:pPr>
            </a:p>
          </p:txBody>
        </p:sp>
      </p:grpSp>
      <p:sp>
        <p:nvSpPr>
          <p:cNvPr name="TextBox 27" id="27"/>
          <p:cNvSpPr txBox="true"/>
          <p:nvPr/>
        </p:nvSpPr>
        <p:spPr>
          <a:xfrm rot="0">
            <a:off x="10265069" y="7475038"/>
            <a:ext cx="4851821" cy="1507715"/>
          </a:xfrm>
          <a:prstGeom prst="rect">
            <a:avLst/>
          </a:prstGeom>
        </p:spPr>
        <p:txBody>
          <a:bodyPr anchor="t" rtlCol="false" tIns="0" lIns="0" bIns="0" rIns="0">
            <a:spAutoFit/>
          </a:bodyPr>
          <a:lstStyle/>
          <a:p>
            <a:pPr algn="ctr" marL="0" indent="0" lvl="0">
              <a:lnSpc>
                <a:spcPts val="2997"/>
              </a:lnSpc>
            </a:pPr>
            <a:r>
              <a:rPr lang="en-US" sz="2141" spc="173">
                <a:solidFill>
                  <a:srgbClr val="FFEBCD"/>
                </a:solidFill>
                <a:latin typeface="Akzidenz-Grotesk"/>
                <a:ea typeface="Akzidenz-Grotesk"/>
                <a:cs typeface="Akzidenz-Grotesk"/>
                <a:sym typeface="Akzidenz-Grotesk"/>
              </a:rPr>
              <a:t>Outl</a:t>
            </a:r>
            <a:r>
              <a:rPr lang="en-US" sz="2141" spc="173">
                <a:solidFill>
                  <a:srgbClr val="FFEBCD"/>
                </a:solidFill>
                <a:latin typeface="Akzidenz-Grotesk"/>
                <a:ea typeface="Akzidenz-Grotesk"/>
                <a:cs typeface="Akzidenz-Grotesk"/>
                <a:sym typeface="Akzidenz-Grotesk"/>
              </a:rPr>
              <a:t>ining explicit rules for classification, encryption at rest/transit, and secure data disposal pathways.</a:t>
            </a:r>
          </a:p>
        </p:txBody>
      </p:sp>
      <p:sp>
        <p:nvSpPr>
          <p:cNvPr name="TextBox 28" id="28"/>
          <p:cNvSpPr txBox="true"/>
          <p:nvPr/>
        </p:nvSpPr>
        <p:spPr>
          <a:xfrm rot="0">
            <a:off x="10395343" y="6471225"/>
            <a:ext cx="4538052" cy="537327"/>
          </a:xfrm>
          <a:prstGeom prst="rect">
            <a:avLst/>
          </a:prstGeom>
        </p:spPr>
        <p:txBody>
          <a:bodyPr anchor="t" rtlCol="false" tIns="0" lIns="0" bIns="0" rIns="0">
            <a:spAutoFit/>
          </a:bodyPr>
          <a:lstStyle/>
          <a:p>
            <a:pPr algn="ctr" marL="0" indent="0" lvl="0">
              <a:lnSpc>
                <a:spcPts val="3983"/>
              </a:lnSpc>
            </a:pPr>
            <a:r>
              <a:rPr lang="en-US" sz="2845" spc="230">
                <a:solidFill>
                  <a:srgbClr val="FFEBCD"/>
                </a:solidFill>
                <a:latin typeface="Akzidenz-Grotesk"/>
                <a:ea typeface="Akzidenz-Grotesk"/>
                <a:cs typeface="Akzidenz-Grotesk"/>
                <a:sym typeface="Akzidenz-Grotesk"/>
              </a:rPr>
              <a:t>Data Privacy</a:t>
            </a:r>
            <a:r>
              <a:rPr lang="en-US" sz="2845" spc="230">
                <a:solidFill>
                  <a:srgbClr val="FFEBCD"/>
                </a:solidFill>
                <a:latin typeface="Akzidenz-Grotesk"/>
                <a:ea typeface="Akzidenz-Grotesk"/>
                <a:cs typeface="Akzidenz-Grotesk"/>
                <a:sym typeface="Akzidenz-Grotesk"/>
              </a:rPr>
              <a:t> &amp; Handling</a:t>
            </a:r>
          </a:p>
        </p:txBody>
      </p:sp>
      <p:sp>
        <p:nvSpPr>
          <p:cNvPr name="Freeform 29" id="29"/>
          <p:cNvSpPr/>
          <p:nvPr/>
        </p:nvSpPr>
        <p:spPr>
          <a:xfrm flipH="false" flipV="false" rot="0">
            <a:off x="2536129" y="3477267"/>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0" id="30"/>
          <p:cNvSpPr/>
          <p:nvPr/>
        </p:nvSpPr>
        <p:spPr>
          <a:xfrm flipH="false" flipV="false" rot="0">
            <a:off x="10238459" y="3417285"/>
            <a:ext cx="4798601" cy="119965"/>
          </a:xfrm>
          <a:custGeom>
            <a:avLst/>
            <a:gdLst/>
            <a:ahLst/>
            <a:cxnLst/>
            <a:rect r="r" b="b" t="t" l="l"/>
            <a:pathLst>
              <a:path h="119965" w="4798601">
                <a:moveTo>
                  <a:pt x="0" y="0"/>
                </a:moveTo>
                <a:lnTo>
                  <a:pt x="4798600" y="0"/>
                </a:lnTo>
                <a:lnTo>
                  <a:pt x="4798600"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1" id="31"/>
          <p:cNvSpPr/>
          <p:nvPr/>
        </p:nvSpPr>
        <p:spPr>
          <a:xfrm flipH="false" flipV="false" rot="0">
            <a:off x="2572831" y="7278085"/>
            <a:ext cx="4798601" cy="119965"/>
          </a:xfrm>
          <a:custGeom>
            <a:avLst/>
            <a:gdLst/>
            <a:ahLst/>
            <a:cxnLst/>
            <a:rect r="r" b="b" t="t" l="l"/>
            <a:pathLst>
              <a:path h="119965" w="4798601">
                <a:moveTo>
                  <a:pt x="0" y="0"/>
                </a:moveTo>
                <a:lnTo>
                  <a:pt x="4798601" y="0"/>
                </a:lnTo>
                <a:lnTo>
                  <a:pt x="4798601"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10265069" y="7218102"/>
            <a:ext cx="4798601" cy="119965"/>
          </a:xfrm>
          <a:custGeom>
            <a:avLst/>
            <a:gdLst/>
            <a:ahLst/>
            <a:cxnLst/>
            <a:rect r="r" b="b" t="t" l="l"/>
            <a:pathLst>
              <a:path h="119965" w="4798601">
                <a:moveTo>
                  <a:pt x="0" y="0"/>
                </a:moveTo>
                <a:lnTo>
                  <a:pt x="4798600" y="0"/>
                </a:lnTo>
                <a:lnTo>
                  <a:pt x="4798600" y="119965"/>
                </a:lnTo>
                <a:lnTo>
                  <a:pt x="0" y="119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grpSp>
        <p:nvGrpSpPr>
          <p:cNvPr name="Group 2" id="2"/>
          <p:cNvGrpSpPr/>
          <p:nvPr/>
        </p:nvGrpSpPr>
        <p:grpSpPr>
          <a:xfrm rot="0">
            <a:off x="589320" y="902437"/>
            <a:ext cx="6487905" cy="953572"/>
            <a:chOff x="0" y="0"/>
            <a:chExt cx="2181775" cy="320670"/>
          </a:xfrm>
        </p:grpSpPr>
        <p:sp>
          <p:nvSpPr>
            <p:cNvPr name="Freeform 3" id="3"/>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FAF7F2"/>
            </a:solidFill>
          </p:spPr>
        </p:sp>
        <p:sp>
          <p:nvSpPr>
            <p:cNvPr name="TextBox 4" id="4"/>
            <p:cNvSpPr txBox="true"/>
            <p:nvPr/>
          </p:nvSpPr>
          <p:spPr>
            <a:xfrm>
              <a:off x="0" y="-57150"/>
              <a:ext cx="2181775" cy="377820"/>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false" flipV="false" rot="-5400000">
            <a:off x="-1283912" y="-918309"/>
            <a:ext cx="3973488" cy="3894019"/>
          </a:xfrm>
          <a:custGeom>
            <a:avLst/>
            <a:gdLst/>
            <a:ahLst/>
            <a:cxnLst/>
            <a:rect r="r" b="b" t="t" l="l"/>
            <a:pathLst>
              <a:path h="3894019" w="3973488">
                <a:moveTo>
                  <a:pt x="0" y="0"/>
                </a:moveTo>
                <a:lnTo>
                  <a:pt x="3973489" y="0"/>
                </a:lnTo>
                <a:lnTo>
                  <a:pt x="3973489" y="3894018"/>
                </a:lnTo>
                <a:lnTo>
                  <a:pt x="0" y="3894018"/>
                </a:lnTo>
                <a:lnTo>
                  <a:pt x="0" y="0"/>
                </a:lnTo>
                <a:close/>
              </a:path>
            </a:pathLst>
          </a:custGeom>
          <a:blipFill>
            <a:blip r:embed="rId2"/>
            <a:stretch>
              <a:fillRect l="0" t="0" r="0" b="0"/>
            </a:stretch>
          </a:blipFill>
        </p:spPr>
      </p:sp>
      <p:sp>
        <p:nvSpPr>
          <p:cNvPr name="Freeform 6" id="6"/>
          <p:cNvSpPr/>
          <p:nvPr/>
        </p:nvSpPr>
        <p:spPr>
          <a:xfrm flipH="false" flipV="false" rot="1593224">
            <a:off x="9273169" y="5461110"/>
            <a:ext cx="1406211" cy="414832"/>
          </a:xfrm>
          <a:custGeom>
            <a:avLst/>
            <a:gdLst/>
            <a:ahLst/>
            <a:cxnLst/>
            <a:rect r="r" b="b" t="t" l="l"/>
            <a:pathLst>
              <a:path h="414832" w="1406211">
                <a:moveTo>
                  <a:pt x="0" y="0"/>
                </a:moveTo>
                <a:lnTo>
                  <a:pt x="1406211" y="0"/>
                </a:lnTo>
                <a:lnTo>
                  <a:pt x="1406211" y="414832"/>
                </a:lnTo>
                <a:lnTo>
                  <a:pt x="0" y="414832"/>
                </a:lnTo>
                <a:lnTo>
                  <a:pt x="0" y="0"/>
                </a:lnTo>
                <a:close/>
              </a:path>
            </a:pathLst>
          </a:custGeom>
          <a:blipFill>
            <a:blip r:embed="rId3">
              <a:alphaModFix amt="55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2833" y="1200455"/>
            <a:ext cx="6260880" cy="522394"/>
          </a:xfrm>
          <a:prstGeom prst="rect">
            <a:avLst/>
          </a:prstGeom>
        </p:spPr>
        <p:txBody>
          <a:bodyPr anchor="t" rtlCol="false" tIns="0" lIns="0" bIns="0" rIns="0">
            <a:spAutoFit/>
          </a:bodyPr>
          <a:lstStyle/>
          <a:p>
            <a:pPr algn="ctr" marL="0" indent="0" lvl="0">
              <a:lnSpc>
                <a:spcPts val="4036"/>
              </a:lnSpc>
            </a:pPr>
            <a:r>
              <a:rPr lang="en-US" sz="3604">
                <a:solidFill>
                  <a:srgbClr val="291E18"/>
                </a:solidFill>
                <a:latin typeface="Benne"/>
                <a:ea typeface="Benne"/>
                <a:cs typeface="Benne"/>
                <a:sym typeface="Benne"/>
              </a:rPr>
              <a:t>System Security Plan</a:t>
            </a:r>
          </a:p>
        </p:txBody>
      </p:sp>
      <p:sp>
        <p:nvSpPr>
          <p:cNvPr name="TextBox 8" id="8"/>
          <p:cNvSpPr txBox="true"/>
          <p:nvPr/>
        </p:nvSpPr>
        <p:spPr>
          <a:xfrm rot="0">
            <a:off x="2520301" y="3359947"/>
            <a:ext cx="5254411" cy="4670406"/>
          </a:xfrm>
          <a:prstGeom prst="rect">
            <a:avLst/>
          </a:prstGeom>
        </p:spPr>
        <p:txBody>
          <a:bodyPr anchor="t" rtlCol="false" tIns="0" lIns="0" bIns="0" rIns="0">
            <a:spAutoFit/>
          </a:bodyPr>
          <a:lstStyle/>
          <a:p>
            <a:pPr algn="ctr">
              <a:lnSpc>
                <a:spcPts val="4026"/>
              </a:lnSpc>
            </a:pPr>
            <a:r>
              <a:rPr lang="en-US" sz="2875" spc="232">
                <a:solidFill>
                  <a:srgbClr val="FAF7F2"/>
                </a:solidFill>
                <a:latin typeface="Akzidenz-Grotesk Light"/>
                <a:ea typeface="Akzidenz-Grotesk Light"/>
                <a:cs typeface="Akzidenz-Grotesk Light"/>
                <a:sym typeface="Akzidenz-Grotesk Light"/>
              </a:rPr>
              <a:t>Successful p</a:t>
            </a:r>
            <a:r>
              <a:rPr lang="en-US" sz="2875" spc="232">
                <a:solidFill>
                  <a:srgbClr val="FAF7F2"/>
                </a:solidFill>
                <a:latin typeface="Akzidenz-Grotesk Light"/>
                <a:ea typeface="Akzidenz-Grotesk Light"/>
                <a:cs typeface="Akzidenz-Grotesk Light"/>
                <a:sym typeface="Akzidenz-Grotesk Light"/>
              </a:rPr>
              <a:t>olicy adoption requires vocal leadership support. Executive backing sets a culture of security accountability where rules are perceived as organizational priorities rather than bureaucratic roadblocks.</a:t>
            </a:r>
          </a:p>
        </p:txBody>
      </p:sp>
      <p:sp>
        <p:nvSpPr>
          <p:cNvPr name="TextBox 9" id="9"/>
          <p:cNvSpPr txBox="true"/>
          <p:nvPr/>
        </p:nvSpPr>
        <p:spPr>
          <a:xfrm rot="0">
            <a:off x="1028700" y="2447371"/>
            <a:ext cx="5340068" cy="533400"/>
          </a:xfrm>
          <a:prstGeom prst="rect">
            <a:avLst/>
          </a:prstGeom>
        </p:spPr>
        <p:txBody>
          <a:bodyPr anchor="t" rtlCol="false" tIns="0" lIns="0" bIns="0" rIns="0">
            <a:spAutoFit/>
          </a:bodyPr>
          <a:lstStyle/>
          <a:p>
            <a:pPr algn="ctr" marL="0" indent="0" lvl="0">
              <a:lnSpc>
                <a:spcPts val="4200"/>
              </a:lnSpc>
            </a:pPr>
            <a:r>
              <a:rPr lang="en-US" b="true" sz="3000" spc="242">
                <a:solidFill>
                  <a:srgbClr val="FAF7F2"/>
                </a:solidFill>
                <a:latin typeface="The Seasons Bold"/>
                <a:ea typeface="The Seasons Bold"/>
                <a:cs typeface="The Seasons Bold"/>
                <a:sym typeface="The Seasons Bold"/>
              </a:rPr>
              <a:t>Top-Down Endorsement</a:t>
            </a:r>
          </a:p>
        </p:txBody>
      </p:sp>
      <p:sp>
        <p:nvSpPr>
          <p:cNvPr name="Freeform 10" id="10"/>
          <p:cNvSpPr/>
          <p:nvPr/>
        </p:nvSpPr>
        <p:spPr>
          <a:xfrm flipH="false" flipV="false" rot="1593224">
            <a:off x="1196784" y="3256294"/>
            <a:ext cx="1406211" cy="414832"/>
          </a:xfrm>
          <a:custGeom>
            <a:avLst/>
            <a:gdLst/>
            <a:ahLst/>
            <a:cxnLst/>
            <a:rect r="r" b="b" t="t" l="l"/>
            <a:pathLst>
              <a:path h="414832" w="1406211">
                <a:moveTo>
                  <a:pt x="0" y="0"/>
                </a:moveTo>
                <a:lnTo>
                  <a:pt x="1406212" y="0"/>
                </a:lnTo>
                <a:lnTo>
                  <a:pt x="1406212" y="414832"/>
                </a:lnTo>
                <a:lnTo>
                  <a:pt x="0" y="414832"/>
                </a:lnTo>
                <a:lnTo>
                  <a:pt x="0" y="0"/>
                </a:lnTo>
                <a:close/>
              </a:path>
            </a:pathLst>
          </a:custGeom>
          <a:blipFill>
            <a:blip r:embed="rId3">
              <a:alphaModFix amt="55000"/>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525705" y="830397"/>
            <a:ext cx="6615135" cy="1119755"/>
            <a:chOff x="0" y="0"/>
            <a:chExt cx="2224560" cy="376555"/>
          </a:xfrm>
        </p:grpSpPr>
        <p:sp>
          <p:nvSpPr>
            <p:cNvPr name="Freeform 12" id="12"/>
            <p:cNvSpPr/>
            <p:nvPr/>
          </p:nvSpPr>
          <p:spPr>
            <a:xfrm flipH="false" flipV="false" rot="0">
              <a:off x="0" y="0"/>
              <a:ext cx="2224560" cy="376555"/>
            </a:xfrm>
            <a:custGeom>
              <a:avLst/>
              <a:gdLst/>
              <a:ahLst/>
              <a:cxnLst/>
              <a:rect r="r" b="b" t="t" l="l"/>
              <a:pathLst>
                <a:path h="376555" w="2224560">
                  <a:moveTo>
                    <a:pt x="59687" y="0"/>
                  </a:moveTo>
                  <a:lnTo>
                    <a:pt x="2164873" y="0"/>
                  </a:lnTo>
                  <a:cubicBezTo>
                    <a:pt x="2180703" y="0"/>
                    <a:pt x="2195885" y="6288"/>
                    <a:pt x="2207078" y="17482"/>
                  </a:cubicBezTo>
                  <a:cubicBezTo>
                    <a:pt x="2218272" y="28675"/>
                    <a:pt x="2224560" y="43857"/>
                    <a:pt x="2224560" y="59687"/>
                  </a:cubicBezTo>
                  <a:lnTo>
                    <a:pt x="2224560" y="316868"/>
                  </a:lnTo>
                  <a:cubicBezTo>
                    <a:pt x="2224560" y="332698"/>
                    <a:pt x="2218272" y="347879"/>
                    <a:pt x="2207078" y="359073"/>
                  </a:cubicBezTo>
                  <a:cubicBezTo>
                    <a:pt x="2195885" y="370266"/>
                    <a:pt x="2180703" y="376555"/>
                    <a:pt x="2164873" y="376555"/>
                  </a:cubicBezTo>
                  <a:lnTo>
                    <a:pt x="59687" y="376555"/>
                  </a:lnTo>
                  <a:cubicBezTo>
                    <a:pt x="26723" y="376555"/>
                    <a:pt x="0" y="349832"/>
                    <a:pt x="0" y="316868"/>
                  </a:cubicBezTo>
                  <a:lnTo>
                    <a:pt x="0" y="59687"/>
                  </a:lnTo>
                  <a:cubicBezTo>
                    <a:pt x="0" y="43857"/>
                    <a:pt x="6288" y="28675"/>
                    <a:pt x="17482" y="17482"/>
                  </a:cubicBezTo>
                  <a:cubicBezTo>
                    <a:pt x="28675" y="6288"/>
                    <a:pt x="43857" y="0"/>
                    <a:pt x="59687" y="0"/>
                  </a:cubicBezTo>
                  <a:close/>
                </a:path>
              </a:pathLst>
            </a:custGeom>
            <a:solidFill>
              <a:srgbClr val="FAF7F2"/>
            </a:solidFill>
          </p:spPr>
        </p:sp>
        <p:sp>
          <p:nvSpPr>
            <p:cNvPr name="TextBox 13" id="13"/>
            <p:cNvSpPr txBox="true"/>
            <p:nvPr/>
          </p:nvSpPr>
          <p:spPr>
            <a:xfrm>
              <a:off x="0" y="-57150"/>
              <a:ext cx="2224560" cy="433705"/>
            </a:xfrm>
            <a:prstGeom prst="rect">
              <a:avLst/>
            </a:prstGeom>
          </p:spPr>
          <p:txBody>
            <a:bodyPr anchor="ctr" rtlCol="false" tIns="50800" lIns="50800" bIns="50800" rIns="50800"/>
            <a:lstStyle/>
            <a:p>
              <a:pPr algn="ctr">
                <a:lnSpc>
                  <a:spcPts val="2236"/>
                </a:lnSpc>
              </a:pPr>
            </a:p>
          </p:txBody>
        </p:sp>
      </p:grpSp>
      <p:sp>
        <p:nvSpPr>
          <p:cNvPr name="Freeform 14" id="14"/>
          <p:cNvSpPr/>
          <p:nvPr/>
        </p:nvSpPr>
        <p:spPr>
          <a:xfrm flipH="false" flipV="false" rot="0">
            <a:off x="0" y="6303339"/>
            <a:ext cx="3003804" cy="4114800"/>
          </a:xfrm>
          <a:custGeom>
            <a:avLst/>
            <a:gdLst/>
            <a:ahLst/>
            <a:cxnLst/>
            <a:rect r="r" b="b" t="t" l="l"/>
            <a:pathLst>
              <a:path h="4114800" w="3003804">
                <a:moveTo>
                  <a:pt x="0" y="0"/>
                </a:moveTo>
                <a:lnTo>
                  <a:pt x="3003804" y="0"/>
                </a:lnTo>
                <a:lnTo>
                  <a:pt x="300380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FAF7F2"/>
                </a:solidFill>
                <a:latin typeface="Akzidenz-Grotesk"/>
                <a:ea typeface="Akzidenz-Grotesk"/>
                <a:cs typeface="Akzidenz-Grotesk"/>
                <a:sym typeface="Akzidenz-Grotesk"/>
              </a:rPr>
              <a:t>Catuera</a:t>
            </a:r>
          </a:p>
        </p:txBody>
      </p:sp>
      <p:sp>
        <p:nvSpPr>
          <p:cNvPr name="TextBox 16" id="16"/>
          <p:cNvSpPr txBox="true"/>
          <p:nvPr/>
        </p:nvSpPr>
        <p:spPr>
          <a:xfrm rot="0">
            <a:off x="8139286" y="1095680"/>
            <a:ext cx="7570003" cy="651755"/>
          </a:xfrm>
          <a:prstGeom prst="rect">
            <a:avLst/>
          </a:prstGeom>
        </p:spPr>
        <p:txBody>
          <a:bodyPr anchor="t" rtlCol="false" tIns="0" lIns="0" bIns="0" rIns="0">
            <a:spAutoFit/>
          </a:bodyPr>
          <a:lstStyle/>
          <a:p>
            <a:pPr algn="ctr">
              <a:lnSpc>
                <a:spcPts val="5232"/>
              </a:lnSpc>
            </a:pPr>
            <a:r>
              <a:rPr lang="en-US" sz="3737">
                <a:solidFill>
                  <a:srgbClr val="FAF7F2"/>
                </a:solidFill>
                <a:latin typeface="Benne"/>
                <a:ea typeface="Benne"/>
                <a:cs typeface="Benne"/>
                <a:sym typeface="Benne"/>
              </a:rPr>
              <a:t>Commu</a:t>
            </a:r>
            <a:r>
              <a:rPr lang="en-US" sz="3737">
                <a:solidFill>
                  <a:srgbClr val="FAF7F2"/>
                </a:solidFill>
                <a:latin typeface="Benne"/>
                <a:ea typeface="Benne"/>
                <a:cs typeface="Benne"/>
                <a:sym typeface="Benne"/>
              </a:rPr>
              <a:t>nication &amp; Employee Education</a:t>
            </a:r>
          </a:p>
        </p:txBody>
      </p:sp>
      <p:sp>
        <p:nvSpPr>
          <p:cNvPr name="TextBox 17" id="17"/>
          <p:cNvSpPr txBox="true"/>
          <p:nvPr/>
        </p:nvSpPr>
        <p:spPr>
          <a:xfrm rot="0">
            <a:off x="10697936" y="5554226"/>
            <a:ext cx="5640982" cy="3070565"/>
          </a:xfrm>
          <a:prstGeom prst="rect">
            <a:avLst/>
          </a:prstGeom>
        </p:spPr>
        <p:txBody>
          <a:bodyPr anchor="t" rtlCol="false" tIns="0" lIns="0" bIns="0" rIns="0">
            <a:spAutoFit/>
          </a:bodyPr>
          <a:lstStyle/>
          <a:p>
            <a:pPr algn="ctr">
              <a:lnSpc>
                <a:spcPts val="4006"/>
              </a:lnSpc>
            </a:pPr>
            <a:r>
              <a:rPr lang="en-US" sz="2861" spc="231">
                <a:solidFill>
                  <a:srgbClr val="FAF7F2"/>
                </a:solidFill>
                <a:latin typeface="Akzidenz-Grotesk Light"/>
                <a:ea typeface="Akzidenz-Grotesk Light"/>
                <a:cs typeface="Akzidenz-Grotesk Light"/>
                <a:sym typeface="Akzidenz-Grotesk Light"/>
              </a:rPr>
              <a:t>Equip</a:t>
            </a:r>
            <a:r>
              <a:rPr lang="en-US" sz="2861" spc="231">
                <a:solidFill>
                  <a:srgbClr val="FAF7F2"/>
                </a:solidFill>
                <a:latin typeface="Akzidenz-Grotesk Light"/>
                <a:ea typeface="Akzidenz-Grotesk Light"/>
                <a:cs typeface="Akzidenz-Grotesk Light"/>
                <a:sym typeface="Akzidenz-Grotesk Light"/>
              </a:rPr>
              <a:t>ping employees through targeted awareness campaigns, phishing simulations, and clear guidelines ensures that human error is minimized at the front line of defense.</a:t>
            </a:r>
          </a:p>
        </p:txBody>
      </p:sp>
      <p:sp>
        <p:nvSpPr>
          <p:cNvPr name="TextBox 18" id="18"/>
          <p:cNvSpPr txBox="true"/>
          <p:nvPr/>
        </p:nvSpPr>
        <p:spPr>
          <a:xfrm rot="0">
            <a:off x="9144000" y="4625272"/>
            <a:ext cx="5984884" cy="533400"/>
          </a:xfrm>
          <a:prstGeom prst="rect">
            <a:avLst/>
          </a:prstGeom>
        </p:spPr>
        <p:txBody>
          <a:bodyPr anchor="t" rtlCol="false" tIns="0" lIns="0" bIns="0" rIns="0">
            <a:spAutoFit/>
          </a:bodyPr>
          <a:lstStyle/>
          <a:p>
            <a:pPr algn="ctr" marL="0" indent="0" lvl="0">
              <a:lnSpc>
                <a:spcPts val="4200"/>
              </a:lnSpc>
            </a:pPr>
            <a:r>
              <a:rPr lang="en-US" b="true" sz="3000" spc="242">
                <a:solidFill>
                  <a:srgbClr val="FAF7F2"/>
                </a:solidFill>
                <a:latin typeface="The Seasons Bold"/>
                <a:ea typeface="The Seasons Bold"/>
                <a:cs typeface="The Seasons Bold"/>
                <a:sym typeface="The Seasons Bold"/>
              </a:rPr>
              <a:t>Continuous Security Training</a:t>
            </a:r>
          </a:p>
        </p:txBody>
      </p:sp>
      <p:sp>
        <p:nvSpPr>
          <p:cNvPr name="TextBox 19" id="19"/>
          <p:cNvSpPr txBox="true"/>
          <p:nvPr/>
        </p:nvSpPr>
        <p:spPr>
          <a:xfrm rot="0">
            <a:off x="702833" y="948042"/>
            <a:ext cx="6260880" cy="1027219"/>
          </a:xfrm>
          <a:prstGeom prst="rect">
            <a:avLst/>
          </a:prstGeom>
        </p:spPr>
        <p:txBody>
          <a:bodyPr anchor="t" rtlCol="false" tIns="0" lIns="0" bIns="0" rIns="0">
            <a:spAutoFit/>
          </a:bodyPr>
          <a:lstStyle/>
          <a:p>
            <a:pPr algn="ctr" marL="0" indent="0" lvl="0">
              <a:lnSpc>
                <a:spcPts val="4036"/>
              </a:lnSpc>
            </a:pPr>
            <a:r>
              <a:rPr lang="en-US" sz="3604">
                <a:solidFill>
                  <a:srgbClr val="291E18"/>
                </a:solidFill>
                <a:latin typeface="Benne"/>
                <a:ea typeface="Benne"/>
                <a:cs typeface="Benne"/>
                <a:sym typeface="Benne"/>
              </a:rPr>
              <a:t>Polic</a:t>
            </a:r>
            <a:r>
              <a:rPr lang="en-US" sz="3604">
                <a:solidFill>
                  <a:srgbClr val="291E18"/>
                </a:solidFill>
                <a:latin typeface="Benne"/>
                <a:ea typeface="Benne"/>
                <a:cs typeface="Benne"/>
                <a:sym typeface="Benne"/>
              </a:rPr>
              <a:t>y Development &amp; Implementation</a:t>
            </a:r>
          </a:p>
        </p:txBody>
      </p:sp>
    </p:spTree>
  </p:cSld>
  <p:clrMapOvr>
    <a:masterClrMapping/>
  </p:clrMapOvr>
  <p:transition spd="fast">
    <p:fade/>
  </p:transition>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AF7F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299194" cy="3553222"/>
          </a:xfrm>
          <a:custGeom>
            <a:avLst/>
            <a:gdLst/>
            <a:ahLst/>
            <a:cxnLst/>
            <a:rect r="r" b="b" t="t" l="l"/>
            <a:pathLst>
              <a:path h="3553222" w="10299194">
                <a:moveTo>
                  <a:pt x="0" y="0"/>
                </a:moveTo>
                <a:lnTo>
                  <a:pt x="10299194" y="0"/>
                </a:lnTo>
                <a:lnTo>
                  <a:pt x="10299194" y="3553222"/>
                </a:lnTo>
                <a:lnTo>
                  <a:pt x="0" y="3553222"/>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89320" y="902437"/>
            <a:ext cx="6487905" cy="953572"/>
            <a:chOff x="0" y="0"/>
            <a:chExt cx="2181775" cy="320670"/>
          </a:xfrm>
        </p:grpSpPr>
        <p:sp>
          <p:nvSpPr>
            <p:cNvPr name="Freeform 4" id="4"/>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291E18"/>
            </a:solidFill>
          </p:spPr>
        </p:sp>
        <p:sp>
          <p:nvSpPr>
            <p:cNvPr name="TextBox 5" id="5"/>
            <p:cNvSpPr txBox="true"/>
            <p:nvPr/>
          </p:nvSpPr>
          <p:spPr>
            <a:xfrm>
              <a:off x="0" y="-57150"/>
              <a:ext cx="2181775" cy="377820"/>
            </a:xfrm>
            <a:prstGeom prst="rect">
              <a:avLst/>
            </a:prstGeom>
          </p:spPr>
          <p:txBody>
            <a:bodyPr anchor="ctr" rtlCol="false" tIns="50800" lIns="50800" bIns="50800" rIns="50800"/>
            <a:lstStyle/>
            <a:p>
              <a:pPr algn="ctr">
                <a:lnSpc>
                  <a:spcPts val="2236"/>
                </a:lnSpc>
              </a:pPr>
            </a:p>
          </p:txBody>
        </p:sp>
      </p:grpSp>
      <p:sp>
        <p:nvSpPr>
          <p:cNvPr name="TextBox 6" id="6"/>
          <p:cNvSpPr txBox="true"/>
          <p:nvPr/>
        </p:nvSpPr>
        <p:spPr>
          <a:xfrm rot="0">
            <a:off x="702833" y="1197474"/>
            <a:ext cx="6260880" cy="528355"/>
          </a:xfrm>
          <a:prstGeom prst="rect">
            <a:avLst/>
          </a:prstGeom>
        </p:spPr>
        <p:txBody>
          <a:bodyPr anchor="t" rtlCol="false" tIns="0" lIns="0" bIns="0" rIns="0">
            <a:spAutoFit/>
          </a:bodyPr>
          <a:lstStyle/>
          <a:p>
            <a:pPr algn="ctr" marL="0" indent="0" lvl="0">
              <a:lnSpc>
                <a:spcPts val="4087"/>
              </a:lnSpc>
            </a:pPr>
            <a:r>
              <a:rPr lang="en-US" sz="3649">
                <a:solidFill>
                  <a:srgbClr val="FAF7F2"/>
                </a:solidFill>
                <a:latin typeface="Benne"/>
                <a:ea typeface="Benne"/>
                <a:cs typeface="Benne"/>
                <a:sym typeface="Benne"/>
              </a:rPr>
              <a:t>System Security Plan</a:t>
            </a:r>
          </a:p>
        </p:txBody>
      </p:sp>
      <p:grpSp>
        <p:nvGrpSpPr>
          <p:cNvPr name="Group 7" id="7"/>
          <p:cNvGrpSpPr/>
          <p:nvPr/>
        </p:nvGrpSpPr>
        <p:grpSpPr>
          <a:xfrm rot="0">
            <a:off x="582465" y="836315"/>
            <a:ext cx="6501616" cy="1085815"/>
            <a:chOff x="0" y="0"/>
            <a:chExt cx="2186386" cy="365141"/>
          </a:xfrm>
        </p:grpSpPr>
        <p:sp>
          <p:nvSpPr>
            <p:cNvPr name="Freeform 8" id="8"/>
            <p:cNvSpPr/>
            <p:nvPr/>
          </p:nvSpPr>
          <p:spPr>
            <a:xfrm flipH="false" flipV="false" rot="0">
              <a:off x="0" y="0"/>
              <a:ext cx="2186386" cy="365141"/>
            </a:xfrm>
            <a:custGeom>
              <a:avLst/>
              <a:gdLst/>
              <a:ahLst/>
              <a:cxnLst/>
              <a:rect r="r" b="b" t="t" l="l"/>
              <a:pathLst>
                <a:path h="365141" w="2186386">
                  <a:moveTo>
                    <a:pt x="60729" y="0"/>
                  </a:moveTo>
                  <a:lnTo>
                    <a:pt x="2125656" y="0"/>
                  </a:lnTo>
                  <a:cubicBezTo>
                    <a:pt x="2141763" y="0"/>
                    <a:pt x="2157209" y="6398"/>
                    <a:pt x="2168598" y="17787"/>
                  </a:cubicBezTo>
                  <a:cubicBezTo>
                    <a:pt x="2179987" y="29176"/>
                    <a:pt x="2186386" y="44623"/>
                    <a:pt x="2186386" y="60729"/>
                  </a:cubicBezTo>
                  <a:lnTo>
                    <a:pt x="2186386" y="304412"/>
                  </a:lnTo>
                  <a:cubicBezTo>
                    <a:pt x="2186386" y="320519"/>
                    <a:pt x="2179987" y="335965"/>
                    <a:pt x="2168598" y="347354"/>
                  </a:cubicBezTo>
                  <a:cubicBezTo>
                    <a:pt x="2157209" y="358743"/>
                    <a:pt x="2141763" y="365141"/>
                    <a:pt x="2125656" y="365141"/>
                  </a:cubicBezTo>
                  <a:lnTo>
                    <a:pt x="60729" y="365141"/>
                  </a:lnTo>
                  <a:cubicBezTo>
                    <a:pt x="44623" y="365141"/>
                    <a:pt x="29176" y="358743"/>
                    <a:pt x="17787" y="347354"/>
                  </a:cubicBezTo>
                  <a:cubicBezTo>
                    <a:pt x="6398" y="335965"/>
                    <a:pt x="0" y="320519"/>
                    <a:pt x="0" y="304412"/>
                  </a:cubicBezTo>
                  <a:lnTo>
                    <a:pt x="0" y="60729"/>
                  </a:lnTo>
                  <a:cubicBezTo>
                    <a:pt x="0" y="44623"/>
                    <a:pt x="6398" y="29176"/>
                    <a:pt x="17787" y="17787"/>
                  </a:cubicBezTo>
                  <a:cubicBezTo>
                    <a:pt x="29176" y="6398"/>
                    <a:pt x="44623" y="0"/>
                    <a:pt x="60729" y="0"/>
                  </a:cubicBezTo>
                  <a:close/>
                </a:path>
              </a:pathLst>
            </a:custGeom>
            <a:solidFill>
              <a:srgbClr val="77523A"/>
            </a:solidFill>
          </p:spPr>
        </p:sp>
        <p:sp>
          <p:nvSpPr>
            <p:cNvPr name="TextBox 9" id="9"/>
            <p:cNvSpPr txBox="true"/>
            <p:nvPr/>
          </p:nvSpPr>
          <p:spPr>
            <a:xfrm>
              <a:off x="0" y="-57150"/>
              <a:ext cx="2186386" cy="422291"/>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2219110" y="2882994"/>
            <a:ext cx="9073787" cy="1555731"/>
          </a:xfrm>
          <a:prstGeom prst="rect">
            <a:avLst/>
          </a:prstGeom>
        </p:spPr>
        <p:txBody>
          <a:bodyPr anchor="t" rtlCol="false" tIns="0" lIns="0" bIns="0" rIns="0">
            <a:spAutoFit/>
          </a:bodyPr>
          <a:lstStyle/>
          <a:p>
            <a:pPr algn="ctr">
              <a:lnSpc>
                <a:spcPts val="4026"/>
              </a:lnSpc>
            </a:pPr>
            <a:r>
              <a:rPr lang="en-US" sz="2875" spc="232">
                <a:solidFill>
                  <a:srgbClr val="563721"/>
                </a:solidFill>
                <a:latin typeface="Akzidenz-Grotesk"/>
                <a:ea typeface="Akzidenz-Grotesk"/>
                <a:cs typeface="Akzidenz-Grotesk"/>
                <a:sym typeface="Akzidenz-Grotesk"/>
              </a:rPr>
              <a:t>M</a:t>
            </a:r>
            <a:r>
              <a:rPr lang="en-US" sz="2875" spc="232">
                <a:solidFill>
                  <a:srgbClr val="563721"/>
                </a:solidFill>
                <a:latin typeface="Akzidenz-Grotesk"/>
                <a:ea typeface="Akzidenz-Grotesk"/>
                <a:cs typeface="Akzidenz-Grotesk"/>
                <a:sym typeface="Akzidenz-Grotesk"/>
              </a:rPr>
              <a:t>andating anti-malware, host-based firewalls, and full-disk encryption across all corporate and connected devices.</a:t>
            </a:r>
          </a:p>
        </p:txBody>
      </p:sp>
      <p:sp>
        <p:nvSpPr>
          <p:cNvPr name="Freeform 11" id="11"/>
          <p:cNvSpPr/>
          <p:nvPr/>
        </p:nvSpPr>
        <p:spPr>
          <a:xfrm flipH="false" flipV="false" rot="1593224">
            <a:off x="1344820" y="2958625"/>
            <a:ext cx="1075495" cy="317271"/>
          </a:xfrm>
          <a:custGeom>
            <a:avLst/>
            <a:gdLst/>
            <a:ahLst/>
            <a:cxnLst/>
            <a:rect r="r" b="b" t="t" l="l"/>
            <a:pathLst>
              <a:path h="317271" w="1075495">
                <a:moveTo>
                  <a:pt x="0" y="0"/>
                </a:moveTo>
                <a:lnTo>
                  <a:pt x="1075495" y="0"/>
                </a:lnTo>
                <a:lnTo>
                  <a:pt x="1075495" y="317271"/>
                </a:lnTo>
                <a:lnTo>
                  <a:pt x="0" y="317271"/>
                </a:lnTo>
                <a:lnTo>
                  <a:pt x="0" y="0"/>
                </a:lnTo>
                <a:close/>
              </a:path>
            </a:pathLst>
          </a:custGeom>
          <a:blipFill>
            <a:blip r:embed="rId4">
              <a:alphaModFix amt="55000"/>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9026871" y="5805690"/>
            <a:ext cx="9073787" cy="1555731"/>
          </a:xfrm>
          <a:prstGeom prst="rect">
            <a:avLst/>
          </a:prstGeom>
        </p:spPr>
        <p:txBody>
          <a:bodyPr anchor="t" rtlCol="false" tIns="0" lIns="0" bIns="0" rIns="0">
            <a:spAutoFit/>
          </a:bodyPr>
          <a:lstStyle/>
          <a:p>
            <a:pPr algn="ctr">
              <a:lnSpc>
                <a:spcPts val="4026"/>
              </a:lnSpc>
            </a:pPr>
            <a:r>
              <a:rPr lang="en-US" sz="2875" spc="232">
                <a:solidFill>
                  <a:srgbClr val="563721"/>
                </a:solidFill>
                <a:latin typeface="Akzidenz-Grotesk"/>
                <a:ea typeface="Akzidenz-Grotesk"/>
                <a:cs typeface="Akzidenz-Grotesk"/>
                <a:sym typeface="Akzidenz-Grotesk"/>
              </a:rPr>
              <a:t>E</a:t>
            </a:r>
            <a:r>
              <a:rPr lang="en-US" sz="2875" spc="232">
                <a:solidFill>
                  <a:srgbClr val="563721"/>
                </a:solidFill>
                <a:latin typeface="Akzidenz-Grotesk"/>
                <a:ea typeface="Akzidenz-Grotesk"/>
                <a:cs typeface="Akzidenz-Grotesk"/>
                <a:sym typeface="Akzidenz-Grotesk"/>
              </a:rPr>
              <a:t>nforcing containerization and remote-wipe capabilities for personal devices handling organizational data assets</a:t>
            </a:r>
          </a:p>
        </p:txBody>
      </p:sp>
      <p:sp>
        <p:nvSpPr>
          <p:cNvPr name="Freeform 13" id="13"/>
          <p:cNvSpPr/>
          <p:nvPr/>
        </p:nvSpPr>
        <p:spPr>
          <a:xfrm flipH="false" flipV="true" rot="0">
            <a:off x="7084080" y="5143500"/>
            <a:ext cx="6193095" cy="681240"/>
          </a:xfrm>
          <a:custGeom>
            <a:avLst/>
            <a:gdLst/>
            <a:ahLst/>
            <a:cxnLst/>
            <a:rect r="r" b="b" t="t" l="l"/>
            <a:pathLst>
              <a:path h="681240" w="6193095">
                <a:moveTo>
                  <a:pt x="0" y="681240"/>
                </a:moveTo>
                <a:lnTo>
                  <a:pt x="6193096" y="681240"/>
                </a:lnTo>
                <a:lnTo>
                  <a:pt x="6193096" y="0"/>
                </a:lnTo>
                <a:lnTo>
                  <a:pt x="0" y="0"/>
                </a:lnTo>
                <a:lnTo>
                  <a:pt x="0" y="68124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7510594" y="5163656"/>
            <a:ext cx="5340068" cy="533400"/>
          </a:xfrm>
          <a:prstGeom prst="rect">
            <a:avLst/>
          </a:prstGeom>
        </p:spPr>
        <p:txBody>
          <a:bodyPr anchor="t" rtlCol="false" tIns="0" lIns="0" bIns="0" rIns="0">
            <a:spAutoFit/>
          </a:bodyPr>
          <a:lstStyle/>
          <a:p>
            <a:pPr algn="ctr" marL="0" indent="0" lvl="0">
              <a:lnSpc>
                <a:spcPts val="4200"/>
              </a:lnSpc>
            </a:pPr>
            <a:r>
              <a:rPr lang="en-US" b="true" sz="3000" spc="242">
                <a:solidFill>
                  <a:srgbClr val="FFEBCD"/>
                </a:solidFill>
                <a:latin typeface="The Seasons Bold"/>
                <a:ea typeface="The Seasons Bold"/>
                <a:cs typeface="The Seasons Bold"/>
                <a:sym typeface="The Seasons Bold"/>
              </a:rPr>
              <a:t>BYOD Governance</a:t>
            </a:r>
          </a:p>
        </p:txBody>
      </p:sp>
      <p:sp>
        <p:nvSpPr>
          <p:cNvPr name="Freeform 15" id="15"/>
          <p:cNvSpPr/>
          <p:nvPr/>
        </p:nvSpPr>
        <p:spPr>
          <a:xfrm flipH="false" flipV="false" rot="1593224">
            <a:off x="8152582" y="5881321"/>
            <a:ext cx="1075495" cy="317271"/>
          </a:xfrm>
          <a:custGeom>
            <a:avLst/>
            <a:gdLst/>
            <a:ahLst/>
            <a:cxnLst/>
            <a:rect r="r" b="b" t="t" l="l"/>
            <a:pathLst>
              <a:path h="317271" w="1075495">
                <a:moveTo>
                  <a:pt x="0" y="0"/>
                </a:moveTo>
                <a:lnTo>
                  <a:pt x="1075495" y="0"/>
                </a:lnTo>
                <a:lnTo>
                  <a:pt x="1075495" y="317271"/>
                </a:lnTo>
                <a:lnTo>
                  <a:pt x="0" y="317271"/>
                </a:lnTo>
                <a:lnTo>
                  <a:pt x="0" y="0"/>
                </a:lnTo>
                <a:close/>
              </a:path>
            </a:pathLst>
          </a:custGeom>
          <a:blipFill>
            <a:blip r:embed="rId4">
              <a:alphaModFix amt="55000"/>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2532111" y="8136174"/>
            <a:ext cx="9073787" cy="1555731"/>
          </a:xfrm>
          <a:prstGeom prst="rect">
            <a:avLst/>
          </a:prstGeom>
        </p:spPr>
        <p:txBody>
          <a:bodyPr anchor="t" rtlCol="false" tIns="0" lIns="0" bIns="0" rIns="0">
            <a:spAutoFit/>
          </a:bodyPr>
          <a:lstStyle/>
          <a:p>
            <a:pPr algn="ctr">
              <a:lnSpc>
                <a:spcPts val="4026"/>
              </a:lnSpc>
            </a:pPr>
            <a:r>
              <a:rPr lang="en-US" sz="2875" spc="232">
                <a:solidFill>
                  <a:srgbClr val="563721"/>
                </a:solidFill>
                <a:latin typeface="Akzidenz-Grotesk"/>
                <a:ea typeface="Akzidenz-Grotesk"/>
                <a:cs typeface="Akzidenz-Grotesk"/>
                <a:sym typeface="Akzidenz-Grotesk"/>
              </a:rPr>
              <a:t>Requir</a:t>
            </a:r>
            <a:r>
              <a:rPr lang="en-US" sz="2875" spc="232">
                <a:solidFill>
                  <a:srgbClr val="563721"/>
                </a:solidFill>
                <a:latin typeface="Akzidenz-Grotesk"/>
                <a:ea typeface="Akzidenz-Grotesk"/>
                <a:cs typeface="Akzidenz-Grotesk"/>
                <a:sym typeface="Akzidenz-Grotesk"/>
              </a:rPr>
              <a:t>ing encrypted virtual private networks (VPNs) and zero-trust verification channels for off-site connections</a:t>
            </a:r>
          </a:p>
        </p:txBody>
      </p:sp>
      <p:sp>
        <p:nvSpPr>
          <p:cNvPr name="Freeform 17" id="17"/>
          <p:cNvSpPr/>
          <p:nvPr/>
        </p:nvSpPr>
        <p:spPr>
          <a:xfrm flipH="false" flipV="true" rot="0">
            <a:off x="589320" y="7470830"/>
            <a:ext cx="6193095" cy="681240"/>
          </a:xfrm>
          <a:custGeom>
            <a:avLst/>
            <a:gdLst/>
            <a:ahLst/>
            <a:cxnLst/>
            <a:rect r="r" b="b" t="t" l="l"/>
            <a:pathLst>
              <a:path h="681240" w="6193095">
                <a:moveTo>
                  <a:pt x="0" y="681240"/>
                </a:moveTo>
                <a:lnTo>
                  <a:pt x="6193096" y="681240"/>
                </a:lnTo>
                <a:lnTo>
                  <a:pt x="6193096" y="0"/>
                </a:lnTo>
                <a:lnTo>
                  <a:pt x="0" y="0"/>
                </a:lnTo>
                <a:lnTo>
                  <a:pt x="0" y="68124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015834" y="7494140"/>
            <a:ext cx="5340068" cy="533400"/>
          </a:xfrm>
          <a:prstGeom prst="rect">
            <a:avLst/>
          </a:prstGeom>
        </p:spPr>
        <p:txBody>
          <a:bodyPr anchor="t" rtlCol="false" tIns="0" lIns="0" bIns="0" rIns="0">
            <a:spAutoFit/>
          </a:bodyPr>
          <a:lstStyle/>
          <a:p>
            <a:pPr algn="ctr" marL="0" indent="0" lvl="0">
              <a:lnSpc>
                <a:spcPts val="4200"/>
              </a:lnSpc>
            </a:pPr>
            <a:r>
              <a:rPr lang="en-US" b="true" sz="3000" spc="242">
                <a:solidFill>
                  <a:srgbClr val="FFEBCD"/>
                </a:solidFill>
                <a:latin typeface="The Seasons Bold"/>
                <a:ea typeface="The Seasons Bold"/>
                <a:cs typeface="The Seasons Bold"/>
                <a:sym typeface="The Seasons Bold"/>
              </a:rPr>
              <a:t>Secure Remote Links</a:t>
            </a:r>
          </a:p>
        </p:txBody>
      </p:sp>
      <p:sp>
        <p:nvSpPr>
          <p:cNvPr name="Freeform 19" id="19"/>
          <p:cNvSpPr/>
          <p:nvPr/>
        </p:nvSpPr>
        <p:spPr>
          <a:xfrm flipH="false" flipV="false" rot="1593224">
            <a:off x="1657822" y="8211805"/>
            <a:ext cx="1075495" cy="317271"/>
          </a:xfrm>
          <a:custGeom>
            <a:avLst/>
            <a:gdLst/>
            <a:ahLst/>
            <a:cxnLst/>
            <a:rect r="r" b="b" t="t" l="l"/>
            <a:pathLst>
              <a:path h="317271" w="1075495">
                <a:moveTo>
                  <a:pt x="0" y="0"/>
                </a:moveTo>
                <a:lnTo>
                  <a:pt x="1075494" y="0"/>
                </a:lnTo>
                <a:lnTo>
                  <a:pt x="1075494" y="317271"/>
                </a:lnTo>
                <a:lnTo>
                  <a:pt x="0" y="317271"/>
                </a:lnTo>
                <a:lnTo>
                  <a:pt x="0" y="0"/>
                </a:lnTo>
                <a:close/>
              </a:path>
            </a:pathLst>
          </a:custGeom>
          <a:blipFill>
            <a:blip r:embed="rId4">
              <a:alphaModFix amt="55000"/>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true" rot="0">
            <a:off x="400609" y="2205140"/>
            <a:ext cx="6193095" cy="681240"/>
          </a:xfrm>
          <a:custGeom>
            <a:avLst/>
            <a:gdLst/>
            <a:ahLst/>
            <a:cxnLst/>
            <a:rect r="r" b="b" t="t" l="l"/>
            <a:pathLst>
              <a:path h="681240" w="6193095">
                <a:moveTo>
                  <a:pt x="0" y="681240"/>
                </a:moveTo>
                <a:lnTo>
                  <a:pt x="6193095" y="681240"/>
                </a:lnTo>
                <a:lnTo>
                  <a:pt x="6193095" y="0"/>
                </a:lnTo>
                <a:lnTo>
                  <a:pt x="0" y="0"/>
                </a:lnTo>
                <a:lnTo>
                  <a:pt x="0" y="68124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291E18"/>
                </a:solidFill>
                <a:latin typeface="Akzidenz-Grotesk"/>
                <a:ea typeface="Akzidenz-Grotesk"/>
                <a:cs typeface="Akzidenz-Grotesk"/>
                <a:sym typeface="Akzidenz-Grotesk"/>
              </a:rPr>
              <a:t>Catuera</a:t>
            </a:r>
          </a:p>
        </p:txBody>
      </p:sp>
      <p:sp>
        <p:nvSpPr>
          <p:cNvPr name="TextBox 22" id="22"/>
          <p:cNvSpPr txBox="true"/>
          <p:nvPr/>
        </p:nvSpPr>
        <p:spPr>
          <a:xfrm rot="0">
            <a:off x="8392511" y="1064124"/>
            <a:ext cx="7187816" cy="562928"/>
          </a:xfrm>
          <a:prstGeom prst="rect">
            <a:avLst/>
          </a:prstGeom>
        </p:spPr>
        <p:txBody>
          <a:bodyPr anchor="t" rtlCol="false" tIns="0" lIns="0" bIns="0" rIns="0">
            <a:spAutoFit/>
          </a:bodyPr>
          <a:lstStyle/>
          <a:p>
            <a:pPr algn="ctr">
              <a:lnSpc>
                <a:spcPts val="4147"/>
              </a:lnSpc>
            </a:pPr>
            <a:r>
              <a:rPr lang="en-US" b="true" sz="2962" spc="239">
                <a:solidFill>
                  <a:srgbClr val="503E31"/>
                </a:solidFill>
                <a:latin typeface="Akzidenz-Grotesk Bold"/>
                <a:ea typeface="Akzidenz-Grotesk Bold"/>
                <a:cs typeface="Akzidenz-Grotesk Bold"/>
                <a:sym typeface="Akzidenz-Grotesk Bold"/>
              </a:rPr>
              <a:t>Device </a:t>
            </a:r>
            <a:r>
              <a:rPr lang="en-US" b="true" sz="2962" spc="239">
                <a:solidFill>
                  <a:srgbClr val="503E31"/>
                </a:solidFill>
                <a:latin typeface="Akzidenz-Grotesk Bold"/>
                <a:ea typeface="Akzidenz-Grotesk Bold"/>
                <a:cs typeface="Akzidenz-Grotesk Bold"/>
                <a:sym typeface="Akzidenz-Grotesk Bold"/>
              </a:rPr>
              <a:t>Security &amp; Remote Access</a:t>
            </a:r>
          </a:p>
        </p:txBody>
      </p:sp>
      <p:sp>
        <p:nvSpPr>
          <p:cNvPr name="TextBox 23" id="23"/>
          <p:cNvSpPr txBox="true"/>
          <p:nvPr/>
        </p:nvSpPr>
        <p:spPr>
          <a:xfrm rot="0">
            <a:off x="702833" y="948042"/>
            <a:ext cx="6260880" cy="1027219"/>
          </a:xfrm>
          <a:prstGeom prst="rect">
            <a:avLst/>
          </a:prstGeom>
        </p:spPr>
        <p:txBody>
          <a:bodyPr anchor="t" rtlCol="false" tIns="0" lIns="0" bIns="0" rIns="0">
            <a:spAutoFit/>
          </a:bodyPr>
          <a:lstStyle/>
          <a:p>
            <a:pPr algn="ctr" marL="0" indent="0" lvl="0">
              <a:lnSpc>
                <a:spcPts val="4036"/>
              </a:lnSpc>
            </a:pPr>
            <a:r>
              <a:rPr lang="en-US" sz="3604">
                <a:solidFill>
                  <a:srgbClr val="FAF7F2"/>
                </a:solidFill>
                <a:latin typeface="Benne"/>
                <a:ea typeface="Benne"/>
                <a:cs typeface="Benne"/>
                <a:sym typeface="Benne"/>
              </a:rPr>
              <a:t>Polic</a:t>
            </a:r>
            <a:r>
              <a:rPr lang="en-US" sz="3604">
                <a:solidFill>
                  <a:srgbClr val="FAF7F2"/>
                </a:solidFill>
                <a:latin typeface="Benne"/>
                <a:ea typeface="Benne"/>
                <a:cs typeface="Benne"/>
                <a:sym typeface="Benne"/>
              </a:rPr>
              <a:t>y Development &amp; Implementation</a:t>
            </a:r>
          </a:p>
        </p:txBody>
      </p:sp>
      <p:sp>
        <p:nvSpPr>
          <p:cNvPr name="TextBox 24" id="24"/>
          <p:cNvSpPr txBox="true"/>
          <p:nvPr/>
        </p:nvSpPr>
        <p:spPr>
          <a:xfrm rot="0">
            <a:off x="702833" y="2240960"/>
            <a:ext cx="5340068" cy="533400"/>
          </a:xfrm>
          <a:prstGeom prst="rect">
            <a:avLst/>
          </a:prstGeom>
        </p:spPr>
        <p:txBody>
          <a:bodyPr anchor="t" rtlCol="false" tIns="0" lIns="0" bIns="0" rIns="0">
            <a:spAutoFit/>
          </a:bodyPr>
          <a:lstStyle/>
          <a:p>
            <a:pPr algn="ctr" marL="0" indent="0" lvl="0">
              <a:lnSpc>
                <a:spcPts val="4200"/>
              </a:lnSpc>
            </a:pPr>
            <a:r>
              <a:rPr lang="en-US" b="true" sz="3000" spc="242">
                <a:solidFill>
                  <a:srgbClr val="FFEBCD"/>
                </a:solidFill>
                <a:latin typeface="The Seasons Bold"/>
                <a:ea typeface="The Seasons Bold"/>
                <a:cs typeface="The Seasons Bold"/>
                <a:sym typeface="The Seasons Bold"/>
              </a:rPr>
              <a:t>Endpoint Protection</a:t>
            </a:r>
          </a:p>
        </p:txBody>
      </p:sp>
    </p:spTree>
  </p:cSld>
  <p:clrMapOvr>
    <a:masterClrMapping/>
  </p:clrMapOvr>
  <p:transition spd="fast">
    <p:fade/>
  </p:transition>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grpSp>
        <p:nvGrpSpPr>
          <p:cNvPr name="Group 2" id="2"/>
          <p:cNvGrpSpPr/>
          <p:nvPr/>
        </p:nvGrpSpPr>
        <p:grpSpPr>
          <a:xfrm rot="0">
            <a:off x="589320" y="902437"/>
            <a:ext cx="6487905" cy="953572"/>
            <a:chOff x="0" y="0"/>
            <a:chExt cx="2181775" cy="320670"/>
          </a:xfrm>
        </p:grpSpPr>
        <p:sp>
          <p:nvSpPr>
            <p:cNvPr name="Freeform 3" id="3"/>
            <p:cNvSpPr/>
            <p:nvPr/>
          </p:nvSpPr>
          <p:spPr>
            <a:xfrm flipH="false" flipV="false" rot="0">
              <a:off x="0" y="0"/>
              <a:ext cx="2181775" cy="320670"/>
            </a:xfrm>
            <a:custGeom>
              <a:avLst/>
              <a:gdLst/>
              <a:ahLst/>
              <a:cxnLst/>
              <a:rect r="r" b="b" t="t" l="l"/>
              <a:pathLst>
                <a:path h="320670" w="2181775">
                  <a:moveTo>
                    <a:pt x="60858" y="0"/>
                  </a:moveTo>
                  <a:lnTo>
                    <a:pt x="2120917" y="0"/>
                  </a:lnTo>
                  <a:cubicBezTo>
                    <a:pt x="2137058" y="0"/>
                    <a:pt x="2152537" y="6412"/>
                    <a:pt x="2163950" y="17825"/>
                  </a:cubicBezTo>
                  <a:cubicBezTo>
                    <a:pt x="2175363" y="29238"/>
                    <a:pt x="2181775" y="44717"/>
                    <a:pt x="2181775" y="60858"/>
                  </a:cubicBezTo>
                  <a:lnTo>
                    <a:pt x="2181775" y="259813"/>
                  </a:lnTo>
                  <a:cubicBezTo>
                    <a:pt x="2181775" y="293424"/>
                    <a:pt x="2154528" y="320670"/>
                    <a:pt x="2120917" y="320670"/>
                  </a:cubicBezTo>
                  <a:lnTo>
                    <a:pt x="60858" y="320670"/>
                  </a:lnTo>
                  <a:cubicBezTo>
                    <a:pt x="27247" y="320670"/>
                    <a:pt x="0" y="293424"/>
                    <a:pt x="0" y="259813"/>
                  </a:cubicBezTo>
                  <a:lnTo>
                    <a:pt x="0" y="60858"/>
                  </a:lnTo>
                  <a:cubicBezTo>
                    <a:pt x="0" y="27247"/>
                    <a:pt x="27247" y="0"/>
                    <a:pt x="60858" y="0"/>
                  </a:cubicBezTo>
                  <a:close/>
                </a:path>
              </a:pathLst>
            </a:custGeom>
            <a:solidFill>
              <a:srgbClr val="FFFFFF"/>
            </a:solidFill>
          </p:spPr>
        </p:sp>
        <p:sp>
          <p:nvSpPr>
            <p:cNvPr name="TextBox 4" id="4"/>
            <p:cNvSpPr txBox="true"/>
            <p:nvPr/>
          </p:nvSpPr>
          <p:spPr>
            <a:xfrm>
              <a:off x="0" y="-19050"/>
              <a:ext cx="2181775" cy="339720"/>
            </a:xfrm>
            <a:prstGeom prst="rect">
              <a:avLst/>
            </a:prstGeom>
          </p:spPr>
          <p:txBody>
            <a:bodyPr anchor="ctr" rtlCol="false" tIns="50800" lIns="50800" bIns="50800" rIns="50800"/>
            <a:lstStyle/>
            <a:p>
              <a:pPr algn="ctr">
                <a:lnSpc>
                  <a:spcPts val="2236"/>
                </a:lnSpc>
              </a:pPr>
            </a:p>
          </p:txBody>
        </p:sp>
      </p:grpSp>
      <p:sp>
        <p:nvSpPr>
          <p:cNvPr name="Freeform 5" id="5"/>
          <p:cNvSpPr/>
          <p:nvPr/>
        </p:nvSpPr>
        <p:spPr>
          <a:xfrm flipH="true" flipV="false" rot="-3183681">
            <a:off x="1792849" y="2855321"/>
            <a:ext cx="262521" cy="820379"/>
          </a:xfrm>
          <a:custGeom>
            <a:avLst/>
            <a:gdLst/>
            <a:ahLst/>
            <a:cxnLst/>
            <a:rect r="r" b="b" t="t" l="l"/>
            <a:pathLst>
              <a:path h="820379" w="262521">
                <a:moveTo>
                  <a:pt x="262522" y="0"/>
                </a:moveTo>
                <a:lnTo>
                  <a:pt x="0" y="0"/>
                </a:lnTo>
                <a:lnTo>
                  <a:pt x="0" y="820379"/>
                </a:lnTo>
                <a:lnTo>
                  <a:pt x="262522" y="820379"/>
                </a:lnTo>
                <a:lnTo>
                  <a:pt x="26252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1140899"/>
            <a:ext cx="5609145" cy="528522"/>
          </a:xfrm>
          <a:prstGeom prst="rect">
            <a:avLst/>
          </a:prstGeom>
        </p:spPr>
        <p:txBody>
          <a:bodyPr anchor="t" rtlCol="false" tIns="0" lIns="0" bIns="0" rIns="0">
            <a:spAutoFit/>
          </a:bodyPr>
          <a:lstStyle/>
          <a:p>
            <a:pPr algn="ctr" marL="0" indent="0" lvl="0">
              <a:lnSpc>
                <a:spcPts val="3662"/>
              </a:lnSpc>
            </a:pPr>
            <a:r>
              <a:rPr lang="en-US" sz="3269" spc="264">
                <a:solidFill>
                  <a:srgbClr val="563721"/>
                </a:solidFill>
                <a:latin typeface="Akzidenz-Grotesk"/>
                <a:ea typeface="Akzidenz-Grotesk"/>
                <a:cs typeface="Akzidenz-Grotesk"/>
                <a:sym typeface="Akzidenz-Grotesk"/>
              </a:rPr>
              <a:t>SYSTEM SECURITY PLAN</a:t>
            </a:r>
          </a:p>
        </p:txBody>
      </p:sp>
      <p:grpSp>
        <p:nvGrpSpPr>
          <p:cNvPr name="Group 7" id="7"/>
          <p:cNvGrpSpPr/>
          <p:nvPr/>
        </p:nvGrpSpPr>
        <p:grpSpPr>
          <a:xfrm rot="0">
            <a:off x="525705" y="830397"/>
            <a:ext cx="6615135" cy="1119755"/>
            <a:chOff x="0" y="0"/>
            <a:chExt cx="2224560" cy="376555"/>
          </a:xfrm>
        </p:grpSpPr>
        <p:sp>
          <p:nvSpPr>
            <p:cNvPr name="Freeform 8" id="8"/>
            <p:cNvSpPr/>
            <p:nvPr/>
          </p:nvSpPr>
          <p:spPr>
            <a:xfrm flipH="false" flipV="false" rot="0">
              <a:off x="0" y="0"/>
              <a:ext cx="2224560" cy="376555"/>
            </a:xfrm>
            <a:custGeom>
              <a:avLst/>
              <a:gdLst/>
              <a:ahLst/>
              <a:cxnLst/>
              <a:rect r="r" b="b" t="t" l="l"/>
              <a:pathLst>
                <a:path h="376555" w="2224560">
                  <a:moveTo>
                    <a:pt x="59687" y="0"/>
                  </a:moveTo>
                  <a:lnTo>
                    <a:pt x="2164873" y="0"/>
                  </a:lnTo>
                  <a:cubicBezTo>
                    <a:pt x="2180703" y="0"/>
                    <a:pt x="2195885" y="6288"/>
                    <a:pt x="2207078" y="17482"/>
                  </a:cubicBezTo>
                  <a:cubicBezTo>
                    <a:pt x="2218272" y="28675"/>
                    <a:pt x="2224560" y="43857"/>
                    <a:pt x="2224560" y="59687"/>
                  </a:cubicBezTo>
                  <a:lnTo>
                    <a:pt x="2224560" y="316868"/>
                  </a:lnTo>
                  <a:cubicBezTo>
                    <a:pt x="2224560" y="332698"/>
                    <a:pt x="2218272" y="347879"/>
                    <a:pt x="2207078" y="359073"/>
                  </a:cubicBezTo>
                  <a:cubicBezTo>
                    <a:pt x="2195885" y="370266"/>
                    <a:pt x="2180703" y="376555"/>
                    <a:pt x="2164873" y="376555"/>
                  </a:cubicBezTo>
                  <a:lnTo>
                    <a:pt x="59687" y="376555"/>
                  </a:lnTo>
                  <a:cubicBezTo>
                    <a:pt x="26723" y="376555"/>
                    <a:pt x="0" y="349832"/>
                    <a:pt x="0" y="316868"/>
                  </a:cubicBezTo>
                  <a:lnTo>
                    <a:pt x="0" y="59687"/>
                  </a:lnTo>
                  <a:cubicBezTo>
                    <a:pt x="0" y="43857"/>
                    <a:pt x="6288" y="28675"/>
                    <a:pt x="17482" y="17482"/>
                  </a:cubicBezTo>
                  <a:cubicBezTo>
                    <a:pt x="28675" y="6288"/>
                    <a:pt x="43857" y="0"/>
                    <a:pt x="59687" y="0"/>
                  </a:cubicBezTo>
                  <a:close/>
                </a:path>
              </a:pathLst>
            </a:custGeom>
            <a:solidFill>
              <a:srgbClr val="FAF7F2"/>
            </a:solidFill>
          </p:spPr>
        </p:sp>
        <p:sp>
          <p:nvSpPr>
            <p:cNvPr name="TextBox 9" id="9"/>
            <p:cNvSpPr txBox="true"/>
            <p:nvPr/>
          </p:nvSpPr>
          <p:spPr>
            <a:xfrm>
              <a:off x="0" y="-57150"/>
              <a:ext cx="2224560" cy="433705"/>
            </a:xfrm>
            <a:prstGeom prst="rect">
              <a:avLst/>
            </a:prstGeom>
          </p:spPr>
          <p:txBody>
            <a:bodyPr anchor="ctr" rtlCol="false" tIns="50800" lIns="50800" bIns="50800" rIns="50800"/>
            <a:lstStyle/>
            <a:p>
              <a:pPr algn="ctr">
                <a:lnSpc>
                  <a:spcPts val="2236"/>
                </a:lnSpc>
              </a:pPr>
            </a:p>
          </p:txBody>
        </p:sp>
      </p:grpSp>
      <p:sp>
        <p:nvSpPr>
          <p:cNvPr name="TextBox 10" id="10"/>
          <p:cNvSpPr txBox="true"/>
          <p:nvPr/>
        </p:nvSpPr>
        <p:spPr>
          <a:xfrm rot="0">
            <a:off x="1517371" y="4259317"/>
            <a:ext cx="3345635"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Incident Planning</a:t>
            </a:r>
          </a:p>
        </p:txBody>
      </p:sp>
      <p:sp>
        <p:nvSpPr>
          <p:cNvPr name="TextBox 11" id="11"/>
          <p:cNvSpPr txBox="true"/>
          <p:nvPr/>
        </p:nvSpPr>
        <p:spPr>
          <a:xfrm rot="0">
            <a:off x="1517371" y="6047103"/>
            <a:ext cx="2865772"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Simulate Drills</a:t>
            </a:r>
          </a:p>
        </p:txBody>
      </p:sp>
      <p:sp>
        <p:nvSpPr>
          <p:cNvPr name="TextBox 12" id="12"/>
          <p:cNvSpPr txBox="true"/>
          <p:nvPr/>
        </p:nvSpPr>
        <p:spPr>
          <a:xfrm rot="0">
            <a:off x="1608714" y="7832509"/>
            <a:ext cx="2865772"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Refine Posture</a:t>
            </a:r>
          </a:p>
        </p:txBody>
      </p:sp>
      <p:sp>
        <p:nvSpPr>
          <p:cNvPr name="Freeform 13" id="13"/>
          <p:cNvSpPr/>
          <p:nvPr/>
        </p:nvSpPr>
        <p:spPr>
          <a:xfrm flipH="true" flipV="false" rot="-3183681">
            <a:off x="1982499" y="4638698"/>
            <a:ext cx="262521" cy="820379"/>
          </a:xfrm>
          <a:custGeom>
            <a:avLst/>
            <a:gdLst/>
            <a:ahLst/>
            <a:cxnLst/>
            <a:rect r="r" b="b" t="t" l="l"/>
            <a:pathLst>
              <a:path h="820379" w="262521">
                <a:moveTo>
                  <a:pt x="262521" y="0"/>
                </a:moveTo>
                <a:lnTo>
                  <a:pt x="0" y="0"/>
                </a:lnTo>
                <a:lnTo>
                  <a:pt x="0" y="820380"/>
                </a:lnTo>
                <a:lnTo>
                  <a:pt x="262521" y="820380"/>
                </a:lnTo>
                <a:lnTo>
                  <a:pt x="2625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true" flipV="false" rot="-3183681">
            <a:off x="1982499" y="6417866"/>
            <a:ext cx="262521" cy="820379"/>
          </a:xfrm>
          <a:custGeom>
            <a:avLst/>
            <a:gdLst/>
            <a:ahLst/>
            <a:cxnLst/>
            <a:rect r="r" b="b" t="t" l="l"/>
            <a:pathLst>
              <a:path h="820379" w="262521">
                <a:moveTo>
                  <a:pt x="262521" y="0"/>
                </a:moveTo>
                <a:lnTo>
                  <a:pt x="0" y="0"/>
                </a:lnTo>
                <a:lnTo>
                  <a:pt x="0" y="820379"/>
                </a:lnTo>
                <a:lnTo>
                  <a:pt x="262521" y="820379"/>
                </a:lnTo>
                <a:lnTo>
                  <a:pt x="2625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true" flipV="false" rot="-3183681">
            <a:off x="1982499" y="8197033"/>
            <a:ext cx="262521" cy="820379"/>
          </a:xfrm>
          <a:custGeom>
            <a:avLst/>
            <a:gdLst/>
            <a:ahLst/>
            <a:cxnLst/>
            <a:rect r="r" b="b" t="t" l="l"/>
            <a:pathLst>
              <a:path h="820379" w="262521">
                <a:moveTo>
                  <a:pt x="262521" y="0"/>
                </a:moveTo>
                <a:lnTo>
                  <a:pt x="0" y="0"/>
                </a:lnTo>
                <a:lnTo>
                  <a:pt x="0" y="820380"/>
                </a:lnTo>
                <a:lnTo>
                  <a:pt x="262521" y="820380"/>
                </a:lnTo>
                <a:lnTo>
                  <a:pt x="2625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525705" y="2544339"/>
            <a:ext cx="716924" cy="555616"/>
          </a:xfrm>
          <a:custGeom>
            <a:avLst/>
            <a:gdLst/>
            <a:ahLst/>
            <a:cxnLst/>
            <a:rect r="r" b="b" t="t" l="l"/>
            <a:pathLst>
              <a:path h="555616" w="716924">
                <a:moveTo>
                  <a:pt x="0" y="0"/>
                </a:moveTo>
                <a:lnTo>
                  <a:pt x="716924" y="0"/>
                </a:lnTo>
                <a:lnTo>
                  <a:pt x="716924" y="555616"/>
                </a:lnTo>
                <a:lnTo>
                  <a:pt x="0" y="555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525705" y="4333934"/>
            <a:ext cx="716924" cy="555616"/>
          </a:xfrm>
          <a:custGeom>
            <a:avLst/>
            <a:gdLst/>
            <a:ahLst/>
            <a:cxnLst/>
            <a:rect r="r" b="b" t="t" l="l"/>
            <a:pathLst>
              <a:path h="555616" w="716924">
                <a:moveTo>
                  <a:pt x="0" y="0"/>
                </a:moveTo>
                <a:lnTo>
                  <a:pt x="716924" y="0"/>
                </a:lnTo>
                <a:lnTo>
                  <a:pt x="716924" y="555616"/>
                </a:lnTo>
                <a:lnTo>
                  <a:pt x="0" y="555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525705" y="6121720"/>
            <a:ext cx="716924" cy="555616"/>
          </a:xfrm>
          <a:custGeom>
            <a:avLst/>
            <a:gdLst/>
            <a:ahLst/>
            <a:cxnLst/>
            <a:rect r="r" b="b" t="t" l="l"/>
            <a:pathLst>
              <a:path h="555616" w="716924">
                <a:moveTo>
                  <a:pt x="0" y="0"/>
                </a:moveTo>
                <a:lnTo>
                  <a:pt x="716924" y="0"/>
                </a:lnTo>
                <a:lnTo>
                  <a:pt x="716924" y="555616"/>
                </a:lnTo>
                <a:lnTo>
                  <a:pt x="0" y="555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525705" y="7907126"/>
            <a:ext cx="716924" cy="555616"/>
          </a:xfrm>
          <a:custGeom>
            <a:avLst/>
            <a:gdLst/>
            <a:ahLst/>
            <a:cxnLst/>
            <a:rect r="r" b="b" t="t" l="l"/>
            <a:pathLst>
              <a:path h="555616" w="716924">
                <a:moveTo>
                  <a:pt x="0" y="0"/>
                </a:moveTo>
                <a:lnTo>
                  <a:pt x="716924" y="0"/>
                </a:lnTo>
                <a:lnTo>
                  <a:pt x="716924" y="555616"/>
                </a:lnTo>
                <a:lnTo>
                  <a:pt x="0" y="555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702833" y="2636762"/>
            <a:ext cx="366377" cy="413985"/>
          </a:xfrm>
          <a:custGeom>
            <a:avLst/>
            <a:gdLst/>
            <a:ahLst/>
            <a:cxnLst/>
            <a:rect r="r" b="b" t="t" l="l"/>
            <a:pathLst>
              <a:path h="413985" w="366377">
                <a:moveTo>
                  <a:pt x="0" y="0"/>
                </a:moveTo>
                <a:lnTo>
                  <a:pt x="366376" y="0"/>
                </a:lnTo>
                <a:lnTo>
                  <a:pt x="366376" y="413985"/>
                </a:lnTo>
                <a:lnTo>
                  <a:pt x="0" y="413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702833" y="4426357"/>
            <a:ext cx="366377" cy="413985"/>
          </a:xfrm>
          <a:custGeom>
            <a:avLst/>
            <a:gdLst/>
            <a:ahLst/>
            <a:cxnLst/>
            <a:rect r="r" b="b" t="t" l="l"/>
            <a:pathLst>
              <a:path h="413985" w="366377">
                <a:moveTo>
                  <a:pt x="0" y="0"/>
                </a:moveTo>
                <a:lnTo>
                  <a:pt x="366376" y="0"/>
                </a:lnTo>
                <a:lnTo>
                  <a:pt x="366376" y="413985"/>
                </a:lnTo>
                <a:lnTo>
                  <a:pt x="0" y="413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702833" y="6215951"/>
            <a:ext cx="366377" cy="413985"/>
          </a:xfrm>
          <a:custGeom>
            <a:avLst/>
            <a:gdLst/>
            <a:ahLst/>
            <a:cxnLst/>
            <a:rect r="r" b="b" t="t" l="l"/>
            <a:pathLst>
              <a:path h="413985" w="366377">
                <a:moveTo>
                  <a:pt x="0" y="0"/>
                </a:moveTo>
                <a:lnTo>
                  <a:pt x="366376" y="0"/>
                </a:lnTo>
                <a:lnTo>
                  <a:pt x="366376" y="413985"/>
                </a:lnTo>
                <a:lnTo>
                  <a:pt x="0" y="413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702833" y="8005546"/>
            <a:ext cx="366377" cy="413985"/>
          </a:xfrm>
          <a:custGeom>
            <a:avLst/>
            <a:gdLst/>
            <a:ahLst/>
            <a:cxnLst/>
            <a:rect r="r" b="b" t="t" l="l"/>
            <a:pathLst>
              <a:path h="413985" w="366377">
                <a:moveTo>
                  <a:pt x="0" y="0"/>
                </a:moveTo>
                <a:lnTo>
                  <a:pt x="366376" y="0"/>
                </a:lnTo>
                <a:lnTo>
                  <a:pt x="366376" y="413985"/>
                </a:lnTo>
                <a:lnTo>
                  <a:pt x="0" y="413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6714003" y="9782433"/>
            <a:ext cx="1573997" cy="504567"/>
          </a:xfrm>
          <a:prstGeom prst="rect">
            <a:avLst/>
          </a:prstGeom>
        </p:spPr>
        <p:txBody>
          <a:bodyPr anchor="t" rtlCol="false" tIns="0" lIns="0" bIns="0" rIns="0">
            <a:spAutoFit/>
          </a:bodyPr>
          <a:lstStyle/>
          <a:p>
            <a:pPr algn="ctr" marL="0" indent="0" lvl="0">
              <a:lnSpc>
                <a:spcPts val="3689"/>
              </a:lnSpc>
            </a:pPr>
            <a:r>
              <a:rPr lang="en-US" sz="2635" spc="213">
                <a:solidFill>
                  <a:srgbClr val="FAF7F2"/>
                </a:solidFill>
                <a:latin typeface="Akzidenz-Grotesk"/>
                <a:ea typeface="Akzidenz-Grotesk"/>
                <a:cs typeface="Akzidenz-Grotesk"/>
                <a:sym typeface="Akzidenz-Grotesk"/>
              </a:rPr>
              <a:t>Catuera</a:t>
            </a:r>
          </a:p>
        </p:txBody>
      </p:sp>
      <p:sp>
        <p:nvSpPr>
          <p:cNvPr name="TextBox 25" id="25"/>
          <p:cNvSpPr txBox="true"/>
          <p:nvPr/>
        </p:nvSpPr>
        <p:spPr>
          <a:xfrm rot="0">
            <a:off x="8470213" y="1064165"/>
            <a:ext cx="8564151" cy="58864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Review,</a:t>
            </a:r>
            <a:r>
              <a:rPr lang="en-US" sz="3000" spc="242">
                <a:solidFill>
                  <a:srgbClr val="FAF7F2"/>
                </a:solidFill>
                <a:latin typeface="Akzidenz-Grotesk"/>
                <a:ea typeface="Akzidenz-Grotesk"/>
                <a:cs typeface="Akzidenz-Grotesk"/>
                <a:sym typeface="Akzidenz-Grotesk"/>
              </a:rPr>
              <a:t> Audit &amp; Incident Readiness</a:t>
            </a:r>
          </a:p>
        </p:txBody>
      </p:sp>
      <p:sp>
        <p:nvSpPr>
          <p:cNvPr name="TextBox 26" id="26"/>
          <p:cNvSpPr txBox="true"/>
          <p:nvPr/>
        </p:nvSpPr>
        <p:spPr>
          <a:xfrm rot="0">
            <a:off x="2520498" y="3079322"/>
            <a:ext cx="13525596"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Regularly review</a:t>
            </a:r>
            <a:r>
              <a:rPr lang="en-US" sz="2668" spc="216">
                <a:solidFill>
                  <a:srgbClr val="FAF7F2"/>
                </a:solidFill>
                <a:latin typeface="Akzidenz-Grotesk"/>
                <a:ea typeface="Akzidenz-Grotesk"/>
                <a:cs typeface="Akzidenz-Grotesk"/>
                <a:sym typeface="Akzidenz-Grotesk"/>
              </a:rPr>
              <a:t> rule effectiveness against evolving cyber threats and system updates</a:t>
            </a:r>
          </a:p>
        </p:txBody>
      </p:sp>
      <p:sp>
        <p:nvSpPr>
          <p:cNvPr name="TextBox 27" id="27"/>
          <p:cNvSpPr txBox="true"/>
          <p:nvPr/>
        </p:nvSpPr>
        <p:spPr>
          <a:xfrm rot="0">
            <a:off x="1361639" y="2469722"/>
            <a:ext cx="2865772" cy="581025"/>
          </a:xfrm>
          <a:prstGeom prst="rect">
            <a:avLst/>
          </a:prstGeom>
        </p:spPr>
        <p:txBody>
          <a:bodyPr anchor="t" rtlCol="false" tIns="0" lIns="0" bIns="0" rIns="0">
            <a:spAutoFit/>
          </a:bodyPr>
          <a:lstStyle/>
          <a:p>
            <a:pPr algn="ctr" marL="0" indent="0" lvl="0">
              <a:lnSpc>
                <a:spcPts val="4200"/>
              </a:lnSpc>
            </a:pPr>
            <a:r>
              <a:rPr lang="en-US" sz="3000" spc="242">
                <a:solidFill>
                  <a:srgbClr val="FAF7F2"/>
                </a:solidFill>
                <a:latin typeface="Akzidenz-Grotesk"/>
                <a:ea typeface="Akzidenz-Grotesk"/>
                <a:cs typeface="Akzidenz-Grotesk"/>
                <a:sym typeface="Akzidenz-Grotesk"/>
              </a:rPr>
              <a:t>Audit Policies</a:t>
            </a:r>
          </a:p>
        </p:txBody>
      </p:sp>
      <p:sp>
        <p:nvSpPr>
          <p:cNvPr name="TextBox 28" id="28"/>
          <p:cNvSpPr txBox="true"/>
          <p:nvPr/>
        </p:nvSpPr>
        <p:spPr>
          <a:xfrm rot="0">
            <a:off x="702833" y="948042"/>
            <a:ext cx="6260880" cy="1027219"/>
          </a:xfrm>
          <a:prstGeom prst="rect">
            <a:avLst/>
          </a:prstGeom>
        </p:spPr>
        <p:txBody>
          <a:bodyPr anchor="t" rtlCol="false" tIns="0" lIns="0" bIns="0" rIns="0">
            <a:spAutoFit/>
          </a:bodyPr>
          <a:lstStyle/>
          <a:p>
            <a:pPr algn="ctr" marL="0" indent="0" lvl="0">
              <a:lnSpc>
                <a:spcPts val="4036"/>
              </a:lnSpc>
            </a:pPr>
            <a:r>
              <a:rPr lang="en-US" sz="3604">
                <a:solidFill>
                  <a:srgbClr val="291E18"/>
                </a:solidFill>
                <a:latin typeface="Benne"/>
                <a:ea typeface="Benne"/>
                <a:cs typeface="Benne"/>
                <a:sym typeface="Benne"/>
              </a:rPr>
              <a:t>Polic</a:t>
            </a:r>
            <a:r>
              <a:rPr lang="en-US" sz="3604">
                <a:solidFill>
                  <a:srgbClr val="291E18"/>
                </a:solidFill>
                <a:latin typeface="Benne"/>
                <a:ea typeface="Benne"/>
                <a:cs typeface="Benne"/>
                <a:sym typeface="Benne"/>
              </a:rPr>
              <a:t>y Development &amp; Implementation</a:t>
            </a:r>
          </a:p>
        </p:txBody>
      </p:sp>
      <p:sp>
        <p:nvSpPr>
          <p:cNvPr name="TextBox 29" id="29"/>
          <p:cNvSpPr txBox="true"/>
          <p:nvPr/>
        </p:nvSpPr>
        <p:spPr>
          <a:xfrm rot="0">
            <a:off x="2611840" y="4867109"/>
            <a:ext cx="13434254"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Develop</a:t>
            </a:r>
            <a:r>
              <a:rPr lang="en-US" sz="2668" spc="216">
                <a:solidFill>
                  <a:srgbClr val="FAF7F2"/>
                </a:solidFill>
                <a:latin typeface="Akzidenz-Grotesk"/>
                <a:ea typeface="Akzidenz-Grotesk"/>
                <a:cs typeface="Akzidenz-Grotesk"/>
                <a:sym typeface="Akzidenz-Grotesk"/>
              </a:rPr>
              <a:t> structured response playbooks to contain, eradicate, and recover from breaches</a:t>
            </a:r>
          </a:p>
        </p:txBody>
      </p:sp>
      <p:sp>
        <p:nvSpPr>
          <p:cNvPr name="TextBox 30" id="30"/>
          <p:cNvSpPr txBox="true"/>
          <p:nvPr/>
        </p:nvSpPr>
        <p:spPr>
          <a:xfrm rot="0">
            <a:off x="2703182" y="6652514"/>
            <a:ext cx="13342912"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Test team</a:t>
            </a:r>
            <a:r>
              <a:rPr lang="en-US" sz="2668" spc="216">
                <a:solidFill>
                  <a:srgbClr val="FAF7F2"/>
                </a:solidFill>
                <a:latin typeface="Akzidenz-Grotesk"/>
                <a:ea typeface="Akzidenz-Grotesk"/>
                <a:cs typeface="Akzidenz-Grotesk"/>
                <a:sym typeface="Akzidenz-Grotesk"/>
              </a:rPr>
              <a:t> reaction times and operational readiness through realistic tabletop exercises</a:t>
            </a:r>
          </a:p>
        </p:txBody>
      </p:sp>
      <p:sp>
        <p:nvSpPr>
          <p:cNvPr name="TextBox 31" id="31"/>
          <p:cNvSpPr txBox="true"/>
          <p:nvPr/>
        </p:nvSpPr>
        <p:spPr>
          <a:xfrm rot="0">
            <a:off x="2794525" y="8437920"/>
            <a:ext cx="13251569" cy="970445"/>
          </a:xfrm>
          <a:prstGeom prst="rect">
            <a:avLst/>
          </a:prstGeom>
        </p:spPr>
        <p:txBody>
          <a:bodyPr anchor="t" rtlCol="false" tIns="0" lIns="0" bIns="0" rIns="0">
            <a:spAutoFit/>
          </a:bodyPr>
          <a:lstStyle/>
          <a:p>
            <a:pPr algn="just" marL="0" indent="0" lvl="0">
              <a:lnSpc>
                <a:spcPts val="3735"/>
              </a:lnSpc>
            </a:pPr>
            <a:r>
              <a:rPr lang="en-US" sz="2668" spc="216">
                <a:solidFill>
                  <a:srgbClr val="FAF7F2"/>
                </a:solidFill>
                <a:latin typeface="Akzidenz-Grotesk"/>
                <a:ea typeface="Akzidenz-Grotesk"/>
                <a:cs typeface="Akzidenz-Grotesk"/>
                <a:sym typeface="Akzidenz-Grotesk"/>
              </a:rPr>
              <a:t>Incorporate lessons</a:t>
            </a:r>
            <a:r>
              <a:rPr lang="en-US" sz="2668" spc="216">
                <a:solidFill>
                  <a:srgbClr val="FAF7F2"/>
                </a:solidFill>
                <a:latin typeface="Akzidenz-Grotesk"/>
                <a:ea typeface="Akzidenz-Grotesk"/>
                <a:cs typeface="Akzidenz-Grotesk"/>
                <a:sym typeface="Akzidenz-Grotesk"/>
              </a:rPr>
              <a:t> learned from security reviews into revised policy guidelines</a:t>
            </a:r>
          </a:p>
        </p:txBody>
      </p:sp>
      <p:sp>
        <p:nvSpPr>
          <p:cNvPr name="AutoShape 32" id="32"/>
          <p:cNvSpPr/>
          <p:nvPr/>
        </p:nvSpPr>
        <p:spPr>
          <a:xfrm>
            <a:off x="865117" y="3303160"/>
            <a:ext cx="20904" cy="865670"/>
          </a:xfrm>
          <a:prstGeom prst="line">
            <a:avLst/>
          </a:prstGeom>
          <a:ln cap="flat" w="38100">
            <a:solidFill>
              <a:srgbClr val="FFFFFF">
                <a:alpha val="42745"/>
              </a:srgbClr>
            </a:solidFill>
            <a:prstDash val="solid"/>
            <a:headEnd type="diamond" len="lg" w="lg"/>
            <a:tailEnd type="diamond" len="lg" w="lg"/>
          </a:ln>
        </p:spPr>
      </p:sp>
      <p:sp>
        <p:nvSpPr>
          <p:cNvPr name="AutoShape 33" id="33"/>
          <p:cNvSpPr/>
          <p:nvPr/>
        </p:nvSpPr>
        <p:spPr>
          <a:xfrm>
            <a:off x="873715" y="5090035"/>
            <a:ext cx="20904" cy="865670"/>
          </a:xfrm>
          <a:prstGeom prst="line">
            <a:avLst/>
          </a:prstGeom>
          <a:ln cap="flat" w="38100">
            <a:solidFill>
              <a:srgbClr val="FFFFFF">
                <a:alpha val="42745"/>
              </a:srgbClr>
            </a:solidFill>
            <a:prstDash val="solid"/>
            <a:headEnd type="diamond" len="lg" w="lg"/>
            <a:tailEnd type="diamond" len="lg" w="lg"/>
          </a:ln>
        </p:spPr>
      </p:sp>
      <p:sp>
        <p:nvSpPr>
          <p:cNvPr name="AutoShape 34" id="34"/>
          <p:cNvSpPr/>
          <p:nvPr/>
        </p:nvSpPr>
        <p:spPr>
          <a:xfrm>
            <a:off x="882313" y="6876910"/>
            <a:ext cx="20904" cy="865670"/>
          </a:xfrm>
          <a:prstGeom prst="line">
            <a:avLst/>
          </a:prstGeom>
          <a:ln cap="flat" w="38100">
            <a:solidFill>
              <a:srgbClr val="FFFFFF">
                <a:alpha val="42745"/>
              </a:srgbClr>
            </a:solidFill>
            <a:prstDash val="solid"/>
            <a:headEnd type="diamond" len="lg" w="lg"/>
            <a:tailEnd type="diamond" len="lg" w="lg"/>
          </a:ln>
        </p:spPr>
      </p:sp>
    </p:spTree>
  </p:cSld>
  <p:clrMapOvr>
    <a:masterClrMapping/>
  </p:clrMapOvr>
  <p:transition spd="fast">
    <p:fade/>
  </p:transition>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291E18"/>
        </a:solidFill>
      </p:bgPr>
    </p:bg>
    <p:spTree>
      <p:nvGrpSpPr>
        <p:cNvPr id="1" name=""/>
        <p:cNvGrpSpPr/>
        <p:nvPr/>
      </p:nvGrpSpPr>
      <p:grpSpPr>
        <a:xfrm>
          <a:off x="0" y="0"/>
          <a:ext cx="0" cy="0"/>
          <a:chOff x="0" y="0"/>
          <a:chExt cx="0" cy="0"/>
        </a:xfrm>
      </p:grpSpPr>
      <p:sp>
        <p:nvSpPr>
          <p:cNvPr name="Freeform 2" id="2"/>
          <p:cNvSpPr/>
          <p:nvPr/>
        </p:nvSpPr>
        <p:spPr>
          <a:xfrm flipH="false" flipV="false" rot="-2425277">
            <a:off x="1743723" y="2303104"/>
            <a:ext cx="3579876" cy="8229600"/>
          </a:xfrm>
          <a:custGeom>
            <a:avLst/>
            <a:gdLst/>
            <a:ahLst/>
            <a:cxnLst/>
            <a:rect r="r" b="b" t="t" l="l"/>
            <a:pathLst>
              <a:path h="8229600" w="3579876">
                <a:moveTo>
                  <a:pt x="0" y="0"/>
                </a:moveTo>
                <a:lnTo>
                  <a:pt x="3579876" y="0"/>
                </a:lnTo>
                <a:lnTo>
                  <a:pt x="357987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5685572">
            <a:off x="5668460" y="-310553"/>
            <a:ext cx="7229845" cy="10554519"/>
          </a:xfrm>
          <a:custGeom>
            <a:avLst/>
            <a:gdLst/>
            <a:ahLst/>
            <a:cxnLst/>
            <a:rect r="r" b="b" t="t" l="l"/>
            <a:pathLst>
              <a:path h="10554519" w="7229845">
                <a:moveTo>
                  <a:pt x="0" y="0"/>
                </a:moveTo>
                <a:lnTo>
                  <a:pt x="7229845" y="0"/>
                </a:lnTo>
                <a:lnTo>
                  <a:pt x="7229845" y="10554518"/>
                </a:lnTo>
                <a:lnTo>
                  <a:pt x="0" y="10554518"/>
                </a:lnTo>
                <a:lnTo>
                  <a:pt x="0" y="0"/>
                </a:lnTo>
                <a:close/>
              </a:path>
            </a:pathLst>
          </a:custGeom>
          <a:blipFill>
            <a:blip r:embed="rId3"/>
            <a:stretch>
              <a:fillRect l="0" t="0" r="0" b="0"/>
            </a:stretch>
          </a:blipFill>
        </p:spPr>
      </p:sp>
      <p:sp>
        <p:nvSpPr>
          <p:cNvPr name="Freeform 4" id="4"/>
          <p:cNvSpPr/>
          <p:nvPr/>
        </p:nvSpPr>
        <p:spPr>
          <a:xfrm flipH="false" flipV="false" rot="0">
            <a:off x="11191035" y="0"/>
            <a:ext cx="3973488" cy="3894019"/>
          </a:xfrm>
          <a:custGeom>
            <a:avLst/>
            <a:gdLst/>
            <a:ahLst/>
            <a:cxnLst/>
            <a:rect r="r" b="b" t="t" l="l"/>
            <a:pathLst>
              <a:path h="3894019" w="3973488">
                <a:moveTo>
                  <a:pt x="0" y="0"/>
                </a:moveTo>
                <a:lnTo>
                  <a:pt x="3973488" y="0"/>
                </a:lnTo>
                <a:lnTo>
                  <a:pt x="3973488" y="3894019"/>
                </a:lnTo>
                <a:lnTo>
                  <a:pt x="0" y="3894019"/>
                </a:lnTo>
                <a:lnTo>
                  <a:pt x="0" y="0"/>
                </a:lnTo>
                <a:close/>
              </a:path>
            </a:pathLst>
          </a:custGeom>
          <a:blipFill>
            <a:blip r:embed="rId4"/>
            <a:stretch>
              <a:fillRect l="0" t="0" r="0" b="0"/>
            </a:stretch>
          </a:blipFill>
        </p:spPr>
      </p:sp>
      <p:sp>
        <p:nvSpPr>
          <p:cNvPr name="Freeform 5" id="5"/>
          <p:cNvSpPr/>
          <p:nvPr/>
        </p:nvSpPr>
        <p:spPr>
          <a:xfrm flipH="false" flipV="false" rot="-498646">
            <a:off x="3170760" y="6422973"/>
            <a:ext cx="3973488" cy="3894019"/>
          </a:xfrm>
          <a:custGeom>
            <a:avLst/>
            <a:gdLst/>
            <a:ahLst/>
            <a:cxnLst/>
            <a:rect r="r" b="b" t="t" l="l"/>
            <a:pathLst>
              <a:path h="3894019" w="3973488">
                <a:moveTo>
                  <a:pt x="0" y="0"/>
                </a:moveTo>
                <a:lnTo>
                  <a:pt x="3973488" y="0"/>
                </a:lnTo>
                <a:lnTo>
                  <a:pt x="3973488" y="3894018"/>
                </a:lnTo>
                <a:lnTo>
                  <a:pt x="0" y="3894018"/>
                </a:lnTo>
                <a:lnTo>
                  <a:pt x="0" y="0"/>
                </a:lnTo>
                <a:close/>
              </a:path>
            </a:pathLst>
          </a:custGeom>
          <a:blipFill>
            <a:blip r:embed="rId4"/>
            <a:stretch>
              <a:fillRect l="0" t="0" r="0" b="0"/>
            </a:stretch>
          </a:blipFill>
        </p:spPr>
      </p:sp>
      <p:sp>
        <p:nvSpPr>
          <p:cNvPr name="TextBox 6" id="6"/>
          <p:cNvSpPr txBox="true"/>
          <p:nvPr/>
        </p:nvSpPr>
        <p:spPr>
          <a:xfrm rot="0">
            <a:off x="4572749" y="3817310"/>
            <a:ext cx="9421267" cy="2051142"/>
          </a:xfrm>
          <a:prstGeom prst="rect">
            <a:avLst/>
          </a:prstGeom>
        </p:spPr>
        <p:txBody>
          <a:bodyPr anchor="t" rtlCol="false" tIns="0" lIns="0" bIns="0" rIns="0">
            <a:spAutoFit/>
          </a:bodyPr>
          <a:lstStyle/>
          <a:p>
            <a:pPr algn="ctr">
              <a:lnSpc>
                <a:spcPts val="16619"/>
              </a:lnSpc>
              <a:spcBef>
                <a:spcPct val="0"/>
              </a:spcBef>
            </a:pPr>
            <a:r>
              <a:rPr lang="en-US" sz="11871" spc="961">
                <a:solidFill>
                  <a:srgbClr val="563721"/>
                </a:solidFill>
                <a:latin typeface="Lazydog 2"/>
                <a:ea typeface="Lazydog 2"/>
                <a:cs typeface="Lazydog 2"/>
                <a:sym typeface="Lazydog 2"/>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DAHRbOKGxfo</dc:identifier>
  <dcterms:modified xsi:type="dcterms:W3CDTF">2011-08-01T06:04:30Z</dcterms:modified>
  <cp:revision>1</cp:revision>
  <dc:title>Group3_Presentation</dc:title>
</cp:coreProperties>
</file>